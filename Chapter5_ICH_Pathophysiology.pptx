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1e54cb8-a7d5-887e-1a7f-b64276fe58c2}">
          <p14:sldIdLst>
            <p14:sldId id="256"/>
            <p14:sldId id="257"/>
            <p14:sldId id="258"/>
            <p14:sldId id="259"/>
            <p14:sldId id="260"/>
            <p14:sldId id="261"/>
          </p14:sldIdLst>
        </p14:section>
        <p14:section name="01 · The vessel" id="{ccd975f8-fd44-21de-2e5c-1d992afd4ef5}">
          <p14:sldIdLst>
            <p14:sldId id="262"/>
            <p14:sldId id="263"/>
            <p14:sldId id="264"/>
            <p14:sldId id="265"/>
            <p14:sldId id="266"/>
            <p14:sldId id="267"/>
            <p14:sldId id="268"/>
            <p14:sldId id="269"/>
            <p14:sldId id="270"/>
          </p14:sldIdLst>
        </p14:section>
        <p14:section name="02 · The first hours" id="{edd49012-3054-31e7-5158-9a731efb780c}">
          <p14:sldIdLst>
            <p14:sldId id="271"/>
            <p14:sldId id="272"/>
            <p14:sldId id="273"/>
            <p14:sldId id="274"/>
            <p14:sldId id="275"/>
            <p14:sldId id="276"/>
          </p14:sldIdLst>
        </p14:section>
        <p14:section name="03 · The days after" id="{c9c7c60c-388e-3f41-2abb-82b1a69dafec}">
          <p14:sldIdLst>
            <p14:sldId id="277"/>
            <p14:sldId id="278"/>
            <p14:sldId id="279"/>
            <p14:sldId id="280"/>
            <p14:sldId id="281"/>
          </p14:sldIdLst>
        </p14:section>
        <p14:section name="04 · At the bedside" id="{aa38e442-a2d0-594b-e469-c02042e39673}">
          <p14:sldIdLst>
            <p14:sldId id="282"/>
            <p14:sldId id="283"/>
            <p14:sldId id="284"/>
            <p14:sldId id="285"/>
            <p14:sldId id="286"/>
            <p14:sldId id="287"/>
            <p14:sldId id="288"/>
          </p14:sldIdLst>
        </p14:section>
        <p14:section name="Close" id="{a0934bae-7561-8b95-73bb-f044929125e9}">
          <p14:sldIdLst>
            <p14:sldId id="289"/>
            <p14:sldId id="290"/>
            <p14:sldId id="291"/>
            <p14:sldId id="292"/>
            <p14:sldId id="293"/>
          </p14:sldIdLst>
        </p14:section>
        <p14:section name="Backup" id="{068833cf-519b-8386-5ed4-9409373bc911}">
          <p14:sldIdLst>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Small-vessel disease</c:v>
                </c:pt>
              </c:strCache>
            </c:strRef>
          </c:tx>
          <c:spPr>
            <a:solidFill>
              <a:srgbClr val="C1272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Hypertension  35%</c:v>
                  </c:pt>
                  <c:pt idx="1">
                    <c:v>Undetermined  21%</c:v>
                  </c:pt>
                  <c:pt idx="2">
                    <c:v>Amyloid angiopathy  20%</c:v>
                  </c:pt>
                  <c:pt idx="3">
                    <c:v>Anticoagulants  14%</c:v>
                  </c:pt>
                  <c:pt idx="4">
                    <c:v>Structural lesion  5%</c:v>
                  </c:pt>
                  <c:pt idx="5">
                    <c:v>Systemic disease  5%</c:v>
                  </c:pt>
                </c:lvl>
              </c:multiLvlStrCache>
            </c:multiLvlStrRef>
          </c:cat>
          <c:val>
            <c:numRef>
              <c:f>Sheet1!$B$2:$B$7</c:f>
              <c:numCache>
                <c:formatCode>General</c:formatCode>
                <c:ptCount val="6"/>
                <c:pt idx="0">
                  <c:v>35</c:v>
                </c:pt>
                <c:pt idx="1">
                  <c:v>0</c:v>
                </c:pt>
                <c:pt idx="2">
                  <c:v>20</c:v>
                </c:pt>
                <c:pt idx="3">
                  <c:v>0</c:v>
                </c:pt>
                <c:pt idx="4">
                  <c:v>0</c:v>
                </c:pt>
                <c:pt idx="5">
                  <c:v>0</c:v>
                </c:pt>
              </c:numCache>
            </c:numRef>
          </c:val>
        </c:ser>
        <c:ser>
          <c:idx val="1"/>
          <c:order val="1"/>
          <c:tx>
            <c:strRef>
              <c:f>Sheet1!$C$1</c:f>
              <c:strCache>
                <c:ptCount val="1"/>
                <c:pt idx="0">
                  <c:v>Other causes</c:v>
                </c:pt>
              </c:strCache>
            </c:strRef>
          </c:tx>
          <c:spPr>
            <a:solidFill>
              <a:srgbClr val="AEB9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Hypertension  35%</c:v>
                  </c:pt>
                  <c:pt idx="1">
                    <c:v>Undetermined  21%</c:v>
                  </c:pt>
                  <c:pt idx="2">
                    <c:v>Amyloid angiopathy  20%</c:v>
                  </c:pt>
                  <c:pt idx="3">
                    <c:v>Anticoagulants  14%</c:v>
                  </c:pt>
                  <c:pt idx="4">
                    <c:v>Structural lesion  5%</c:v>
                  </c:pt>
                  <c:pt idx="5">
                    <c:v>Systemic disease  5%</c:v>
                  </c:pt>
                </c:lvl>
              </c:multiLvlStrCache>
            </c:multiLvlStrRef>
          </c:cat>
          <c:val>
            <c:numRef>
              <c:f>Sheet1!$C$2:$C$7</c:f>
              <c:numCache>
                <c:formatCode>General</c:formatCode>
                <c:ptCount val="6"/>
                <c:pt idx="0">
                  <c:v>0</c:v>
                </c:pt>
                <c:pt idx="1">
                  <c:v>21</c:v>
                </c:pt>
                <c:pt idx="2">
                  <c:v>0</c:v>
                </c:pt>
                <c:pt idx="3">
                  <c:v>14</c:v>
                </c:pt>
                <c:pt idx="4">
                  <c:v>5</c:v>
                </c:pt>
                <c:pt idx="5">
                  <c:v>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800" b="0" i="0" u="none" strike="noStrike">
                <a:solidFill>
                  <a:srgbClr val="1B2230"/>
                </a:solidFill>
                <a:latin typeface="Calibri"/>
              </a:defRPr>
            </a:pPr>
            <a:endParaRPr lang="en-US"/>
          </a:p>
        </c:txPr>
        <c:crossAx val="2094734552"/>
        <c:crosses val="autoZero"/>
        <c:auto val="1"/>
        <c:lblAlgn val="ctr"/>
        <c:noMultiLvlLbl val="1"/>
      </c:catAx>
      <c:valAx>
        <c:axId val="2094734552"/>
        <c:scaling>
          <c:orientation val="minMax"/>
          <c:max val="3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Other side</c:v>
                </c:pt>
              </c:strCache>
            </c:strRef>
          </c:tx>
          <c:spPr>
            <a:solidFill>
              <a:srgbClr val="C3CEDB"/>
            </a:solidFill>
            <a:effectLst/>
          </c:spPr>
          <c:invertIfNegative val="0"/>
          <c:dLbls>
            <c:numFmt formatCode="0&quot;%&quot;" sourceLinked="0"/>
            <c:txPr>
              <a:bodyPr/>
              <a:lstStyle/>
              <a:p>
                <a:pPr>
                  <a:defRPr b="1" i="0" strike="noStrike" sz="1800" u="none">
                    <a:solidFill>
                      <a:srgbClr val="1B223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Blood flow</c:v>
                  </c:pt>
                  <c:pt idx="1">
                    <c:v>Oxygen use</c:v>
                  </c:pt>
                </c:lvl>
              </c:multiLvlStrCache>
            </c:multiLvlStrRef>
          </c:cat>
          <c:val>
            <c:numRef>
              <c:f>Sheet1!$B$2:$B$3</c:f>
              <c:numCache>
                <c:formatCode>General</c:formatCode>
                <c:ptCount val="2"/>
                <c:pt idx="0">
                  <c:v>100</c:v>
                </c:pt>
                <c:pt idx="1">
                  <c:v>100</c:v>
                </c:pt>
              </c:numCache>
            </c:numRef>
          </c:val>
        </c:ser>
        <c:ser>
          <c:idx val="1"/>
          <c:order val="1"/>
          <c:tx>
            <c:strRef>
              <c:f>Sheet1!$C$1</c:f>
              <c:strCache>
                <c:ptCount val="1"/>
                <c:pt idx="0">
                  <c:v>Rim around the clot</c:v>
                </c:pt>
              </c:strCache>
            </c:strRef>
          </c:tx>
          <c:spPr>
            <a:solidFill>
              <a:srgbClr val="C1272D"/>
            </a:solidFill>
            <a:effectLst/>
          </c:spPr>
          <c:invertIfNegative val="0"/>
          <c:dLbls>
            <c:numFmt formatCode="0&quot;%&quot;" sourceLinked="0"/>
            <c:txPr>
              <a:bodyPr/>
              <a:lstStyle/>
              <a:p>
                <a:pPr>
                  <a:defRPr b="1" i="0" strike="noStrike" sz="1800" u="none">
                    <a:solidFill>
                      <a:srgbClr val="1B223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Blood flow</c:v>
                  </c:pt>
                  <c:pt idx="1">
                    <c:v>Oxygen use</c:v>
                  </c:pt>
                </c:lvl>
              </c:multiLvlStrCache>
            </c:multiLvlStrRef>
          </c:cat>
          <c:val>
            <c:numRef>
              <c:f>Sheet1!$C$2:$C$3</c:f>
              <c:numCache>
                <c:formatCode>General</c:formatCode>
                <c:ptCount val="2"/>
                <c:pt idx="0">
                  <c:v>56</c:v>
                </c:pt>
                <c:pt idx="1">
                  <c:v>48</c:v>
                </c:pt>
              </c:numCache>
            </c:numRef>
          </c:val>
        </c:ser>
        <c:dLbls>
          <c:numFmt formatCode="0&quot;%&quot;" sourceLinked="0"/>
          <c:txPr>
            <a:bodyPr/>
            <a:lstStyle/>
            <a:p>
              <a:pPr>
                <a:defRPr b="1" i="0" strike="noStrike" sz="1800" u="none">
                  <a:solidFill>
                    <a:srgbClr val="1B2230"/>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2DE"/>
            </a:solidFill>
            <a:prstDash val="solid"/>
            <a:round/>
          </a:ln>
        </c:spPr>
        <c:txPr>
          <a:bodyPr/>
          <a:lstStyle/>
          <a:p>
            <a:pPr>
              <a:defRPr sz="2000" b="0" i="0" u="none" strike="noStrike">
                <a:solidFill>
                  <a:srgbClr val="1B2230"/>
                </a:solidFill>
                <a:latin typeface="Calibri"/>
              </a:defRPr>
            </a:pPr>
            <a:endParaRPr lang="en-US"/>
          </a:p>
        </c:txPr>
        <c:crossAx val="2094734552"/>
        <c:crosses val="autoZero"/>
        <c:auto val="1"/>
        <c:lblAlgn val="ctr"/>
        <c:noMultiLvlLbl val="1"/>
      </c:catAx>
      <c:valAx>
        <c:axId val="2094734552"/>
        <c:scaling>
          <c:orientation val="minMax"/>
          <c:max val="1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solidFill>
                <a:srgbClr val="1B223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Do not start talking until you are standing still at the centre.]
Good evening. My chapter is Chapter 5 of the Oxford Textbook of Stroke: the pathophysiology of non-traumatic intracerebral haemorrhage.
Tonight I want to read it as physiotherapists: what the mechanism tells us about the patient in front of us.
But I want to start with one person.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Slow. This is a story, not a lecture.]
10 December 1996. Seven in the morning.
A 37-year-old scientist wakes up with a pounding pain behind her left eye. She thinks it's a headache. She climbs onto her exercise machine anyway.
Her name is Jill Bolte Taylor. She is a neuroanatomist at Harvard. She studies the brain for a living.
[PAUSE]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Let the red circle grow on screen before you speak.]
Over the next four hours, she watches her own brain fail. First her balance goes. Then her right arm. Then her speech. She tries to call for help, and the numbers on the phone look like squiggles.
A blood vessel had burst in the left side of her brain.
[ASK] Quick show of hands: who here has treated someone in the first week after a bleed like this?
[Look at the hands and say what you see: "Most of us" or "About half the room".]
Tonight is about what happened inside Jill's head, hour by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Here is why it matters.
[PAUSE, point to the number]
Forty percent. That is how many people die within a month of an intracerebral haemorrhage.
And that number did not move between 1980 and 2008. In the same years, treatment for ischaemic stroke was transformed. For bleeds, outcomes stood still.
Part of the problem is how we think about a bleed. We treat it as one moment. The vessel bursts, the damage is done, and we wait.
[IF CHALLENGED: van Asch et al. (2010) pooled 36 population-based studies up to 2008. Part of the figure may be a self-fulfilling prophecy: early withdrawal of care (Becker et al.,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is your headline. Say the title slowly, then pause.]
Chapter 5 gives us a different view.
ICH is a process, not a moment.
[PAUSE]
It unfolds in three stages. The vessel decides where it bleeds. The first hours decide how big it gets. And over the following days, the blood itself keeps injuring the brain.
Watch the red circles grow. That is the bleed getting bigger with each stage.
Each stage is a window where we can act. We'll take them one at a time, then finish at the bedside.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By the end of tonight you should be able to do four things.
Explain why a bleed keeps injuring the brain long after the vessel has burst.
Predict, from where the bleed is and how big it is, what impairments you'll see and when the patient is most likely to get worse.
Appraise how strong the evidence is behind each claim, mine included.
And apply it: time and pace your therapy to the stage the bleed is in.
[Point to the dark card.] There are two ways to listen tonight. Every slide title is the take-home message. If you're new to stroke, hold on to the titles. Many slides also carry a grey tag in the top corner: the study design and its main limit. If you've been doing this for years, challenge the tags. I'll take those challenges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seconds.]
Stage one. The vessel. Why does a small artery give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Point, pause, explain.]
[Point to the two red bars. Say nothing for two seconds.]
This comes from the SMASH-U study: just over a thousand patients in Helsinki, each sorted by cause.
Two diseases stand out. Hypertension explained 35 percent. Amyloid angiopathy explained 20. Together, that is more than half of all bleeds. Both are diseases of small vessels.
Look at the grey bar second from the top. One in five bleeds had no clear cause, even after a full work-up. We still have gaps.
Why should a physiotherapist care about the cause? Because the cause predicts where it bleeds, and where it bleeds predicts what we'll see.
[IF CHALLENGED: one centre in Helsinki. "Undetermined" depends on how hard you look, so the categories shift with the work-up.]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Walk the audience left to right: look, see, imagine.]
Here is what those two diseases do to a small artery.
On the left is a healthy one: a thin wall and a wide channel.
In the middle is hypertension. It attacks the tiny perforating arteries deep in the brain. Years of high pressure make the wall thick and glassy, but also brittle. The little bulge at the top is a Charcot–Bouchard microaneurysm, first described in 1868. Whether these are the true point of rupture is still debated.
On the right is amyloid angiopathy. The dark dots are beta-amyloid. It builds up in arteries on the surface of the brain and replaces the muscle in the wall. The vessel loses its strength. This is mostly a disease of people over 55.
In plain words: high blood pressure makes the deep arteries stiff and brittle. Amyloid makes the surface arteries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That gives us a rule you can use tomorrow. Where it bleeds tells you why.
[Point to the two deep bleeds.]
These two are deep: the putamen and the thalamus. The pons and cerebellum count too. These are the territories of the perforating arteries. They branch at right angles off big, high-pressure trunks, so they take the full force of the blood pressure. Deep bleed: think hypertension.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The new bleed appears near the surface.]
Now look near the surface. This one is lobar: in the cortex and the white matter just beneath it.
In an older adult, a lobar bleed points to amyloid angiopathy.
In a younger person, or when something looks unusual, it should make us suspicious. Keep that thought. We'll come back to Jill in a moment.
But first: what does location mean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most practical slide for a physiotherapist. Go row by row.]
Location doesn't just tell you the cause. It predicts what you'll see on assessment.
Putamen and internal capsule: weakness on the opposite side. Look at the scan for the posterior limb of the internal capsule, the PLIC, where the motor fibres run. If the clot sits on it, the motor outcome tends to be worse.
Thalamus: sensory loss and ataxia on the opposite side, and sometimes, weeks later, central post-stroke pain.
Cerebellum: ataxia on the same side and truncal instability. This is also the bleed that can block CSF and press on the brainstem, so a cerebellar patient who becomes drowsy is an emergency.
Pons: often severe, with weakness in all four limbs and cranial nerve signs.
Lobar: it depends on the lobe: weakness, neglect, aphasia or field loss. Lobar bleeds also cause more seizures, because they involve the cortex.
[IF CHALLENGED: the PLIC evidence is three imaging cohorts. Puig et al. (2019), n = 43: PLIC involvement plus a motor score above 6 gave an AUC of 0.89 (PPV 65%, NPV 92%). Murray et al. (2025), 98 MISTIE III scans: PLIC overlap on routine CT predicted worse motor outcome, but agreement between readers was only moderate (kappa 0.45). Gupta et al. (2025), n = 305, held up in a second cohort. A predictor, not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MRI lets us see the footprints of these diseases. Microbleeds are tiny old leaks of blood. They show up as black dots.
Their pattern mirrors the big bleeds. Dots near the surface point to amyloid. Dots deep inside point to hypertension.
A systematic review led by Charlotte Cordonnier, one of this chapter's authors, found microbleeds in 60 percent of people with ICH. In healthy adults it was 5 percent.
The handout has the Boston criteria, which use these dots to diagnose amyloid angiopathy in a living patient.
[IF CHALLENGED: the 60% pools studies with different MRI sequences and field strengths. Newer sequences find more microbleeds, so the figure depends on the scanner.]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is soft break 1, at about minute 6. Stop talking and let them work.]
Your turn.
Jill was 37. She had no history of high blood pressure. Her bleed was lobar.
[ASK] Primary small-vessel disease, or a secondary cause? Turn to the person next to you. Thirty seconds.
[Count to 30 in your head. Then ask two people for their answer.]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Secondary. Jill was born with an arteriovenous malformation, a tangle of vessels with no capillaries in between. That morning it ruptured.
Her profile was a textbook warning sign. In a prospective study of 206 patients who all had angiography, 65 percent of young, normotensive patients with a lobar bleed had a vascular lesion.
Now flip it. Over 45, hypertensive, with a deep bleed: the yield was zero.
Same test, completely different result. The patient's story tells you where to look. The handout lists the other secondary causes.
[IF CHALLENGED: one centre in Hong Kong, 1997, with catheter angiography for everyone. CT angiography has since changed how we screen, but the pattern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seconds.]
Stage two. The first hours. Jill had four of them. Let's see what happens in that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Move left to right.]
One: a diseased vessel ruptures, with arterial pressure behind it.
Two: blood splits the tissue and a haematoma forms.
Three is the surprise. In 1971, Miller Fisher looked at these bleeds under the microscope. He found extra bleeding points around the edge. The growing clot stretches and tears the vessels around it, and they bleed too. He called it an avalanche.
Four: the bleeding stops when the pressure in the tissue and the clotting system finally win.
[IF CHALLENGED: Fisher's evidence is autopsy. It shows a mechanism, not how often it happens. The CT data on the next slide show how often.]
So how often does the bleeding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Soft break 2, at about minute 9.]
[ASK] Here are 100 patients, all scanned within three hours of onset.
How many of their bleeds keep growing?
Hands up for A, five. [pause] B, fifteen. [pause] C, forty.
[Say what you see: "Most of you went for B."]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Wait for the dots to finish colouring before you speak.]
[PAUSE]
Thirty-eight.
In Brott's study, 26 bleeds grew by more than a third within one hour of the first scan. Another 12 grew within twenty hours. That's 38 in 100, and the growth went with neurological decline.
This is Jill's four hours. The damage kept spreading because the bleed kept growing.
It also changes outcomes. In a later analysis, every 10 percent of growth raised the risk of death by 5 percent. Those at highest risk were people scanned early, those with large bleeds, those on anticoagulants, and those with a spot sign on CT angiography.
For us, this is why neuro observations come before any handling in the first day.
[IF CHALLENGED: Brott enrolled 103 patients within 3 hours and defined growth as more than a third. Later studies often use 6 mL or 33%, so rates vary with the definition and with how early the first scan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PROP MOMENT. Take the golf ball out of your pocket before you say anything. Hold it up. Let them look.]
[PROP] Jill's surgeons removed a clot this size. A golf ball.
A golf ball holds about 40 millilitres.
[Point to the dashed circle.] Now grow it to 60 millilitres. That's the dashed line. It barely looks bigger, does it?
Here is the thing nobody tells you. A clot that grows by a third looks only about 10 percent wider on a scan. Growth that small is easy to miss by eye. The patient still feels every millilitre.
At 60 millilitres, with a Glasgow Coma Scale of 8 or less, the Cincinnati study predicted a 30-day mortality of 91 percent.
[Put the ball down where everyone can still see it.]
[IF CHALLENGED: these figures come from 1990s care, when early withdrawal of support was common, so a prognostic score can become a self-fulfilling prophecy (Becker et al., 2001). Use scores to inform, never to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Why does volume matter so much? Because the skull is a closed box.
[Trace the rings from the centre outwards.] The clot compresses the tissue around it. As the volume grows, the pressure inside the skull rises. If it keeps rising, the brain shifts and can herniate.
Then there are the ventricles. About 45 percent of bleeds break into them. Blood there can block the flow of cerebrospinal fluid and cause hydrocephalus. It also predicts a worse outcome on its own.
At the bedside, hydrocephalus looks like drowsiness, headache and vomiting. Hold that 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seconds.]
Stage three. The bleeding has stopped. The injury has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Move along the timeline.]
Swelling around the clot builds in waves.
In the first hours, the clot retracts, like a blood sample settling in a tube, and squeezes serum into the tissue.
Over the first two days, the clotting cascade makes thrombin. Thrombin opens the blood-brain barrier.
From about day three, the red cells break down and release iron.
Over the following weeks, scavenger cells clear the clot and leave a cavity behind.
In one study, oedema grew by about 75 percent in the first 24 hours alone. It can keep building into the second week.
Jill's surgery came 17 days later. Her clot was still pressing on her language centres.
So the days after are not a safe plateau. The tissue around the clot is still under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Three toxins drive this second wave of injury. In plain words: the blood itself is toxic. Most of what we know comes from animal studies, well summarised by Xi, Keep and Hoff.
Thrombin comes first. We need it to stop the bleed, but at high levels it damages the barrier and kills cells.
Iron comes later. Once the red cells burst, iron is released and fuels free radicals.
Inflammation runs through the whole period. Immune cells arrive within hours and stay for days.
[Point to the dark bar.] All three end in the same place: a leaky barrier, more swelling and more dead neurons. That is why patients can get worse days after the bleeding stopped.
[IF CHALLENGED: this is mostly rat and pig data. The best human test so far, i-DEF with deferoxamine, was neutral (Selim et al., 2019). Mechanism is not yet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Soft break 3, at about minute 14.]
[ASK] True or false?
The dark rim around the clot is starving tissue, like the penumbra in an ischaemic stroke.
Hands up for true.
[Count the hands. Say what you see.]
This matters, because for years people worried that lowering blood pressure would starve that rim.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Point, pause, explain.]
False.
Zazulia and colleagues scanned 19 patients with PET, 5 to 22 hours after onset. [Point to the first pair of bars.] Blood flow in the rim was low, at 56 percent of the other side. [Point to the second pair.] But oxygen use was even lower, at 48 percent. The tissue is resting, not starving.
The practical proof came in the ICH ADAPT trial. Lowering systolic pressure below 150 did not reduce blood flow around the clot.
For us: follow the medical team's blood pressure targets during activity. The rim isn't starving, but pressure still matters for growth.
[IF CHALLENGED: PET in 19 patients shows a mechanism (Zazulia et al., 2001). ICH ADAPT (n = 75) then tested it in a trial (Butcher et al., 2013), but its endpoint was blood flow on CT perfusion, not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seconds.]
So what does all this mean for physiotherapy? Let's follow the patient through time: the first hours, the days after, and the months of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a timeline of when therapy started. Point to each bar.]
When should we start? Three trials, three time windows.
[Point to the red bar.] AVERT, the biggest: over 2000 patients, infarcts and bleeds. High-dose mobilisation within the first 24 hours led to fewer good outcomes: 46 percent against 50.
[Point to the second bar.] Liu: 243 patients with ICH in China. Rehabilitation started within 48 hours improved function at six months, and fewer patients died.
[Point to the third bar.] Yen: 60 patients with mild to moderate ICH. Getting them out of bed between 24 and 72 hours improved motor function and walking, and it did not destabilise blood pressure.
[Point to the dark bar.] Two lessons. Within AVERT, shorter, more frequent sessions did better than longer ones. And a 2026 meta-analysis of 17 trials rated the certainty as low.
So: early, short and frequent, once the team says the patient is stable. Not big, and not in the first hours.
[IF CHALLENGED: Liu et al. (2014): the hazard ratio of 4.44 has a 95% confidence interval from 1.24 to 15.87. Few deaths, so read it as a signal, not an effect size. AVERT's ICH subgroup leaned towards usual care, but the interaction was not significant (AVERT Trial Collaboration Group, 2015). The dose analysis is observational within the trial, Class III (Bernhardt et al., 2016). In Kan et al. (2026), safety outcomes such as rebleeding and falls were too poorly reported to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Soft break 4, at about minute 17. Read the case slowly.]
Let's put it together. Mr K is 68, with long-standing hypertension. He has a left putaminal bleed of 22 millilitres: about half a golf ball. Yesterday he sat out for 20 minutes with a GCS of 15.
Today, at 9 a.m., his GCS is 13. He has a new headache. He's vomited once. His blood pressure is 184 over 98.
You'd planned sit-to-stand practice.
[ASK] A: go ahead, but shorter. B: bed-level work only. C: hold the session and escalate. Hands up, or type it in the chat.
[Say what you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Walk the loop left to right.]
C. Hold and escalate.
Here is the reasoning, using the clinical reasoning cycle from Levett-Jones and colleagues.
Notice: his GCS has dropped two points, and he has a new headache, vomiting and higher blood pressure.
Interpret: this is day 4. Oedema is still building. It could also be growth, or hydrocephalus, the closed box from earlier. Working out which is the medical team's job, not ours.
Act: stop, tell the medical team now, and repeat the neuro obs.
Reflect: the timeline predicted this. That's why we screen before every session, every day, and why "not today" is a clinical decision, not a failure.
[If a junior asks "what if it's subtle?": same answer. If you're unsure, don't start;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Point, pause, explain.]
Families ask us this: do bleeds recover better than strokes from a clot? You'll hear "yes" on the ward. The evidence says: it depends what you match.
[Point to the grey dots.] Unmatched studies disagree. Kelly found bleeds gained more. Two newer studies found no difference.
[Point to the dark dot.] Paolucci matched patients on how severe the deficit was. Bleeds did better: two and a half times the odds of a big gain.
[Point to the red dot.] Balk, this year, matched on lesion size and location instead. Bleeds did worse.
Both fit Chapter 5. Match on the deficit, and more of a bleed's deficit is pressure, which can resolve as the clot clears. Match on the lesion, and the blood itself is toxic, so the same-sized lesion does more harm.
For your patient: don't promise a better recovery because it's a bleed, and don't set a ceiling early. A 2026 systematic review by Yoo and Chung found a severe early motor deficit after a deep bleed is not a fixed ceiling. In severe putaminal bleeds, most gains came in the first four months.
[IF CHALLENGED: all observational. Survivors only, because about 40% die (van Asch et al., 2010). ICH patients start lower, so they have more room to gain on Barthel and FIM, which have ceiling effects. Paolucci et al. (2003): OR 2.48 (95% CI 1.19–5.20). Balk et al. (2026): mRS shift OR 1.69 (1.02–2.79) favouring infarct. Ceiling: Yoo and Chung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The heart of the talk. Slow down.]
So every stage is a window, and each one gives us a physiotherapy job.
The vessel: know the cause, because it predicts where the bleed is and the risk of another one. Check blood pressure before, during and after activity.
The first hours: neuro obs before you move anyone. Short, gentle sessions. Nothing intense in the first 24 hours.
The days after: screen before every session. Expect fluctuation. New drowsiness means stop and escalate.
The months after: don't set a ceiling early. Use the location, and the internal capsule, to target your therapy.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Read each line slowly. Pause between them.]
If you remember three things from tonight:
The vessel decides where it bleeds.
The first hours decide how big it gets.
The blood keeps injuring the brain for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then questions. Bookend: return to Jill.]
Back to Jill.
It took her eight years to recover. Then, in 2008, she walked onto the TED stage holding a real human brain and told millions of people what it felt like from the inside.
Her bleed was not a moment. It was a process, and so was her recovery.
ICH is a process, not a moment.
[PAUSE for three full seconds.]
Thank you. Which claim tonight would you challenge?
[If the room is quiet, wait five seconds. Then ask: "Which of these windows do we meet most often, and are we timing our assessments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in APA 7th edition: alphabetical, every author listed. Leave these up during questions. The full list is also on page 4 of the handout.]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continued. Every DOI is a live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continued. Every DOI is a live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continued. Every DOI is a live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Type its slide number and press Enter to jump here if someone asks about other causes.]
With every bleed, ask whether something else caused it. Vascular malformations like Jill's AVM. Antithrombotic drugs, which make bleeds bigger and longer-lasting. Tumours. Venous thrombosis. Haemorrhagic transformation of an infarct. And a mixed group: cocaine, amphetamines, vasculitis, reversible vasoconstriction, moyamoya and clotting disorders.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Show only if someone asks what has changed since the book came out in 2014.]
Four updates. In 2022 the Boston criteria moved to version 2.0 and added white-matter MRI markers. In 2023, INTERACT3 showed that a care bundle of early blood pressure lowering, glucose and fever control, and anticoagulant reversal improved function at six months. In 2024, ENRICH showed that early minimally invasive clot removal helped, mainly for lobar bleeds. Also in 2024, ANNEXA-I found andexanet improved haemostasis in factor Xa inhibitor bleeds, but with more thrombotic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halo0"/>
          <p:cNvSpPr/>
          <p:nvPr/>
        </p:nvSpPr>
        <p:spPr>
          <a:xfrm>
            <a:off x="6995160" y="1097280"/>
            <a:ext cx="4663440" cy="4663440"/>
          </a:xfrm>
          <a:prstGeom prst="ellipse">
            <a:avLst/>
          </a:prstGeom>
          <a:solidFill>
            <a:srgbClr val="C1272D">
              <a:alpha val="10000"/>
            </a:srgbClr>
          </a:solidFill>
          <a:ln w="6350">
            <a:solidFill>
              <a:srgbClr val="C1272D">
                <a:alpha val="0"/>
              </a:srgbClr>
            </a:solidFill>
            <a:prstDash val="solid"/>
          </a:ln>
        </p:spPr>
      </p:sp>
      <p:sp>
        <p:nvSpPr>
          <p:cNvPr id="5" name="!!halo1"/>
          <p:cNvSpPr/>
          <p:nvPr/>
        </p:nvSpPr>
        <p:spPr>
          <a:xfrm>
            <a:off x="7498080" y="1600200"/>
            <a:ext cx="3657600" cy="3657600"/>
          </a:xfrm>
          <a:prstGeom prst="ellipse">
            <a:avLst/>
          </a:prstGeom>
          <a:solidFill>
            <a:srgbClr val="C1272D">
              <a:alpha val="22000"/>
            </a:srgbClr>
          </a:solidFill>
          <a:ln w="6350">
            <a:solidFill>
              <a:srgbClr val="C1272D">
                <a:alpha val="0"/>
              </a:srgbClr>
            </a:solidFill>
            <a:prstDash val="solid"/>
          </a:ln>
        </p:spPr>
      </p:sp>
      <p:sp>
        <p:nvSpPr>
          <p:cNvPr id="6" name="!!bleed"/>
          <p:cNvSpPr/>
          <p:nvPr/>
        </p:nvSpPr>
        <p:spPr>
          <a:xfrm>
            <a:off x="8001000" y="2103120"/>
            <a:ext cx="2651760" cy="2651760"/>
          </a:xfrm>
          <a:prstGeom prst="ellipse">
            <a:avLst/>
          </a:prstGeom>
          <a:solidFill>
            <a:srgbClr val="C1272D"/>
          </a:solidFill>
          <a:ln w="6350">
            <a:solidFill>
              <a:srgbClr val="C1272D"/>
            </a:solidFill>
            <a:prstDash val="solid"/>
          </a:ln>
        </p:spPr>
      </p:sp>
      <p:sp>
        <p:nvSpPr>
          <p:cNvPr id="7" name="Text 4"/>
          <p:cNvSpPr txBox="1"/>
          <p:nvPr/>
        </p:nvSpPr>
        <p:spPr>
          <a:xfrm>
            <a:off x="731520" y="1234440"/>
            <a:ext cx="5852160" cy="365760"/>
          </a:xfrm>
          <a:prstGeom prst="rect">
            <a:avLst/>
          </a:prstGeom>
          <a:noFill/>
          <a:ln/>
        </p:spPr>
        <p:txBody>
          <a:bodyPr wrap="square" lIns="0" tIns="0" rIns="0" bIns="0" rtlCol="0" anchor="ctr"/>
          <a:lstStyle/>
          <a:p>
            <a:pPr indent="0" marL="0">
              <a:buNone/>
            </a:pPr>
            <a:r>
              <a:rPr lang="en-US" sz="1600" b="1" spc="400" kern="0" dirty="0">
                <a:solidFill>
                  <a:srgbClr val="F08A8E"/>
                </a:solidFill>
                <a:latin typeface="Calibri" pitchFamily="34" charset="0"/>
                <a:ea typeface="Calibri" pitchFamily="34" charset="-122"/>
                <a:cs typeface="Calibri" pitchFamily="34" charset="-120"/>
              </a:rPr>
              <a:t>CHAPTER 5  ·  FOR PHYSIOTHERAPY</a:t>
            </a:r>
            <a:endParaRPr lang="en-US" sz="1600" dirty="0"/>
          </a:p>
        </p:txBody>
      </p:sp>
      <p:sp>
        <p:nvSpPr>
          <p:cNvPr id="8" name="Text 5"/>
          <p:cNvSpPr txBox="1"/>
          <p:nvPr/>
        </p:nvSpPr>
        <p:spPr>
          <a:xfrm>
            <a:off x="731520" y="1691640"/>
            <a:ext cx="5852160" cy="1920240"/>
          </a:xfrm>
          <a:prstGeom prst="rect">
            <a:avLst/>
          </a:prstGeom>
          <a:noFill/>
          <a:ln/>
        </p:spPr>
        <p:txBody>
          <a:bodyPr wrap="square" lIns="0" tIns="0" rIns="0" bIns="0" rtlCol="0" anchor="t"/>
          <a:lstStyle/>
          <a:p>
            <a:pPr indent="0" marL="0">
              <a:buNone/>
            </a:pPr>
            <a:r>
              <a:rPr lang="en-US" sz="6000" b="1" dirty="0">
                <a:solidFill>
                  <a:srgbClr val="FFFFFF"/>
                </a:solidFill>
                <a:latin typeface="Cambria" pitchFamily="34" charset="0"/>
                <a:ea typeface="Cambria" pitchFamily="34" charset="-122"/>
                <a:cs typeface="Cambria" pitchFamily="34" charset="-120"/>
              </a:rPr>
              <a:t>When the vessel breaks</a:t>
            </a:r>
            <a:endParaRPr lang="en-US" sz="6000" dirty="0"/>
          </a:p>
        </p:txBody>
      </p:sp>
      <p:sp>
        <p:nvSpPr>
          <p:cNvPr id="9" name="Text 6"/>
          <p:cNvSpPr txBox="1"/>
          <p:nvPr/>
        </p:nvSpPr>
        <p:spPr>
          <a:xfrm>
            <a:off x="731520" y="3657600"/>
            <a:ext cx="5486400" cy="868680"/>
          </a:xfrm>
          <a:prstGeom prst="rect">
            <a:avLst/>
          </a:prstGeom>
          <a:noFill/>
          <a:ln/>
        </p:spPr>
        <p:txBody>
          <a:bodyPr wrap="square" lIns="0" tIns="0" rIns="0" bIns="0" rtlCol="0" anchor="t"/>
          <a:lstStyle/>
          <a:p>
            <a:pPr indent="0" marL="0">
              <a:buNone/>
            </a:pPr>
            <a:r>
              <a:rPr lang="en-US" sz="2400" dirty="0">
                <a:solidFill>
                  <a:srgbClr val="C9D3E0"/>
                </a:solidFill>
                <a:latin typeface="Calibri" pitchFamily="34" charset="0"/>
                <a:ea typeface="Calibri" pitchFamily="34" charset="-122"/>
                <a:cs typeface="Calibri" pitchFamily="34" charset="-120"/>
              </a:rPr>
              <a:t>Pathophysiology of non-traumatic intracerebral haemorrhage</a:t>
            </a:r>
            <a:endParaRPr lang="en-US" sz="2400" dirty="0"/>
          </a:p>
        </p:txBody>
      </p:sp>
      <p:sp>
        <p:nvSpPr>
          <p:cNvPr id="10" name="Text 7"/>
          <p:cNvSpPr txBox="1"/>
          <p:nvPr/>
        </p:nvSpPr>
        <p:spPr>
          <a:xfrm>
            <a:off x="731520" y="4846320"/>
            <a:ext cx="5852160" cy="777240"/>
          </a:xfrm>
          <a:prstGeom prst="rect">
            <a:avLst/>
          </a:prstGeom>
          <a:noFill/>
          <a:ln/>
        </p:spPr>
        <p:txBody>
          <a:bodyPr wrap="square" lIns="0" tIns="0" rIns="0" bIns="0" rtlCol="0" anchor="t"/>
          <a:lstStyle/>
          <a:p>
            <a:pPr indent="0" marL="0">
              <a:spcAft>
                <a:spcPts val="400"/>
              </a:spcAft>
              <a:buNone/>
            </a:pPr>
            <a:r>
              <a:rPr lang="en-US" sz="1400" dirty="0">
                <a:solidFill>
                  <a:srgbClr val="93A6BC"/>
                </a:solidFill>
                <a:latin typeface="Calibri" pitchFamily="34" charset="0"/>
                <a:ea typeface="Calibri" pitchFamily="34" charset="-122"/>
                <a:cs typeface="Calibri" pitchFamily="34" charset="-120"/>
              </a:rPr>
              <a:t>Chapter 5: Rossi and Cordonnier (2014), pp. 51–60</a:t>
            </a:r>
            <a:endParaRPr lang="en-US" sz="1400" dirty="0"/>
          </a:p>
          <a:p>
            <a:pPr indent="0" marL="0">
              <a:spcAft>
                <a:spcPts val="400"/>
              </a:spcAft>
              <a:buNone/>
            </a:pPr>
            <a:r>
              <a:rPr lang="en-US" sz="1400" dirty="0">
                <a:solidFill>
                  <a:srgbClr val="93A6BC"/>
                </a:solidFill>
                <a:latin typeface="Calibri" pitchFamily="34" charset="0"/>
                <a:ea typeface="Calibri" pitchFamily="34" charset="-122"/>
                <a:cs typeface="Calibri" pitchFamily="34" charset="-120"/>
              </a:rPr>
              <a:t>In B. Norrving (Ed.), </a:t>
            </a:r>
            <a:pPr indent="0" marL="0">
              <a:spcAft>
                <a:spcPts val="400"/>
              </a:spcAft>
              <a:buNone/>
            </a:pPr>
            <a:r>
              <a:rPr lang="en-US" sz="1400" i="1" dirty="0">
                <a:solidFill>
                  <a:srgbClr val="93A6BC"/>
                </a:solidFill>
                <a:latin typeface="Calibri" pitchFamily="34" charset="0"/>
                <a:ea typeface="Calibri" pitchFamily="34" charset="-122"/>
                <a:cs typeface="Calibri" pitchFamily="34" charset="-120"/>
              </a:rPr>
              <a:t>Oxford textbook of stroke and cerebrovascular disease</a:t>
            </a:r>
            <a:pPr indent="0" marL="0">
              <a:spcAft>
                <a:spcPts val="400"/>
              </a:spcAft>
              <a:buNone/>
            </a:pPr>
            <a:r>
              <a:rPr lang="en-US" sz="1400" dirty="0">
                <a:solidFill>
                  <a:srgbClr val="93A6BC"/>
                </a:solidFill>
                <a:latin typeface="Calibri" pitchFamily="34" charset="0"/>
                <a:ea typeface="Calibri" pitchFamily="34" charset="-122"/>
                <a:cs typeface="Calibri" pitchFamily="34" charset="-120"/>
              </a:rPr>
              <a:t>. Oxford University Press.</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33A"/>
        </a:solidFill>
      </p:bgPr>
    </p:bg>
    <p:spTree>
      <p:nvGrpSpPr>
        <p:cNvPr id="1" name=""/>
        <p:cNvGrpSpPr/>
        <p:nvPr/>
      </p:nvGrpSpPr>
      <p:grpSpPr>
        <a:xfrm>
          <a:off x="0" y="0"/>
          <a:ext cx="0" cy="0"/>
          <a:chOff x="0" y="0"/>
          <a:chExt cx="0" cy="0"/>
        </a:xfrm>
      </p:grpSpPr>
      <p:sp>
        <p:nvSpPr>
          <p:cNvPr id="3" name="!!date"/>
          <p:cNvSpPr txBox="1"/>
          <p:nvPr/>
        </p:nvSpPr>
        <p:spPr>
          <a:xfrm>
            <a:off x="731520" y="1097280"/>
            <a:ext cx="71323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10 December 1996</a:t>
            </a:r>
            <a:endParaRPr lang="en-US" sz="5400" dirty="0"/>
          </a:p>
        </p:txBody>
      </p:sp>
      <p:sp>
        <p:nvSpPr>
          <p:cNvPr id="4" name="!!who"/>
          <p:cNvSpPr txBox="1"/>
          <p:nvPr/>
        </p:nvSpPr>
        <p:spPr>
          <a:xfrm>
            <a:off x="731520" y="2057400"/>
            <a:ext cx="7132320" cy="457200"/>
          </a:xfrm>
          <a:prstGeom prst="rect">
            <a:avLst/>
          </a:prstGeom>
          <a:noFill/>
          <a:ln/>
        </p:spPr>
        <p:txBody>
          <a:bodyPr wrap="square" lIns="0" tIns="0" rIns="0" bIns="0" rtlCol="0" anchor="ctr"/>
          <a:lstStyle/>
          <a:p>
            <a:pPr indent="0" marL="0">
              <a:buNone/>
            </a:pPr>
            <a:r>
              <a:rPr lang="en-US" sz="2000" dirty="0">
                <a:solidFill>
                  <a:srgbClr val="F08A8E"/>
                </a:solidFill>
                <a:latin typeface="Calibri" pitchFamily="34" charset="0"/>
                <a:ea typeface="Calibri" pitchFamily="34" charset="-122"/>
                <a:cs typeface="Calibri" pitchFamily="34" charset="-120"/>
              </a:rPr>
              <a:t>7 a.m.  ·  Jill Bolte Taylor, neuroanatomist, aged 37</a:t>
            </a:r>
            <a:endParaRPr lang="en-US" sz="2000" dirty="0"/>
          </a:p>
        </p:txBody>
      </p:sp>
      <p:sp>
        <p:nvSpPr>
          <p:cNvPr id="5" name="!!quote"/>
          <p:cNvSpPr txBox="1"/>
          <p:nvPr/>
        </p:nvSpPr>
        <p:spPr>
          <a:xfrm>
            <a:off x="731520" y="3017520"/>
            <a:ext cx="6766560" cy="1463040"/>
          </a:xfrm>
          <a:prstGeom prst="rect">
            <a:avLst/>
          </a:prstGeom>
          <a:noFill/>
          <a:ln/>
        </p:spPr>
        <p:txBody>
          <a:bodyPr wrap="square" lIns="0" tIns="0" rIns="0" bIns="0" rtlCol="0" anchor="t"/>
          <a:lstStyle/>
          <a:p>
            <a:pPr indent="0" marL="0">
              <a:buNone/>
            </a:pPr>
            <a:r>
              <a:rPr lang="en-US" sz="3200" i="1" dirty="0">
                <a:solidFill>
                  <a:srgbClr val="FFFFFF"/>
                </a:solidFill>
                <a:latin typeface="Cambria" pitchFamily="34" charset="0"/>
                <a:ea typeface="Cambria" pitchFamily="34" charset="-122"/>
                <a:cs typeface="Cambria" pitchFamily="34" charset="-120"/>
              </a:rPr>
              <a:t>“I woke up to a pounding pain behind my left eye.”</a:t>
            </a:r>
            <a:endParaRPr lang="en-US" sz="3200" dirty="0"/>
          </a:p>
        </p:txBody>
      </p:sp>
      <p:sp>
        <p:nvSpPr>
          <p:cNvPr id="6" name="!!skull"/>
          <p:cNvSpPr/>
          <p:nvPr/>
        </p:nvSpPr>
        <p:spPr>
          <a:xfrm>
            <a:off x="7772400" y="1417320"/>
            <a:ext cx="4023360" cy="4023360"/>
          </a:xfrm>
          <a:prstGeom prst="ellipse">
            <a:avLst/>
          </a:prstGeom>
          <a:solidFill>
            <a:srgbClr val="FFFFFF">
              <a:alpha val="0"/>
            </a:srgbClr>
          </a:solidFill>
          <a:ln w="12700">
            <a:solidFill>
              <a:srgbClr val="3E5C76"/>
            </a:solidFill>
            <a:prstDash val="solid"/>
          </a:ln>
        </p:spPr>
      </p:sp>
      <p:sp>
        <p:nvSpPr>
          <p:cNvPr id="7" name="!!bleed"/>
          <p:cNvSpPr/>
          <p:nvPr/>
        </p:nvSpPr>
        <p:spPr>
          <a:xfrm>
            <a:off x="9578340" y="3223260"/>
            <a:ext cx="411480" cy="411480"/>
          </a:xfrm>
          <a:prstGeom prst="ellipse">
            <a:avLst/>
          </a:prstGeom>
          <a:solidFill>
            <a:srgbClr val="C1272D"/>
          </a:solidFill>
          <a:ln w="6350">
            <a:solidFill>
              <a:srgbClr val="C1272D"/>
            </a:solidFill>
            <a:prstDash val="solid"/>
          </a:ln>
        </p:spPr>
      </p:sp>
      <p:sp>
        <p:nvSpPr>
          <p:cNvPr id="8" name="Text 5"/>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93A6BC"/>
                </a:solidFill>
                <a:latin typeface="Calibri" pitchFamily="34" charset="0"/>
                <a:ea typeface="Calibri" pitchFamily="34" charset="-122"/>
                <a:cs typeface="Calibri" pitchFamily="34" charset="-120"/>
              </a:rPr>
              <a:t>Source: Taylor (2008a).</a:t>
            </a:r>
            <a:endParaRPr lang="en-US"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233A"/>
        </a:solidFill>
      </p:bgPr>
    </p:bg>
    <p:spTree>
      <p:nvGrpSpPr>
        <p:cNvPr id="1" name=""/>
        <p:cNvGrpSpPr/>
        <p:nvPr/>
      </p:nvGrpSpPr>
      <p:grpSpPr>
        <a:xfrm>
          <a:off x="0" y="0"/>
          <a:ext cx="0" cy="0"/>
          <a:chOff x="0" y="0"/>
          <a:chExt cx="0" cy="0"/>
        </a:xfrm>
      </p:grpSpPr>
      <p:sp>
        <p:nvSpPr>
          <p:cNvPr id="3" name="!!date"/>
          <p:cNvSpPr txBox="1"/>
          <p:nvPr/>
        </p:nvSpPr>
        <p:spPr>
          <a:xfrm>
            <a:off x="731520" y="1097280"/>
            <a:ext cx="71323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10 December 1996</a:t>
            </a:r>
            <a:endParaRPr lang="en-US" sz="5400" dirty="0"/>
          </a:p>
        </p:txBody>
      </p:sp>
      <p:sp>
        <p:nvSpPr>
          <p:cNvPr id="4" name="!!who"/>
          <p:cNvSpPr txBox="1"/>
          <p:nvPr/>
        </p:nvSpPr>
        <p:spPr>
          <a:xfrm>
            <a:off x="731520" y="2057400"/>
            <a:ext cx="7132320" cy="457200"/>
          </a:xfrm>
          <a:prstGeom prst="rect">
            <a:avLst/>
          </a:prstGeom>
          <a:noFill/>
          <a:ln/>
        </p:spPr>
        <p:txBody>
          <a:bodyPr wrap="square" lIns="0" tIns="0" rIns="0" bIns="0" rtlCol="0" anchor="ctr"/>
          <a:lstStyle/>
          <a:p>
            <a:pPr indent="0" marL="0">
              <a:buNone/>
            </a:pPr>
            <a:r>
              <a:rPr lang="en-US" sz="2000" dirty="0">
                <a:solidFill>
                  <a:srgbClr val="F08A8E"/>
                </a:solidFill>
                <a:latin typeface="Calibri" pitchFamily="34" charset="0"/>
                <a:ea typeface="Calibri" pitchFamily="34" charset="-122"/>
                <a:cs typeface="Calibri" pitchFamily="34" charset="-120"/>
              </a:rPr>
              <a:t>7 a.m.  ·  Jill Bolte Taylor, neuroanatomist, aged 37</a:t>
            </a:r>
            <a:endParaRPr lang="en-US" sz="2000" dirty="0"/>
          </a:p>
        </p:txBody>
      </p:sp>
      <p:sp>
        <p:nvSpPr>
          <p:cNvPr id="5" name="!!line2"/>
          <p:cNvSpPr txBox="1"/>
          <p:nvPr/>
        </p:nvSpPr>
        <p:spPr>
          <a:xfrm>
            <a:off x="731520" y="3017520"/>
            <a:ext cx="6766560" cy="1463040"/>
          </a:xfrm>
          <a:prstGeom prst="rect">
            <a:avLst/>
          </a:prstGeom>
          <a:noFill/>
          <a:ln/>
        </p:spPr>
        <p:txBody>
          <a:bodyPr wrap="square" lIns="0" tIns="0" rIns="0" bIns="0" rtlCol="0" anchor="t"/>
          <a:lstStyle/>
          <a:p>
            <a:pPr indent="0" marL="0">
              <a:buNone/>
            </a:pPr>
            <a:r>
              <a:rPr lang="en-US" sz="3200" dirty="0">
                <a:solidFill>
                  <a:srgbClr val="FFFFFF"/>
                </a:solidFill>
                <a:latin typeface="Cambria" pitchFamily="34" charset="0"/>
                <a:ea typeface="Cambria" pitchFamily="34" charset="-122"/>
                <a:cs typeface="Cambria" pitchFamily="34" charset="-120"/>
              </a:rPr>
              <a:t>Within four hours she could not </a:t>
            </a:r>
            <a:pPr indent="0" marL="0">
              <a:buNone/>
            </a:pPr>
            <a:r>
              <a:rPr lang="en-US" sz="3200" b="1" dirty="0">
                <a:solidFill>
                  <a:srgbClr val="F08A8E"/>
                </a:solidFill>
                <a:latin typeface="Cambria" pitchFamily="34" charset="0"/>
                <a:ea typeface="Cambria" pitchFamily="34" charset="-122"/>
                <a:cs typeface="Cambria" pitchFamily="34" charset="-120"/>
              </a:rPr>
              <a:t>walk, talk, read or write.</a:t>
            </a:r>
            <a:endParaRPr lang="en-US" sz="3200" dirty="0"/>
          </a:p>
        </p:txBody>
      </p:sp>
      <p:sp>
        <p:nvSpPr>
          <p:cNvPr id="6" name="!!skull"/>
          <p:cNvSpPr/>
          <p:nvPr/>
        </p:nvSpPr>
        <p:spPr>
          <a:xfrm>
            <a:off x="7772400" y="1417320"/>
            <a:ext cx="4023360" cy="4023360"/>
          </a:xfrm>
          <a:prstGeom prst="ellipse">
            <a:avLst/>
          </a:prstGeom>
          <a:solidFill>
            <a:srgbClr val="FFFFFF">
              <a:alpha val="0"/>
            </a:srgbClr>
          </a:solidFill>
          <a:ln w="12700">
            <a:solidFill>
              <a:srgbClr val="3E5C76"/>
            </a:solidFill>
            <a:prstDash val="solid"/>
          </a:ln>
        </p:spPr>
      </p:sp>
      <p:sp>
        <p:nvSpPr>
          <p:cNvPr id="7" name="!!halo0"/>
          <p:cNvSpPr/>
          <p:nvPr/>
        </p:nvSpPr>
        <p:spPr>
          <a:xfrm>
            <a:off x="8229600" y="1874520"/>
            <a:ext cx="3108960" cy="3108960"/>
          </a:xfrm>
          <a:prstGeom prst="ellipse">
            <a:avLst/>
          </a:prstGeom>
          <a:solidFill>
            <a:srgbClr val="C1272D">
              <a:alpha val="18000"/>
            </a:srgbClr>
          </a:solidFill>
          <a:ln w="6350">
            <a:solidFill>
              <a:srgbClr val="C1272D">
                <a:alpha val="0"/>
              </a:srgbClr>
            </a:solidFill>
            <a:prstDash val="solid"/>
          </a:ln>
        </p:spPr>
      </p:sp>
      <p:sp>
        <p:nvSpPr>
          <p:cNvPr id="8" name="!!bleed"/>
          <p:cNvSpPr/>
          <p:nvPr/>
        </p:nvSpPr>
        <p:spPr>
          <a:xfrm>
            <a:off x="8778240" y="2423160"/>
            <a:ext cx="2011680" cy="2011680"/>
          </a:xfrm>
          <a:prstGeom prst="ellipse">
            <a:avLst/>
          </a:prstGeom>
          <a:solidFill>
            <a:srgbClr val="C1272D"/>
          </a:solidFill>
          <a:ln w="6350">
            <a:solidFill>
              <a:srgbClr val="C1272D"/>
            </a:solidFill>
            <a:prstDash val="solid"/>
          </a:ln>
        </p:spPr>
      </p:sp>
      <p:sp>
        <p:nvSpPr>
          <p:cNvPr id="9" name="Text 6"/>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93A6BC"/>
                </a:solidFill>
                <a:latin typeface="Calibri" pitchFamily="34" charset="0"/>
                <a:ea typeface="Calibri" pitchFamily="34" charset="-122"/>
                <a:cs typeface="Calibri" pitchFamily="34" charset="-120"/>
              </a:rPr>
              <a:t>Source: Taylor (2008a).</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WHY IT MATTERS</a:t>
            </a:r>
            <a:endParaRPr lang="en-US" sz="1400" dirty="0"/>
          </a:p>
        </p:txBody>
      </p:sp>
      <p:sp>
        <p:nvSpPr>
          <p:cNvPr id="4" name="Shape 1"/>
          <p:cNvSpPr/>
          <p:nvPr/>
        </p:nvSpPr>
        <p:spPr>
          <a:xfrm>
            <a:off x="7740396" y="356616"/>
            <a:ext cx="3902659"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7895844" y="443484"/>
            <a:ext cx="173736" cy="173736"/>
          </a:xfrm>
          <a:prstGeom prst="rect">
            <a:avLst/>
          </a:prstGeom>
        </p:spPr>
      </p:pic>
      <p:sp>
        <p:nvSpPr>
          <p:cNvPr id="6" name="Text 2"/>
          <p:cNvSpPr txBox="1"/>
          <p:nvPr/>
        </p:nvSpPr>
        <p:spPr>
          <a:xfrm>
            <a:off x="8142732" y="356616"/>
            <a:ext cx="3427171"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Systematic review · 36 studies · n = 8145</a:t>
            </a:r>
            <a:endParaRPr lang="en-US" sz="1300" dirty="0"/>
          </a:p>
        </p:txBody>
      </p:sp>
      <p:sp>
        <p:nvSpPr>
          <p:cNvPr id="7" name="Text 3"/>
          <p:cNvSpPr txBox="1"/>
          <p:nvPr/>
        </p:nvSpPr>
        <p:spPr>
          <a:xfrm>
            <a:off x="548640" y="1325880"/>
            <a:ext cx="5852160" cy="2743200"/>
          </a:xfrm>
          <a:prstGeom prst="rect">
            <a:avLst/>
          </a:prstGeom>
          <a:noFill/>
          <a:ln/>
        </p:spPr>
        <p:txBody>
          <a:bodyPr wrap="square" lIns="0" tIns="0" rIns="0" bIns="0" rtlCol="0" anchor="ctr"/>
          <a:lstStyle/>
          <a:p>
            <a:pPr indent="0" marL="0">
              <a:buNone/>
            </a:pPr>
            <a:r>
              <a:rPr lang="en-US" sz="20000" b="1" dirty="0">
                <a:solidFill>
                  <a:srgbClr val="C1272D"/>
                </a:solidFill>
                <a:latin typeface="Cambria" pitchFamily="34" charset="0"/>
                <a:ea typeface="Cambria" pitchFamily="34" charset="-122"/>
                <a:cs typeface="Cambria" pitchFamily="34" charset="-120"/>
              </a:rPr>
              <a:t>40%</a:t>
            </a:r>
            <a:endParaRPr lang="en-US" sz="20000" dirty="0"/>
          </a:p>
        </p:txBody>
      </p:sp>
      <p:sp>
        <p:nvSpPr>
          <p:cNvPr id="8" name="Text 4"/>
          <p:cNvSpPr txBox="1"/>
          <p:nvPr/>
        </p:nvSpPr>
        <p:spPr>
          <a:xfrm>
            <a:off x="6400800" y="1920240"/>
            <a:ext cx="5212080" cy="1463040"/>
          </a:xfrm>
          <a:prstGeom prst="rect">
            <a:avLst/>
          </a:prstGeom>
          <a:noFill/>
          <a:ln/>
        </p:spPr>
        <p:txBody>
          <a:bodyPr wrap="square" lIns="0" tIns="0" rIns="0" bIns="0" rtlCol="0" anchor="ctr"/>
          <a:lstStyle/>
          <a:p>
            <a:pPr indent="0" marL="0">
              <a:buNone/>
            </a:pPr>
            <a:r>
              <a:rPr lang="en-US" sz="3200" b="1" dirty="0">
                <a:solidFill>
                  <a:srgbClr val="13233A"/>
                </a:solidFill>
                <a:latin typeface="Calibri" pitchFamily="34" charset="0"/>
                <a:ea typeface="Calibri" pitchFamily="34" charset="-122"/>
                <a:cs typeface="Calibri" pitchFamily="34" charset="-120"/>
              </a:rPr>
              <a:t>die within a month of an intracerebral haemorrhage</a:t>
            </a:r>
            <a:endParaRPr lang="en-US" sz="3200" dirty="0"/>
          </a:p>
        </p:txBody>
      </p:sp>
      <p:sp>
        <p:nvSpPr>
          <p:cNvPr id="9" name="Text 5"/>
          <p:cNvSpPr txBox="1"/>
          <p:nvPr/>
        </p:nvSpPr>
        <p:spPr>
          <a:xfrm>
            <a:off x="6400800" y="3474720"/>
            <a:ext cx="5212080" cy="548640"/>
          </a:xfrm>
          <a:prstGeom prst="rect">
            <a:avLst/>
          </a:prstGeom>
          <a:noFill/>
          <a:ln/>
        </p:spPr>
        <p:txBody>
          <a:bodyPr wrap="square" lIns="0" tIns="0" rIns="0" bIns="0" rtlCol="0" anchor="ctr"/>
          <a:lstStyle/>
          <a:p>
            <a:pPr indent="0" marL="0">
              <a:buNone/>
            </a:pPr>
            <a:r>
              <a:rPr lang="en-US" sz="2400" dirty="0">
                <a:solidFill>
                  <a:srgbClr val="3E5C76"/>
                </a:solidFill>
                <a:latin typeface="Calibri" pitchFamily="34" charset="0"/>
                <a:ea typeface="Calibri" pitchFamily="34" charset="-122"/>
                <a:cs typeface="Calibri" pitchFamily="34" charset="-120"/>
              </a:rPr>
              <a:t>No improvement from 1980 to 2008.</a:t>
            </a:r>
            <a:endParaRPr lang="en-US" sz="2400" dirty="0"/>
          </a:p>
        </p:txBody>
      </p:sp>
      <p:sp>
        <p:nvSpPr>
          <p:cNvPr id="10" name="Text 6"/>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Median 1-month case fatality 40.4%; 36 population studies, n = 8145 (van Asch et al., 2010).</a:t>
            </a:r>
            <a:endParaRPr lang="en-US" sz="1200" dirty="0"/>
          </a:p>
        </p:txBody>
      </p:sp>
      <p:sp>
        <p:nvSpPr>
          <p:cNvPr id="11" name="Text 7"/>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2"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13"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4"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5"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16"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17"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18"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19"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0"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4</a:t>
            </a:r>
            <a:endParaRPr lang="en-US" sz="11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THE BIG IDEA</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ICH is a process, not a moment</a:t>
            </a:r>
            <a:endParaRPr lang="en-US" sz="4000" dirty="0"/>
          </a:p>
        </p:txBody>
      </p:sp>
      <p:sp>
        <p:nvSpPr>
          <p:cNvPr id="5" name="Shape 2"/>
          <p:cNvSpPr/>
          <p:nvPr/>
        </p:nvSpPr>
        <p:spPr>
          <a:xfrm>
            <a:off x="1554480" y="3246120"/>
            <a:ext cx="7680960" cy="0"/>
          </a:xfrm>
          <a:prstGeom prst="line">
            <a:avLst/>
          </a:prstGeom>
          <a:noFill/>
          <a:ln w="38100">
            <a:solidFill>
              <a:srgbClr val="C9D2DE"/>
            </a:solidFill>
            <a:prstDash val="solid"/>
          </a:ln>
        </p:spPr>
      </p:sp>
      <p:sp>
        <p:nvSpPr>
          <p:cNvPr id="6" name="Shape 3"/>
          <p:cNvSpPr/>
          <p:nvPr/>
        </p:nvSpPr>
        <p:spPr>
          <a:xfrm>
            <a:off x="1188720" y="2880360"/>
            <a:ext cx="731520" cy="731520"/>
          </a:xfrm>
          <a:prstGeom prst="ellipse">
            <a:avLst/>
          </a:prstGeom>
          <a:solidFill>
            <a:srgbClr val="C1272D"/>
          </a:solidFill>
          <a:ln w="6350">
            <a:solidFill>
              <a:srgbClr val="C1272D"/>
            </a:solidFill>
            <a:prstDash val="solid"/>
          </a:ln>
        </p:spPr>
      </p:sp>
      <p:sp>
        <p:nvSpPr>
          <p:cNvPr id="7" name="Text 4"/>
          <p:cNvSpPr txBox="1"/>
          <p:nvPr/>
        </p:nvSpPr>
        <p:spPr>
          <a:xfrm>
            <a:off x="1188720" y="288036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822960" y="4434840"/>
            <a:ext cx="35661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The vessel</a:t>
            </a:r>
            <a:endParaRPr lang="en-US" sz="2800" dirty="0"/>
          </a:p>
        </p:txBody>
      </p:sp>
      <p:sp>
        <p:nvSpPr>
          <p:cNvPr id="9" name="Shape 6"/>
          <p:cNvSpPr/>
          <p:nvPr/>
        </p:nvSpPr>
        <p:spPr>
          <a:xfrm>
            <a:off x="4846320" y="2697480"/>
            <a:ext cx="1097280" cy="1097280"/>
          </a:xfrm>
          <a:prstGeom prst="ellipse">
            <a:avLst/>
          </a:prstGeom>
          <a:solidFill>
            <a:srgbClr val="C1272D"/>
          </a:solidFill>
          <a:ln w="6350">
            <a:solidFill>
              <a:srgbClr val="C1272D"/>
            </a:solidFill>
            <a:prstDash val="solid"/>
          </a:ln>
        </p:spPr>
      </p:sp>
      <p:sp>
        <p:nvSpPr>
          <p:cNvPr id="10" name="Text 7"/>
          <p:cNvSpPr txBox="1"/>
          <p:nvPr/>
        </p:nvSpPr>
        <p:spPr>
          <a:xfrm>
            <a:off x="4846320" y="2697480"/>
            <a:ext cx="1097280" cy="109728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a:t>
            </a:r>
            <a:endParaRPr lang="en-US" sz="2600" dirty="0"/>
          </a:p>
        </p:txBody>
      </p:sp>
      <p:sp>
        <p:nvSpPr>
          <p:cNvPr id="11" name="Text 8"/>
          <p:cNvSpPr txBox="1"/>
          <p:nvPr/>
        </p:nvSpPr>
        <p:spPr>
          <a:xfrm>
            <a:off x="4663440" y="4434840"/>
            <a:ext cx="35661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The first hours</a:t>
            </a:r>
            <a:endParaRPr lang="en-US" sz="2800" dirty="0"/>
          </a:p>
        </p:txBody>
      </p:sp>
      <p:sp>
        <p:nvSpPr>
          <p:cNvPr id="12" name="Shape 9"/>
          <p:cNvSpPr/>
          <p:nvPr/>
        </p:nvSpPr>
        <p:spPr>
          <a:xfrm>
            <a:off x="8183880" y="2194560"/>
            <a:ext cx="2103120" cy="2103120"/>
          </a:xfrm>
          <a:prstGeom prst="ellipse">
            <a:avLst/>
          </a:prstGeom>
          <a:solidFill>
            <a:srgbClr val="C1272D">
              <a:alpha val="18000"/>
            </a:srgbClr>
          </a:solidFill>
          <a:ln w="6350">
            <a:solidFill>
              <a:srgbClr val="C1272D">
                <a:alpha val="0"/>
              </a:srgbClr>
            </a:solidFill>
            <a:prstDash val="solid"/>
          </a:ln>
        </p:spPr>
      </p:sp>
      <p:sp>
        <p:nvSpPr>
          <p:cNvPr id="13" name="Shape 10"/>
          <p:cNvSpPr/>
          <p:nvPr/>
        </p:nvSpPr>
        <p:spPr>
          <a:xfrm>
            <a:off x="8503920" y="2514600"/>
            <a:ext cx="1463040" cy="1463040"/>
          </a:xfrm>
          <a:prstGeom prst="ellipse">
            <a:avLst/>
          </a:prstGeom>
          <a:solidFill>
            <a:srgbClr val="C1272D"/>
          </a:solidFill>
          <a:ln w="6350">
            <a:solidFill>
              <a:srgbClr val="C1272D"/>
            </a:solidFill>
            <a:prstDash val="solid"/>
          </a:ln>
        </p:spPr>
      </p:sp>
      <p:sp>
        <p:nvSpPr>
          <p:cNvPr id="14" name="Text 11"/>
          <p:cNvSpPr txBox="1"/>
          <p:nvPr/>
        </p:nvSpPr>
        <p:spPr>
          <a:xfrm>
            <a:off x="8503920" y="2514600"/>
            <a:ext cx="1463040" cy="146304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3</a:t>
            </a:r>
            <a:endParaRPr lang="en-US" sz="3200" dirty="0"/>
          </a:p>
        </p:txBody>
      </p:sp>
      <p:sp>
        <p:nvSpPr>
          <p:cNvPr id="15" name="Text 12"/>
          <p:cNvSpPr txBox="1"/>
          <p:nvPr/>
        </p:nvSpPr>
        <p:spPr>
          <a:xfrm>
            <a:off x="8503920" y="4434840"/>
            <a:ext cx="35661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The days after</a:t>
            </a:r>
            <a:endParaRPr lang="en-US" sz="2800" dirty="0"/>
          </a:p>
        </p:txBody>
      </p:sp>
      <p:sp>
        <p:nvSpPr>
          <p:cNvPr id="16" name="Text 13"/>
          <p:cNvSpPr txBox="1"/>
          <p:nvPr/>
        </p:nvSpPr>
        <p:spPr>
          <a:xfrm>
            <a:off x="822960" y="5120640"/>
            <a:ext cx="9144000" cy="502920"/>
          </a:xfrm>
          <a:prstGeom prst="rect">
            <a:avLst/>
          </a:prstGeom>
          <a:noFill/>
          <a:ln/>
        </p:spPr>
        <p:txBody>
          <a:bodyPr wrap="square" lIns="0" tIns="0" rIns="0" bIns="0" rtlCol="0" anchor="t"/>
          <a:lstStyle/>
          <a:p>
            <a:pPr indent="0" marL="0">
              <a:buNone/>
            </a:pPr>
            <a:r>
              <a:rPr lang="en-US" sz="2400" dirty="0">
                <a:solidFill>
                  <a:srgbClr val="3E5C76"/>
                </a:solidFill>
                <a:latin typeface="Calibri" pitchFamily="34" charset="0"/>
                <a:ea typeface="Calibri" pitchFamily="34" charset="-122"/>
                <a:cs typeface="Calibri" pitchFamily="34" charset="-120"/>
              </a:rPr>
              <a:t>Each stage is a window to act.</a:t>
            </a:r>
            <a:endParaRPr lang="en-US" sz="2400" dirty="0"/>
          </a:p>
        </p:txBody>
      </p:sp>
      <p:sp>
        <p:nvSpPr>
          <p:cNvPr id="17" name="Text 14"/>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Framework adapted from Rossi and Cordonnier (2014).</a:t>
            </a:r>
            <a:endParaRPr lang="en-US" sz="1200" dirty="0"/>
          </a:p>
        </p:txBody>
      </p:sp>
      <p:sp>
        <p:nvSpPr>
          <p:cNvPr id="18" name="Text 15"/>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9"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20"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21"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2"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3"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24"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5"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6"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7"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5</a:t>
            </a:r>
            <a:endParaRPr lang="en-US" sz="11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TONIGHT</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Four things you will be able to do</a:t>
            </a:r>
            <a:endParaRPr lang="en-US" sz="4000" dirty="0"/>
          </a:p>
        </p:txBody>
      </p:sp>
      <p:sp>
        <p:nvSpPr>
          <p:cNvPr id="5" name="Text 2"/>
          <p:cNvSpPr txBox="1"/>
          <p:nvPr/>
        </p:nvSpPr>
        <p:spPr>
          <a:xfrm>
            <a:off x="548640" y="1783080"/>
            <a:ext cx="2194560" cy="868680"/>
          </a:xfrm>
          <a:prstGeom prst="rect">
            <a:avLst/>
          </a:prstGeom>
          <a:noFill/>
          <a:ln/>
        </p:spPr>
        <p:txBody>
          <a:bodyPr wrap="square" lIns="0" tIns="0" rIns="0" bIns="0" rtlCol="0" anchor="ctr"/>
          <a:lstStyle/>
          <a:p>
            <a:pPr indent="0" marL="0">
              <a:buNone/>
            </a:pPr>
            <a:r>
              <a:rPr lang="en-US" sz="3000" b="1" dirty="0">
                <a:solidFill>
                  <a:srgbClr val="C1272D"/>
                </a:solidFill>
                <a:latin typeface="Cambria" pitchFamily="34" charset="0"/>
                <a:ea typeface="Cambria" pitchFamily="34" charset="-122"/>
                <a:cs typeface="Cambria" pitchFamily="34" charset="-120"/>
              </a:rPr>
              <a:t>Explain</a:t>
            </a:r>
            <a:endParaRPr lang="en-US" sz="3000" dirty="0"/>
          </a:p>
        </p:txBody>
      </p:sp>
      <p:sp>
        <p:nvSpPr>
          <p:cNvPr id="6" name="Text 3"/>
          <p:cNvSpPr txBox="1"/>
          <p:nvPr/>
        </p:nvSpPr>
        <p:spPr>
          <a:xfrm>
            <a:off x="2788920" y="1783080"/>
            <a:ext cx="4434840" cy="86868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why a bleed keeps injuring the brain</a:t>
            </a:r>
            <a:endParaRPr lang="en-US" sz="2100" dirty="0"/>
          </a:p>
        </p:txBody>
      </p:sp>
      <p:sp>
        <p:nvSpPr>
          <p:cNvPr id="7" name="Shape 4"/>
          <p:cNvSpPr/>
          <p:nvPr/>
        </p:nvSpPr>
        <p:spPr>
          <a:xfrm>
            <a:off x="548640" y="2715768"/>
            <a:ext cx="6629400" cy="0"/>
          </a:xfrm>
          <a:prstGeom prst="line">
            <a:avLst/>
          </a:prstGeom>
          <a:noFill/>
          <a:ln w="12700">
            <a:solidFill>
              <a:srgbClr val="C9D2DE"/>
            </a:solidFill>
            <a:prstDash val="solid"/>
          </a:ln>
        </p:spPr>
      </p:sp>
      <p:sp>
        <p:nvSpPr>
          <p:cNvPr id="8" name="Text 5"/>
          <p:cNvSpPr txBox="1"/>
          <p:nvPr/>
        </p:nvSpPr>
        <p:spPr>
          <a:xfrm>
            <a:off x="548640" y="2788920"/>
            <a:ext cx="2194560" cy="868680"/>
          </a:xfrm>
          <a:prstGeom prst="rect">
            <a:avLst/>
          </a:prstGeom>
          <a:noFill/>
          <a:ln/>
        </p:spPr>
        <p:txBody>
          <a:bodyPr wrap="square" lIns="0" tIns="0" rIns="0" bIns="0" rtlCol="0" anchor="ctr"/>
          <a:lstStyle/>
          <a:p>
            <a:pPr indent="0" marL="0">
              <a:buNone/>
            </a:pPr>
            <a:r>
              <a:rPr lang="en-US" sz="3000" b="1" dirty="0">
                <a:solidFill>
                  <a:srgbClr val="C1272D"/>
                </a:solidFill>
                <a:latin typeface="Cambria" pitchFamily="34" charset="0"/>
                <a:ea typeface="Cambria" pitchFamily="34" charset="-122"/>
                <a:cs typeface="Cambria" pitchFamily="34" charset="-120"/>
              </a:rPr>
              <a:t>Predict</a:t>
            </a:r>
            <a:endParaRPr lang="en-US" sz="3000" dirty="0"/>
          </a:p>
        </p:txBody>
      </p:sp>
      <p:sp>
        <p:nvSpPr>
          <p:cNvPr id="9" name="Text 6"/>
          <p:cNvSpPr txBox="1"/>
          <p:nvPr/>
        </p:nvSpPr>
        <p:spPr>
          <a:xfrm>
            <a:off x="2788920" y="2788920"/>
            <a:ext cx="4434840" cy="86868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the impairment and the risk of decline</a:t>
            </a:r>
            <a:endParaRPr lang="en-US" sz="2100" dirty="0"/>
          </a:p>
        </p:txBody>
      </p:sp>
      <p:sp>
        <p:nvSpPr>
          <p:cNvPr id="10" name="Shape 7"/>
          <p:cNvSpPr/>
          <p:nvPr/>
        </p:nvSpPr>
        <p:spPr>
          <a:xfrm>
            <a:off x="548640" y="3721608"/>
            <a:ext cx="6629400" cy="0"/>
          </a:xfrm>
          <a:prstGeom prst="line">
            <a:avLst/>
          </a:prstGeom>
          <a:noFill/>
          <a:ln w="12700">
            <a:solidFill>
              <a:srgbClr val="C9D2DE"/>
            </a:solidFill>
            <a:prstDash val="solid"/>
          </a:ln>
        </p:spPr>
      </p:sp>
      <p:sp>
        <p:nvSpPr>
          <p:cNvPr id="11" name="Text 8"/>
          <p:cNvSpPr txBox="1"/>
          <p:nvPr/>
        </p:nvSpPr>
        <p:spPr>
          <a:xfrm>
            <a:off x="548640" y="3794760"/>
            <a:ext cx="2194560" cy="868680"/>
          </a:xfrm>
          <a:prstGeom prst="rect">
            <a:avLst/>
          </a:prstGeom>
          <a:noFill/>
          <a:ln/>
        </p:spPr>
        <p:txBody>
          <a:bodyPr wrap="square" lIns="0" tIns="0" rIns="0" bIns="0" rtlCol="0" anchor="ctr"/>
          <a:lstStyle/>
          <a:p>
            <a:pPr indent="0" marL="0">
              <a:buNone/>
            </a:pPr>
            <a:r>
              <a:rPr lang="en-US" sz="3000" b="1" dirty="0">
                <a:solidFill>
                  <a:srgbClr val="C1272D"/>
                </a:solidFill>
                <a:latin typeface="Cambria" pitchFamily="34" charset="0"/>
                <a:ea typeface="Cambria" pitchFamily="34" charset="-122"/>
                <a:cs typeface="Cambria" pitchFamily="34" charset="-120"/>
              </a:rPr>
              <a:t>Appraise</a:t>
            </a:r>
            <a:endParaRPr lang="en-US" sz="3000" dirty="0"/>
          </a:p>
        </p:txBody>
      </p:sp>
      <p:sp>
        <p:nvSpPr>
          <p:cNvPr id="12" name="Text 9"/>
          <p:cNvSpPr txBox="1"/>
          <p:nvPr/>
        </p:nvSpPr>
        <p:spPr>
          <a:xfrm>
            <a:off x="2788920" y="3794760"/>
            <a:ext cx="4434840" cy="86868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the strength of each claim</a:t>
            </a:r>
            <a:endParaRPr lang="en-US" sz="2100" dirty="0"/>
          </a:p>
        </p:txBody>
      </p:sp>
      <p:sp>
        <p:nvSpPr>
          <p:cNvPr id="13" name="Shape 10"/>
          <p:cNvSpPr/>
          <p:nvPr/>
        </p:nvSpPr>
        <p:spPr>
          <a:xfrm>
            <a:off x="548640" y="4727448"/>
            <a:ext cx="6629400" cy="0"/>
          </a:xfrm>
          <a:prstGeom prst="line">
            <a:avLst/>
          </a:prstGeom>
          <a:noFill/>
          <a:ln w="12700">
            <a:solidFill>
              <a:srgbClr val="C9D2DE"/>
            </a:solidFill>
            <a:prstDash val="solid"/>
          </a:ln>
        </p:spPr>
      </p:sp>
      <p:sp>
        <p:nvSpPr>
          <p:cNvPr id="14" name="Text 11"/>
          <p:cNvSpPr txBox="1"/>
          <p:nvPr/>
        </p:nvSpPr>
        <p:spPr>
          <a:xfrm>
            <a:off x="548640" y="4800600"/>
            <a:ext cx="2194560" cy="868680"/>
          </a:xfrm>
          <a:prstGeom prst="rect">
            <a:avLst/>
          </a:prstGeom>
          <a:noFill/>
          <a:ln/>
        </p:spPr>
        <p:txBody>
          <a:bodyPr wrap="square" lIns="0" tIns="0" rIns="0" bIns="0" rtlCol="0" anchor="ctr"/>
          <a:lstStyle/>
          <a:p>
            <a:pPr indent="0" marL="0">
              <a:buNone/>
            </a:pPr>
            <a:r>
              <a:rPr lang="en-US" sz="3000" b="1" dirty="0">
                <a:solidFill>
                  <a:srgbClr val="C1272D"/>
                </a:solidFill>
                <a:latin typeface="Cambria" pitchFamily="34" charset="0"/>
                <a:ea typeface="Cambria" pitchFamily="34" charset="-122"/>
                <a:cs typeface="Cambria" pitchFamily="34" charset="-120"/>
              </a:rPr>
              <a:t>Apply</a:t>
            </a:r>
            <a:endParaRPr lang="en-US" sz="3000" dirty="0"/>
          </a:p>
        </p:txBody>
      </p:sp>
      <p:sp>
        <p:nvSpPr>
          <p:cNvPr id="15" name="Text 12"/>
          <p:cNvSpPr txBox="1"/>
          <p:nvPr/>
        </p:nvSpPr>
        <p:spPr>
          <a:xfrm>
            <a:off x="2788920" y="4800600"/>
            <a:ext cx="4434840" cy="86868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time and pace therapy to the stage</a:t>
            </a:r>
            <a:endParaRPr lang="en-US" sz="2100" dirty="0"/>
          </a:p>
        </p:txBody>
      </p:sp>
      <p:sp>
        <p:nvSpPr>
          <p:cNvPr id="16" name="Shape 13"/>
          <p:cNvSpPr/>
          <p:nvPr/>
        </p:nvSpPr>
        <p:spPr>
          <a:xfrm>
            <a:off x="7589520" y="1783080"/>
            <a:ext cx="4053535" cy="3977640"/>
          </a:xfrm>
          <a:prstGeom prst="roundRect">
            <a:avLst>
              <a:gd name="adj" fmla="val 2299"/>
            </a:avLst>
          </a:prstGeom>
          <a:solidFill>
            <a:srgbClr val="13233A"/>
          </a:solidFill>
          <a:ln w="6350">
            <a:solidFill>
              <a:srgbClr val="13233A"/>
            </a:solidFill>
            <a:prstDash val="solid"/>
          </a:ln>
        </p:spPr>
      </p:sp>
      <p:sp>
        <p:nvSpPr>
          <p:cNvPr id="17" name="Text 14"/>
          <p:cNvSpPr txBox="1"/>
          <p:nvPr/>
        </p:nvSpPr>
        <p:spPr>
          <a:xfrm>
            <a:off x="7955280" y="1965960"/>
            <a:ext cx="3322015"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Two ways to listen</a:t>
            </a:r>
            <a:endParaRPr lang="en-US" sz="2600" dirty="0"/>
          </a:p>
        </p:txBody>
      </p:sp>
      <p:sp>
        <p:nvSpPr>
          <p:cNvPr id="18" name="Text 15"/>
          <p:cNvSpPr txBox="1"/>
          <p:nvPr/>
        </p:nvSpPr>
        <p:spPr>
          <a:xfrm>
            <a:off x="7955280" y="2697480"/>
            <a:ext cx="3322015" cy="320040"/>
          </a:xfrm>
          <a:prstGeom prst="rect">
            <a:avLst/>
          </a:prstGeom>
          <a:noFill/>
          <a:ln/>
        </p:spPr>
        <p:txBody>
          <a:bodyPr wrap="square" lIns="0" tIns="0" rIns="0" bIns="0" rtlCol="0" anchor="ctr"/>
          <a:lstStyle/>
          <a:p>
            <a:pPr indent="0" marL="0">
              <a:buNone/>
            </a:pPr>
            <a:r>
              <a:rPr lang="en-US" sz="1300" b="1" spc="200" kern="0" dirty="0">
                <a:solidFill>
                  <a:srgbClr val="F08A8E"/>
                </a:solidFill>
                <a:latin typeface="Calibri" pitchFamily="34" charset="0"/>
                <a:ea typeface="Calibri" pitchFamily="34" charset="-122"/>
                <a:cs typeface="Calibri" pitchFamily="34" charset="-120"/>
              </a:rPr>
              <a:t>THE TITLE</a:t>
            </a:r>
            <a:endParaRPr lang="en-US" sz="1300" dirty="0"/>
          </a:p>
        </p:txBody>
      </p:sp>
      <p:sp>
        <p:nvSpPr>
          <p:cNvPr id="19" name="Text 16"/>
          <p:cNvSpPr txBox="1"/>
          <p:nvPr/>
        </p:nvSpPr>
        <p:spPr>
          <a:xfrm>
            <a:off x="7955280" y="3035808"/>
            <a:ext cx="3322015" cy="731520"/>
          </a:xfrm>
          <a:prstGeom prst="rect">
            <a:avLst/>
          </a:prstGeom>
          <a:noFill/>
          <a:ln/>
        </p:spPr>
        <p:txBody>
          <a:bodyPr wrap="square" lIns="0" tIns="0" rIns="0" bIns="0" rtlCol="0" anchor="t"/>
          <a:lstStyle/>
          <a:p>
            <a:pPr indent="0" marL="0">
              <a:buNone/>
            </a:pPr>
            <a:r>
              <a:rPr lang="en-US" sz="1900" dirty="0">
                <a:solidFill>
                  <a:srgbClr val="C9D3E0"/>
                </a:solidFill>
                <a:latin typeface="Calibri" pitchFamily="34" charset="0"/>
                <a:ea typeface="Calibri" pitchFamily="34" charset="-122"/>
                <a:cs typeface="Calibri" pitchFamily="34" charset="-120"/>
              </a:rPr>
              <a:t>is the message. New to stroke? Hold on to it.</a:t>
            </a:r>
            <a:endParaRPr lang="en-US" sz="1900" dirty="0"/>
          </a:p>
        </p:txBody>
      </p:sp>
      <p:sp>
        <p:nvSpPr>
          <p:cNvPr id="20" name="Text 17"/>
          <p:cNvSpPr txBox="1"/>
          <p:nvPr/>
        </p:nvSpPr>
        <p:spPr>
          <a:xfrm>
            <a:off x="7955280" y="3977640"/>
            <a:ext cx="1188720" cy="347472"/>
          </a:xfrm>
          <a:prstGeom prst="rect">
            <a:avLst/>
          </a:prstGeom>
          <a:noFill/>
          <a:ln/>
        </p:spPr>
        <p:txBody>
          <a:bodyPr wrap="square" lIns="0" tIns="0" rIns="0" bIns="0" rtlCol="0" anchor="ctr"/>
          <a:lstStyle/>
          <a:p>
            <a:pPr indent="0" marL="0">
              <a:buNone/>
            </a:pPr>
            <a:r>
              <a:rPr lang="en-US" sz="1300" b="1" spc="200" kern="0" dirty="0">
                <a:solidFill>
                  <a:srgbClr val="F08A8E"/>
                </a:solidFill>
                <a:latin typeface="Calibri" pitchFamily="34" charset="0"/>
                <a:ea typeface="Calibri" pitchFamily="34" charset="-122"/>
                <a:cs typeface="Calibri" pitchFamily="34" charset="-120"/>
              </a:rPr>
              <a:t>THE TAG</a:t>
            </a:r>
            <a:endParaRPr lang="en-US" sz="1300" dirty="0"/>
          </a:p>
        </p:txBody>
      </p:sp>
      <p:sp>
        <p:nvSpPr>
          <p:cNvPr id="21" name="Shape 18"/>
          <p:cNvSpPr/>
          <p:nvPr/>
        </p:nvSpPr>
        <p:spPr>
          <a:xfrm>
            <a:off x="9098280" y="3977640"/>
            <a:ext cx="1971446" cy="347472"/>
          </a:xfrm>
          <a:prstGeom prst="roundRect">
            <a:avLst>
              <a:gd name="adj" fmla="val 50000"/>
            </a:avLst>
          </a:prstGeom>
          <a:solidFill>
            <a:srgbClr val="E8EDF3"/>
          </a:solidFill>
          <a:ln w="6350">
            <a:solidFill>
              <a:srgbClr val="E8EDF3"/>
            </a:solidFill>
            <a:prstDash val="solid"/>
          </a:ln>
        </p:spPr>
      </p:sp>
      <p:pic>
        <p:nvPicPr>
          <p:cNvPr id="22" name="Image 0" descr="preencoded.png">    </p:cNvPr>
          <p:cNvPicPr>
            <a:picLocks noChangeAspect="1"/>
          </p:cNvPicPr>
          <p:nvPr/>
        </p:nvPicPr>
        <p:blipFill>
          <a:blip r:embed="rId1"/>
          <a:stretch>
            <a:fillRect/>
          </a:stretch>
        </p:blipFill>
        <p:spPr>
          <a:xfrm>
            <a:off x="9253728" y="4064508"/>
            <a:ext cx="173736" cy="173736"/>
          </a:xfrm>
          <a:prstGeom prst="rect">
            <a:avLst/>
          </a:prstGeom>
        </p:spPr>
      </p:pic>
      <p:sp>
        <p:nvSpPr>
          <p:cNvPr id="23" name="Text 19"/>
          <p:cNvSpPr txBox="1"/>
          <p:nvPr/>
        </p:nvSpPr>
        <p:spPr>
          <a:xfrm>
            <a:off x="9500616" y="3977640"/>
            <a:ext cx="1495958"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Cohort · n = 1013</a:t>
            </a:r>
            <a:endParaRPr lang="en-US" sz="1300" dirty="0"/>
          </a:p>
        </p:txBody>
      </p:sp>
      <p:sp>
        <p:nvSpPr>
          <p:cNvPr id="24" name="Text 20"/>
          <p:cNvSpPr txBox="1"/>
          <p:nvPr/>
        </p:nvSpPr>
        <p:spPr>
          <a:xfrm>
            <a:off x="7955280" y="4434840"/>
            <a:ext cx="3322015" cy="731520"/>
          </a:xfrm>
          <a:prstGeom prst="rect">
            <a:avLst/>
          </a:prstGeom>
          <a:noFill/>
          <a:ln/>
        </p:spPr>
        <p:txBody>
          <a:bodyPr wrap="square" lIns="0" tIns="0" rIns="0" bIns="0" rtlCol="0" anchor="t"/>
          <a:lstStyle/>
          <a:p>
            <a:pPr indent="0" marL="0">
              <a:buNone/>
            </a:pPr>
            <a:r>
              <a:rPr lang="en-US" sz="1900" dirty="0">
                <a:solidFill>
                  <a:srgbClr val="C9D3E0"/>
                </a:solidFill>
                <a:latin typeface="Calibri" pitchFamily="34" charset="0"/>
                <a:ea typeface="Calibri" pitchFamily="34" charset="-122"/>
                <a:cs typeface="Calibri" pitchFamily="34" charset="-120"/>
              </a:rPr>
              <a:t>is the evidence. Experienced? Challenge it.</a:t>
            </a:r>
            <a:endParaRPr lang="en-US" sz="1900" dirty="0"/>
          </a:p>
        </p:txBody>
      </p:sp>
      <p:sp>
        <p:nvSpPr>
          <p:cNvPr id="25" name="Text 21"/>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6"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27"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28"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9"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0"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1"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2"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3"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4"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6</a:t>
            </a:r>
            <a:endParaRPr lang="en-US" sz="11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bleed"/>
          <p:cNvSpPr/>
          <p:nvPr/>
        </p:nvSpPr>
        <p:spPr>
          <a:xfrm>
            <a:off x="8686800" y="2788920"/>
            <a:ext cx="1280160" cy="1280160"/>
          </a:xfrm>
          <a:prstGeom prst="ellipse">
            <a:avLst/>
          </a:prstGeom>
          <a:solidFill>
            <a:srgbClr val="C1272D"/>
          </a:solidFill>
          <a:ln w="6350">
            <a:solidFill>
              <a:srgbClr val="C1272D"/>
            </a:solidFill>
            <a:prstDash val="solid"/>
          </a:ln>
        </p:spPr>
      </p:sp>
      <p:sp>
        <p:nvSpPr>
          <p:cNvPr id="5" name="Text 2"/>
          <p:cNvSpPr txBox="1"/>
          <p:nvPr/>
        </p:nvSpPr>
        <p:spPr>
          <a:xfrm>
            <a:off x="731520" y="1325880"/>
            <a:ext cx="2743200" cy="1463040"/>
          </a:xfrm>
          <a:prstGeom prst="rect">
            <a:avLst/>
          </a:prstGeom>
          <a:noFill/>
          <a:ln/>
        </p:spPr>
        <p:txBody>
          <a:bodyPr wrap="square" lIns="0" tIns="0" rIns="0" bIns="0" rtlCol="0" anchor="b"/>
          <a:lstStyle/>
          <a:p>
            <a:pPr indent="0" marL="0">
              <a:buNone/>
            </a:pPr>
            <a:r>
              <a:rPr lang="en-US" sz="11000" b="1" dirty="0">
                <a:solidFill>
                  <a:srgbClr val="E0474C"/>
                </a:solidFill>
                <a:latin typeface="Cambria" pitchFamily="34" charset="0"/>
                <a:ea typeface="Cambria" pitchFamily="34" charset="-122"/>
                <a:cs typeface="Cambria" pitchFamily="34" charset="-120"/>
              </a:rPr>
              <a:t>01</a:t>
            </a:r>
            <a:endParaRPr lang="en-US" sz="11000" dirty="0"/>
          </a:p>
        </p:txBody>
      </p:sp>
      <p:sp>
        <p:nvSpPr>
          <p:cNvPr id="6" name="Text 3"/>
          <p:cNvSpPr txBox="1"/>
          <p:nvPr/>
        </p:nvSpPr>
        <p:spPr>
          <a:xfrm>
            <a:off x="731520" y="2926080"/>
            <a:ext cx="62179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The vessel</a:t>
            </a:r>
            <a:endParaRPr lang="en-US" sz="5400" dirty="0"/>
          </a:p>
        </p:txBody>
      </p:sp>
      <p:sp>
        <p:nvSpPr>
          <p:cNvPr id="7" name="Text 4"/>
          <p:cNvSpPr txBox="1"/>
          <p:nvPr/>
        </p:nvSpPr>
        <p:spPr>
          <a:xfrm>
            <a:off x="731520" y="3931920"/>
            <a:ext cx="5760720" cy="82296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Why does a small artery give way?</a:t>
            </a:r>
            <a:endParaRPr lang="en-US" sz="2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a:t>
            </a:r>
            <a:endParaRPr lang="en-US" sz="1400" dirty="0"/>
          </a:p>
        </p:txBody>
      </p:sp>
      <p:sp>
        <p:nvSpPr>
          <p:cNvPr id="4" name="Shape 1"/>
          <p:cNvSpPr/>
          <p:nvPr/>
        </p:nvSpPr>
        <p:spPr>
          <a:xfrm>
            <a:off x="8625535" y="356616"/>
            <a:ext cx="3017520"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780983" y="443484"/>
            <a:ext cx="173736" cy="173736"/>
          </a:xfrm>
          <a:prstGeom prst="rect">
            <a:avLst/>
          </a:prstGeom>
        </p:spPr>
      </p:pic>
      <p:sp>
        <p:nvSpPr>
          <p:cNvPr id="6" name="Text 2"/>
          <p:cNvSpPr txBox="1"/>
          <p:nvPr/>
        </p:nvSpPr>
        <p:spPr>
          <a:xfrm>
            <a:off x="9027871" y="356616"/>
            <a:ext cx="2542032"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Cohort · n = 1013 · one centre</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Hypertension and amyloid cause over half</a:t>
            </a:r>
            <a:endParaRPr lang="en-US" sz="4000" dirty="0"/>
          </a:p>
        </p:txBody>
      </p:sp>
      <p:graphicFrame>
        <p:nvGraphicFramePr>
          <p:cNvPr id="8" name="Chart 0" descr=""/>
          <p:cNvGraphicFramePr/>
          <p:nvPr/>
        </p:nvGraphicFramePr>
        <p:xfrm>
          <a:off x="548640" y="1691640"/>
          <a:ext cx="7589520" cy="4114800"/>
        </p:xfrm>
        <a:graphic xmlns:a="http://schemas.openxmlformats.org/drawingml/2006/main">
          <a:graphicData uri="http://schemas.openxmlformats.org/drawingml/2006/chart">
            <c:chart xmlns:c="http://schemas.openxmlformats.org/drawingml/2006/chart" r:id="rId2"/>
          </a:graphicData>
        </a:graphic>
      </p:graphicFrame>
      <p:sp>
        <p:nvSpPr>
          <p:cNvPr id="9" name="Shape 4"/>
          <p:cNvSpPr/>
          <p:nvPr/>
        </p:nvSpPr>
        <p:spPr>
          <a:xfrm>
            <a:off x="8503920" y="1828800"/>
            <a:ext cx="3139135" cy="3931920"/>
          </a:xfrm>
          <a:prstGeom prst="roundRect">
            <a:avLst>
              <a:gd name="adj" fmla="val 2913"/>
            </a:avLst>
          </a:prstGeom>
          <a:solidFill>
            <a:srgbClr val="F6DCDD"/>
          </a:solidFill>
          <a:ln w="6350">
            <a:solidFill>
              <a:srgbClr val="F6DCDD"/>
            </a:solidFill>
            <a:prstDash val="solid"/>
          </a:ln>
        </p:spPr>
      </p:sp>
      <p:sp>
        <p:nvSpPr>
          <p:cNvPr id="10" name="Text 5"/>
          <p:cNvSpPr txBox="1"/>
          <p:nvPr/>
        </p:nvSpPr>
        <p:spPr>
          <a:xfrm>
            <a:off x="8823960" y="2606040"/>
            <a:ext cx="2499055" cy="1280160"/>
          </a:xfrm>
          <a:prstGeom prst="rect">
            <a:avLst/>
          </a:prstGeom>
          <a:noFill/>
          <a:ln/>
        </p:spPr>
        <p:txBody>
          <a:bodyPr wrap="square" lIns="0" tIns="0" rIns="0" bIns="0" rtlCol="0" anchor="ctr"/>
          <a:lstStyle/>
          <a:p>
            <a:pPr indent="0" marL="0">
              <a:buNone/>
            </a:pPr>
            <a:r>
              <a:rPr lang="en-US" sz="8000" b="1" dirty="0">
                <a:solidFill>
                  <a:srgbClr val="C1272D"/>
                </a:solidFill>
                <a:latin typeface="Cambria" pitchFamily="34" charset="0"/>
                <a:ea typeface="Cambria" pitchFamily="34" charset="-122"/>
                <a:cs typeface="Cambria" pitchFamily="34" charset="-120"/>
              </a:rPr>
              <a:t>55%</a:t>
            </a:r>
            <a:endParaRPr lang="en-US" sz="8000" dirty="0"/>
          </a:p>
        </p:txBody>
      </p:sp>
      <p:sp>
        <p:nvSpPr>
          <p:cNvPr id="11" name="Text 6"/>
          <p:cNvSpPr txBox="1"/>
          <p:nvPr/>
        </p:nvSpPr>
        <p:spPr>
          <a:xfrm>
            <a:off x="8823960" y="3931920"/>
            <a:ext cx="2499055" cy="1005840"/>
          </a:xfrm>
          <a:prstGeom prst="rect">
            <a:avLst/>
          </a:prstGeom>
          <a:noFill/>
          <a:ln/>
        </p:spPr>
        <p:txBody>
          <a:bodyPr wrap="square" lIns="0" tIns="0" rIns="0" bIns="0" rtlCol="0" anchor="t"/>
          <a:lstStyle/>
          <a:p>
            <a:pPr indent="0" marL="0">
              <a:buNone/>
            </a:pPr>
            <a:r>
              <a:rPr lang="en-US" sz="2600" b="1" dirty="0">
                <a:solidFill>
                  <a:srgbClr val="8E1B1F"/>
                </a:solidFill>
                <a:latin typeface="Calibri" pitchFamily="34" charset="0"/>
                <a:ea typeface="Calibri" pitchFamily="34" charset="-122"/>
                <a:cs typeface="Calibri" pitchFamily="34" charset="-120"/>
              </a:rPr>
              <a:t>two small-vessel diseases</a:t>
            </a:r>
            <a:endParaRPr lang="en-US" sz="2600" dirty="0"/>
          </a:p>
        </p:txBody>
      </p:sp>
      <p:sp>
        <p:nvSpPr>
          <p:cNvPr id="12" name="Text 7"/>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SMASH-U classification, n = 1013, Helsinki (Meretoja et al., 2012). Full breakdown on the handout.</a:t>
            </a:r>
            <a:endParaRPr lang="en-US" sz="1200" dirty="0"/>
          </a:p>
        </p:txBody>
      </p:sp>
      <p:sp>
        <p:nvSpPr>
          <p:cNvPr id="13" name="Text 8"/>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4"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15"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16"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7"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18"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19"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0"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1"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2"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8</a:t>
            </a:r>
            <a:endParaRPr lang="en-US" sz="11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Two diseases, two sets of vessels</a:t>
            </a:r>
            <a:endParaRPr lang="en-US" sz="4000" dirty="0"/>
          </a:p>
        </p:txBody>
      </p:sp>
      <p:sp>
        <p:nvSpPr>
          <p:cNvPr id="5" name="Shape 2"/>
          <p:cNvSpPr/>
          <p:nvPr/>
        </p:nvSpPr>
        <p:spPr>
          <a:xfrm>
            <a:off x="548640" y="1737360"/>
            <a:ext cx="3515258" cy="4069080"/>
          </a:xfrm>
          <a:prstGeom prst="roundRect">
            <a:avLst>
              <a:gd name="adj" fmla="val 2601"/>
            </a:avLst>
          </a:prstGeom>
          <a:solidFill>
            <a:srgbClr val="F3F5F8"/>
          </a:solidFill>
          <a:ln w="6350">
            <a:solidFill>
              <a:srgbClr val="F3F5F8"/>
            </a:solidFill>
            <a:prstDash val="solid"/>
          </a:ln>
        </p:spPr>
      </p:sp>
      <p:sp>
        <p:nvSpPr>
          <p:cNvPr id="6" name="Shape 3"/>
          <p:cNvSpPr/>
          <p:nvPr/>
        </p:nvSpPr>
        <p:spPr>
          <a:xfrm>
            <a:off x="1346149" y="2011680"/>
            <a:ext cx="1920240" cy="1920240"/>
          </a:xfrm>
          <a:prstGeom prst="ellipse">
            <a:avLst/>
          </a:prstGeom>
          <a:solidFill>
            <a:srgbClr val="C3CEDB"/>
          </a:solidFill>
          <a:ln w="6350">
            <a:solidFill>
              <a:srgbClr val="C3CEDB"/>
            </a:solidFill>
            <a:prstDash val="solid"/>
          </a:ln>
        </p:spPr>
      </p:sp>
      <p:sp>
        <p:nvSpPr>
          <p:cNvPr id="7" name="Shape 4"/>
          <p:cNvSpPr/>
          <p:nvPr/>
        </p:nvSpPr>
        <p:spPr>
          <a:xfrm>
            <a:off x="1557376" y="2222906"/>
            <a:ext cx="1497787" cy="1497787"/>
          </a:xfrm>
          <a:prstGeom prst="ellipse">
            <a:avLst/>
          </a:prstGeom>
          <a:solidFill>
            <a:srgbClr val="C1272D"/>
          </a:solidFill>
          <a:ln w="6350">
            <a:solidFill>
              <a:srgbClr val="C1272D"/>
            </a:solidFill>
            <a:prstDash val="solid"/>
          </a:ln>
        </p:spPr>
      </p:sp>
      <p:sp>
        <p:nvSpPr>
          <p:cNvPr id="8" name="Text 5"/>
          <p:cNvSpPr txBox="1"/>
          <p:nvPr/>
        </p:nvSpPr>
        <p:spPr>
          <a:xfrm>
            <a:off x="868680" y="4206240"/>
            <a:ext cx="2875178" cy="502920"/>
          </a:xfrm>
          <a:prstGeom prst="rect">
            <a:avLst/>
          </a:prstGeom>
          <a:noFill/>
          <a:ln/>
        </p:spPr>
        <p:txBody>
          <a:bodyPr wrap="square" lIns="0" tIns="0" rIns="0" bIns="0" rtlCol="0" anchor="t"/>
          <a:lstStyle/>
          <a:p>
            <a:pPr indent="0" marL="0">
              <a:buNone/>
            </a:pPr>
            <a:r>
              <a:rPr lang="en-US" sz="2600" b="1" dirty="0">
                <a:solidFill>
                  <a:srgbClr val="3E5C76"/>
                </a:solidFill>
                <a:latin typeface="Calibri" pitchFamily="34" charset="0"/>
                <a:ea typeface="Calibri" pitchFamily="34" charset="-122"/>
                <a:cs typeface="Calibri" pitchFamily="34" charset="-120"/>
              </a:rPr>
              <a:t>Healthy</a:t>
            </a:r>
            <a:endParaRPr lang="en-US" sz="2600" dirty="0"/>
          </a:p>
        </p:txBody>
      </p:sp>
      <p:sp>
        <p:nvSpPr>
          <p:cNvPr id="9" name="Text 6"/>
          <p:cNvSpPr txBox="1"/>
          <p:nvPr/>
        </p:nvSpPr>
        <p:spPr>
          <a:xfrm>
            <a:off x="868680" y="4754880"/>
            <a:ext cx="2966618" cy="86868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Thin wall, wide channel</a:t>
            </a:r>
            <a:endParaRPr lang="en-US" sz="2000" dirty="0"/>
          </a:p>
        </p:txBody>
      </p:sp>
      <p:sp>
        <p:nvSpPr>
          <p:cNvPr id="10" name="Shape 7"/>
          <p:cNvSpPr/>
          <p:nvPr/>
        </p:nvSpPr>
        <p:spPr>
          <a:xfrm>
            <a:off x="4338218" y="1737360"/>
            <a:ext cx="3515258" cy="4069080"/>
          </a:xfrm>
          <a:prstGeom prst="roundRect">
            <a:avLst>
              <a:gd name="adj" fmla="val 2601"/>
            </a:avLst>
          </a:prstGeom>
          <a:solidFill>
            <a:srgbClr val="E8EDF3"/>
          </a:solidFill>
          <a:ln w="6350">
            <a:solidFill>
              <a:srgbClr val="E8EDF3"/>
            </a:solidFill>
            <a:prstDash val="solid"/>
          </a:ln>
        </p:spPr>
      </p:sp>
      <p:sp>
        <p:nvSpPr>
          <p:cNvPr id="11" name="Shape 8"/>
          <p:cNvSpPr/>
          <p:nvPr/>
        </p:nvSpPr>
        <p:spPr>
          <a:xfrm>
            <a:off x="6461441" y="1914921"/>
            <a:ext cx="691286" cy="691286"/>
          </a:xfrm>
          <a:prstGeom prst="ellipse">
            <a:avLst/>
          </a:prstGeom>
          <a:solidFill>
            <a:srgbClr val="C3CEDB"/>
          </a:solidFill>
          <a:ln w="6350">
            <a:solidFill>
              <a:srgbClr val="C3CEDB"/>
            </a:solidFill>
            <a:prstDash val="solid"/>
          </a:ln>
        </p:spPr>
      </p:sp>
      <p:sp>
        <p:nvSpPr>
          <p:cNvPr id="12" name="Shape 9"/>
          <p:cNvSpPr/>
          <p:nvPr/>
        </p:nvSpPr>
        <p:spPr>
          <a:xfrm>
            <a:off x="5135728" y="2011680"/>
            <a:ext cx="1920240" cy="1920240"/>
          </a:xfrm>
          <a:prstGeom prst="ellipse">
            <a:avLst/>
          </a:prstGeom>
          <a:solidFill>
            <a:srgbClr val="C3CEDB"/>
          </a:solidFill>
          <a:ln w="6350">
            <a:solidFill>
              <a:srgbClr val="C3CEDB"/>
            </a:solidFill>
            <a:prstDash val="solid"/>
          </a:ln>
        </p:spPr>
      </p:sp>
      <p:sp>
        <p:nvSpPr>
          <p:cNvPr id="13" name="Shape 10"/>
          <p:cNvSpPr/>
          <p:nvPr/>
        </p:nvSpPr>
        <p:spPr>
          <a:xfrm>
            <a:off x="5279746" y="2155698"/>
            <a:ext cx="1632204" cy="1632204"/>
          </a:xfrm>
          <a:prstGeom prst="ellipse">
            <a:avLst/>
          </a:prstGeom>
          <a:solidFill>
            <a:srgbClr val="F1F3F6"/>
          </a:solidFill>
          <a:ln w="12700">
            <a:solidFill>
              <a:srgbClr val="AEB9C7"/>
            </a:solidFill>
            <a:prstDash val="dash"/>
          </a:ln>
        </p:spPr>
      </p:sp>
      <p:sp>
        <p:nvSpPr>
          <p:cNvPr id="14" name="Shape 11"/>
          <p:cNvSpPr/>
          <p:nvPr/>
        </p:nvSpPr>
        <p:spPr>
          <a:xfrm>
            <a:off x="5807812" y="2683764"/>
            <a:ext cx="576072" cy="576072"/>
          </a:xfrm>
          <a:prstGeom prst="ellipse">
            <a:avLst/>
          </a:prstGeom>
          <a:solidFill>
            <a:srgbClr val="C1272D"/>
          </a:solidFill>
          <a:ln w="6350">
            <a:solidFill>
              <a:srgbClr val="C1272D"/>
            </a:solidFill>
            <a:prstDash val="solid"/>
          </a:ln>
        </p:spPr>
      </p:sp>
      <p:sp>
        <p:nvSpPr>
          <p:cNvPr id="15" name="Shape 12"/>
          <p:cNvSpPr/>
          <p:nvPr/>
        </p:nvSpPr>
        <p:spPr>
          <a:xfrm>
            <a:off x="6586256" y="2039736"/>
            <a:ext cx="441655" cy="441655"/>
          </a:xfrm>
          <a:prstGeom prst="ellipse">
            <a:avLst/>
          </a:prstGeom>
          <a:solidFill>
            <a:srgbClr val="C1272D"/>
          </a:solidFill>
          <a:ln w="6350">
            <a:solidFill>
              <a:srgbClr val="C1272D"/>
            </a:solidFill>
            <a:prstDash val="solid"/>
          </a:ln>
        </p:spPr>
      </p:sp>
      <p:sp>
        <p:nvSpPr>
          <p:cNvPr id="16" name="Text 13"/>
          <p:cNvSpPr txBox="1"/>
          <p:nvPr/>
        </p:nvSpPr>
        <p:spPr>
          <a:xfrm>
            <a:off x="4658258" y="4206240"/>
            <a:ext cx="2875178" cy="502920"/>
          </a:xfrm>
          <a:prstGeom prst="rect">
            <a:avLst/>
          </a:prstGeom>
          <a:noFill/>
          <a:ln/>
        </p:spPr>
        <p:txBody>
          <a:bodyPr wrap="square" lIns="0" tIns="0" rIns="0" bIns="0" rtlCol="0" anchor="t"/>
          <a:lstStyle/>
          <a:p>
            <a:pPr indent="0" marL="0">
              <a:buNone/>
            </a:pPr>
            <a:r>
              <a:rPr lang="en-US" sz="2600" b="1" dirty="0">
                <a:solidFill>
                  <a:srgbClr val="13233A"/>
                </a:solidFill>
                <a:latin typeface="Calibri" pitchFamily="34" charset="0"/>
                <a:ea typeface="Calibri" pitchFamily="34" charset="-122"/>
                <a:cs typeface="Calibri" pitchFamily="34" charset="-120"/>
              </a:rPr>
              <a:t>Hypertension</a:t>
            </a:r>
            <a:endParaRPr lang="en-US" sz="2600" dirty="0"/>
          </a:p>
        </p:txBody>
      </p:sp>
      <p:sp>
        <p:nvSpPr>
          <p:cNvPr id="17" name="Text 14"/>
          <p:cNvSpPr txBox="1"/>
          <p:nvPr/>
        </p:nvSpPr>
        <p:spPr>
          <a:xfrm>
            <a:off x="4658258" y="4754880"/>
            <a:ext cx="2966618" cy="86868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Deep arteries: thick, brittle wall</a:t>
            </a:r>
            <a:endParaRPr lang="en-US" sz="2000" dirty="0"/>
          </a:p>
        </p:txBody>
      </p:sp>
      <p:sp>
        <p:nvSpPr>
          <p:cNvPr id="18" name="Shape 15"/>
          <p:cNvSpPr/>
          <p:nvPr/>
        </p:nvSpPr>
        <p:spPr>
          <a:xfrm>
            <a:off x="8127797" y="1737360"/>
            <a:ext cx="3515258" cy="4069080"/>
          </a:xfrm>
          <a:prstGeom prst="roundRect">
            <a:avLst>
              <a:gd name="adj" fmla="val 2601"/>
            </a:avLst>
          </a:prstGeom>
          <a:solidFill>
            <a:srgbClr val="E8EDF3"/>
          </a:solidFill>
          <a:ln w="6350">
            <a:solidFill>
              <a:srgbClr val="E8EDF3"/>
            </a:solidFill>
            <a:prstDash val="solid"/>
          </a:ln>
        </p:spPr>
      </p:sp>
      <p:sp>
        <p:nvSpPr>
          <p:cNvPr id="19" name="Shape 16"/>
          <p:cNvSpPr/>
          <p:nvPr/>
        </p:nvSpPr>
        <p:spPr>
          <a:xfrm>
            <a:off x="8925306" y="2011680"/>
            <a:ext cx="1920240" cy="1920240"/>
          </a:xfrm>
          <a:prstGeom prst="ellipse">
            <a:avLst/>
          </a:prstGeom>
          <a:solidFill>
            <a:srgbClr val="C3CEDB"/>
          </a:solidFill>
          <a:ln w="6350">
            <a:solidFill>
              <a:srgbClr val="C3CEDB"/>
            </a:solidFill>
            <a:prstDash val="solid"/>
          </a:ln>
        </p:spPr>
      </p:sp>
      <p:sp>
        <p:nvSpPr>
          <p:cNvPr id="20" name="Shape 17"/>
          <p:cNvSpPr/>
          <p:nvPr/>
        </p:nvSpPr>
        <p:spPr>
          <a:xfrm>
            <a:off x="9232544" y="2318918"/>
            <a:ext cx="1305763" cy="1305763"/>
          </a:xfrm>
          <a:prstGeom prst="ellipse">
            <a:avLst/>
          </a:prstGeom>
          <a:solidFill>
            <a:srgbClr val="C1272D"/>
          </a:solidFill>
          <a:ln w="6350">
            <a:solidFill>
              <a:srgbClr val="C1272D"/>
            </a:solidFill>
            <a:prstDash val="solid"/>
          </a:ln>
        </p:spPr>
      </p:sp>
      <p:sp>
        <p:nvSpPr>
          <p:cNvPr id="21" name="Shape 18"/>
          <p:cNvSpPr/>
          <p:nvPr/>
        </p:nvSpPr>
        <p:spPr>
          <a:xfrm>
            <a:off x="10641289" y="3059954"/>
            <a:ext cx="163220" cy="163220"/>
          </a:xfrm>
          <a:prstGeom prst="ellipse">
            <a:avLst/>
          </a:prstGeom>
          <a:solidFill>
            <a:srgbClr val="13233A"/>
          </a:solidFill>
          <a:ln w="6350">
            <a:solidFill>
              <a:srgbClr val="13233A"/>
            </a:solidFill>
            <a:prstDash val="solid"/>
          </a:ln>
        </p:spPr>
      </p:sp>
      <p:sp>
        <p:nvSpPr>
          <p:cNvPr id="22" name="Shape 19"/>
          <p:cNvSpPr/>
          <p:nvPr/>
        </p:nvSpPr>
        <p:spPr>
          <a:xfrm>
            <a:off x="10473413" y="3305454"/>
            <a:ext cx="134417" cy="134417"/>
          </a:xfrm>
          <a:prstGeom prst="ellipse">
            <a:avLst/>
          </a:prstGeom>
          <a:solidFill>
            <a:srgbClr val="13233A"/>
          </a:solidFill>
          <a:ln w="6350">
            <a:solidFill>
              <a:srgbClr val="13233A"/>
            </a:solidFill>
            <a:prstDash val="solid"/>
          </a:ln>
        </p:spPr>
      </p:sp>
      <p:sp>
        <p:nvSpPr>
          <p:cNvPr id="23" name="Shape 20"/>
          <p:cNvSpPr/>
          <p:nvPr/>
        </p:nvSpPr>
        <p:spPr>
          <a:xfrm>
            <a:off x="10350637" y="3572956"/>
            <a:ext cx="134417" cy="134417"/>
          </a:xfrm>
          <a:prstGeom prst="ellipse">
            <a:avLst/>
          </a:prstGeom>
          <a:solidFill>
            <a:srgbClr val="13233A"/>
          </a:solidFill>
          <a:ln w="6350">
            <a:solidFill>
              <a:srgbClr val="13233A"/>
            </a:solidFill>
            <a:prstDash val="solid"/>
          </a:ln>
        </p:spPr>
      </p:sp>
      <p:sp>
        <p:nvSpPr>
          <p:cNvPr id="24" name="Shape 21"/>
          <p:cNvSpPr/>
          <p:nvPr/>
        </p:nvSpPr>
        <p:spPr>
          <a:xfrm>
            <a:off x="10048055" y="3618419"/>
            <a:ext cx="163220" cy="163220"/>
          </a:xfrm>
          <a:prstGeom prst="ellipse">
            <a:avLst/>
          </a:prstGeom>
          <a:solidFill>
            <a:srgbClr val="13233A"/>
          </a:solidFill>
          <a:ln w="6350">
            <a:solidFill>
              <a:srgbClr val="13233A"/>
            </a:solidFill>
            <a:prstDash val="solid"/>
          </a:ln>
        </p:spPr>
      </p:sp>
      <p:sp>
        <p:nvSpPr>
          <p:cNvPr id="25" name="Shape 22"/>
          <p:cNvSpPr/>
          <p:nvPr/>
        </p:nvSpPr>
        <p:spPr>
          <a:xfrm>
            <a:off x="9796458" y="3758821"/>
            <a:ext cx="134417" cy="134417"/>
          </a:xfrm>
          <a:prstGeom prst="ellipse">
            <a:avLst/>
          </a:prstGeom>
          <a:solidFill>
            <a:srgbClr val="13233A"/>
          </a:solidFill>
          <a:ln w="6350">
            <a:solidFill>
              <a:srgbClr val="13233A"/>
            </a:solidFill>
            <a:prstDash val="solid"/>
          </a:ln>
        </p:spPr>
      </p:sp>
      <p:sp>
        <p:nvSpPr>
          <p:cNvPr id="26" name="Shape 23"/>
          <p:cNvSpPr/>
          <p:nvPr/>
        </p:nvSpPr>
        <p:spPr>
          <a:xfrm>
            <a:off x="9537219" y="3619442"/>
            <a:ext cx="134417" cy="134417"/>
          </a:xfrm>
          <a:prstGeom prst="ellipse">
            <a:avLst/>
          </a:prstGeom>
          <a:solidFill>
            <a:srgbClr val="13233A"/>
          </a:solidFill>
          <a:ln w="6350">
            <a:solidFill>
              <a:srgbClr val="13233A"/>
            </a:solidFill>
            <a:prstDash val="solid"/>
          </a:ln>
        </p:spPr>
      </p:sp>
      <p:sp>
        <p:nvSpPr>
          <p:cNvPr id="27" name="Shape 24"/>
          <p:cNvSpPr/>
          <p:nvPr/>
        </p:nvSpPr>
        <p:spPr>
          <a:xfrm>
            <a:off x="9238059" y="3530581"/>
            <a:ext cx="163220" cy="163220"/>
          </a:xfrm>
          <a:prstGeom prst="ellipse">
            <a:avLst/>
          </a:prstGeom>
          <a:solidFill>
            <a:srgbClr val="13233A"/>
          </a:solidFill>
          <a:ln w="6350">
            <a:solidFill>
              <a:srgbClr val="13233A"/>
            </a:solidFill>
            <a:prstDash val="solid"/>
          </a:ln>
        </p:spPr>
      </p:sp>
      <p:sp>
        <p:nvSpPr>
          <p:cNvPr id="28" name="Shape 25"/>
          <p:cNvSpPr/>
          <p:nvPr/>
        </p:nvSpPr>
        <p:spPr>
          <a:xfrm>
            <a:off x="9143463" y="3271576"/>
            <a:ext cx="134417" cy="134417"/>
          </a:xfrm>
          <a:prstGeom prst="ellipse">
            <a:avLst/>
          </a:prstGeom>
          <a:solidFill>
            <a:srgbClr val="13233A"/>
          </a:solidFill>
          <a:ln w="6350">
            <a:solidFill>
              <a:srgbClr val="13233A"/>
            </a:solidFill>
            <a:prstDash val="solid"/>
          </a:ln>
        </p:spPr>
      </p:sp>
      <p:sp>
        <p:nvSpPr>
          <p:cNvPr id="29" name="Shape 26"/>
          <p:cNvSpPr/>
          <p:nvPr/>
        </p:nvSpPr>
        <p:spPr>
          <a:xfrm>
            <a:off x="8973187" y="3031498"/>
            <a:ext cx="134417" cy="134417"/>
          </a:xfrm>
          <a:prstGeom prst="ellipse">
            <a:avLst/>
          </a:prstGeom>
          <a:solidFill>
            <a:srgbClr val="13233A"/>
          </a:solidFill>
          <a:ln w="6350">
            <a:solidFill>
              <a:srgbClr val="13233A"/>
            </a:solidFill>
            <a:prstDash val="solid"/>
          </a:ln>
        </p:spPr>
      </p:sp>
      <p:sp>
        <p:nvSpPr>
          <p:cNvPr id="30" name="Shape 27"/>
          <p:cNvSpPr/>
          <p:nvPr/>
        </p:nvSpPr>
        <p:spPr>
          <a:xfrm>
            <a:off x="9051031" y="2737593"/>
            <a:ext cx="163220" cy="163220"/>
          </a:xfrm>
          <a:prstGeom prst="ellipse">
            <a:avLst/>
          </a:prstGeom>
          <a:solidFill>
            <a:srgbClr val="13233A"/>
          </a:solidFill>
          <a:ln w="6350">
            <a:solidFill>
              <a:srgbClr val="13233A"/>
            </a:solidFill>
            <a:prstDash val="solid"/>
          </a:ln>
        </p:spPr>
      </p:sp>
      <p:sp>
        <p:nvSpPr>
          <p:cNvPr id="31" name="Shape 28"/>
          <p:cNvSpPr/>
          <p:nvPr/>
        </p:nvSpPr>
        <p:spPr>
          <a:xfrm>
            <a:off x="9089313" y="2458633"/>
            <a:ext cx="134417" cy="134417"/>
          </a:xfrm>
          <a:prstGeom prst="ellipse">
            <a:avLst/>
          </a:prstGeom>
          <a:solidFill>
            <a:srgbClr val="13233A"/>
          </a:solidFill>
          <a:ln w="6350">
            <a:solidFill>
              <a:srgbClr val="13233A"/>
            </a:solidFill>
            <a:prstDash val="solid"/>
          </a:ln>
        </p:spPr>
      </p:sp>
      <p:sp>
        <p:nvSpPr>
          <p:cNvPr id="32" name="Shape 29"/>
          <p:cNvSpPr/>
          <p:nvPr/>
        </p:nvSpPr>
        <p:spPr>
          <a:xfrm>
            <a:off x="9339638" y="2303814"/>
            <a:ext cx="134417" cy="134417"/>
          </a:xfrm>
          <a:prstGeom prst="ellipse">
            <a:avLst/>
          </a:prstGeom>
          <a:solidFill>
            <a:srgbClr val="13233A"/>
          </a:solidFill>
          <a:ln w="6350">
            <a:solidFill>
              <a:srgbClr val="13233A"/>
            </a:solidFill>
            <a:prstDash val="solid"/>
          </a:ln>
        </p:spPr>
      </p:sp>
      <p:sp>
        <p:nvSpPr>
          <p:cNvPr id="33" name="Shape 30"/>
          <p:cNvSpPr/>
          <p:nvPr/>
        </p:nvSpPr>
        <p:spPr>
          <a:xfrm>
            <a:off x="9532099" y="2080034"/>
            <a:ext cx="163220" cy="163220"/>
          </a:xfrm>
          <a:prstGeom prst="ellipse">
            <a:avLst/>
          </a:prstGeom>
          <a:solidFill>
            <a:srgbClr val="13233A"/>
          </a:solidFill>
          <a:ln w="6350">
            <a:solidFill>
              <a:srgbClr val="13233A"/>
            </a:solidFill>
            <a:prstDash val="solid"/>
          </a:ln>
        </p:spPr>
      </p:sp>
      <p:sp>
        <p:nvSpPr>
          <p:cNvPr id="34" name="Shape 31"/>
          <p:cNvSpPr/>
          <p:nvPr/>
        </p:nvSpPr>
        <p:spPr>
          <a:xfrm>
            <a:off x="9837777" y="2136745"/>
            <a:ext cx="134417" cy="134417"/>
          </a:xfrm>
          <a:prstGeom prst="ellipse">
            <a:avLst/>
          </a:prstGeom>
          <a:solidFill>
            <a:srgbClr val="13233A"/>
          </a:solidFill>
          <a:ln w="6350">
            <a:solidFill>
              <a:srgbClr val="13233A"/>
            </a:solidFill>
            <a:prstDash val="solid"/>
          </a:ln>
        </p:spPr>
      </p:sp>
      <p:sp>
        <p:nvSpPr>
          <p:cNvPr id="35" name="Shape 32"/>
          <p:cNvSpPr/>
          <p:nvPr/>
        </p:nvSpPr>
        <p:spPr>
          <a:xfrm>
            <a:off x="10130829" y="2109320"/>
            <a:ext cx="134417" cy="134417"/>
          </a:xfrm>
          <a:prstGeom prst="ellipse">
            <a:avLst/>
          </a:prstGeom>
          <a:solidFill>
            <a:srgbClr val="13233A"/>
          </a:solidFill>
          <a:ln w="6350">
            <a:solidFill>
              <a:srgbClr val="13233A"/>
            </a:solidFill>
            <a:prstDash val="solid"/>
          </a:ln>
        </p:spPr>
      </p:sp>
      <p:sp>
        <p:nvSpPr>
          <p:cNvPr id="36" name="Shape 33"/>
          <p:cNvSpPr/>
          <p:nvPr/>
        </p:nvSpPr>
        <p:spPr>
          <a:xfrm>
            <a:off x="10312361" y="2314557"/>
            <a:ext cx="163220" cy="163220"/>
          </a:xfrm>
          <a:prstGeom prst="ellipse">
            <a:avLst/>
          </a:prstGeom>
          <a:solidFill>
            <a:srgbClr val="13233A"/>
          </a:solidFill>
          <a:ln w="6350">
            <a:solidFill>
              <a:srgbClr val="13233A"/>
            </a:solidFill>
            <a:prstDash val="solid"/>
          </a:ln>
        </p:spPr>
      </p:sp>
      <p:sp>
        <p:nvSpPr>
          <p:cNvPr id="37" name="Shape 34"/>
          <p:cNvSpPr/>
          <p:nvPr/>
        </p:nvSpPr>
        <p:spPr>
          <a:xfrm>
            <a:off x="10568882" y="2496321"/>
            <a:ext cx="134417" cy="134417"/>
          </a:xfrm>
          <a:prstGeom prst="ellipse">
            <a:avLst/>
          </a:prstGeom>
          <a:solidFill>
            <a:srgbClr val="13233A"/>
          </a:solidFill>
          <a:ln w="6350">
            <a:solidFill>
              <a:srgbClr val="13233A"/>
            </a:solidFill>
            <a:prstDash val="solid"/>
          </a:ln>
        </p:spPr>
      </p:sp>
      <p:sp>
        <p:nvSpPr>
          <p:cNvPr id="38" name="Shape 35"/>
          <p:cNvSpPr/>
          <p:nvPr/>
        </p:nvSpPr>
        <p:spPr>
          <a:xfrm>
            <a:off x="10577796" y="2790518"/>
            <a:ext cx="134417" cy="134417"/>
          </a:xfrm>
          <a:prstGeom prst="ellipse">
            <a:avLst/>
          </a:prstGeom>
          <a:solidFill>
            <a:srgbClr val="13233A"/>
          </a:solidFill>
          <a:ln w="6350">
            <a:solidFill>
              <a:srgbClr val="13233A"/>
            </a:solidFill>
            <a:prstDash val="solid"/>
          </a:ln>
        </p:spPr>
      </p:sp>
      <p:sp>
        <p:nvSpPr>
          <p:cNvPr id="39" name="Text 36"/>
          <p:cNvSpPr txBox="1"/>
          <p:nvPr/>
        </p:nvSpPr>
        <p:spPr>
          <a:xfrm>
            <a:off x="8447837" y="4206240"/>
            <a:ext cx="2875178" cy="502920"/>
          </a:xfrm>
          <a:prstGeom prst="rect">
            <a:avLst/>
          </a:prstGeom>
          <a:noFill/>
          <a:ln/>
        </p:spPr>
        <p:txBody>
          <a:bodyPr wrap="square" lIns="0" tIns="0" rIns="0" bIns="0" rtlCol="0" anchor="t"/>
          <a:lstStyle/>
          <a:p>
            <a:pPr indent="0" marL="0">
              <a:buNone/>
            </a:pPr>
            <a:r>
              <a:rPr lang="en-US" sz="2600" b="1" dirty="0">
                <a:solidFill>
                  <a:srgbClr val="13233A"/>
                </a:solidFill>
                <a:latin typeface="Calibri" pitchFamily="34" charset="0"/>
                <a:ea typeface="Calibri" pitchFamily="34" charset="-122"/>
                <a:cs typeface="Calibri" pitchFamily="34" charset="-120"/>
              </a:rPr>
              <a:t>Amyloid angiopathy</a:t>
            </a:r>
            <a:endParaRPr lang="en-US" sz="2600" dirty="0"/>
          </a:p>
        </p:txBody>
      </p:sp>
      <p:sp>
        <p:nvSpPr>
          <p:cNvPr id="40" name="Text 37"/>
          <p:cNvSpPr txBox="1"/>
          <p:nvPr/>
        </p:nvSpPr>
        <p:spPr>
          <a:xfrm>
            <a:off x="8447837" y="4754880"/>
            <a:ext cx="2966618" cy="86868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Surface arteries: amyloid replaces muscle</a:t>
            </a:r>
            <a:endParaRPr lang="en-US" sz="2000" dirty="0"/>
          </a:p>
        </p:txBody>
      </p:sp>
      <p:sp>
        <p:nvSpPr>
          <p:cNvPr id="41" name="Text 38"/>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Hypertensive arteriopathy (Fisher, 1971); amyloid angiopathy (Rossi &amp; Cordonnier, 2014).</a:t>
            </a:r>
            <a:endParaRPr lang="en-US" sz="1200" dirty="0"/>
          </a:p>
        </p:txBody>
      </p:sp>
      <p:sp>
        <p:nvSpPr>
          <p:cNvPr id="42" name="Text 39"/>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43"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44"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45"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46"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47"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48"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49"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50"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51"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9</a:t>
            </a:r>
            <a:endParaRPr lang="en-US" sz="11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Where it bleeds tells you why</a:t>
            </a:r>
            <a:endParaRPr lang="en-US" sz="4000" dirty="0"/>
          </a:p>
        </p:txBody>
      </p:sp>
      <p:pic>
        <p:nvPicPr>
          <p:cNvPr id="5" name="!!brain" descr="preencoded.png">    </p:cNvPr>
          <p:cNvPicPr>
            <a:picLocks noChangeAspect="1"/>
          </p:cNvPicPr>
          <p:nvPr/>
        </p:nvPicPr>
        <p:blipFill>
          <a:blip r:embed="rId1"/>
          <a:stretch>
            <a:fillRect/>
          </a:stretch>
        </p:blipFill>
        <p:spPr>
          <a:xfrm>
            <a:off x="822960" y="1691640"/>
            <a:ext cx="3566160" cy="4160520"/>
          </a:xfrm>
          <a:prstGeom prst="rect">
            <a:avLst/>
          </a:prstGeom>
        </p:spPr>
      </p:pic>
      <p:sp>
        <p:nvSpPr>
          <p:cNvPr id="6" name="!!deepcard"/>
          <p:cNvSpPr/>
          <p:nvPr/>
        </p:nvSpPr>
        <p:spPr>
          <a:xfrm>
            <a:off x="5120640" y="1783080"/>
            <a:ext cx="6522415" cy="1828800"/>
          </a:xfrm>
          <a:prstGeom prst="roundRect">
            <a:avLst>
              <a:gd name="adj" fmla="val 5000"/>
            </a:avLst>
          </a:prstGeom>
          <a:solidFill>
            <a:srgbClr val="E8EDF3"/>
          </a:solidFill>
          <a:ln w="6350">
            <a:solidFill>
              <a:srgbClr val="E8EDF3"/>
            </a:solidFill>
            <a:prstDash val="solid"/>
          </a:ln>
        </p:spPr>
      </p:sp>
      <p:sp>
        <p:nvSpPr>
          <p:cNvPr id="7" name="!!deept"/>
          <p:cNvSpPr txBox="1"/>
          <p:nvPr/>
        </p:nvSpPr>
        <p:spPr>
          <a:xfrm>
            <a:off x="5486400" y="1920240"/>
            <a:ext cx="2743200" cy="73152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Deep</a:t>
            </a:r>
            <a:endParaRPr lang="en-US" sz="4000" dirty="0"/>
          </a:p>
        </p:txBody>
      </p:sp>
      <p:sp>
        <p:nvSpPr>
          <p:cNvPr id="8" name="!!deeph"/>
          <p:cNvSpPr txBox="1"/>
          <p:nvPr/>
        </p:nvSpPr>
        <p:spPr>
          <a:xfrm>
            <a:off x="7863840" y="1920240"/>
            <a:ext cx="3657600" cy="731520"/>
          </a:xfrm>
          <a:prstGeom prst="rect">
            <a:avLst/>
          </a:prstGeom>
          <a:noFill/>
          <a:ln/>
        </p:spPr>
        <p:txBody>
          <a:bodyPr wrap="square" lIns="0" tIns="0" rIns="0" bIns="0" rtlCol="0" anchor="ctr"/>
          <a:lstStyle/>
          <a:p>
            <a:pPr indent="0" marL="0">
              <a:buNone/>
            </a:pPr>
            <a:r>
              <a:rPr lang="en-US" sz="3000" b="1" dirty="0">
                <a:solidFill>
                  <a:srgbClr val="13233A"/>
                </a:solidFill>
                <a:latin typeface="Calibri" pitchFamily="34" charset="0"/>
                <a:ea typeface="Calibri" pitchFamily="34" charset="-122"/>
                <a:cs typeface="Calibri" pitchFamily="34" charset="-120"/>
              </a:rPr>
              <a:t>→ hypertension</a:t>
            </a:r>
            <a:endParaRPr lang="en-US" sz="3000" dirty="0"/>
          </a:p>
        </p:txBody>
      </p:sp>
      <p:sp>
        <p:nvSpPr>
          <p:cNvPr id="9" name="!!deeps"/>
          <p:cNvSpPr txBox="1"/>
          <p:nvPr/>
        </p:nvSpPr>
        <p:spPr>
          <a:xfrm>
            <a:off x="5486400" y="2743200"/>
            <a:ext cx="5943600" cy="548640"/>
          </a:xfrm>
          <a:prstGeom prst="rect">
            <a:avLst/>
          </a:prstGeom>
          <a:noFill/>
          <a:ln/>
        </p:spPr>
        <p:txBody>
          <a:bodyPr wrap="square" lIns="0" tIns="0" rIns="0" bIns="0" rtlCol="0" anchor="ctr"/>
          <a:lstStyle/>
          <a:p>
            <a:pPr indent="0" marL="0">
              <a:buNone/>
            </a:pPr>
            <a:r>
              <a:rPr lang="en-US" sz="2000" dirty="0">
                <a:solidFill>
                  <a:srgbClr val="3E5C76"/>
                </a:solidFill>
                <a:latin typeface="Calibri" pitchFamily="34" charset="0"/>
                <a:ea typeface="Calibri" pitchFamily="34" charset="-122"/>
                <a:cs typeface="Calibri" pitchFamily="34" charset="-120"/>
              </a:rPr>
              <a:t>putamen · thalamus · pons · cerebellum</a:t>
            </a:r>
            <a:endParaRPr lang="en-US" sz="2000" dirty="0"/>
          </a:p>
        </p:txBody>
      </p:sp>
      <p:sp>
        <p:nvSpPr>
          <p:cNvPr id="10" name="Text 6"/>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Schematic axial slice; the pons and cerebellum sit below this level. Deep vs lobar patterns (Macellari et al., 2014; Meretoja et al., 2012).</a:t>
            </a:r>
            <a:endParaRPr lang="en-US" sz="1200" dirty="0"/>
          </a:p>
        </p:txBody>
      </p:sp>
      <p:sp>
        <p:nvSpPr>
          <p:cNvPr id="11" name="Text 7"/>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2"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13"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14"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5"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16"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17"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18"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19"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0"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10</a:t>
            </a:r>
            <a:endParaRPr lang="en-US" sz="11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Where it bleeds tells you why</a:t>
            </a:r>
            <a:endParaRPr lang="en-US" sz="4000" dirty="0"/>
          </a:p>
        </p:txBody>
      </p:sp>
      <p:pic>
        <p:nvPicPr>
          <p:cNvPr id="5" name="!!brain" descr="preencoded.png">    </p:cNvPr>
          <p:cNvPicPr>
            <a:picLocks noChangeAspect="1"/>
          </p:cNvPicPr>
          <p:nvPr/>
        </p:nvPicPr>
        <p:blipFill>
          <a:blip r:embed="rId1"/>
          <a:stretch>
            <a:fillRect/>
          </a:stretch>
        </p:blipFill>
        <p:spPr>
          <a:xfrm>
            <a:off x="822960" y="1691640"/>
            <a:ext cx="3566160" cy="4160520"/>
          </a:xfrm>
          <a:prstGeom prst="rect">
            <a:avLst/>
          </a:prstGeom>
        </p:spPr>
      </p:pic>
      <p:sp>
        <p:nvSpPr>
          <p:cNvPr id="6" name="!!deepcard"/>
          <p:cNvSpPr/>
          <p:nvPr/>
        </p:nvSpPr>
        <p:spPr>
          <a:xfrm>
            <a:off x="5120640" y="1783080"/>
            <a:ext cx="6522415" cy="1828800"/>
          </a:xfrm>
          <a:prstGeom prst="roundRect">
            <a:avLst>
              <a:gd name="adj" fmla="val 5000"/>
            </a:avLst>
          </a:prstGeom>
          <a:solidFill>
            <a:srgbClr val="E8EDF3"/>
          </a:solidFill>
          <a:ln w="6350">
            <a:solidFill>
              <a:srgbClr val="E8EDF3"/>
            </a:solidFill>
            <a:prstDash val="solid"/>
          </a:ln>
        </p:spPr>
      </p:sp>
      <p:sp>
        <p:nvSpPr>
          <p:cNvPr id="7" name="!!deept"/>
          <p:cNvSpPr txBox="1"/>
          <p:nvPr/>
        </p:nvSpPr>
        <p:spPr>
          <a:xfrm>
            <a:off x="5486400" y="1920240"/>
            <a:ext cx="2743200" cy="73152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Deep</a:t>
            </a:r>
            <a:endParaRPr lang="en-US" sz="4000" dirty="0"/>
          </a:p>
        </p:txBody>
      </p:sp>
      <p:sp>
        <p:nvSpPr>
          <p:cNvPr id="8" name="!!deeph"/>
          <p:cNvSpPr txBox="1"/>
          <p:nvPr/>
        </p:nvSpPr>
        <p:spPr>
          <a:xfrm>
            <a:off x="7863840" y="1920240"/>
            <a:ext cx="3657600" cy="731520"/>
          </a:xfrm>
          <a:prstGeom prst="rect">
            <a:avLst/>
          </a:prstGeom>
          <a:noFill/>
          <a:ln/>
        </p:spPr>
        <p:txBody>
          <a:bodyPr wrap="square" lIns="0" tIns="0" rIns="0" bIns="0" rtlCol="0" anchor="ctr"/>
          <a:lstStyle/>
          <a:p>
            <a:pPr indent="0" marL="0">
              <a:buNone/>
            </a:pPr>
            <a:r>
              <a:rPr lang="en-US" sz="3000" b="1" dirty="0">
                <a:solidFill>
                  <a:srgbClr val="13233A"/>
                </a:solidFill>
                <a:latin typeface="Calibri" pitchFamily="34" charset="0"/>
                <a:ea typeface="Calibri" pitchFamily="34" charset="-122"/>
                <a:cs typeface="Calibri" pitchFamily="34" charset="-120"/>
              </a:rPr>
              <a:t>→ hypertension</a:t>
            </a:r>
            <a:endParaRPr lang="en-US" sz="3000" dirty="0"/>
          </a:p>
        </p:txBody>
      </p:sp>
      <p:sp>
        <p:nvSpPr>
          <p:cNvPr id="9" name="!!deeps"/>
          <p:cNvSpPr txBox="1"/>
          <p:nvPr/>
        </p:nvSpPr>
        <p:spPr>
          <a:xfrm>
            <a:off x="5486400" y="2743200"/>
            <a:ext cx="5943600" cy="548640"/>
          </a:xfrm>
          <a:prstGeom prst="rect">
            <a:avLst/>
          </a:prstGeom>
          <a:noFill/>
          <a:ln/>
        </p:spPr>
        <p:txBody>
          <a:bodyPr wrap="square" lIns="0" tIns="0" rIns="0" bIns="0" rtlCol="0" anchor="ctr"/>
          <a:lstStyle/>
          <a:p>
            <a:pPr indent="0" marL="0">
              <a:buNone/>
            </a:pPr>
            <a:r>
              <a:rPr lang="en-US" sz="2000" dirty="0">
                <a:solidFill>
                  <a:srgbClr val="3E5C76"/>
                </a:solidFill>
                <a:latin typeface="Calibri" pitchFamily="34" charset="0"/>
                <a:ea typeface="Calibri" pitchFamily="34" charset="-122"/>
                <a:cs typeface="Calibri" pitchFamily="34" charset="-120"/>
              </a:rPr>
              <a:t>putamen · thalamus · pons · cerebellum</a:t>
            </a:r>
            <a:endParaRPr lang="en-US" sz="2000" dirty="0"/>
          </a:p>
        </p:txBody>
      </p:sp>
      <p:sp>
        <p:nvSpPr>
          <p:cNvPr id="10" name="Shape 6"/>
          <p:cNvSpPr/>
          <p:nvPr/>
        </p:nvSpPr>
        <p:spPr>
          <a:xfrm>
            <a:off x="5120640" y="3840480"/>
            <a:ext cx="6522415" cy="1920240"/>
          </a:xfrm>
          <a:prstGeom prst="roundRect">
            <a:avLst>
              <a:gd name="adj" fmla="val 4762"/>
            </a:avLst>
          </a:prstGeom>
          <a:solidFill>
            <a:srgbClr val="F6DCDD"/>
          </a:solidFill>
          <a:ln w="6350">
            <a:solidFill>
              <a:srgbClr val="F6DCDD"/>
            </a:solidFill>
            <a:prstDash val="solid"/>
          </a:ln>
        </p:spPr>
      </p:sp>
      <p:sp>
        <p:nvSpPr>
          <p:cNvPr id="11" name="Text 7"/>
          <p:cNvSpPr txBox="1"/>
          <p:nvPr/>
        </p:nvSpPr>
        <p:spPr>
          <a:xfrm>
            <a:off x="5486400" y="3977640"/>
            <a:ext cx="2743200" cy="731520"/>
          </a:xfrm>
          <a:prstGeom prst="rect">
            <a:avLst/>
          </a:prstGeom>
          <a:noFill/>
          <a:ln/>
        </p:spPr>
        <p:txBody>
          <a:bodyPr wrap="square" lIns="0" tIns="0" rIns="0" bIns="0" rtlCol="0" anchor="ctr"/>
          <a:lstStyle/>
          <a:p>
            <a:pPr indent="0" marL="0">
              <a:buNone/>
            </a:pPr>
            <a:r>
              <a:rPr lang="en-US" sz="4000" b="1" dirty="0">
                <a:solidFill>
                  <a:srgbClr val="8E1B1F"/>
                </a:solidFill>
                <a:latin typeface="Cambria" pitchFamily="34" charset="0"/>
                <a:ea typeface="Cambria" pitchFamily="34" charset="-122"/>
                <a:cs typeface="Cambria" pitchFamily="34" charset="-120"/>
              </a:rPr>
              <a:t>Lobar</a:t>
            </a:r>
            <a:endParaRPr lang="en-US" sz="4000" dirty="0"/>
          </a:p>
        </p:txBody>
      </p:sp>
      <p:sp>
        <p:nvSpPr>
          <p:cNvPr id="12" name="Text 8"/>
          <p:cNvSpPr txBox="1"/>
          <p:nvPr/>
        </p:nvSpPr>
        <p:spPr>
          <a:xfrm>
            <a:off x="7863840" y="3977640"/>
            <a:ext cx="3840480" cy="731520"/>
          </a:xfrm>
          <a:prstGeom prst="rect">
            <a:avLst/>
          </a:prstGeom>
          <a:noFill/>
          <a:ln/>
        </p:spPr>
        <p:txBody>
          <a:bodyPr wrap="square" lIns="0" tIns="0" rIns="0" bIns="0" rtlCol="0" anchor="ctr"/>
          <a:lstStyle/>
          <a:p>
            <a:pPr indent="0" marL="0">
              <a:buNone/>
            </a:pPr>
            <a:r>
              <a:rPr lang="en-US" sz="2600" b="1" dirty="0">
                <a:solidFill>
                  <a:srgbClr val="8E1B1F"/>
                </a:solidFill>
                <a:latin typeface="Calibri" pitchFamily="34" charset="0"/>
                <a:ea typeface="Calibri" pitchFamily="34" charset="-122"/>
                <a:cs typeface="Calibri" pitchFamily="34" charset="-120"/>
              </a:rPr>
              <a:t>→ amyloid (older adults)</a:t>
            </a:r>
            <a:endParaRPr lang="en-US" sz="2600" dirty="0"/>
          </a:p>
        </p:txBody>
      </p:sp>
      <p:sp>
        <p:nvSpPr>
          <p:cNvPr id="13" name="Text 9"/>
          <p:cNvSpPr txBox="1"/>
          <p:nvPr/>
        </p:nvSpPr>
        <p:spPr>
          <a:xfrm>
            <a:off x="5486400" y="4800600"/>
            <a:ext cx="5943600" cy="548640"/>
          </a:xfrm>
          <a:prstGeom prst="rect">
            <a:avLst/>
          </a:prstGeom>
          <a:noFill/>
          <a:ln/>
        </p:spPr>
        <p:txBody>
          <a:bodyPr wrap="square" lIns="0" tIns="0" rIns="0" bIns="0" rtlCol="0" anchor="ctr"/>
          <a:lstStyle/>
          <a:p>
            <a:pPr indent="0" marL="0">
              <a:buNone/>
            </a:pPr>
            <a:r>
              <a:rPr lang="en-US" sz="2000" dirty="0">
                <a:solidFill>
                  <a:srgbClr val="8E1B1F"/>
                </a:solidFill>
                <a:latin typeface="Calibri" pitchFamily="34" charset="0"/>
                <a:ea typeface="Calibri" pitchFamily="34" charset="-122"/>
                <a:cs typeface="Calibri" pitchFamily="34" charset="-120"/>
              </a:rPr>
              <a:t>Young or atypical? Look for a lesion.</a:t>
            </a:r>
            <a:endParaRPr lang="en-US" sz="2000" dirty="0"/>
          </a:p>
        </p:txBody>
      </p:sp>
      <p:sp>
        <p:nvSpPr>
          <p:cNvPr id="14" name="Text 10"/>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Schematic axial slice; the pons and cerebellum sit below this level. Deep vs lobar patterns (Macellari et al., 2014; Meretoja et al., 2012).</a:t>
            </a:r>
            <a:endParaRPr lang="en-US" sz="1200" dirty="0"/>
          </a:p>
        </p:txBody>
      </p:sp>
      <p:sp>
        <p:nvSpPr>
          <p:cNvPr id="15" name="Text 11"/>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6"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17"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18"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9"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0"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21"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2"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3"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4"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11</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  ·  WHAT YOU WILL SEE</a:t>
            </a:r>
            <a:endParaRPr lang="en-US" sz="1400" dirty="0"/>
          </a:p>
        </p:txBody>
      </p:sp>
      <p:sp>
        <p:nvSpPr>
          <p:cNvPr id="4" name="Shape 1"/>
          <p:cNvSpPr/>
          <p:nvPr/>
        </p:nvSpPr>
        <p:spPr>
          <a:xfrm>
            <a:off x="8142732" y="356616"/>
            <a:ext cx="3500323"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298180" y="443484"/>
            <a:ext cx="173736" cy="173736"/>
          </a:xfrm>
          <a:prstGeom prst="rect">
            <a:avLst/>
          </a:prstGeom>
        </p:spPr>
      </p:pic>
      <p:sp>
        <p:nvSpPr>
          <p:cNvPr id="6" name="Text 2"/>
          <p:cNvSpPr txBox="1"/>
          <p:nvPr/>
        </p:nvSpPr>
        <p:spPr>
          <a:xfrm>
            <a:off x="8545068" y="356616"/>
            <a:ext cx="3024835"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PLIC: 3 imaging cohorts · n = 43–305</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Location predicts the impairment</a:t>
            </a:r>
            <a:endParaRPr lang="en-US" sz="4000" dirty="0"/>
          </a:p>
        </p:txBody>
      </p:sp>
      <p:sp>
        <p:nvSpPr>
          <p:cNvPr id="8" name="Shape 4"/>
          <p:cNvSpPr/>
          <p:nvPr/>
        </p:nvSpPr>
        <p:spPr>
          <a:xfrm>
            <a:off x="548640" y="1737360"/>
            <a:ext cx="11094415" cy="731520"/>
          </a:xfrm>
          <a:prstGeom prst="roundRect">
            <a:avLst>
              <a:gd name="adj" fmla="val 12500"/>
            </a:avLst>
          </a:prstGeom>
          <a:solidFill>
            <a:srgbClr val="F6DCDD"/>
          </a:solidFill>
          <a:ln w="6350">
            <a:solidFill>
              <a:srgbClr val="F6DCDD"/>
            </a:solidFill>
            <a:prstDash val="solid"/>
          </a:ln>
        </p:spPr>
      </p:sp>
      <p:sp>
        <p:nvSpPr>
          <p:cNvPr id="9" name="Text 5"/>
          <p:cNvSpPr txBox="1"/>
          <p:nvPr/>
        </p:nvSpPr>
        <p:spPr>
          <a:xfrm>
            <a:off x="868680" y="1737360"/>
            <a:ext cx="3429000" cy="731520"/>
          </a:xfrm>
          <a:prstGeom prst="rect">
            <a:avLst/>
          </a:prstGeom>
          <a:noFill/>
          <a:ln/>
        </p:spPr>
        <p:txBody>
          <a:bodyPr wrap="square" lIns="0" tIns="0" rIns="0" bIns="0" rtlCol="0" anchor="ctr"/>
          <a:lstStyle/>
          <a:p>
            <a:pPr indent="0" marL="0">
              <a:buNone/>
            </a:pPr>
            <a:r>
              <a:rPr lang="en-US" sz="2200" b="1" dirty="0">
                <a:solidFill>
                  <a:srgbClr val="8E1B1F"/>
                </a:solidFill>
                <a:latin typeface="Calibri" pitchFamily="34" charset="0"/>
                <a:ea typeface="Calibri" pitchFamily="34" charset="-122"/>
                <a:cs typeface="Calibri" pitchFamily="34" charset="-120"/>
              </a:rPr>
              <a:t>Putamen, internal capsule</a:t>
            </a:r>
            <a:endParaRPr lang="en-US" sz="2200" dirty="0"/>
          </a:p>
        </p:txBody>
      </p:sp>
      <p:sp>
        <p:nvSpPr>
          <p:cNvPr id="10" name="Text 6"/>
          <p:cNvSpPr txBox="1"/>
          <p:nvPr/>
        </p:nvSpPr>
        <p:spPr>
          <a:xfrm>
            <a:off x="4389120" y="1737360"/>
            <a:ext cx="7025335" cy="731520"/>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Opposite-side weakness. </a:t>
            </a:r>
            <a:pPr indent="0" marL="0">
              <a:buNone/>
            </a:pPr>
            <a:r>
              <a:rPr lang="en-US" sz="2000" b="1" dirty="0">
                <a:solidFill>
                  <a:srgbClr val="8E1B1F"/>
                </a:solidFill>
                <a:latin typeface="Calibri" pitchFamily="34" charset="0"/>
                <a:ea typeface="Calibri" pitchFamily="34" charset="-122"/>
                <a:cs typeface="Calibri" pitchFamily="34" charset="-120"/>
              </a:rPr>
              <a:t>Clot on the PLIC: worse motor outcome.</a:t>
            </a:r>
            <a:endParaRPr lang="en-US" sz="2000" dirty="0"/>
          </a:p>
        </p:txBody>
      </p:sp>
      <p:sp>
        <p:nvSpPr>
          <p:cNvPr id="11" name="Shape 7"/>
          <p:cNvSpPr/>
          <p:nvPr/>
        </p:nvSpPr>
        <p:spPr>
          <a:xfrm>
            <a:off x="548640" y="2551176"/>
            <a:ext cx="11094415" cy="731520"/>
          </a:xfrm>
          <a:prstGeom prst="roundRect">
            <a:avLst>
              <a:gd name="adj" fmla="val 12500"/>
            </a:avLst>
          </a:prstGeom>
          <a:solidFill>
            <a:srgbClr val="E8EDF3"/>
          </a:solidFill>
          <a:ln w="6350">
            <a:solidFill>
              <a:srgbClr val="E8EDF3"/>
            </a:solidFill>
            <a:prstDash val="solid"/>
          </a:ln>
        </p:spPr>
      </p:sp>
      <p:sp>
        <p:nvSpPr>
          <p:cNvPr id="12" name="Text 8"/>
          <p:cNvSpPr txBox="1"/>
          <p:nvPr/>
        </p:nvSpPr>
        <p:spPr>
          <a:xfrm>
            <a:off x="868680" y="2551176"/>
            <a:ext cx="3429000" cy="731520"/>
          </a:xfrm>
          <a:prstGeom prst="rect">
            <a:avLst/>
          </a:prstGeom>
          <a:noFill/>
          <a:ln/>
        </p:spPr>
        <p:txBody>
          <a:bodyPr wrap="square" lIns="0" tIns="0" rIns="0" bIns="0" rtlCol="0" anchor="ctr"/>
          <a:lstStyle/>
          <a:p>
            <a:pPr indent="0" marL="0">
              <a:buNone/>
            </a:pPr>
            <a:r>
              <a:rPr lang="en-US" sz="2200" b="1" dirty="0">
                <a:solidFill>
                  <a:srgbClr val="13233A"/>
                </a:solidFill>
                <a:latin typeface="Calibri" pitchFamily="34" charset="0"/>
                <a:ea typeface="Calibri" pitchFamily="34" charset="-122"/>
                <a:cs typeface="Calibri" pitchFamily="34" charset="-120"/>
              </a:rPr>
              <a:t>Thalamus</a:t>
            </a:r>
            <a:endParaRPr lang="en-US" sz="2200" dirty="0"/>
          </a:p>
        </p:txBody>
      </p:sp>
      <p:sp>
        <p:nvSpPr>
          <p:cNvPr id="13" name="Text 9"/>
          <p:cNvSpPr txBox="1"/>
          <p:nvPr/>
        </p:nvSpPr>
        <p:spPr>
          <a:xfrm>
            <a:off x="4389120" y="2551176"/>
            <a:ext cx="7025335" cy="731520"/>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Opposite-side sensory loss, ataxia; later, central pain</a:t>
            </a:r>
            <a:endParaRPr lang="en-US" sz="2000" dirty="0"/>
          </a:p>
        </p:txBody>
      </p:sp>
      <p:sp>
        <p:nvSpPr>
          <p:cNvPr id="14" name="Shape 10"/>
          <p:cNvSpPr/>
          <p:nvPr/>
        </p:nvSpPr>
        <p:spPr>
          <a:xfrm>
            <a:off x="548640" y="3364992"/>
            <a:ext cx="11094415" cy="731520"/>
          </a:xfrm>
          <a:prstGeom prst="roundRect">
            <a:avLst>
              <a:gd name="adj" fmla="val 12500"/>
            </a:avLst>
          </a:prstGeom>
          <a:solidFill>
            <a:srgbClr val="E8EDF3"/>
          </a:solidFill>
          <a:ln w="6350">
            <a:solidFill>
              <a:srgbClr val="E8EDF3"/>
            </a:solidFill>
            <a:prstDash val="solid"/>
          </a:ln>
        </p:spPr>
      </p:sp>
      <p:sp>
        <p:nvSpPr>
          <p:cNvPr id="15" name="Text 11"/>
          <p:cNvSpPr txBox="1"/>
          <p:nvPr/>
        </p:nvSpPr>
        <p:spPr>
          <a:xfrm>
            <a:off x="868680" y="3364992"/>
            <a:ext cx="3429000" cy="731520"/>
          </a:xfrm>
          <a:prstGeom prst="rect">
            <a:avLst/>
          </a:prstGeom>
          <a:noFill/>
          <a:ln/>
        </p:spPr>
        <p:txBody>
          <a:bodyPr wrap="square" lIns="0" tIns="0" rIns="0" bIns="0" rtlCol="0" anchor="ctr"/>
          <a:lstStyle/>
          <a:p>
            <a:pPr indent="0" marL="0">
              <a:buNone/>
            </a:pPr>
            <a:r>
              <a:rPr lang="en-US" sz="2200" b="1" dirty="0">
                <a:solidFill>
                  <a:srgbClr val="13233A"/>
                </a:solidFill>
                <a:latin typeface="Calibri" pitchFamily="34" charset="0"/>
                <a:ea typeface="Calibri" pitchFamily="34" charset="-122"/>
                <a:cs typeface="Calibri" pitchFamily="34" charset="-120"/>
              </a:rPr>
              <a:t>Cerebellum</a:t>
            </a:r>
            <a:endParaRPr lang="en-US" sz="2200" dirty="0"/>
          </a:p>
        </p:txBody>
      </p:sp>
      <p:sp>
        <p:nvSpPr>
          <p:cNvPr id="16" name="Text 12"/>
          <p:cNvSpPr txBox="1"/>
          <p:nvPr/>
        </p:nvSpPr>
        <p:spPr>
          <a:xfrm>
            <a:off x="4389120" y="3364992"/>
            <a:ext cx="7025335" cy="731520"/>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Same-side ataxia, truncal sway. Drowsy = emergency.</a:t>
            </a:r>
            <a:endParaRPr lang="en-US" sz="2000" dirty="0"/>
          </a:p>
        </p:txBody>
      </p:sp>
      <p:sp>
        <p:nvSpPr>
          <p:cNvPr id="17" name="Shape 13"/>
          <p:cNvSpPr/>
          <p:nvPr/>
        </p:nvSpPr>
        <p:spPr>
          <a:xfrm>
            <a:off x="548640" y="4178808"/>
            <a:ext cx="11094415" cy="731520"/>
          </a:xfrm>
          <a:prstGeom prst="roundRect">
            <a:avLst>
              <a:gd name="adj" fmla="val 12500"/>
            </a:avLst>
          </a:prstGeom>
          <a:solidFill>
            <a:srgbClr val="E8EDF3"/>
          </a:solidFill>
          <a:ln w="6350">
            <a:solidFill>
              <a:srgbClr val="E8EDF3"/>
            </a:solidFill>
            <a:prstDash val="solid"/>
          </a:ln>
        </p:spPr>
      </p:sp>
      <p:sp>
        <p:nvSpPr>
          <p:cNvPr id="18" name="Text 14"/>
          <p:cNvSpPr txBox="1"/>
          <p:nvPr/>
        </p:nvSpPr>
        <p:spPr>
          <a:xfrm>
            <a:off x="868680" y="4178808"/>
            <a:ext cx="3429000" cy="731520"/>
          </a:xfrm>
          <a:prstGeom prst="rect">
            <a:avLst/>
          </a:prstGeom>
          <a:noFill/>
          <a:ln/>
        </p:spPr>
        <p:txBody>
          <a:bodyPr wrap="square" lIns="0" tIns="0" rIns="0" bIns="0" rtlCol="0" anchor="ctr"/>
          <a:lstStyle/>
          <a:p>
            <a:pPr indent="0" marL="0">
              <a:buNone/>
            </a:pPr>
            <a:r>
              <a:rPr lang="en-US" sz="2200" b="1" dirty="0">
                <a:solidFill>
                  <a:srgbClr val="13233A"/>
                </a:solidFill>
                <a:latin typeface="Calibri" pitchFamily="34" charset="0"/>
                <a:ea typeface="Calibri" pitchFamily="34" charset="-122"/>
                <a:cs typeface="Calibri" pitchFamily="34" charset="-120"/>
              </a:rPr>
              <a:t>Pons</a:t>
            </a:r>
            <a:endParaRPr lang="en-US" sz="2200" dirty="0"/>
          </a:p>
        </p:txBody>
      </p:sp>
      <p:sp>
        <p:nvSpPr>
          <p:cNvPr id="19" name="Text 15"/>
          <p:cNvSpPr txBox="1"/>
          <p:nvPr/>
        </p:nvSpPr>
        <p:spPr>
          <a:xfrm>
            <a:off x="4389120" y="4178808"/>
            <a:ext cx="7025335" cy="731520"/>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Often severe: four-limb weakness, cranial nerve signs</a:t>
            </a:r>
            <a:endParaRPr lang="en-US" sz="2000" dirty="0"/>
          </a:p>
        </p:txBody>
      </p:sp>
      <p:sp>
        <p:nvSpPr>
          <p:cNvPr id="20" name="Shape 16"/>
          <p:cNvSpPr/>
          <p:nvPr/>
        </p:nvSpPr>
        <p:spPr>
          <a:xfrm>
            <a:off x="548640" y="4992624"/>
            <a:ext cx="11094415" cy="731520"/>
          </a:xfrm>
          <a:prstGeom prst="roundRect">
            <a:avLst>
              <a:gd name="adj" fmla="val 12500"/>
            </a:avLst>
          </a:prstGeom>
          <a:solidFill>
            <a:srgbClr val="F3F5F8"/>
          </a:solidFill>
          <a:ln w="6350">
            <a:solidFill>
              <a:srgbClr val="F3F5F8"/>
            </a:solidFill>
            <a:prstDash val="solid"/>
          </a:ln>
        </p:spPr>
      </p:sp>
      <p:sp>
        <p:nvSpPr>
          <p:cNvPr id="21" name="Text 17"/>
          <p:cNvSpPr txBox="1"/>
          <p:nvPr/>
        </p:nvSpPr>
        <p:spPr>
          <a:xfrm>
            <a:off x="868680" y="4992624"/>
            <a:ext cx="3429000" cy="731520"/>
          </a:xfrm>
          <a:prstGeom prst="rect">
            <a:avLst/>
          </a:prstGeom>
          <a:noFill/>
          <a:ln/>
        </p:spPr>
        <p:txBody>
          <a:bodyPr wrap="square" lIns="0" tIns="0" rIns="0" bIns="0" rtlCol="0" anchor="ctr"/>
          <a:lstStyle/>
          <a:p>
            <a:pPr indent="0" marL="0">
              <a:buNone/>
            </a:pPr>
            <a:r>
              <a:rPr lang="en-US" sz="2200" b="1" dirty="0">
                <a:solidFill>
                  <a:srgbClr val="13233A"/>
                </a:solidFill>
                <a:latin typeface="Calibri" pitchFamily="34" charset="0"/>
                <a:ea typeface="Calibri" pitchFamily="34" charset="-122"/>
                <a:cs typeface="Calibri" pitchFamily="34" charset="-120"/>
              </a:rPr>
              <a:t>Lobar</a:t>
            </a:r>
            <a:endParaRPr lang="en-US" sz="2200" dirty="0"/>
          </a:p>
        </p:txBody>
      </p:sp>
      <p:sp>
        <p:nvSpPr>
          <p:cNvPr id="22" name="Text 18"/>
          <p:cNvSpPr txBox="1"/>
          <p:nvPr/>
        </p:nvSpPr>
        <p:spPr>
          <a:xfrm>
            <a:off x="4389120" y="4992624"/>
            <a:ext cx="7025335" cy="731520"/>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By lobe: weakness, neglect, aphasia, field loss; seizures</a:t>
            </a:r>
            <a:endParaRPr lang="en-US" sz="2000" dirty="0"/>
          </a:p>
        </p:txBody>
      </p:sp>
      <p:sp>
        <p:nvSpPr>
          <p:cNvPr id="23" name="Text 19"/>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PLIC involvement and motor outcome (Gupta et al., 2025; Murray et al., 2025; Puig et al., 2019).</a:t>
            </a:r>
            <a:endParaRPr lang="en-US" sz="1200" dirty="0"/>
          </a:p>
        </p:txBody>
      </p:sp>
      <p:sp>
        <p:nvSpPr>
          <p:cNvPr id="24" name="Text 20"/>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5"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26"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27"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8"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9"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0"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1"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2"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3"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12</a:t>
            </a:r>
            <a:endParaRPr lang="en-US" sz="11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a:t>
            </a:r>
            <a:endParaRPr lang="en-US" sz="1400" dirty="0"/>
          </a:p>
        </p:txBody>
      </p:sp>
      <p:sp>
        <p:nvSpPr>
          <p:cNvPr id="4" name="Shape 1"/>
          <p:cNvSpPr/>
          <p:nvPr/>
        </p:nvSpPr>
        <p:spPr>
          <a:xfrm>
            <a:off x="8062265" y="356616"/>
            <a:ext cx="3580790"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217713" y="443484"/>
            <a:ext cx="173736" cy="173736"/>
          </a:xfrm>
          <a:prstGeom prst="rect">
            <a:avLst/>
          </a:prstGeom>
        </p:spPr>
      </p:pic>
      <p:sp>
        <p:nvSpPr>
          <p:cNvPr id="6" name="Text 2"/>
          <p:cNvSpPr txBox="1"/>
          <p:nvPr/>
        </p:nvSpPr>
        <p:spPr>
          <a:xfrm>
            <a:off x="8464601" y="356616"/>
            <a:ext cx="3105302"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Systematic review · mixed MRI methods</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Microbleeds are the footprints</a:t>
            </a:r>
            <a:endParaRPr lang="en-US" sz="4000" dirty="0"/>
          </a:p>
        </p:txBody>
      </p:sp>
      <p:pic>
        <p:nvPicPr>
          <p:cNvPr id="8" name="Image 1" descr="preencoded.png">    </p:cNvPr>
          <p:cNvPicPr>
            <a:picLocks noChangeAspect="1"/>
          </p:cNvPicPr>
          <p:nvPr/>
        </p:nvPicPr>
        <p:blipFill>
          <a:blip r:embed="rId2"/>
          <a:stretch>
            <a:fillRect/>
          </a:stretch>
        </p:blipFill>
        <p:spPr>
          <a:xfrm>
            <a:off x="731520" y="1691640"/>
            <a:ext cx="2651760" cy="3093720"/>
          </a:xfrm>
          <a:prstGeom prst="rect">
            <a:avLst/>
          </a:prstGeom>
        </p:spPr>
      </p:pic>
      <p:pic>
        <p:nvPicPr>
          <p:cNvPr id="9" name="Image 2" descr="preencoded.png">    </p:cNvPr>
          <p:cNvPicPr>
            <a:picLocks noChangeAspect="1"/>
          </p:cNvPicPr>
          <p:nvPr/>
        </p:nvPicPr>
        <p:blipFill>
          <a:blip r:embed="rId3"/>
          <a:stretch>
            <a:fillRect/>
          </a:stretch>
        </p:blipFill>
        <p:spPr>
          <a:xfrm>
            <a:off x="3749040" y="1691640"/>
            <a:ext cx="2651760" cy="3093720"/>
          </a:xfrm>
          <a:prstGeom prst="rect">
            <a:avLst/>
          </a:prstGeom>
        </p:spPr>
      </p:pic>
      <p:sp>
        <p:nvSpPr>
          <p:cNvPr id="10" name="Text 4"/>
          <p:cNvSpPr txBox="1"/>
          <p:nvPr/>
        </p:nvSpPr>
        <p:spPr>
          <a:xfrm>
            <a:off x="822960" y="4892040"/>
            <a:ext cx="2651760" cy="82296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Surface</a:t>
            </a:r>
            <a:endParaRPr lang="en-US" sz="2200" dirty="0"/>
          </a:p>
          <a:p>
            <a:pPr indent="0" marL="0">
              <a:buNone/>
            </a:pPr>
            <a:r>
              <a:rPr lang="en-US" sz="2200" dirty="0">
                <a:solidFill>
                  <a:srgbClr val="3E5C76"/>
                </a:solidFill>
                <a:latin typeface="Calibri" pitchFamily="34" charset="0"/>
                <a:ea typeface="Calibri" pitchFamily="34" charset="-122"/>
                <a:cs typeface="Calibri" pitchFamily="34" charset="-120"/>
              </a:rPr>
              <a:t>→ amyloid</a:t>
            </a:r>
            <a:endParaRPr lang="en-US" sz="2200" dirty="0"/>
          </a:p>
        </p:txBody>
      </p:sp>
      <p:sp>
        <p:nvSpPr>
          <p:cNvPr id="11" name="Text 5"/>
          <p:cNvSpPr txBox="1"/>
          <p:nvPr/>
        </p:nvSpPr>
        <p:spPr>
          <a:xfrm>
            <a:off x="3840480" y="4892040"/>
            <a:ext cx="2651760" cy="82296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Deep</a:t>
            </a:r>
            <a:endParaRPr lang="en-US" sz="2200" dirty="0"/>
          </a:p>
          <a:p>
            <a:pPr indent="0" marL="0">
              <a:buNone/>
            </a:pPr>
            <a:r>
              <a:rPr lang="en-US" sz="2200" dirty="0">
                <a:solidFill>
                  <a:srgbClr val="3E5C76"/>
                </a:solidFill>
                <a:latin typeface="Calibri" pitchFamily="34" charset="0"/>
                <a:ea typeface="Calibri" pitchFamily="34" charset="-122"/>
                <a:cs typeface="Calibri" pitchFamily="34" charset="-120"/>
              </a:rPr>
              <a:t>→ hypertension</a:t>
            </a:r>
            <a:endParaRPr lang="en-US" sz="2200" dirty="0"/>
          </a:p>
        </p:txBody>
      </p:sp>
      <p:sp>
        <p:nvSpPr>
          <p:cNvPr id="12" name="Shape 6"/>
          <p:cNvSpPr/>
          <p:nvPr/>
        </p:nvSpPr>
        <p:spPr>
          <a:xfrm>
            <a:off x="6949440" y="1828800"/>
            <a:ext cx="4693615" cy="3931920"/>
          </a:xfrm>
          <a:prstGeom prst="roundRect">
            <a:avLst>
              <a:gd name="adj" fmla="val 2326"/>
            </a:avLst>
          </a:prstGeom>
          <a:solidFill>
            <a:srgbClr val="E8EDF3"/>
          </a:solidFill>
          <a:ln w="6350">
            <a:solidFill>
              <a:srgbClr val="E8EDF3"/>
            </a:solidFill>
            <a:prstDash val="solid"/>
          </a:ln>
        </p:spPr>
      </p:sp>
      <p:sp>
        <p:nvSpPr>
          <p:cNvPr id="13" name="Text 7"/>
          <p:cNvSpPr txBox="1"/>
          <p:nvPr/>
        </p:nvSpPr>
        <p:spPr>
          <a:xfrm>
            <a:off x="7315200" y="2194560"/>
            <a:ext cx="3962095" cy="1371600"/>
          </a:xfrm>
          <a:prstGeom prst="rect">
            <a:avLst/>
          </a:prstGeom>
          <a:noFill/>
          <a:ln/>
        </p:spPr>
        <p:txBody>
          <a:bodyPr wrap="square" lIns="0" tIns="0" rIns="0" bIns="0" rtlCol="0" anchor="ctr"/>
          <a:lstStyle/>
          <a:p>
            <a:pPr indent="0" marL="0">
              <a:buNone/>
            </a:pPr>
            <a:r>
              <a:rPr lang="en-US" sz="8800" b="1" dirty="0">
                <a:solidFill>
                  <a:srgbClr val="C1272D"/>
                </a:solidFill>
                <a:latin typeface="Cambria" pitchFamily="34" charset="0"/>
                <a:ea typeface="Cambria" pitchFamily="34" charset="-122"/>
                <a:cs typeface="Cambria" pitchFamily="34" charset="-120"/>
              </a:rPr>
              <a:t>60%</a:t>
            </a:r>
            <a:endParaRPr lang="en-US" sz="8800" dirty="0"/>
          </a:p>
        </p:txBody>
      </p:sp>
      <p:sp>
        <p:nvSpPr>
          <p:cNvPr id="14" name="Text 8"/>
          <p:cNvSpPr txBox="1"/>
          <p:nvPr/>
        </p:nvSpPr>
        <p:spPr>
          <a:xfrm>
            <a:off x="7315200" y="3611880"/>
            <a:ext cx="3962095" cy="1005840"/>
          </a:xfrm>
          <a:prstGeom prst="rect">
            <a:avLst/>
          </a:prstGeom>
          <a:noFill/>
          <a:ln/>
        </p:spPr>
        <p:txBody>
          <a:bodyPr wrap="square" lIns="0" tIns="0" rIns="0" bIns="0" rtlCol="0" anchor="t"/>
          <a:lstStyle/>
          <a:p>
            <a:pPr indent="0" marL="0">
              <a:buNone/>
            </a:pPr>
            <a:r>
              <a:rPr lang="en-US" sz="2400" b="1" dirty="0">
                <a:solidFill>
                  <a:srgbClr val="13233A"/>
                </a:solidFill>
                <a:latin typeface="Calibri" pitchFamily="34" charset="0"/>
                <a:ea typeface="Calibri" pitchFamily="34" charset="-122"/>
                <a:cs typeface="Calibri" pitchFamily="34" charset="-120"/>
              </a:rPr>
              <a:t>of people with ICH have microbleeds on MRI</a:t>
            </a:r>
            <a:endParaRPr lang="en-US" sz="2400" dirty="0"/>
          </a:p>
        </p:txBody>
      </p:sp>
      <p:sp>
        <p:nvSpPr>
          <p:cNvPr id="15" name="Text 9"/>
          <p:cNvSpPr txBox="1"/>
          <p:nvPr/>
        </p:nvSpPr>
        <p:spPr>
          <a:xfrm>
            <a:off x="7315200" y="4800600"/>
            <a:ext cx="3962095" cy="457200"/>
          </a:xfrm>
          <a:prstGeom prst="rect">
            <a:avLst/>
          </a:prstGeom>
          <a:noFill/>
          <a:ln/>
        </p:spPr>
        <p:txBody>
          <a:bodyPr wrap="square" lIns="0" tIns="0" rIns="0" bIns="0" rtlCol="0" anchor="t"/>
          <a:lstStyle/>
          <a:p>
            <a:pPr indent="0" marL="0">
              <a:buNone/>
            </a:pPr>
            <a:r>
              <a:rPr lang="en-US" sz="2000" dirty="0">
                <a:solidFill>
                  <a:srgbClr val="3E5C76"/>
                </a:solidFill>
                <a:latin typeface="Calibri" pitchFamily="34" charset="0"/>
                <a:ea typeface="Calibri" pitchFamily="34" charset="-122"/>
                <a:cs typeface="Calibri" pitchFamily="34" charset="-120"/>
              </a:rPr>
              <a:t>Healthy adults: 5%</a:t>
            </a:r>
            <a:endParaRPr lang="en-US" sz="2000" dirty="0"/>
          </a:p>
        </p:txBody>
      </p:sp>
      <p:sp>
        <p:nvSpPr>
          <p:cNvPr id="16" name="Text 10"/>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Systematic review (Cordonnier et al., 2007). Boston criteria on the handout (Knudsen et al., 2001).</a:t>
            </a:r>
            <a:endParaRPr lang="en-US" sz="1200" dirty="0"/>
          </a:p>
        </p:txBody>
      </p:sp>
      <p:sp>
        <p:nvSpPr>
          <p:cNvPr id="17" name="Text 11"/>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8"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19"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20"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1"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2"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23"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4"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5"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6"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13</a:t>
            </a:r>
            <a:endParaRPr lang="en-US" sz="11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30 SECONDS WITH YOUR NEIGHBOUR</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Jill: primary or secondary?</a:t>
            </a:r>
            <a:endParaRPr lang="en-US" sz="4000" dirty="0"/>
          </a:p>
        </p:txBody>
      </p:sp>
      <p:sp>
        <p:nvSpPr>
          <p:cNvPr id="5" name="!!chip0"/>
          <p:cNvSpPr/>
          <p:nvPr/>
        </p:nvSpPr>
        <p:spPr>
          <a:xfrm>
            <a:off x="548640" y="2240280"/>
            <a:ext cx="3515258" cy="914400"/>
          </a:xfrm>
          <a:prstGeom prst="roundRect">
            <a:avLst>
              <a:gd name="adj" fmla="val 10000"/>
            </a:avLst>
          </a:prstGeom>
          <a:solidFill>
            <a:srgbClr val="E8EDF3"/>
          </a:solidFill>
          <a:ln w="6350">
            <a:solidFill>
              <a:srgbClr val="E8EDF3"/>
            </a:solidFill>
            <a:prstDash val="solid"/>
          </a:ln>
        </p:spPr>
      </p:sp>
      <p:sp>
        <p:nvSpPr>
          <p:cNvPr id="6" name="!!chipI0c"/>
          <p:cNvSpPr/>
          <p:nvPr/>
        </p:nvSpPr>
        <p:spPr>
          <a:xfrm>
            <a:off x="749808" y="2395728"/>
            <a:ext cx="603504" cy="603504"/>
          </a:xfrm>
          <a:prstGeom prst="ellipse">
            <a:avLst/>
          </a:prstGeom>
          <a:solidFill>
            <a:srgbClr val="13233A"/>
          </a:solidFill>
          <a:ln w="6350">
            <a:solidFill>
              <a:srgbClr val="13233A"/>
            </a:solidFill>
            <a:prstDash val="solid"/>
          </a:ln>
        </p:spPr>
      </p:sp>
      <p:pic>
        <p:nvPicPr>
          <p:cNvPr id="7" name="!!chipI0i" descr="preencoded.png">    </p:cNvPr>
          <p:cNvPicPr>
            <a:picLocks noChangeAspect="1"/>
          </p:cNvPicPr>
          <p:nvPr/>
        </p:nvPicPr>
        <p:blipFill>
          <a:blip r:embed="rId1"/>
          <a:stretch>
            <a:fillRect/>
          </a:stretch>
        </p:blipFill>
        <p:spPr>
          <a:xfrm>
            <a:off x="900684" y="2546604"/>
            <a:ext cx="301752" cy="301752"/>
          </a:xfrm>
          <a:prstGeom prst="rect">
            <a:avLst/>
          </a:prstGeom>
        </p:spPr>
      </p:pic>
      <p:sp>
        <p:nvSpPr>
          <p:cNvPr id="8" name="!!chipT0"/>
          <p:cNvSpPr txBox="1"/>
          <p:nvPr/>
        </p:nvSpPr>
        <p:spPr>
          <a:xfrm>
            <a:off x="1508760" y="22402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37 years old</a:t>
            </a:r>
            <a:endParaRPr lang="en-US" sz="2400" dirty="0"/>
          </a:p>
        </p:txBody>
      </p:sp>
      <p:sp>
        <p:nvSpPr>
          <p:cNvPr id="9" name="!!chip1"/>
          <p:cNvSpPr/>
          <p:nvPr/>
        </p:nvSpPr>
        <p:spPr>
          <a:xfrm>
            <a:off x="4338218" y="2240280"/>
            <a:ext cx="3515258" cy="914400"/>
          </a:xfrm>
          <a:prstGeom prst="roundRect">
            <a:avLst>
              <a:gd name="adj" fmla="val 10000"/>
            </a:avLst>
          </a:prstGeom>
          <a:solidFill>
            <a:srgbClr val="E8EDF3"/>
          </a:solidFill>
          <a:ln w="6350">
            <a:solidFill>
              <a:srgbClr val="E8EDF3"/>
            </a:solidFill>
            <a:prstDash val="solid"/>
          </a:ln>
        </p:spPr>
      </p:sp>
      <p:sp>
        <p:nvSpPr>
          <p:cNvPr id="10" name="!!chipI1c"/>
          <p:cNvSpPr/>
          <p:nvPr/>
        </p:nvSpPr>
        <p:spPr>
          <a:xfrm>
            <a:off x="4539386" y="2395728"/>
            <a:ext cx="603504" cy="603504"/>
          </a:xfrm>
          <a:prstGeom prst="ellipse">
            <a:avLst/>
          </a:prstGeom>
          <a:solidFill>
            <a:srgbClr val="13233A"/>
          </a:solidFill>
          <a:ln w="6350">
            <a:solidFill>
              <a:srgbClr val="13233A"/>
            </a:solidFill>
            <a:prstDash val="solid"/>
          </a:ln>
        </p:spPr>
      </p:sp>
      <p:pic>
        <p:nvPicPr>
          <p:cNvPr id="11" name="!!chipI1i" descr="preencoded.png">    </p:cNvPr>
          <p:cNvPicPr>
            <a:picLocks noChangeAspect="1"/>
          </p:cNvPicPr>
          <p:nvPr/>
        </p:nvPicPr>
        <p:blipFill>
          <a:blip r:embed="rId2"/>
          <a:stretch>
            <a:fillRect/>
          </a:stretch>
        </p:blipFill>
        <p:spPr>
          <a:xfrm>
            <a:off x="4690262" y="2546604"/>
            <a:ext cx="301752" cy="301752"/>
          </a:xfrm>
          <a:prstGeom prst="rect">
            <a:avLst/>
          </a:prstGeom>
        </p:spPr>
      </p:pic>
      <p:sp>
        <p:nvSpPr>
          <p:cNvPr id="12" name="!!chipT1"/>
          <p:cNvSpPr txBox="1"/>
          <p:nvPr/>
        </p:nvSpPr>
        <p:spPr>
          <a:xfrm>
            <a:off x="5298338" y="22402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No hypertension</a:t>
            </a:r>
            <a:endParaRPr lang="en-US" sz="2400" dirty="0"/>
          </a:p>
        </p:txBody>
      </p:sp>
      <p:sp>
        <p:nvSpPr>
          <p:cNvPr id="13" name="!!chip2"/>
          <p:cNvSpPr/>
          <p:nvPr/>
        </p:nvSpPr>
        <p:spPr>
          <a:xfrm>
            <a:off x="8127797" y="2240280"/>
            <a:ext cx="3515258" cy="914400"/>
          </a:xfrm>
          <a:prstGeom prst="roundRect">
            <a:avLst>
              <a:gd name="adj" fmla="val 10000"/>
            </a:avLst>
          </a:prstGeom>
          <a:solidFill>
            <a:srgbClr val="E8EDF3"/>
          </a:solidFill>
          <a:ln w="6350">
            <a:solidFill>
              <a:srgbClr val="E8EDF3"/>
            </a:solidFill>
            <a:prstDash val="solid"/>
          </a:ln>
        </p:spPr>
      </p:sp>
      <p:sp>
        <p:nvSpPr>
          <p:cNvPr id="14" name="!!chipI2c"/>
          <p:cNvSpPr/>
          <p:nvPr/>
        </p:nvSpPr>
        <p:spPr>
          <a:xfrm>
            <a:off x="8328965" y="2395728"/>
            <a:ext cx="603504" cy="603504"/>
          </a:xfrm>
          <a:prstGeom prst="ellipse">
            <a:avLst/>
          </a:prstGeom>
          <a:solidFill>
            <a:srgbClr val="13233A"/>
          </a:solidFill>
          <a:ln w="6350">
            <a:solidFill>
              <a:srgbClr val="13233A"/>
            </a:solidFill>
            <a:prstDash val="solid"/>
          </a:ln>
        </p:spPr>
      </p:sp>
      <p:pic>
        <p:nvPicPr>
          <p:cNvPr id="15" name="!!chipI2i" descr="preencoded.png">    </p:cNvPr>
          <p:cNvPicPr>
            <a:picLocks noChangeAspect="1"/>
          </p:cNvPicPr>
          <p:nvPr/>
        </p:nvPicPr>
        <p:blipFill>
          <a:blip r:embed="rId3"/>
          <a:stretch>
            <a:fillRect/>
          </a:stretch>
        </p:blipFill>
        <p:spPr>
          <a:xfrm>
            <a:off x="8479841" y="2546604"/>
            <a:ext cx="301752" cy="301752"/>
          </a:xfrm>
          <a:prstGeom prst="rect">
            <a:avLst/>
          </a:prstGeom>
        </p:spPr>
      </p:pic>
      <p:sp>
        <p:nvSpPr>
          <p:cNvPr id="16" name="!!chipT2"/>
          <p:cNvSpPr txBox="1"/>
          <p:nvPr/>
        </p:nvSpPr>
        <p:spPr>
          <a:xfrm>
            <a:off x="9087917" y="22402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Lobar bleed</a:t>
            </a:r>
            <a:endParaRPr lang="en-US" sz="2400" dirty="0"/>
          </a:p>
        </p:txBody>
      </p:sp>
      <p:sp>
        <p:nvSpPr>
          <p:cNvPr id="17" name="Text 11"/>
          <p:cNvSpPr txBox="1"/>
          <p:nvPr/>
        </p:nvSpPr>
        <p:spPr>
          <a:xfrm>
            <a:off x="548640" y="3429000"/>
            <a:ext cx="11094415" cy="2194560"/>
          </a:xfrm>
          <a:prstGeom prst="rect">
            <a:avLst/>
          </a:prstGeom>
          <a:noFill/>
          <a:ln/>
        </p:spPr>
        <p:txBody>
          <a:bodyPr wrap="square" lIns="0" tIns="0" rIns="0" bIns="0" rtlCol="0" anchor="ctr"/>
          <a:lstStyle/>
          <a:p>
            <a:pPr algn="ctr" indent="0" marL="0">
              <a:buNone/>
            </a:pPr>
            <a:r>
              <a:rPr lang="en-US" sz="15000" b="1" dirty="0">
                <a:solidFill>
                  <a:srgbClr val="C9D2DE"/>
                </a:solidFill>
                <a:latin typeface="Cambria" pitchFamily="34" charset="0"/>
                <a:ea typeface="Cambria" pitchFamily="34" charset="-122"/>
                <a:cs typeface="Cambria" pitchFamily="34" charset="-120"/>
              </a:rPr>
              <a:t>?</a:t>
            </a:r>
            <a:endParaRPr lang="en-US" sz="15000" dirty="0"/>
          </a:p>
        </p:txBody>
      </p:sp>
      <p:sp>
        <p:nvSpPr>
          <p:cNvPr id="18" name="Text 12"/>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Case details: Taylor (2008b).</a:t>
            </a:r>
            <a:endParaRPr lang="en-US" sz="1200" dirty="0"/>
          </a:p>
        </p:txBody>
      </p:sp>
      <p:sp>
        <p:nvSpPr>
          <p:cNvPr id="19" name="Text 13"/>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0"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21"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22"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3"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4"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25"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6"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7"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8"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14</a:t>
            </a:r>
            <a:endParaRPr lang="en-US" sz="11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30 SECONDS WITH YOUR NEIGHBOUR</a:t>
            </a:r>
            <a:endParaRPr lang="en-US" sz="1400" dirty="0"/>
          </a:p>
        </p:txBody>
      </p:sp>
      <p:sp>
        <p:nvSpPr>
          <p:cNvPr id="4" name="Shape 1"/>
          <p:cNvSpPr/>
          <p:nvPr/>
        </p:nvSpPr>
        <p:spPr>
          <a:xfrm>
            <a:off x="8303666" y="356616"/>
            <a:ext cx="3339389"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459114" y="443484"/>
            <a:ext cx="173736" cy="173736"/>
          </a:xfrm>
          <a:prstGeom prst="rect">
            <a:avLst/>
          </a:prstGeom>
        </p:spPr>
      </p:pic>
      <p:sp>
        <p:nvSpPr>
          <p:cNvPr id="6" name="Text 2"/>
          <p:cNvSpPr txBox="1"/>
          <p:nvPr/>
        </p:nvSpPr>
        <p:spPr>
          <a:xfrm>
            <a:off x="8706002" y="356616"/>
            <a:ext cx="2863901"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Prospective · n = 206 · one centre</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C1272D"/>
                </a:solidFill>
                <a:latin typeface="Cambria" pitchFamily="34" charset="0"/>
                <a:ea typeface="Cambria" pitchFamily="34" charset="-122"/>
                <a:cs typeface="Cambria" pitchFamily="34" charset="-120"/>
              </a:rPr>
              <a:t>Secondary: an arteriovenous malformation</a:t>
            </a:r>
            <a:endParaRPr lang="en-US" sz="4000" dirty="0"/>
          </a:p>
        </p:txBody>
      </p:sp>
      <p:sp>
        <p:nvSpPr>
          <p:cNvPr id="8" name="!!chip0"/>
          <p:cNvSpPr/>
          <p:nvPr/>
        </p:nvSpPr>
        <p:spPr>
          <a:xfrm>
            <a:off x="548640" y="1783080"/>
            <a:ext cx="3515258" cy="914400"/>
          </a:xfrm>
          <a:prstGeom prst="roundRect">
            <a:avLst>
              <a:gd name="adj" fmla="val 10000"/>
            </a:avLst>
          </a:prstGeom>
          <a:solidFill>
            <a:srgbClr val="E8EDF3"/>
          </a:solidFill>
          <a:ln w="6350">
            <a:solidFill>
              <a:srgbClr val="E8EDF3"/>
            </a:solidFill>
            <a:prstDash val="solid"/>
          </a:ln>
        </p:spPr>
      </p:sp>
      <p:sp>
        <p:nvSpPr>
          <p:cNvPr id="9" name="!!chipI0c"/>
          <p:cNvSpPr/>
          <p:nvPr/>
        </p:nvSpPr>
        <p:spPr>
          <a:xfrm>
            <a:off x="749808" y="1938528"/>
            <a:ext cx="603504" cy="603504"/>
          </a:xfrm>
          <a:prstGeom prst="ellipse">
            <a:avLst/>
          </a:prstGeom>
          <a:solidFill>
            <a:srgbClr val="13233A"/>
          </a:solidFill>
          <a:ln w="6350">
            <a:solidFill>
              <a:srgbClr val="13233A"/>
            </a:solidFill>
            <a:prstDash val="solid"/>
          </a:ln>
        </p:spPr>
      </p:sp>
      <p:pic>
        <p:nvPicPr>
          <p:cNvPr id="10" name="!!chipI0i" descr="preencoded.png">    </p:cNvPr>
          <p:cNvPicPr>
            <a:picLocks noChangeAspect="1"/>
          </p:cNvPicPr>
          <p:nvPr/>
        </p:nvPicPr>
        <p:blipFill>
          <a:blip r:embed="rId2"/>
          <a:stretch>
            <a:fillRect/>
          </a:stretch>
        </p:blipFill>
        <p:spPr>
          <a:xfrm>
            <a:off x="900684" y="2089404"/>
            <a:ext cx="301752" cy="301752"/>
          </a:xfrm>
          <a:prstGeom prst="rect">
            <a:avLst/>
          </a:prstGeom>
        </p:spPr>
      </p:pic>
      <p:sp>
        <p:nvSpPr>
          <p:cNvPr id="11" name="!!chipT0"/>
          <p:cNvSpPr txBox="1"/>
          <p:nvPr/>
        </p:nvSpPr>
        <p:spPr>
          <a:xfrm>
            <a:off x="1508760" y="17830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37 years old</a:t>
            </a:r>
            <a:endParaRPr lang="en-US" sz="2400" dirty="0"/>
          </a:p>
        </p:txBody>
      </p:sp>
      <p:sp>
        <p:nvSpPr>
          <p:cNvPr id="12" name="!!chip1"/>
          <p:cNvSpPr/>
          <p:nvPr/>
        </p:nvSpPr>
        <p:spPr>
          <a:xfrm>
            <a:off x="4338218" y="1783080"/>
            <a:ext cx="3515258" cy="914400"/>
          </a:xfrm>
          <a:prstGeom prst="roundRect">
            <a:avLst>
              <a:gd name="adj" fmla="val 10000"/>
            </a:avLst>
          </a:prstGeom>
          <a:solidFill>
            <a:srgbClr val="E8EDF3"/>
          </a:solidFill>
          <a:ln w="6350">
            <a:solidFill>
              <a:srgbClr val="E8EDF3"/>
            </a:solidFill>
            <a:prstDash val="solid"/>
          </a:ln>
        </p:spPr>
      </p:sp>
      <p:sp>
        <p:nvSpPr>
          <p:cNvPr id="13" name="!!chipI1c"/>
          <p:cNvSpPr/>
          <p:nvPr/>
        </p:nvSpPr>
        <p:spPr>
          <a:xfrm>
            <a:off x="4539386" y="1938528"/>
            <a:ext cx="603504" cy="603504"/>
          </a:xfrm>
          <a:prstGeom prst="ellipse">
            <a:avLst/>
          </a:prstGeom>
          <a:solidFill>
            <a:srgbClr val="13233A"/>
          </a:solidFill>
          <a:ln w="6350">
            <a:solidFill>
              <a:srgbClr val="13233A"/>
            </a:solidFill>
            <a:prstDash val="solid"/>
          </a:ln>
        </p:spPr>
      </p:sp>
      <p:pic>
        <p:nvPicPr>
          <p:cNvPr id="14" name="!!chipI1i" descr="preencoded.png">    </p:cNvPr>
          <p:cNvPicPr>
            <a:picLocks noChangeAspect="1"/>
          </p:cNvPicPr>
          <p:nvPr/>
        </p:nvPicPr>
        <p:blipFill>
          <a:blip r:embed="rId3"/>
          <a:stretch>
            <a:fillRect/>
          </a:stretch>
        </p:blipFill>
        <p:spPr>
          <a:xfrm>
            <a:off x="4690262" y="2089404"/>
            <a:ext cx="301752" cy="301752"/>
          </a:xfrm>
          <a:prstGeom prst="rect">
            <a:avLst/>
          </a:prstGeom>
        </p:spPr>
      </p:pic>
      <p:sp>
        <p:nvSpPr>
          <p:cNvPr id="15" name="!!chipT1"/>
          <p:cNvSpPr txBox="1"/>
          <p:nvPr/>
        </p:nvSpPr>
        <p:spPr>
          <a:xfrm>
            <a:off x="5298338" y="17830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No hypertension</a:t>
            </a:r>
            <a:endParaRPr lang="en-US" sz="2400" dirty="0"/>
          </a:p>
        </p:txBody>
      </p:sp>
      <p:sp>
        <p:nvSpPr>
          <p:cNvPr id="16" name="!!chip2"/>
          <p:cNvSpPr/>
          <p:nvPr/>
        </p:nvSpPr>
        <p:spPr>
          <a:xfrm>
            <a:off x="8127797" y="1783080"/>
            <a:ext cx="3515258" cy="914400"/>
          </a:xfrm>
          <a:prstGeom prst="roundRect">
            <a:avLst>
              <a:gd name="adj" fmla="val 10000"/>
            </a:avLst>
          </a:prstGeom>
          <a:solidFill>
            <a:srgbClr val="E8EDF3"/>
          </a:solidFill>
          <a:ln w="6350">
            <a:solidFill>
              <a:srgbClr val="E8EDF3"/>
            </a:solidFill>
            <a:prstDash val="solid"/>
          </a:ln>
        </p:spPr>
      </p:sp>
      <p:sp>
        <p:nvSpPr>
          <p:cNvPr id="17" name="!!chipI2c"/>
          <p:cNvSpPr/>
          <p:nvPr/>
        </p:nvSpPr>
        <p:spPr>
          <a:xfrm>
            <a:off x="8328965" y="1938528"/>
            <a:ext cx="603504" cy="603504"/>
          </a:xfrm>
          <a:prstGeom prst="ellipse">
            <a:avLst/>
          </a:prstGeom>
          <a:solidFill>
            <a:srgbClr val="13233A"/>
          </a:solidFill>
          <a:ln w="6350">
            <a:solidFill>
              <a:srgbClr val="13233A"/>
            </a:solidFill>
            <a:prstDash val="solid"/>
          </a:ln>
        </p:spPr>
      </p:sp>
      <p:pic>
        <p:nvPicPr>
          <p:cNvPr id="18" name="!!chipI2i" descr="preencoded.png">    </p:cNvPr>
          <p:cNvPicPr>
            <a:picLocks noChangeAspect="1"/>
          </p:cNvPicPr>
          <p:nvPr/>
        </p:nvPicPr>
        <p:blipFill>
          <a:blip r:embed="rId4"/>
          <a:stretch>
            <a:fillRect/>
          </a:stretch>
        </p:blipFill>
        <p:spPr>
          <a:xfrm>
            <a:off x="8479841" y="2089404"/>
            <a:ext cx="301752" cy="301752"/>
          </a:xfrm>
          <a:prstGeom prst="rect">
            <a:avLst/>
          </a:prstGeom>
        </p:spPr>
      </p:pic>
      <p:sp>
        <p:nvSpPr>
          <p:cNvPr id="19" name="!!chipT2"/>
          <p:cNvSpPr txBox="1"/>
          <p:nvPr/>
        </p:nvSpPr>
        <p:spPr>
          <a:xfrm>
            <a:off x="9087917" y="17830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Lobar bleed</a:t>
            </a:r>
            <a:endParaRPr lang="en-US" sz="2400" dirty="0"/>
          </a:p>
        </p:txBody>
      </p:sp>
      <p:sp>
        <p:nvSpPr>
          <p:cNvPr id="20" name="Shape 13"/>
          <p:cNvSpPr/>
          <p:nvPr/>
        </p:nvSpPr>
        <p:spPr>
          <a:xfrm>
            <a:off x="548640" y="2971800"/>
            <a:ext cx="5410048" cy="2788920"/>
          </a:xfrm>
          <a:prstGeom prst="roundRect">
            <a:avLst>
              <a:gd name="adj" fmla="val 3279"/>
            </a:avLst>
          </a:prstGeom>
          <a:solidFill>
            <a:srgbClr val="F6DCDD"/>
          </a:solidFill>
          <a:ln w="6350">
            <a:solidFill>
              <a:srgbClr val="F6DCDD"/>
            </a:solidFill>
            <a:prstDash val="solid"/>
          </a:ln>
        </p:spPr>
      </p:sp>
      <p:sp>
        <p:nvSpPr>
          <p:cNvPr id="21" name="Text 14"/>
          <p:cNvSpPr txBox="1"/>
          <p:nvPr/>
        </p:nvSpPr>
        <p:spPr>
          <a:xfrm>
            <a:off x="914400" y="3154680"/>
            <a:ext cx="4678528" cy="1188720"/>
          </a:xfrm>
          <a:prstGeom prst="rect">
            <a:avLst/>
          </a:prstGeom>
          <a:noFill/>
          <a:ln/>
        </p:spPr>
        <p:txBody>
          <a:bodyPr wrap="square" lIns="0" tIns="0" rIns="0" bIns="0" rtlCol="0" anchor="ctr"/>
          <a:lstStyle/>
          <a:p>
            <a:pPr indent="0" marL="0">
              <a:buNone/>
            </a:pPr>
            <a:r>
              <a:rPr lang="en-US" sz="8000" b="1" dirty="0">
                <a:solidFill>
                  <a:srgbClr val="C1272D"/>
                </a:solidFill>
                <a:latin typeface="Cambria" pitchFamily="34" charset="0"/>
                <a:ea typeface="Cambria" pitchFamily="34" charset="-122"/>
                <a:cs typeface="Cambria" pitchFamily="34" charset="-120"/>
              </a:rPr>
              <a:t>65%</a:t>
            </a:r>
            <a:endParaRPr lang="en-US" sz="8000" dirty="0"/>
          </a:p>
        </p:txBody>
      </p:sp>
      <p:sp>
        <p:nvSpPr>
          <p:cNvPr id="22" name="Text 15"/>
          <p:cNvSpPr txBox="1"/>
          <p:nvPr/>
        </p:nvSpPr>
        <p:spPr>
          <a:xfrm>
            <a:off x="914400" y="4389120"/>
            <a:ext cx="4678528" cy="1097280"/>
          </a:xfrm>
          <a:prstGeom prst="rect">
            <a:avLst/>
          </a:prstGeom>
          <a:noFill/>
          <a:ln/>
        </p:spPr>
        <p:txBody>
          <a:bodyPr wrap="square" lIns="0" tIns="0" rIns="0" bIns="0" rtlCol="0" anchor="t"/>
          <a:lstStyle/>
          <a:p>
            <a:pPr indent="0" marL="0">
              <a:buNone/>
            </a:pPr>
            <a:r>
              <a:rPr lang="en-US" sz="2400" b="1" dirty="0">
                <a:solidFill>
                  <a:srgbClr val="8E1B1F"/>
                </a:solidFill>
                <a:latin typeface="Calibri" pitchFamily="34" charset="0"/>
                <a:ea typeface="Calibri" pitchFamily="34" charset="-122"/>
                <a:cs typeface="Calibri" pitchFamily="34" charset="-120"/>
              </a:rPr>
              <a:t>of patients like Jill had a lesion on angiography</a:t>
            </a:r>
            <a:endParaRPr lang="en-US" sz="2400" dirty="0"/>
          </a:p>
        </p:txBody>
      </p:sp>
      <p:sp>
        <p:nvSpPr>
          <p:cNvPr id="23" name="Shape 16"/>
          <p:cNvSpPr/>
          <p:nvPr/>
        </p:nvSpPr>
        <p:spPr>
          <a:xfrm>
            <a:off x="6233008" y="2971800"/>
            <a:ext cx="5410048" cy="2788920"/>
          </a:xfrm>
          <a:prstGeom prst="roundRect">
            <a:avLst>
              <a:gd name="adj" fmla="val 3279"/>
            </a:avLst>
          </a:prstGeom>
          <a:solidFill>
            <a:srgbClr val="F3F5F8"/>
          </a:solidFill>
          <a:ln w="6350">
            <a:solidFill>
              <a:srgbClr val="F3F5F8"/>
            </a:solidFill>
            <a:prstDash val="solid"/>
          </a:ln>
        </p:spPr>
      </p:sp>
      <p:sp>
        <p:nvSpPr>
          <p:cNvPr id="24" name="Text 17"/>
          <p:cNvSpPr txBox="1"/>
          <p:nvPr/>
        </p:nvSpPr>
        <p:spPr>
          <a:xfrm>
            <a:off x="6598768" y="3154680"/>
            <a:ext cx="4678528" cy="1188720"/>
          </a:xfrm>
          <a:prstGeom prst="rect">
            <a:avLst/>
          </a:prstGeom>
          <a:noFill/>
          <a:ln/>
        </p:spPr>
        <p:txBody>
          <a:bodyPr wrap="square" lIns="0" tIns="0" rIns="0" bIns="0" rtlCol="0" anchor="ctr"/>
          <a:lstStyle/>
          <a:p>
            <a:pPr indent="0" marL="0">
              <a:buNone/>
            </a:pPr>
            <a:r>
              <a:rPr lang="en-US" sz="8000" b="1" dirty="0">
                <a:solidFill>
                  <a:srgbClr val="13233A"/>
                </a:solidFill>
                <a:latin typeface="Cambria" pitchFamily="34" charset="0"/>
                <a:ea typeface="Cambria" pitchFamily="34" charset="-122"/>
                <a:cs typeface="Cambria" pitchFamily="34" charset="-120"/>
              </a:rPr>
              <a:t>0%</a:t>
            </a:r>
            <a:endParaRPr lang="en-US" sz="8000" dirty="0"/>
          </a:p>
        </p:txBody>
      </p:sp>
      <p:sp>
        <p:nvSpPr>
          <p:cNvPr id="25" name="Text 18"/>
          <p:cNvSpPr txBox="1"/>
          <p:nvPr/>
        </p:nvSpPr>
        <p:spPr>
          <a:xfrm>
            <a:off x="6598768" y="4389120"/>
            <a:ext cx="4678528" cy="1097280"/>
          </a:xfrm>
          <a:prstGeom prst="rect">
            <a:avLst/>
          </a:prstGeom>
          <a:noFill/>
          <a:ln/>
        </p:spPr>
        <p:txBody>
          <a:bodyPr wrap="square" lIns="0" tIns="0" rIns="0" bIns="0" rtlCol="0" anchor="t"/>
          <a:lstStyle/>
          <a:p>
            <a:pPr indent="0" marL="0">
              <a:buNone/>
            </a:pPr>
            <a:r>
              <a:rPr lang="en-US" sz="2400" b="1" dirty="0">
                <a:solidFill>
                  <a:srgbClr val="13233A"/>
                </a:solidFill>
                <a:latin typeface="Calibri" pitchFamily="34" charset="0"/>
                <a:ea typeface="Calibri" pitchFamily="34" charset="-122"/>
                <a:cs typeface="Calibri" pitchFamily="34" charset="-120"/>
              </a:rPr>
              <a:t>if over 45, hypertensive, with a deep bleed</a:t>
            </a:r>
            <a:endParaRPr lang="en-US" sz="2400" dirty="0"/>
          </a:p>
        </p:txBody>
      </p:sp>
      <p:sp>
        <p:nvSpPr>
          <p:cNvPr id="26" name="Text 19"/>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Prospective; 206 patients, all had catheter angiography (Zhu et al., 1997). Other secondary causes on the handout.</a:t>
            </a:r>
            <a:endParaRPr lang="en-US" sz="1200" dirty="0"/>
          </a:p>
        </p:txBody>
      </p:sp>
      <p:sp>
        <p:nvSpPr>
          <p:cNvPr id="27" name="Text 20"/>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8"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29"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30"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1"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2"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3"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4"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5"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6"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15</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halo0"/>
          <p:cNvSpPr/>
          <p:nvPr/>
        </p:nvSpPr>
        <p:spPr>
          <a:xfrm>
            <a:off x="8001000" y="2103120"/>
            <a:ext cx="2651760" cy="2651760"/>
          </a:xfrm>
          <a:prstGeom prst="ellipse">
            <a:avLst/>
          </a:prstGeom>
          <a:solidFill>
            <a:srgbClr val="C1272D">
              <a:alpha val="15000"/>
            </a:srgbClr>
          </a:solidFill>
          <a:ln w="6350">
            <a:solidFill>
              <a:srgbClr val="C1272D">
                <a:alpha val="0"/>
              </a:srgbClr>
            </a:solidFill>
            <a:prstDash val="solid"/>
          </a:ln>
        </p:spPr>
      </p:sp>
      <p:sp>
        <p:nvSpPr>
          <p:cNvPr id="5" name="!!bleed"/>
          <p:cNvSpPr/>
          <p:nvPr/>
        </p:nvSpPr>
        <p:spPr>
          <a:xfrm>
            <a:off x="8321040" y="2423160"/>
            <a:ext cx="2011680" cy="2011680"/>
          </a:xfrm>
          <a:prstGeom prst="ellipse">
            <a:avLst/>
          </a:prstGeom>
          <a:solidFill>
            <a:srgbClr val="C1272D"/>
          </a:solidFill>
          <a:ln w="6350">
            <a:solidFill>
              <a:srgbClr val="C1272D"/>
            </a:solidFill>
            <a:prstDash val="solid"/>
          </a:ln>
        </p:spPr>
      </p:sp>
      <p:sp>
        <p:nvSpPr>
          <p:cNvPr id="6" name="Text 3"/>
          <p:cNvSpPr txBox="1"/>
          <p:nvPr/>
        </p:nvSpPr>
        <p:spPr>
          <a:xfrm>
            <a:off x="731520" y="1325880"/>
            <a:ext cx="2743200" cy="1463040"/>
          </a:xfrm>
          <a:prstGeom prst="rect">
            <a:avLst/>
          </a:prstGeom>
          <a:noFill/>
          <a:ln/>
        </p:spPr>
        <p:txBody>
          <a:bodyPr wrap="square" lIns="0" tIns="0" rIns="0" bIns="0" rtlCol="0" anchor="b"/>
          <a:lstStyle/>
          <a:p>
            <a:pPr indent="0" marL="0">
              <a:buNone/>
            </a:pPr>
            <a:r>
              <a:rPr lang="en-US" sz="11000" b="1" dirty="0">
                <a:solidFill>
                  <a:srgbClr val="E0474C"/>
                </a:solidFill>
                <a:latin typeface="Cambria" pitchFamily="34" charset="0"/>
                <a:ea typeface="Cambria" pitchFamily="34" charset="-122"/>
                <a:cs typeface="Cambria" pitchFamily="34" charset="-120"/>
              </a:rPr>
              <a:t>02</a:t>
            </a:r>
            <a:endParaRPr lang="en-US" sz="11000" dirty="0"/>
          </a:p>
        </p:txBody>
      </p:sp>
      <p:sp>
        <p:nvSpPr>
          <p:cNvPr id="7" name="Text 4"/>
          <p:cNvSpPr txBox="1"/>
          <p:nvPr/>
        </p:nvSpPr>
        <p:spPr>
          <a:xfrm>
            <a:off x="731520" y="2926080"/>
            <a:ext cx="62179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The first hours</a:t>
            </a:r>
            <a:endParaRPr lang="en-US" sz="5400" dirty="0"/>
          </a:p>
        </p:txBody>
      </p:sp>
      <p:sp>
        <p:nvSpPr>
          <p:cNvPr id="8" name="Text 5"/>
          <p:cNvSpPr txBox="1"/>
          <p:nvPr/>
        </p:nvSpPr>
        <p:spPr>
          <a:xfrm>
            <a:off x="731520" y="3931920"/>
            <a:ext cx="5760720" cy="82296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Rupture, growth and pressure</a:t>
            </a:r>
            <a:endParaRPr lang="en-US" sz="2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02 · THE FIRST HOURS</a:t>
            </a:r>
            <a:endParaRPr lang="en-US" sz="1400" dirty="0"/>
          </a:p>
        </p:txBody>
      </p:sp>
      <p:sp>
        <p:nvSpPr>
          <p:cNvPr id="4" name="Shape 1"/>
          <p:cNvSpPr/>
          <p:nvPr/>
        </p:nvSpPr>
        <p:spPr>
          <a:xfrm>
            <a:off x="7740396" y="356616"/>
            <a:ext cx="3902659"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7895844" y="443484"/>
            <a:ext cx="173736" cy="173736"/>
          </a:xfrm>
          <a:prstGeom prst="rect">
            <a:avLst/>
          </a:prstGeom>
        </p:spPr>
      </p:pic>
      <p:sp>
        <p:nvSpPr>
          <p:cNvPr id="6" name="Text 2"/>
          <p:cNvSpPr txBox="1"/>
          <p:nvPr/>
        </p:nvSpPr>
        <p:spPr>
          <a:xfrm>
            <a:off x="8142732" y="356616"/>
            <a:ext cx="3427171"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Autopsy series · mechanism, not frequency</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One rupture can trigger more</a:t>
            </a:r>
            <a:endParaRPr lang="en-US" sz="4000" dirty="0"/>
          </a:p>
        </p:txBody>
      </p:sp>
      <p:sp>
        <p:nvSpPr>
          <p:cNvPr id="8" name="Shape 4"/>
          <p:cNvSpPr/>
          <p:nvPr/>
        </p:nvSpPr>
        <p:spPr>
          <a:xfrm>
            <a:off x="548640" y="1783080"/>
            <a:ext cx="2567864" cy="2926080"/>
          </a:xfrm>
          <a:prstGeom prst="roundRect">
            <a:avLst>
              <a:gd name="adj" fmla="val 3561"/>
            </a:avLst>
          </a:prstGeom>
          <a:solidFill>
            <a:srgbClr val="F3F5F8"/>
          </a:solidFill>
          <a:ln w="6350">
            <a:solidFill>
              <a:srgbClr val="F3F5F8"/>
            </a:solidFill>
            <a:prstDash val="solid"/>
          </a:ln>
        </p:spPr>
      </p:sp>
      <p:sp>
        <p:nvSpPr>
          <p:cNvPr id="9" name="Shape 5"/>
          <p:cNvSpPr/>
          <p:nvPr/>
        </p:nvSpPr>
        <p:spPr>
          <a:xfrm>
            <a:off x="822960" y="3063240"/>
            <a:ext cx="2019224" cy="365760"/>
          </a:xfrm>
          <a:prstGeom prst="rect">
            <a:avLst/>
          </a:prstGeom>
          <a:solidFill>
            <a:srgbClr val="C1272D"/>
          </a:solidFill>
          <a:ln w="50800">
            <a:solidFill>
              <a:srgbClr val="C3CEDB"/>
            </a:solidFill>
            <a:prstDash val="solid"/>
          </a:ln>
        </p:spPr>
      </p:sp>
      <p:sp>
        <p:nvSpPr>
          <p:cNvPr id="10" name="Shape 6"/>
          <p:cNvSpPr/>
          <p:nvPr/>
        </p:nvSpPr>
        <p:spPr>
          <a:xfrm>
            <a:off x="1530820" y="2468880"/>
            <a:ext cx="603504" cy="603504"/>
          </a:xfrm>
          <a:prstGeom prst="ellipse">
            <a:avLst/>
          </a:prstGeom>
          <a:solidFill>
            <a:srgbClr val="C1272D"/>
          </a:solidFill>
          <a:ln w="6350">
            <a:solidFill>
              <a:srgbClr val="C1272D"/>
            </a:solidFill>
            <a:prstDash val="solid"/>
          </a:ln>
        </p:spPr>
      </p:sp>
      <p:sp>
        <p:nvSpPr>
          <p:cNvPr id="11" name="Shape 7"/>
          <p:cNvSpPr/>
          <p:nvPr/>
        </p:nvSpPr>
        <p:spPr>
          <a:xfrm>
            <a:off x="2106892" y="2286000"/>
            <a:ext cx="219456" cy="219456"/>
          </a:xfrm>
          <a:prstGeom prst="ellipse">
            <a:avLst/>
          </a:prstGeom>
          <a:solidFill>
            <a:srgbClr val="C1272D"/>
          </a:solidFill>
          <a:ln w="6350">
            <a:solidFill>
              <a:srgbClr val="C1272D"/>
            </a:solidFill>
            <a:prstDash val="solid"/>
          </a:ln>
        </p:spPr>
      </p:sp>
      <p:sp>
        <p:nvSpPr>
          <p:cNvPr id="12" name="Shape 8"/>
          <p:cNvSpPr/>
          <p:nvPr/>
        </p:nvSpPr>
        <p:spPr>
          <a:xfrm>
            <a:off x="1329652" y="2350008"/>
            <a:ext cx="155448" cy="155448"/>
          </a:xfrm>
          <a:prstGeom prst="ellipse">
            <a:avLst/>
          </a:prstGeom>
          <a:solidFill>
            <a:srgbClr val="C1272D"/>
          </a:solidFill>
          <a:ln w="6350">
            <a:solidFill>
              <a:srgbClr val="C1272D"/>
            </a:solidFill>
            <a:prstDash val="solid"/>
          </a:ln>
        </p:spPr>
      </p:sp>
      <p:sp>
        <p:nvSpPr>
          <p:cNvPr id="13" name="Text 9"/>
          <p:cNvSpPr txBox="1"/>
          <p:nvPr/>
        </p:nvSpPr>
        <p:spPr>
          <a:xfrm>
            <a:off x="3134792" y="288036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14" name="Shape 10"/>
          <p:cNvSpPr/>
          <p:nvPr/>
        </p:nvSpPr>
        <p:spPr>
          <a:xfrm>
            <a:off x="548640" y="4983480"/>
            <a:ext cx="512064" cy="512064"/>
          </a:xfrm>
          <a:prstGeom prst="ellipse">
            <a:avLst/>
          </a:prstGeom>
          <a:solidFill>
            <a:srgbClr val="C1272D"/>
          </a:solidFill>
          <a:ln w="6350">
            <a:solidFill>
              <a:srgbClr val="C1272D"/>
            </a:solidFill>
            <a:prstDash val="solid"/>
          </a:ln>
        </p:spPr>
      </p:sp>
      <p:sp>
        <p:nvSpPr>
          <p:cNvPr id="15" name="Text 11"/>
          <p:cNvSpPr txBox="1"/>
          <p:nvPr/>
        </p:nvSpPr>
        <p:spPr>
          <a:xfrm>
            <a:off x="548640" y="498348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6" name="Text 12"/>
          <p:cNvSpPr txBox="1"/>
          <p:nvPr/>
        </p:nvSpPr>
        <p:spPr>
          <a:xfrm>
            <a:off x="1188720" y="4983480"/>
            <a:ext cx="1927784"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Rupture</a:t>
            </a:r>
            <a:endParaRPr lang="en-US" sz="2600" dirty="0"/>
          </a:p>
        </p:txBody>
      </p:sp>
      <p:sp>
        <p:nvSpPr>
          <p:cNvPr id="17" name="Shape 13"/>
          <p:cNvSpPr/>
          <p:nvPr/>
        </p:nvSpPr>
        <p:spPr>
          <a:xfrm>
            <a:off x="3390824" y="1783080"/>
            <a:ext cx="2567864" cy="2926080"/>
          </a:xfrm>
          <a:prstGeom prst="roundRect">
            <a:avLst>
              <a:gd name="adj" fmla="val 3561"/>
            </a:avLst>
          </a:prstGeom>
          <a:solidFill>
            <a:srgbClr val="F3F5F8"/>
          </a:solidFill>
          <a:ln w="6350">
            <a:solidFill>
              <a:srgbClr val="F3F5F8"/>
            </a:solidFill>
            <a:prstDash val="solid"/>
          </a:ln>
        </p:spPr>
      </p:sp>
      <p:sp>
        <p:nvSpPr>
          <p:cNvPr id="18" name="Shape 14"/>
          <p:cNvSpPr/>
          <p:nvPr/>
        </p:nvSpPr>
        <p:spPr>
          <a:xfrm>
            <a:off x="3619424" y="3246120"/>
            <a:ext cx="438112" cy="0"/>
          </a:xfrm>
          <a:prstGeom prst="line">
            <a:avLst/>
          </a:prstGeom>
          <a:noFill/>
          <a:ln w="63500">
            <a:solidFill>
              <a:srgbClr val="C3CEDB"/>
            </a:solidFill>
            <a:prstDash val="solid"/>
          </a:ln>
        </p:spPr>
      </p:sp>
      <p:sp>
        <p:nvSpPr>
          <p:cNvPr id="19" name="Shape 15"/>
          <p:cNvSpPr/>
          <p:nvPr/>
        </p:nvSpPr>
        <p:spPr>
          <a:xfrm>
            <a:off x="4057536" y="2628900"/>
            <a:ext cx="1234440" cy="1234440"/>
          </a:xfrm>
          <a:prstGeom prst="ellipse">
            <a:avLst/>
          </a:prstGeom>
          <a:solidFill>
            <a:srgbClr val="C1272D"/>
          </a:solidFill>
          <a:ln w="6350">
            <a:solidFill>
              <a:srgbClr val="C1272D"/>
            </a:solidFill>
            <a:prstDash val="solid"/>
          </a:ln>
        </p:spPr>
      </p:sp>
      <p:sp>
        <p:nvSpPr>
          <p:cNvPr id="20" name="Text 16"/>
          <p:cNvSpPr txBox="1"/>
          <p:nvPr/>
        </p:nvSpPr>
        <p:spPr>
          <a:xfrm>
            <a:off x="5976976" y="288036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21" name="Shape 17"/>
          <p:cNvSpPr/>
          <p:nvPr/>
        </p:nvSpPr>
        <p:spPr>
          <a:xfrm>
            <a:off x="3390824" y="4983480"/>
            <a:ext cx="512064" cy="512064"/>
          </a:xfrm>
          <a:prstGeom prst="ellipse">
            <a:avLst/>
          </a:prstGeom>
          <a:solidFill>
            <a:srgbClr val="C1272D"/>
          </a:solidFill>
          <a:ln w="6350">
            <a:solidFill>
              <a:srgbClr val="C1272D"/>
            </a:solidFill>
            <a:prstDash val="solid"/>
          </a:ln>
        </p:spPr>
      </p:sp>
      <p:sp>
        <p:nvSpPr>
          <p:cNvPr id="22" name="Text 18"/>
          <p:cNvSpPr txBox="1"/>
          <p:nvPr/>
        </p:nvSpPr>
        <p:spPr>
          <a:xfrm>
            <a:off x="3390824" y="498348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3" name="Text 19"/>
          <p:cNvSpPr txBox="1"/>
          <p:nvPr/>
        </p:nvSpPr>
        <p:spPr>
          <a:xfrm>
            <a:off x="4030904" y="4983480"/>
            <a:ext cx="1927784"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Haematoma</a:t>
            </a:r>
            <a:endParaRPr lang="en-US" sz="2600" dirty="0"/>
          </a:p>
        </p:txBody>
      </p:sp>
      <p:sp>
        <p:nvSpPr>
          <p:cNvPr id="24" name="Shape 20"/>
          <p:cNvSpPr/>
          <p:nvPr/>
        </p:nvSpPr>
        <p:spPr>
          <a:xfrm>
            <a:off x="6233008" y="1783080"/>
            <a:ext cx="2567864" cy="2926080"/>
          </a:xfrm>
          <a:prstGeom prst="roundRect">
            <a:avLst>
              <a:gd name="adj" fmla="val 3561"/>
            </a:avLst>
          </a:prstGeom>
          <a:solidFill>
            <a:srgbClr val="F3F5F8"/>
          </a:solidFill>
          <a:ln w="6350">
            <a:solidFill>
              <a:srgbClr val="F3F5F8"/>
            </a:solidFill>
            <a:prstDash val="solid"/>
          </a:ln>
        </p:spPr>
      </p:sp>
      <p:sp>
        <p:nvSpPr>
          <p:cNvPr id="25" name="Shape 21"/>
          <p:cNvSpPr/>
          <p:nvPr/>
        </p:nvSpPr>
        <p:spPr>
          <a:xfrm>
            <a:off x="8106492" y="3495379"/>
            <a:ext cx="378998" cy="142434"/>
          </a:xfrm>
          <a:prstGeom prst="line">
            <a:avLst/>
          </a:prstGeom>
          <a:noFill/>
          <a:ln w="38100">
            <a:solidFill>
              <a:srgbClr val="C3CEDB"/>
            </a:solidFill>
            <a:prstDash val="solid"/>
          </a:ln>
        </p:spPr>
      </p:sp>
      <p:sp>
        <p:nvSpPr>
          <p:cNvPr id="26" name="Shape 22"/>
          <p:cNvSpPr/>
          <p:nvPr/>
        </p:nvSpPr>
        <p:spPr>
          <a:xfrm>
            <a:off x="8384906" y="3537229"/>
            <a:ext cx="201168" cy="201168"/>
          </a:xfrm>
          <a:prstGeom prst="ellipse">
            <a:avLst/>
          </a:prstGeom>
          <a:solidFill>
            <a:srgbClr val="C1272D"/>
          </a:solidFill>
          <a:ln w="6350">
            <a:solidFill>
              <a:srgbClr val="C1272D"/>
            </a:solidFill>
            <a:prstDash val="solid"/>
          </a:ln>
        </p:spPr>
      </p:sp>
      <p:sp>
        <p:nvSpPr>
          <p:cNvPr id="27" name="Shape 23"/>
          <p:cNvSpPr/>
          <p:nvPr/>
        </p:nvSpPr>
        <p:spPr>
          <a:xfrm>
            <a:off x="7689641" y="3862461"/>
            <a:ext cx="111022" cy="352195"/>
          </a:xfrm>
          <a:prstGeom prst="line">
            <a:avLst/>
          </a:prstGeom>
          <a:noFill/>
          <a:ln w="38100">
            <a:solidFill>
              <a:srgbClr val="C3CEDB"/>
            </a:solidFill>
            <a:prstDash val="solid"/>
          </a:ln>
        </p:spPr>
      </p:sp>
      <p:sp>
        <p:nvSpPr>
          <p:cNvPr id="28" name="Shape 24"/>
          <p:cNvSpPr/>
          <p:nvPr/>
        </p:nvSpPr>
        <p:spPr>
          <a:xfrm>
            <a:off x="7700080" y="4114072"/>
            <a:ext cx="201168" cy="201168"/>
          </a:xfrm>
          <a:prstGeom prst="ellipse">
            <a:avLst/>
          </a:prstGeom>
          <a:solidFill>
            <a:srgbClr val="C1272D"/>
          </a:solidFill>
          <a:ln w="6350">
            <a:solidFill>
              <a:srgbClr val="C1272D"/>
            </a:solidFill>
            <a:prstDash val="solid"/>
          </a:ln>
        </p:spPr>
      </p:sp>
      <p:sp>
        <p:nvSpPr>
          <p:cNvPr id="29" name="Shape 25"/>
          <p:cNvSpPr/>
          <p:nvPr/>
        </p:nvSpPr>
        <p:spPr>
          <a:xfrm flipH="1">
            <a:off x="6902187" y="3765426"/>
            <a:ext cx="240555" cy="296746"/>
          </a:xfrm>
          <a:prstGeom prst="line">
            <a:avLst/>
          </a:prstGeom>
          <a:noFill/>
          <a:ln w="38100">
            <a:solidFill>
              <a:srgbClr val="C3CEDB"/>
            </a:solidFill>
            <a:prstDash val="solid"/>
          </a:ln>
        </p:spPr>
      </p:sp>
      <p:sp>
        <p:nvSpPr>
          <p:cNvPr id="30" name="Shape 26"/>
          <p:cNvSpPr/>
          <p:nvPr/>
        </p:nvSpPr>
        <p:spPr>
          <a:xfrm>
            <a:off x="6801603" y="3961588"/>
            <a:ext cx="201168" cy="201168"/>
          </a:xfrm>
          <a:prstGeom prst="ellipse">
            <a:avLst/>
          </a:prstGeom>
          <a:solidFill>
            <a:srgbClr val="C1272D"/>
          </a:solidFill>
          <a:ln w="6350">
            <a:solidFill>
              <a:srgbClr val="C1272D"/>
            </a:solidFill>
            <a:prstDash val="solid"/>
          </a:ln>
        </p:spPr>
      </p:sp>
      <p:sp>
        <p:nvSpPr>
          <p:cNvPr id="31" name="Shape 27"/>
          <p:cNvSpPr/>
          <p:nvPr/>
        </p:nvSpPr>
        <p:spPr>
          <a:xfrm flipH="1">
            <a:off x="6466631" y="3277343"/>
            <a:ext cx="410990" cy="17842"/>
          </a:xfrm>
          <a:prstGeom prst="line">
            <a:avLst/>
          </a:prstGeom>
          <a:noFill/>
          <a:ln w="38100">
            <a:solidFill>
              <a:srgbClr val="C3CEDB"/>
            </a:solidFill>
            <a:prstDash val="solid"/>
          </a:ln>
        </p:spPr>
      </p:sp>
      <p:sp>
        <p:nvSpPr>
          <p:cNvPr id="32" name="Shape 28"/>
          <p:cNvSpPr/>
          <p:nvPr/>
        </p:nvSpPr>
        <p:spPr>
          <a:xfrm>
            <a:off x="6366047" y="3194600"/>
            <a:ext cx="201168" cy="201168"/>
          </a:xfrm>
          <a:prstGeom prst="ellipse">
            <a:avLst/>
          </a:prstGeom>
          <a:solidFill>
            <a:srgbClr val="C1272D"/>
          </a:solidFill>
          <a:ln w="6350">
            <a:solidFill>
              <a:srgbClr val="C1272D"/>
            </a:solidFill>
            <a:prstDash val="solid"/>
          </a:ln>
        </p:spPr>
      </p:sp>
      <p:sp>
        <p:nvSpPr>
          <p:cNvPr id="33" name="Shape 29"/>
          <p:cNvSpPr/>
          <p:nvPr/>
        </p:nvSpPr>
        <p:spPr>
          <a:xfrm flipH="1" flipV="1">
            <a:off x="6821979" y="2491250"/>
            <a:ext cx="271941" cy="274498"/>
          </a:xfrm>
          <a:prstGeom prst="line">
            <a:avLst/>
          </a:prstGeom>
          <a:noFill/>
          <a:ln w="38100">
            <a:solidFill>
              <a:srgbClr val="C3CEDB"/>
            </a:solidFill>
            <a:prstDash val="solid"/>
          </a:ln>
        </p:spPr>
      </p:sp>
      <p:sp>
        <p:nvSpPr>
          <p:cNvPr id="34" name="Shape 30"/>
          <p:cNvSpPr/>
          <p:nvPr/>
        </p:nvSpPr>
        <p:spPr>
          <a:xfrm>
            <a:off x="6721395" y="2390666"/>
            <a:ext cx="201168" cy="201168"/>
          </a:xfrm>
          <a:prstGeom prst="ellipse">
            <a:avLst/>
          </a:prstGeom>
          <a:solidFill>
            <a:srgbClr val="C1272D"/>
          </a:solidFill>
          <a:ln w="6350">
            <a:solidFill>
              <a:srgbClr val="C1272D"/>
            </a:solidFill>
            <a:prstDash val="solid"/>
          </a:ln>
        </p:spPr>
      </p:sp>
      <p:sp>
        <p:nvSpPr>
          <p:cNvPr id="35" name="Shape 31"/>
          <p:cNvSpPr/>
          <p:nvPr/>
        </p:nvSpPr>
        <p:spPr>
          <a:xfrm flipV="1">
            <a:off x="7628761" y="2255748"/>
            <a:ext cx="71885" cy="360135"/>
          </a:xfrm>
          <a:prstGeom prst="line">
            <a:avLst/>
          </a:prstGeom>
          <a:noFill/>
          <a:ln w="38100">
            <a:solidFill>
              <a:srgbClr val="C3CEDB"/>
            </a:solidFill>
            <a:prstDash val="solid"/>
          </a:ln>
        </p:spPr>
      </p:sp>
      <p:sp>
        <p:nvSpPr>
          <p:cNvPr id="36" name="Shape 32"/>
          <p:cNvSpPr/>
          <p:nvPr/>
        </p:nvSpPr>
        <p:spPr>
          <a:xfrm>
            <a:off x="7600062" y="2155164"/>
            <a:ext cx="201168" cy="201168"/>
          </a:xfrm>
          <a:prstGeom prst="ellipse">
            <a:avLst/>
          </a:prstGeom>
          <a:solidFill>
            <a:srgbClr val="C1272D"/>
          </a:solidFill>
          <a:ln w="6350">
            <a:solidFill>
              <a:srgbClr val="C1272D"/>
            </a:solidFill>
            <a:prstDash val="solid"/>
          </a:ln>
        </p:spPr>
      </p:sp>
      <p:sp>
        <p:nvSpPr>
          <p:cNvPr id="37" name="Shape 33"/>
          <p:cNvSpPr/>
          <p:nvPr/>
        </p:nvSpPr>
        <p:spPr>
          <a:xfrm flipV="1">
            <a:off x="8079398" y="2766016"/>
            <a:ext cx="361581" cy="174583"/>
          </a:xfrm>
          <a:prstGeom prst="line">
            <a:avLst/>
          </a:prstGeom>
          <a:noFill/>
          <a:ln w="38100">
            <a:solidFill>
              <a:srgbClr val="C3CEDB"/>
            </a:solidFill>
            <a:prstDash val="solid"/>
          </a:ln>
        </p:spPr>
      </p:sp>
      <p:sp>
        <p:nvSpPr>
          <p:cNvPr id="38" name="Shape 34"/>
          <p:cNvSpPr/>
          <p:nvPr/>
        </p:nvSpPr>
        <p:spPr>
          <a:xfrm>
            <a:off x="8340395" y="2665432"/>
            <a:ext cx="201168" cy="201168"/>
          </a:xfrm>
          <a:prstGeom prst="ellipse">
            <a:avLst/>
          </a:prstGeom>
          <a:solidFill>
            <a:srgbClr val="C1272D"/>
          </a:solidFill>
          <a:ln w="6350">
            <a:solidFill>
              <a:srgbClr val="C1272D"/>
            </a:solidFill>
            <a:prstDash val="solid"/>
          </a:ln>
        </p:spPr>
      </p:sp>
      <p:sp>
        <p:nvSpPr>
          <p:cNvPr id="39" name="Shape 35"/>
          <p:cNvSpPr/>
          <p:nvPr/>
        </p:nvSpPr>
        <p:spPr>
          <a:xfrm>
            <a:off x="6831140" y="2560320"/>
            <a:ext cx="1371600" cy="1371600"/>
          </a:xfrm>
          <a:prstGeom prst="ellipse">
            <a:avLst/>
          </a:prstGeom>
          <a:solidFill>
            <a:srgbClr val="C1272D"/>
          </a:solidFill>
          <a:ln w="6350">
            <a:solidFill>
              <a:srgbClr val="C1272D"/>
            </a:solidFill>
            <a:prstDash val="solid"/>
          </a:ln>
        </p:spPr>
      </p:sp>
      <p:sp>
        <p:nvSpPr>
          <p:cNvPr id="40" name="Text 36"/>
          <p:cNvSpPr txBox="1"/>
          <p:nvPr/>
        </p:nvSpPr>
        <p:spPr>
          <a:xfrm>
            <a:off x="8819159" y="288036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41" name="Shape 37"/>
          <p:cNvSpPr/>
          <p:nvPr/>
        </p:nvSpPr>
        <p:spPr>
          <a:xfrm>
            <a:off x="6233008" y="4983480"/>
            <a:ext cx="512064" cy="512064"/>
          </a:xfrm>
          <a:prstGeom prst="ellipse">
            <a:avLst/>
          </a:prstGeom>
          <a:solidFill>
            <a:srgbClr val="C1272D"/>
          </a:solidFill>
          <a:ln w="6350">
            <a:solidFill>
              <a:srgbClr val="C1272D"/>
            </a:solidFill>
            <a:prstDash val="solid"/>
          </a:ln>
        </p:spPr>
      </p:sp>
      <p:sp>
        <p:nvSpPr>
          <p:cNvPr id="42" name="Text 38"/>
          <p:cNvSpPr txBox="1"/>
          <p:nvPr/>
        </p:nvSpPr>
        <p:spPr>
          <a:xfrm>
            <a:off x="6233008" y="498348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3" name="Text 39"/>
          <p:cNvSpPr txBox="1"/>
          <p:nvPr/>
        </p:nvSpPr>
        <p:spPr>
          <a:xfrm>
            <a:off x="6873088" y="4983480"/>
            <a:ext cx="1927784"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Avalanche</a:t>
            </a:r>
            <a:endParaRPr lang="en-US" sz="2600" dirty="0"/>
          </a:p>
        </p:txBody>
      </p:sp>
      <p:sp>
        <p:nvSpPr>
          <p:cNvPr id="44" name="Shape 40"/>
          <p:cNvSpPr/>
          <p:nvPr/>
        </p:nvSpPr>
        <p:spPr>
          <a:xfrm>
            <a:off x="9075191" y="1783080"/>
            <a:ext cx="2567864" cy="2926080"/>
          </a:xfrm>
          <a:prstGeom prst="roundRect">
            <a:avLst>
              <a:gd name="adj" fmla="val 3561"/>
            </a:avLst>
          </a:prstGeom>
          <a:solidFill>
            <a:srgbClr val="F3F5F8"/>
          </a:solidFill>
          <a:ln w="6350">
            <a:solidFill>
              <a:srgbClr val="F3F5F8"/>
            </a:solidFill>
            <a:prstDash val="solid"/>
          </a:ln>
        </p:spPr>
      </p:sp>
      <p:sp>
        <p:nvSpPr>
          <p:cNvPr id="45" name="Shape 41"/>
          <p:cNvSpPr/>
          <p:nvPr/>
        </p:nvSpPr>
        <p:spPr>
          <a:xfrm>
            <a:off x="9463011" y="2350008"/>
            <a:ext cx="1792224" cy="1792224"/>
          </a:xfrm>
          <a:prstGeom prst="ellipse">
            <a:avLst/>
          </a:prstGeom>
          <a:solidFill>
            <a:srgbClr val="FFFFFF">
              <a:alpha val="0"/>
            </a:srgbClr>
          </a:solidFill>
          <a:ln w="31750">
            <a:solidFill>
              <a:srgbClr val="13233A"/>
            </a:solidFill>
            <a:prstDash val="dash"/>
          </a:ln>
        </p:spPr>
      </p:sp>
      <p:sp>
        <p:nvSpPr>
          <p:cNvPr id="46" name="Shape 42"/>
          <p:cNvSpPr/>
          <p:nvPr/>
        </p:nvSpPr>
        <p:spPr>
          <a:xfrm>
            <a:off x="9673323" y="2560320"/>
            <a:ext cx="1371600" cy="1371600"/>
          </a:xfrm>
          <a:prstGeom prst="ellipse">
            <a:avLst/>
          </a:prstGeom>
          <a:solidFill>
            <a:srgbClr val="C1272D"/>
          </a:solidFill>
          <a:ln w="6350">
            <a:solidFill>
              <a:srgbClr val="C1272D"/>
            </a:solidFill>
            <a:prstDash val="solid"/>
          </a:ln>
        </p:spPr>
      </p:sp>
      <p:sp>
        <p:nvSpPr>
          <p:cNvPr id="47" name="Shape 43"/>
          <p:cNvSpPr/>
          <p:nvPr/>
        </p:nvSpPr>
        <p:spPr>
          <a:xfrm>
            <a:off x="9075191" y="4983480"/>
            <a:ext cx="512064" cy="512064"/>
          </a:xfrm>
          <a:prstGeom prst="ellipse">
            <a:avLst/>
          </a:prstGeom>
          <a:solidFill>
            <a:srgbClr val="C1272D"/>
          </a:solidFill>
          <a:ln w="6350">
            <a:solidFill>
              <a:srgbClr val="C1272D"/>
            </a:solidFill>
            <a:prstDash val="solid"/>
          </a:ln>
        </p:spPr>
      </p:sp>
      <p:sp>
        <p:nvSpPr>
          <p:cNvPr id="48" name="Text 44"/>
          <p:cNvSpPr txBox="1"/>
          <p:nvPr/>
        </p:nvSpPr>
        <p:spPr>
          <a:xfrm>
            <a:off x="9075191" y="498348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9" name="Text 45"/>
          <p:cNvSpPr txBox="1"/>
          <p:nvPr/>
        </p:nvSpPr>
        <p:spPr>
          <a:xfrm>
            <a:off x="9715271" y="4983480"/>
            <a:ext cx="1927784"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Tamponade</a:t>
            </a:r>
            <a:endParaRPr lang="en-US" sz="2600" dirty="0"/>
          </a:p>
        </p:txBody>
      </p:sp>
      <p:sp>
        <p:nvSpPr>
          <p:cNvPr id="50" name="Text 46"/>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Secondary bleeding points at the edge of the haematoma (Fisher, 1971).</a:t>
            </a:r>
            <a:endParaRPr lang="en-US" sz="1200" dirty="0"/>
          </a:p>
        </p:txBody>
      </p:sp>
      <p:sp>
        <p:nvSpPr>
          <p:cNvPr id="51" name="Text 47"/>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52"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53"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54" name="trk1"/>
          <p:cNvSpPr/>
          <p:nvPr/>
        </p:nvSpPr>
        <p:spPr>
          <a:xfrm>
            <a:off x="8211312" y="6460236"/>
            <a:ext cx="128016" cy="128016"/>
          </a:xfrm>
          <a:prstGeom prst="ellipse">
            <a:avLst/>
          </a:prstGeom>
          <a:solidFill>
            <a:srgbClr val="C1272D"/>
          </a:solidFill>
          <a:ln w="6350">
            <a:solidFill>
              <a:srgbClr val="C1272D"/>
            </a:solidFill>
            <a:prstDash val="solid"/>
          </a:ln>
        </p:spPr>
      </p:sp>
      <p:sp>
        <p:nvSpPr>
          <p:cNvPr id="55"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Hours</a:t>
            </a:r>
            <a:endParaRPr lang="en-US" sz="1100" dirty="0"/>
          </a:p>
        </p:txBody>
      </p:sp>
      <p:sp>
        <p:nvSpPr>
          <p:cNvPr id="56"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57"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58"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59"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60"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17</a:t>
            </a:r>
            <a:endParaRPr lang="en-US" sz="11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HANDS UP</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How many bleeds keep growing?</a:t>
            </a:r>
            <a:endParaRPr lang="en-US" sz="4000" dirty="0"/>
          </a:p>
        </p:txBody>
      </p:sp>
      <p:sp>
        <p:nvSpPr>
          <p:cNvPr id="5" name="!!d00"/>
          <p:cNvSpPr/>
          <p:nvPr/>
        </p:nvSpPr>
        <p:spPr>
          <a:xfrm>
            <a:off x="777240" y="1783080"/>
            <a:ext cx="292608" cy="292608"/>
          </a:xfrm>
          <a:prstGeom prst="ellipse">
            <a:avLst/>
          </a:prstGeom>
          <a:solidFill>
            <a:srgbClr val="D5DCE5"/>
          </a:solidFill>
          <a:ln w="6350">
            <a:solidFill>
              <a:srgbClr val="D5DCE5"/>
            </a:solidFill>
            <a:prstDash val="solid"/>
          </a:ln>
        </p:spPr>
      </p:sp>
      <p:sp>
        <p:nvSpPr>
          <p:cNvPr id="6" name="!!d01"/>
          <p:cNvSpPr/>
          <p:nvPr/>
        </p:nvSpPr>
        <p:spPr>
          <a:xfrm>
            <a:off x="1143000" y="1783080"/>
            <a:ext cx="292608" cy="292608"/>
          </a:xfrm>
          <a:prstGeom prst="ellipse">
            <a:avLst/>
          </a:prstGeom>
          <a:solidFill>
            <a:srgbClr val="D5DCE5"/>
          </a:solidFill>
          <a:ln w="6350">
            <a:solidFill>
              <a:srgbClr val="D5DCE5"/>
            </a:solidFill>
            <a:prstDash val="solid"/>
          </a:ln>
        </p:spPr>
      </p:sp>
      <p:sp>
        <p:nvSpPr>
          <p:cNvPr id="7" name="!!d02"/>
          <p:cNvSpPr/>
          <p:nvPr/>
        </p:nvSpPr>
        <p:spPr>
          <a:xfrm>
            <a:off x="1508760" y="1783080"/>
            <a:ext cx="292608" cy="292608"/>
          </a:xfrm>
          <a:prstGeom prst="ellipse">
            <a:avLst/>
          </a:prstGeom>
          <a:solidFill>
            <a:srgbClr val="D5DCE5"/>
          </a:solidFill>
          <a:ln w="6350">
            <a:solidFill>
              <a:srgbClr val="D5DCE5"/>
            </a:solidFill>
            <a:prstDash val="solid"/>
          </a:ln>
        </p:spPr>
      </p:sp>
      <p:sp>
        <p:nvSpPr>
          <p:cNvPr id="8" name="!!d03"/>
          <p:cNvSpPr/>
          <p:nvPr/>
        </p:nvSpPr>
        <p:spPr>
          <a:xfrm>
            <a:off x="1874520" y="1783080"/>
            <a:ext cx="292608" cy="292608"/>
          </a:xfrm>
          <a:prstGeom prst="ellipse">
            <a:avLst/>
          </a:prstGeom>
          <a:solidFill>
            <a:srgbClr val="D5DCE5"/>
          </a:solidFill>
          <a:ln w="6350">
            <a:solidFill>
              <a:srgbClr val="D5DCE5"/>
            </a:solidFill>
            <a:prstDash val="solid"/>
          </a:ln>
        </p:spPr>
      </p:sp>
      <p:sp>
        <p:nvSpPr>
          <p:cNvPr id="9" name="!!d04"/>
          <p:cNvSpPr/>
          <p:nvPr/>
        </p:nvSpPr>
        <p:spPr>
          <a:xfrm>
            <a:off x="2240280" y="1783080"/>
            <a:ext cx="292608" cy="292608"/>
          </a:xfrm>
          <a:prstGeom prst="ellipse">
            <a:avLst/>
          </a:prstGeom>
          <a:solidFill>
            <a:srgbClr val="D5DCE5"/>
          </a:solidFill>
          <a:ln w="6350">
            <a:solidFill>
              <a:srgbClr val="D5DCE5"/>
            </a:solidFill>
            <a:prstDash val="solid"/>
          </a:ln>
        </p:spPr>
      </p:sp>
      <p:sp>
        <p:nvSpPr>
          <p:cNvPr id="10" name="!!d05"/>
          <p:cNvSpPr/>
          <p:nvPr/>
        </p:nvSpPr>
        <p:spPr>
          <a:xfrm>
            <a:off x="2606040" y="1783080"/>
            <a:ext cx="292608" cy="292608"/>
          </a:xfrm>
          <a:prstGeom prst="ellipse">
            <a:avLst/>
          </a:prstGeom>
          <a:solidFill>
            <a:srgbClr val="D5DCE5"/>
          </a:solidFill>
          <a:ln w="6350">
            <a:solidFill>
              <a:srgbClr val="D5DCE5"/>
            </a:solidFill>
            <a:prstDash val="solid"/>
          </a:ln>
        </p:spPr>
      </p:sp>
      <p:sp>
        <p:nvSpPr>
          <p:cNvPr id="11" name="!!d06"/>
          <p:cNvSpPr/>
          <p:nvPr/>
        </p:nvSpPr>
        <p:spPr>
          <a:xfrm>
            <a:off x="2971800" y="1783080"/>
            <a:ext cx="292608" cy="292608"/>
          </a:xfrm>
          <a:prstGeom prst="ellipse">
            <a:avLst/>
          </a:prstGeom>
          <a:solidFill>
            <a:srgbClr val="D5DCE5"/>
          </a:solidFill>
          <a:ln w="6350">
            <a:solidFill>
              <a:srgbClr val="D5DCE5"/>
            </a:solidFill>
            <a:prstDash val="solid"/>
          </a:ln>
        </p:spPr>
      </p:sp>
      <p:sp>
        <p:nvSpPr>
          <p:cNvPr id="12" name="!!d07"/>
          <p:cNvSpPr/>
          <p:nvPr/>
        </p:nvSpPr>
        <p:spPr>
          <a:xfrm>
            <a:off x="3337560" y="1783080"/>
            <a:ext cx="292608" cy="292608"/>
          </a:xfrm>
          <a:prstGeom prst="ellipse">
            <a:avLst/>
          </a:prstGeom>
          <a:solidFill>
            <a:srgbClr val="D5DCE5"/>
          </a:solidFill>
          <a:ln w="6350">
            <a:solidFill>
              <a:srgbClr val="D5DCE5"/>
            </a:solidFill>
            <a:prstDash val="solid"/>
          </a:ln>
        </p:spPr>
      </p:sp>
      <p:sp>
        <p:nvSpPr>
          <p:cNvPr id="13" name="!!d08"/>
          <p:cNvSpPr/>
          <p:nvPr/>
        </p:nvSpPr>
        <p:spPr>
          <a:xfrm>
            <a:off x="3703320" y="1783080"/>
            <a:ext cx="292608" cy="292608"/>
          </a:xfrm>
          <a:prstGeom prst="ellipse">
            <a:avLst/>
          </a:prstGeom>
          <a:solidFill>
            <a:srgbClr val="D5DCE5"/>
          </a:solidFill>
          <a:ln w="6350">
            <a:solidFill>
              <a:srgbClr val="D5DCE5"/>
            </a:solidFill>
            <a:prstDash val="solid"/>
          </a:ln>
        </p:spPr>
      </p:sp>
      <p:sp>
        <p:nvSpPr>
          <p:cNvPr id="14" name="!!d09"/>
          <p:cNvSpPr/>
          <p:nvPr/>
        </p:nvSpPr>
        <p:spPr>
          <a:xfrm>
            <a:off x="4069080" y="1783080"/>
            <a:ext cx="292608" cy="292608"/>
          </a:xfrm>
          <a:prstGeom prst="ellipse">
            <a:avLst/>
          </a:prstGeom>
          <a:solidFill>
            <a:srgbClr val="D5DCE5"/>
          </a:solidFill>
          <a:ln w="6350">
            <a:solidFill>
              <a:srgbClr val="D5DCE5"/>
            </a:solidFill>
            <a:prstDash val="solid"/>
          </a:ln>
        </p:spPr>
      </p:sp>
      <p:sp>
        <p:nvSpPr>
          <p:cNvPr id="15" name="!!d10"/>
          <p:cNvSpPr/>
          <p:nvPr/>
        </p:nvSpPr>
        <p:spPr>
          <a:xfrm>
            <a:off x="777240" y="2148840"/>
            <a:ext cx="292608" cy="292608"/>
          </a:xfrm>
          <a:prstGeom prst="ellipse">
            <a:avLst/>
          </a:prstGeom>
          <a:solidFill>
            <a:srgbClr val="D5DCE5"/>
          </a:solidFill>
          <a:ln w="6350">
            <a:solidFill>
              <a:srgbClr val="D5DCE5"/>
            </a:solidFill>
            <a:prstDash val="solid"/>
          </a:ln>
        </p:spPr>
      </p:sp>
      <p:sp>
        <p:nvSpPr>
          <p:cNvPr id="16" name="!!d11"/>
          <p:cNvSpPr/>
          <p:nvPr/>
        </p:nvSpPr>
        <p:spPr>
          <a:xfrm>
            <a:off x="1143000" y="2148840"/>
            <a:ext cx="292608" cy="292608"/>
          </a:xfrm>
          <a:prstGeom prst="ellipse">
            <a:avLst/>
          </a:prstGeom>
          <a:solidFill>
            <a:srgbClr val="D5DCE5"/>
          </a:solidFill>
          <a:ln w="6350">
            <a:solidFill>
              <a:srgbClr val="D5DCE5"/>
            </a:solidFill>
            <a:prstDash val="solid"/>
          </a:ln>
        </p:spPr>
      </p:sp>
      <p:sp>
        <p:nvSpPr>
          <p:cNvPr id="17" name="!!d12"/>
          <p:cNvSpPr/>
          <p:nvPr/>
        </p:nvSpPr>
        <p:spPr>
          <a:xfrm>
            <a:off x="1508760" y="2148840"/>
            <a:ext cx="292608" cy="292608"/>
          </a:xfrm>
          <a:prstGeom prst="ellipse">
            <a:avLst/>
          </a:prstGeom>
          <a:solidFill>
            <a:srgbClr val="D5DCE5"/>
          </a:solidFill>
          <a:ln w="6350">
            <a:solidFill>
              <a:srgbClr val="D5DCE5"/>
            </a:solidFill>
            <a:prstDash val="solid"/>
          </a:ln>
        </p:spPr>
      </p:sp>
      <p:sp>
        <p:nvSpPr>
          <p:cNvPr id="18" name="!!d13"/>
          <p:cNvSpPr/>
          <p:nvPr/>
        </p:nvSpPr>
        <p:spPr>
          <a:xfrm>
            <a:off x="1874520" y="2148840"/>
            <a:ext cx="292608" cy="292608"/>
          </a:xfrm>
          <a:prstGeom prst="ellipse">
            <a:avLst/>
          </a:prstGeom>
          <a:solidFill>
            <a:srgbClr val="D5DCE5"/>
          </a:solidFill>
          <a:ln w="6350">
            <a:solidFill>
              <a:srgbClr val="D5DCE5"/>
            </a:solidFill>
            <a:prstDash val="solid"/>
          </a:ln>
        </p:spPr>
      </p:sp>
      <p:sp>
        <p:nvSpPr>
          <p:cNvPr id="19" name="!!d14"/>
          <p:cNvSpPr/>
          <p:nvPr/>
        </p:nvSpPr>
        <p:spPr>
          <a:xfrm>
            <a:off x="2240280" y="2148840"/>
            <a:ext cx="292608" cy="292608"/>
          </a:xfrm>
          <a:prstGeom prst="ellipse">
            <a:avLst/>
          </a:prstGeom>
          <a:solidFill>
            <a:srgbClr val="D5DCE5"/>
          </a:solidFill>
          <a:ln w="6350">
            <a:solidFill>
              <a:srgbClr val="D5DCE5"/>
            </a:solidFill>
            <a:prstDash val="solid"/>
          </a:ln>
        </p:spPr>
      </p:sp>
      <p:sp>
        <p:nvSpPr>
          <p:cNvPr id="20" name="!!d15"/>
          <p:cNvSpPr/>
          <p:nvPr/>
        </p:nvSpPr>
        <p:spPr>
          <a:xfrm>
            <a:off x="2606040" y="2148840"/>
            <a:ext cx="292608" cy="292608"/>
          </a:xfrm>
          <a:prstGeom prst="ellipse">
            <a:avLst/>
          </a:prstGeom>
          <a:solidFill>
            <a:srgbClr val="D5DCE5"/>
          </a:solidFill>
          <a:ln w="6350">
            <a:solidFill>
              <a:srgbClr val="D5DCE5"/>
            </a:solidFill>
            <a:prstDash val="solid"/>
          </a:ln>
        </p:spPr>
      </p:sp>
      <p:sp>
        <p:nvSpPr>
          <p:cNvPr id="21" name="!!d16"/>
          <p:cNvSpPr/>
          <p:nvPr/>
        </p:nvSpPr>
        <p:spPr>
          <a:xfrm>
            <a:off x="2971800" y="2148840"/>
            <a:ext cx="292608" cy="292608"/>
          </a:xfrm>
          <a:prstGeom prst="ellipse">
            <a:avLst/>
          </a:prstGeom>
          <a:solidFill>
            <a:srgbClr val="D5DCE5"/>
          </a:solidFill>
          <a:ln w="6350">
            <a:solidFill>
              <a:srgbClr val="D5DCE5"/>
            </a:solidFill>
            <a:prstDash val="solid"/>
          </a:ln>
        </p:spPr>
      </p:sp>
      <p:sp>
        <p:nvSpPr>
          <p:cNvPr id="22" name="!!d17"/>
          <p:cNvSpPr/>
          <p:nvPr/>
        </p:nvSpPr>
        <p:spPr>
          <a:xfrm>
            <a:off x="3337560" y="2148840"/>
            <a:ext cx="292608" cy="292608"/>
          </a:xfrm>
          <a:prstGeom prst="ellipse">
            <a:avLst/>
          </a:prstGeom>
          <a:solidFill>
            <a:srgbClr val="D5DCE5"/>
          </a:solidFill>
          <a:ln w="6350">
            <a:solidFill>
              <a:srgbClr val="D5DCE5"/>
            </a:solidFill>
            <a:prstDash val="solid"/>
          </a:ln>
        </p:spPr>
      </p:sp>
      <p:sp>
        <p:nvSpPr>
          <p:cNvPr id="23" name="!!d18"/>
          <p:cNvSpPr/>
          <p:nvPr/>
        </p:nvSpPr>
        <p:spPr>
          <a:xfrm>
            <a:off x="3703320" y="2148840"/>
            <a:ext cx="292608" cy="292608"/>
          </a:xfrm>
          <a:prstGeom prst="ellipse">
            <a:avLst/>
          </a:prstGeom>
          <a:solidFill>
            <a:srgbClr val="D5DCE5"/>
          </a:solidFill>
          <a:ln w="6350">
            <a:solidFill>
              <a:srgbClr val="D5DCE5"/>
            </a:solidFill>
            <a:prstDash val="solid"/>
          </a:ln>
        </p:spPr>
      </p:sp>
      <p:sp>
        <p:nvSpPr>
          <p:cNvPr id="24" name="!!d19"/>
          <p:cNvSpPr/>
          <p:nvPr/>
        </p:nvSpPr>
        <p:spPr>
          <a:xfrm>
            <a:off x="4069080" y="2148840"/>
            <a:ext cx="292608" cy="292608"/>
          </a:xfrm>
          <a:prstGeom prst="ellipse">
            <a:avLst/>
          </a:prstGeom>
          <a:solidFill>
            <a:srgbClr val="D5DCE5"/>
          </a:solidFill>
          <a:ln w="6350">
            <a:solidFill>
              <a:srgbClr val="D5DCE5"/>
            </a:solidFill>
            <a:prstDash val="solid"/>
          </a:ln>
        </p:spPr>
      </p:sp>
      <p:sp>
        <p:nvSpPr>
          <p:cNvPr id="25" name="!!d20"/>
          <p:cNvSpPr/>
          <p:nvPr/>
        </p:nvSpPr>
        <p:spPr>
          <a:xfrm>
            <a:off x="777240" y="2514600"/>
            <a:ext cx="292608" cy="292608"/>
          </a:xfrm>
          <a:prstGeom prst="ellipse">
            <a:avLst/>
          </a:prstGeom>
          <a:solidFill>
            <a:srgbClr val="D5DCE5"/>
          </a:solidFill>
          <a:ln w="6350">
            <a:solidFill>
              <a:srgbClr val="D5DCE5"/>
            </a:solidFill>
            <a:prstDash val="solid"/>
          </a:ln>
        </p:spPr>
      </p:sp>
      <p:sp>
        <p:nvSpPr>
          <p:cNvPr id="26" name="!!d21"/>
          <p:cNvSpPr/>
          <p:nvPr/>
        </p:nvSpPr>
        <p:spPr>
          <a:xfrm>
            <a:off x="1143000" y="2514600"/>
            <a:ext cx="292608" cy="292608"/>
          </a:xfrm>
          <a:prstGeom prst="ellipse">
            <a:avLst/>
          </a:prstGeom>
          <a:solidFill>
            <a:srgbClr val="D5DCE5"/>
          </a:solidFill>
          <a:ln w="6350">
            <a:solidFill>
              <a:srgbClr val="D5DCE5"/>
            </a:solidFill>
            <a:prstDash val="solid"/>
          </a:ln>
        </p:spPr>
      </p:sp>
      <p:sp>
        <p:nvSpPr>
          <p:cNvPr id="27" name="!!d22"/>
          <p:cNvSpPr/>
          <p:nvPr/>
        </p:nvSpPr>
        <p:spPr>
          <a:xfrm>
            <a:off x="1508760" y="2514600"/>
            <a:ext cx="292608" cy="292608"/>
          </a:xfrm>
          <a:prstGeom prst="ellipse">
            <a:avLst/>
          </a:prstGeom>
          <a:solidFill>
            <a:srgbClr val="D5DCE5"/>
          </a:solidFill>
          <a:ln w="6350">
            <a:solidFill>
              <a:srgbClr val="D5DCE5"/>
            </a:solidFill>
            <a:prstDash val="solid"/>
          </a:ln>
        </p:spPr>
      </p:sp>
      <p:sp>
        <p:nvSpPr>
          <p:cNvPr id="28" name="!!d23"/>
          <p:cNvSpPr/>
          <p:nvPr/>
        </p:nvSpPr>
        <p:spPr>
          <a:xfrm>
            <a:off x="1874520" y="2514600"/>
            <a:ext cx="292608" cy="292608"/>
          </a:xfrm>
          <a:prstGeom prst="ellipse">
            <a:avLst/>
          </a:prstGeom>
          <a:solidFill>
            <a:srgbClr val="D5DCE5"/>
          </a:solidFill>
          <a:ln w="6350">
            <a:solidFill>
              <a:srgbClr val="D5DCE5"/>
            </a:solidFill>
            <a:prstDash val="solid"/>
          </a:ln>
        </p:spPr>
      </p:sp>
      <p:sp>
        <p:nvSpPr>
          <p:cNvPr id="29" name="!!d24"/>
          <p:cNvSpPr/>
          <p:nvPr/>
        </p:nvSpPr>
        <p:spPr>
          <a:xfrm>
            <a:off x="2240280" y="2514600"/>
            <a:ext cx="292608" cy="292608"/>
          </a:xfrm>
          <a:prstGeom prst="ellipse">
            <a:avLst/>
          </a:prstGeom>
          <a:solidFill>
            <a:srgbClr val="D5DCE5"/>
          </a:solidFill>
          <a:ln w="6350">
            <a:solidFill>
              <a:srgbClr val="D5DCE5"/>
            </a:solidFill>
            <a:prstDash val="solid"/>
          </a:ln>
        </p:spPr>
      </p:sp>
      <p:sp>
        <p:nvSpPr>
          <p:cNvPr id="30" name="!!d25"/>
          <p:cNvSpPr/>
          <p:nvPr/>
        </p:nvSpPr>
        <p:spPr>
          <a:xfrm>
            <a:off x="2606040" y="2514600"/>
            <a:ext cx="292608" cy="292608"/>
          </a:xfrm>
          <a:prstGeom prst="ellipse">
            <a:avLst/>
          </a:prstGeom>
          <a:solidFill>
            <a:srgbClr val="D5DCE5"/>
          </a:solidFill>
          <a:ln w="6350">
            <a:solidFill>
              <a:srgbClr val="D5DCE5"/>
            </a:solidFill>
            <a:prstDash val="solid"/>
          </a:ln>
        </p:spPr>
      </p:sp>
      <p:sp>
        <p:nvSpPr>
          <p:cNvPr id="31" name="!!d26"/>
          <p:cNvSpPr/>
          <p:nvPr/>
        </p:nvSpPr>
        <p:spPr>
          <a:xfrm>
            <a:off x="2971800" y="2514600"/>
            <a:ext cx="292608" cy="292608"/>
          </a:xfrm>
          <a:prstGeom prst="ellipse">
            <a:avLst/>
          </a:prstGeom>
          <a:solidFill>
            <a:srgbClr val="D5DCE5"/>
          </a:solidFill>
          <a:ln w="6350">
            <a:solidFill>
              <a:srgbClr val="D5DCE5"/>
            </a:solidFill>
            <a:prstDash val="solid"/>
          </a:ln>
        </p:spPr>
      </p:sp>
      <p:sp>
        <p:nvSpPr>
          <p:cNvPr id="32" name="!!d27"/>
          <p:cNvSpPr/>
          <p:nvPr/>
        </p:nvSpPr>
        <p:spPr>
          <a:xfrm>
            <a:off x="3337560" y="2514600"/>
            <a:ext cx="292608" cy="292608"/>
          </a:xfrm>
          <a:prstGeom prst="ellipse">
            <a:avLst/>
          </a:prstGeom>
          <a:solidFill>
            <a:srgbClr val="D5DCE5"/>
          </a:solidFill>
          <a:ln w="6350">
            <a:solidFill>
              <a:srgbClr val="D5DCE5"/>
            </a:solidFill>
            <a:prstDash val="solid"/>
          </a:ln>
        </p:spPr>
      </p:sp>
      <p:sp>
        <p:nvSpPr>
          <p:cNvPr id="33" name="!!d28"/>
          <p:cNvSpPr/>
          <p:nvPr/>
        </p:nvSpPr>
        <p:spPr>
          <a:xfrm>
            <a:off x="3703320" y="2514600"/>
            <a:ext cx="292608" cy="292608"/>
          </a:xfrm>
          <a:prstGeom prst="ellipse">
            <a:avLst/>
          </a:prstGeom>
          <a:solidFill>
            <a:srgbClr val="D5DCE5"/>
          </a:solidFill>
          <a:ln w="6350">
            <a:solidFill>
              <a:srgbClr val="D5DCE5"/>
            </a:solidFill>
            <a:prstDash val="solid"/>
          </a:ln>
        </p:spPr>
      </p:sp>
      <p:sp>
        <p:nvSpPr>
          <p:cNvPr id="34" name="!!d29"/>
          <p:cNvSpPr/>
          <p:nvPr/>
        </p:nvSpPr>
        <p:spPr>
          <a:xfrm>
            <a:off x="4069080" y="2514600"/>
            <a:ext cx="292608" cy="292608"/>
          </a:xfrm>
          <a:prstGeom prst="ellipse">
            <a:avLst/>
          </a:prstGeom>
          <a:solidFill>
            <a:srgbClr val="D5DCE5"/>
          </a:solidFill>
          <a:ln w="6350">
            <a:solidFill>
              <a:srgbClr val="D5DCE5"/>
            </a:solidFill>
            <a:prstDash val="solid"/>
          </a:ln>
        </p:spPr>
      </p:sp>
      <p:sp>
        <p:nvSpPr>
          <p:cNvPr id="35" name="!!d30"/>
          <p:cNvSpPr/>
          <p:nvPr/>
        </p:nvSpPr>
        <p:spPr>
          <a:xfrm>
            <a:off x="777240" y="2880360"/>
            <a:ext cx="292608" cy="292608"/>
          </a:xfrm>
          <a:prstGeom prst="ellipse">
            <a:avLst/>
          </a:prstGeom>
          <a:solidFill>
            <a:srgbClr val="D5DCE5"/>
          </a:solidFill>
          <a:ln w="6350">
            <a:solidFill>
              <a:srgbClr val="D5DCE5"/>
            </a:solidFill>
            <a:prstDash val="solid"/>
          </a:ln>
        </p:spPr>
      </p:sp>
      <p:sp>
        <p:nvSpPr>
          <p:cNvPr id="36" name="!!d31"/>
          <p:cNvSpPr/>
          <p:nvPr/>
        </p:nvSpPr>
        <p:spPr>
          <a:xfrm>
            <a:off x="1143000" y="2880360"/>
            <a:ext cx="292608" cy="292608"/>
          </a:xfrm>
          <a:prstGeom prst="ellipse">
            <a:avLst/>
          </a:prstGeom>
          <a:solidFill>
            <a:srgbClr val="D5DCE5"/>
          </a:solidFill>
          <a:ln w="6350">
            <a:solidFill>
              <a:srgbClr val="D5DCE5"/>
            </a:solidFill>
            <a:prstDash val="solid"/>
          </a:ln>
        </p:spPr>
      </p:sp>
      <p:sp>
        <p:nvSpPr>
          <p:cNvPr id="37" name="!!d32"/>
          <p:cNvSpPr/>
          <p:nvPr/>
        </p:nvSpPr>
        <p:spPr>
          <a:xfrm>
            <a:off x="1508760" y="2880360"/>
            <a:ext cx="292608" cy="292608"/>
          </a:xfrm>
          <a:prstGeom prst="ellipse">
            <a:avLst/>
          </a:prstGeom>
          <a:solidFill>
            <a:srgbClr val="D5DCE5"/>
          </a:solidFill>
          <a:ln w="6350">
            <a:solidFill>
              <a:srgbClr val="D5DCE5"/>
            </a:solidFill>
            <a:prstDash val="solid"/>
          </a:ln>
        </p:spPr>
      </p:sp>
      <p:sp>
        <p:nvSpPr>
          <p:cNvPr id="38" name="!!d33"/>
          <p:cNvSpPr/>
          <p:nvPr/>
        </p:nvSpPr>
        <p:spPr>
          <a:xfrm>
            <a:off x="1874520" y="2880360"/>
            <a:ext cx="292608" cy="292608"/>
          </a:xfrm>
          <a:prstGeom prst="ellipse">
            <a:avLst/>
          </a:prstGeom>
          <a:solidFill>
            <a:srgbClr val="D5DCE5"/>
          </a:solidFill>
          <a:ln w="6350">
            <a:solidFill>
              <a:srgbClr val="D5DCE5"/>
            </a:solidFill>
            <a:prstDash val="solid"/>
          </a:ln>
        </p:spPr>
      </p:sp>
      <p:sp>
        <p:nvSpPr>
          <p:cNvPr id="39" name="!!d34"/>
          <p:cNvSpPr/>
          <p:nvPr/>
        </p:nvSpPr>
        <p:spPr>
          <a:xfrm>
            <a:off x="2240280" y="2880360"/>
            <a:ext cx="292608" cy="292608"/>
          </a:xfrm>
          <a:prstGeom prst="ellipse">
            <a:avLst/>
          </a:prstGeom>
          <a:solidFill>
            <a:srgbClr val="D5DCE5"/>
          </a:solidFill>
          <a:ln w="6350">
            <a:solidFill>
              <a:srgbClr val="D5DCE5"/>
            </a:solidFill>
            <a:prstDash val="solid"/>
          </a:ln>
        </p:spPr>
      </p:sp>
      <p:sp>
        <p:nvSpPr>
          <p:cNvPr id="40" name="!!d35"/>
          <p:cNvSpPr/>
          <p:nvPr/>
        </p:nvSpPr>
        <p:spPr>
          <a:xfrm>
            <a:off x="2606040" y="2880360"/>
            <a:ext cx="292608" cy="292608"/>
          </a:xfrm>
          <a:prstGeom prst="ellipse">
            <a:avLst/>
          </a:prstGeom>
          <a:solidFill>
            <a:srgbClr val="D5DCE5"/>
          </a:solidFill>
          <a:ln w="6350">
            <a:solidFill>
              <a:srgbClr val="D5DCE5"/>
            </a:solidFill>
            <a:prstDash val="solid"/>
          </a:ln>
        </p:spPr>
      </p:sp>
      <p:sp>
        <p:nvSpPr>
          <p:cNvPr id="41" name="!!d36"/>
          <p:cNvSpPr/>
          <p:nvPr/>
        </p:nvSpPr>
        <p:spPr>
          <a:xfrm>
            <a:off x="2971800" y="2880360"/>
            <a:ext cx="292608" cy="292608"/>
          </a:xfrm>
          <a:prstGeom prst="ellipse">
            <a:avLst/>
          </a:prstGeom>
          <a:solidFill>
            <a:srgbClr val="D5DCE5"/>
          </a:solidFill>
          <a:ln w="6350">
            <a:solidFill>
              <a:srgbClr val="D5DCE5"/>
            </a:solidFill>
            <a:prstDash val="solid"/>
          </a:ln>
        </p:spPr>
      </p:sp>
      <p:sp>
        <p:nvSpPr>
          <p:cNvPr id="42" name="!!d37"/>
          <p:cNvSpPr/>
          <p:nvPr/>
        </p:nvSpPr>
        <p:spPr>
          <a:xfrm>
            <a:off x="3337560" y="2880360"/>
            <a:ext cx="292608" cy="292608"/>
          </a:xfrm>
          <a:prstGeom prst="ellipse">
            <a:avLst/>
          </a:prstGeom>
          <a:solidFill>
            <a:srgbClr val="D5DCE5"/>
          </a:solidFill>
          <a:ln w="6350">
            <a:solidFill>
              <a:srgbClr val="D5DCE5"/>
            </a:solidFill>
            <a:prstDash val="solid"/>
          </a:ln>
        </p:spPr>
      </p:sp>
      <p:sp>
        <p:nvSpPr>
          <p:cNvPr id="43" name="!!d38"/>
          <p:cNvSpPr/>
          <p:nvPr/>
        </p:nvSpPr>
        <p:spPr>
          <a:xfrm>
            <a:off x="3703320" y="2880360"/>
            <a:ext cx="292608" cy="292608"/>
          </a:xfrm>
          <a:prstGeom prst="ellipse">
            <a:avLst/>
          </a:prstGeom>
          <a:solidFill>
            <a:srgbClr val="D5DCE5"/>
          </a:solidFill>
          <a:ln w="6350">
            <a:solidFill>
              <a:srgbClr val="D5DCE5"/>
            </a:solidFill>
            <a:prstDash val="solid"/>
          </a:ln>
        </p:spPr>
      </p:sp>
      <p:sp>
        <p:nvSpPr>
          <p:cNvPr id="44" name="!!d39"/>
          <p:cNvSpPr/>
          <p:nvPr/>
        </p:nvSpPr>
        <p:spPr>
          <a:xfrm>
            <a:off x="4069080" y="2880360"/>
            <a:ext cx="292608" cy="292608"/>
          </a:xfrm>
          <a:prstGeom prst="ellipse">
            <a:avLst/>
          </a:prstGeom>
          <a:solidFill>
            <a:srgbClr val="D5DCE5"/>
          </a:solidFill>
          <a:ln w="6350">
            <a:solidFill>
              <a:srgbClr val="D5DCE5"/>
            </a:solidFill>
            <a:prstDash val="solid"/>
          </a:ln>
        </p:spPr>
      </p:sp>
      <p:sp>
        <p:nvSpPr>
          <p:cNvPr id="45" name="!!d40"/>
          <p:cNvSpPr/>
          <p:nvPr/>
        </p:nvSpPr>
        <p:spPr>
          <a:xfrm>
            <a:off x="777240" y="3246120"/>
            <a:ext cx="292608" cy="292608"/>
          </a:xfrm>
          <a:prstGeom prst="ellipse">
            <a:avLst/>
          </a:prstGeom>
          <a:solidFill>
            <a:srgbClr val="D5DCE5"/>
          </a:solidFill>
          <a:ln w="6350">
            <a:solidFill>
              <a:srgbClr val="D5DCE5"/>
            </a:solidFill>
            <a:prstDash val="solid"/>
          </a:ln>
        </p:spPr>
      </p:sp>
      <p:sp>
        <p:nvSpPr>
          <p:cNvPr id="46" name="!!d41"/>
          <p:cNvSpPr/>
          <p:nvPr/>
        </p:nvSpPr>
        <p:spPr>
          <a:xfrm>
            <a:off x="1143000" y="3246120"/>
            <a:ext cx="292608" cy="292608"/>
          </a:xfrm>
          <a:prstGeom prst="ellipse">
            <a:avLst/>
          </a:prstGeom>
          <a:solidFill>
            <a:srgbClr val="D5DCE5"/>
          </a:solidFill>
          <a:ln w="6350">
            <a:solidFill>
              <a:srgbClr val="D5DCE5"/>
            </a:solidFill>
            <a:prstDash val="solid"/>
          </a:ln>
        </p:spPr>
      </p:sp>
      <p:sp>
        <p:nvSpPr>
          <p:cNvPr id="47" name="!!d42"/>
          <p:cNvSpPr/>
          <p:nvPr/>
        </p:nvSpPr>
        <p:spPr>
          <a:xfrm>
            <a:off x="1508760" y="3246120"/>
            <a:ext cx="292608" cy="292608"/>
          </a:xfrm>
          <a:prstGeom prst="ellipse">
            <a:avLst/>
          </a:prstGeom>
          <a:solidFill>
            <a:srgbClr val="D5DCE5"/>
          </a:solidFill>
          <a:ln w="6350">
            <a:solidFill>
              <a:srgbClr val="D5DCE5"/>
            </a:solidFill>
            <a:prstDash val="solid"/>
          </a:ln>
        </p:spPr>
      </p:sp>
      <p:sp>
        <p:nvSpPr>
          <p:cNvPr id="48" name="!!d43"/>
          <p:cNvSpPr/>
          <p:nvPr/>
        </p:nvSpPr>
        <p:spPr>
          <a:xfrm>
            <a:off x="1874520" y="3246120"/>
            <a:ext cx="292608" cy="292608"/>
          </a:xfrm>
          <a:prstGeom prst="ellipse">
            <a:avLst/>
          </a:prstGeom>
          <a:solidFill>
            <a:srgbClr val="D5DCE5"/>
          </a:solidFill>
          <a:ln w="6350">
            <a:solidFill>
              <a:srgbClr val="D5DCE5"/>
            </a:solidFill>
            <a:prstDash val="solid"/>
          </a:ln>
        </p:spPr>
      </p:sp>
      <p:sp>
        <p:nvSpPr>
          <p:cNvPr id="49" name="!!d44"/>
          <p:cNvSpPr/>
          <p:nvPr/>
        </p:nvSpPr>
        <p:spPr>
          <a:xfrm>
            <a:off x="2240280" y="3246120"/>
            <a:ext cx="292608" cy="292608"/>
          </a:xfrm>
          <a:prstGeom prst="ellipse">
            <a:avLst/>
          </a:prstGeom>
          <a:solidFill>
            <a:srgbClr val="D5DCE5"/>
          </a:solidFill>
          <a:ln w="6350">
            <a:solidFill>
              <a:srgbClr val="D5DCE5"/>
            </a:solidFill>
            <a:prstDash val="solid"/>
          </a:ln>
        </p:spPr>
      </p:sp>
      <p:sp>
        <p:nvSpPr>
          <p:cNvPr id="50" name="!!d45"/>
          <p:cNvSpPr/>
          <p:nvPr/>
        </p:nvSpPr>
        <p:spPr>
          <a:xfrm>
            <a:off x="2606040" y="3246120"/>
            <a:ext cx="292608" cy="292608"/>
          </a:xfrm>
          <a:prstGeom prst="ellipse">
            <a:avLst/>
          </a:prstGeom>
          <a:solidFill>
            <a:srgbClr val="D5DCE5"/>
          </a:solidFill>
          <a:ln w="6350">
            <a:solidFill>
              <a:srgbClr val="D5DCE5"/>
            </a:solidFill>
            <a:prstDash val="solid"/>
          </a:ln>
        </p:spPr>
      </p:sp>
      <p:sp>
        <p:nvSpPr>
          <p:cNvPr id="51" name="!!d46"/>
          <p:cNvSpPr/>
          <p:nvPr/>
        </p:nvSpPr>
        <p:spPr>
          <a:xfrm>
            <a:off x="2971800" y="3246120"/>
            <a:ext cx="292608" cy="292608"/>
          </a:xfrm>
          <a:prstGeom prst="ellipse">
            <a:avLst/>
          </a:prstGeom>
          <a:solidFill>
            <a:srgbClr val="D5DCE5"/>
          </a:solidFill>
          <a:ln w="6350">
            <a:solidFill>
              <a:srgbClr val="D5DCE5"/>
            </a:solidFill>
            <a:prstDash val="solid"/>
          </a:ln>
        </p:spPr>
      </p:sp>
      <p:sp>
        <p:nvSpPr>
          <p:cNvPr id="52" name="!!d47"/>
          <p:cNvSpPr/>
          <p:nvPr/>
        </p:nvSpPr>
        <p:spPr>
          <a:xfrm>
            <a:off x="3337560" y="3246120"/>
            <a:ext cx="292608" cy="292608"/>
          </a:xfrm>
          <a:prstGeom prst="ellipse">
            <a:avLst/>
          </a:prstGeom>
          <a:solidFill>
            <a:srgbClr val="D5DCE5"/>
          </a:solidFill>
          <a:ln w="6350">
            <a:solidFill>
              <a:srgbClr val="D5DCE5"/>
            </a:solidFill>
            <a:prstDash val="solid"/>
          </a:ln>
        </p:spPr>
      </p:sp>
      <p:sp>
        <p:nvSpPr>
          <p:cNvPr id="53" name="!!d48"/>
          <p:cNvSpPr/>
          <p:nvPr/>
        </p:nvSpPr>
        <p:spPr>
          <a:xfrm>
            <a:off x="3703320" y="3246120"/>
            <a:ext cx="292608" cy="292608"/>
          </a:xfrm>
          <a:prstGeom prst="ellipse">
            <a:avLst/>
          </a:prstGeom>
          <a:solidFill>
            <a:srgbClr val="D5DCE5"/>
          </a:solidFill>
          <a:ln w="6350">
            <a:solidFill>
              <a:srgbClr val="D5DCE5"/>
            </a:solidFill>
            <a:prstDash val="solid"/>
          </a:ln>
        </p:spPr>
      </p:sp>
      <p:sp>
        <p:nvSpPr>
          <p:cNvPr id="54" name="!!d49"/>
          <p:cNvSpPr/>
          <p:nvPr/>
        </p:nvSpPr>
        <p:spPr>
          <a:xfrm>
            <a:off x="4069080" y="3246120"/>
            <a:ext cx="292608" cy="292608"/>
          </a:xfrm>
          <a:prstGeom prst="ellipse">
            <a:avLst/>
          </a:prstGeom>
          <a:solidFill>
            <a:srgbClr val="D5DCE5"/>
          </a:solidFill>
          <a:ln w="6350">
            <a:solidFill>
              <a:srgbClr val="D5DCE5"/>
            </a:solidFill>
            <a:prstDash val="solid"/>
          </a:ln>
        </p:spPr>
      </p:sp>
      <p:sp>
        <p:nvSpPr>
          <p:cNvPr id="55" name="!!d50"/>
          <p:cNvSpPr/>
          <p:nvPr/>
        </p:nvSpPr>
        <p:spPr>
          <a:xfrm>
            <a:off x="777240" y="3611880"/>
            <a:ext cx="292608" cy="292608"/>
          </a:xfrm>
          <a:prstGeom prst="ellipse">
            <a:avLst/>
          </a:prstGeom>
          <a:solidFill>
            <a:srgbClr val="D5DCE5"/>
          </a:solidFill>
          <a:ln w="6350">
            <a:solidFill>
              <a:srgbClr val="D5DCE5"/>
            </a:solidFill>
            <a:prstDash val="solid"/>
          </a:ln>
        </p:spPr>
      </p:sp>
      <p:sp>
        <p:nvSpPr>
          <p:cNvPr id="56" name="!!d51"/>
          <p:cNvSpPr/>
          <p:nvPr/>
        </p:nvSpPr>
        <p:spPr>
          <a:xfrm>
            <a:off x="1143000" y="3611880"/>
            <a:ext cx="292608" cy="292608"/>
          </a:xfrm>
          <a:prstGeom prst="ellipse">
            <a:avLst/>
          </a:prstGeom>
          <a:solidFill>
            <a:srgbClr val="D5DCE5"/>
          </a:solidFill>
          <a:ln w="6350">
            <a:solidFill>
              <a:srgbClr val="D5DCE5"/>
            </a:solidFill>
            <a:prstDash val="solid"/>
          </a:ln>
        </p:spPr>
      </p:sp>
      <p:sp>
        <p:nvSpPr>
          <p:cNvPr id="57" name="!!d52"/>
          <p:cNvSpPr/>
          <p:nvPr/>
        </p:nvSpPr>
        <p:spPr>
          <a:xfrm>
            <a:off x="1508760" y="3611880"/>
            <a:ext cx="292608" cy="292608"/>
          </a:xfrm>
          <a:prstGeom prst="ellipse">
            <a:avLst/>
          </a:prstGeom>
          <a:solidFill>
            <a:srgbClr val="D5DCE5"/>
          </a:solidFill>
          <a:ln w="6350">
            <a:solidFill>
              <a:srgbClr val="D5DCE5"/>
            </a:solidFill>
            <a:prstDash val="solid"/>
          </a:ln>
        </p:spPr>
      </p:sp>
      <p:sp>
        <p:nvSpPr>
          <p:cNvPr id="58" name="!!d53"/>
          <p:cNvSpPr/>
          <p:nvPr/>
        </p:nvSpPr>
        <p:spPr>
          <a:xfrm>
            <a:off x="1874520" y="3611880"/>
            <a:ext cx="292608" cy="292608"/>
          </a:xfrm>
          <a:prstGeom prst="ellipse">
            <a:avLst/>
          </a:prstGeom>
          <a:solidFill>
            <a:srgbClr val="D5DCE5"/>
          </a:solidFill>
          <a:ln w="6350">
            <a:solidFill>
              <a:srgbClr val="D5DCE5"/>
            </a:solidFill>
            <a:prstDash val="solid"/>
          </a:ln>
        </p:spPr>
      </p:sp>
      <p:sp>
        <p:nvSpPr>
          <p:cNvPr id="59" name="!!d54"/>
          <p:cNvSpPr/>
          <p:nvPr/>
        </p:nvSpPr>
        <p:spPr>
          <a:xfrm>
            <a:off x="2240280" y="3611880"/>
            <a:ext cx="292608" cy="292608"/>
          </a:xfrm>
          <a:prstGeom prst="ellipse">
            <a:avLst/>
          </a:prstGeom>
          <a:solidFill>
            <a:srgbClr val="D5DCE5"/>
          </a:solidFill>
          <a:ln w="6350">
            <a:solidFill>
              <a:srgbClr val="D5DCE5"/>
            </a:solidFill>
            <a:prstDash val="solid"/>
          </a:ln>
        </p:spPr>
      </p:sp>
      <p:sp>
        <p:nvSpPr>
          <p:cNvPr id="60" name="!!d55"/>
          <p:cNvSpPr/>
          <p:nvPr/>
        </p:nvSpPr>
        <p:spPr>
          <a:xfrm>
            <a:off x="2606040" y="3611880"/>
            <a:ext cx="292608" cy="292608"/>
          </a:xfrm>
          <a:prstGeom prst="ellipse">
            <a:avLst/>
          </a:prstGeom>
          <a:solidFill>
            <a:srgbClr val="D5DCE5"/>
          </a:solidFill>
          <a:ln w="6350">
            <a:solidFill>
              <a:srgbClr val="D5DCE5"/>
            </a:solidFill>
            <a:prstDash val="solid"/>
          </a:ln>
        </p:spPr>
      </p:sp>
      <p:sp>
        <p:nvSpPr>
          <p:cNvPr id="61" name="!!d56"/>
          <p:cNvSpPr/>
          <p:nvPr/>
        </p:nvSpPr>
        <p:spPr>
          <a:xfrm>
            <a:off x="2971800" y="3611880"/>
            <a:ext cx="292608" cy="292608"/>
          </a:xfrm>
          <a:prstGeom prst="ellipse">
            <a:avLst/>
          </a:prstGeom>
          <a:solidFill>
            <a:srgbClr val="D5DCE5"/>
          </a:solidFill>
          <a:ln w="6350">
            <a:solidFill>
              <a:srgbClr val="D5DCE5"/>
            </a:solidFill>
            <a:prstDash val="solid"/>
          </a:ln>
        </p:spPr>
      </p:sp>
      <p:sp>
        <p:nvSpPr>
          <p:cNvPr id="62" name="!!d57"/>
          <p:cNvSpPr/>
          <p:nvPr/>
        </p:nvSpPr>
        <p:spPr>
          <a:xfrm>
            <a:off x="3337560" y="3611880"/>
            <a:ext cx="292608" cy="292608"/>
          </a:xfrm>
          <a:prstGeom prst="ellipse">
            <a:avLst/>
          </a:prstGeom>
          <a:solidFill>
            <a:srgbClr val="D5DCE5"/>
          </a:solidFill>
          <a:ln w="6350">
            <a:solidFill>
              <a:srgbClr val="D5DCE5"/>
            </a:solidFill>
            <a:prstDash val="solid"/>
          </a:ln>
        </p:spPr>
      </p:sp>
      <p:sp>
        <p:nvSpPr>
          <p:cNvPr id="63" name="!!d58"/>
          <p:cNvSpPr/>
          <p:nvPr/>
        </p:nvSpPr>
        <p:spPr>
          <a:xfrm>
            <a:off x="3703320" y="3611880"/>
            <a:ext cx="292608" cy="292608"/>
          </a:xfrm>
          <a:prstGeom prst="ellipse">
            <a:avLst/>
          </a:prstGeom>
          <a:solidFill>
            <a:srgbClr val="D5DCE5"/>
          </a:solidFill>
          <a:ln w="6350">
            <a:solidFill>
              <a:srgbClr val="D5DCE5"/>
            </a:solidFill>
            <a:prstDash val="solid"/>
          </a:ln>
        </p:spPr>
      </p:sp>
      <p:sp>
        <p:nvSpPr>
          <p:cNvPr id="64" name="!!d59"/>
          <p:cNvSpPr/>
          <p:nvPr/>
        </p:nvSpPr>
        <p:spPr>
          <a:xfrm>
            <a:off x="4069080" y="3611880"/>
            <a:ext cx="292608" cy="292608"/>
          </a:xfrm>
          <a:prstGeom prst="ellipse">
            <a:avLst/>
          </a:prstGeom>
          <a:solidFill>
            <a:srgbClr val="D5DCE5"/>
          </a:solidFill>
          <a:ln w="6350">
            <a:solidFill>
              <a:srgbClr val="D5DCE5"/>
            </a:solidFill>
            <a:prstDash val="solid"/>
          </a:ln>
        </p:spPr>
      </p:sp>
      <p:sp>
        <p:nvSpPr>
          <p:cNvPr id="65" name="!!d60"/>
          <p:cNvSpPr/>
          <p:nvPr/>
        </p:nvSpPr>
        <p:spPr>
          <a:xfrm>
            <a:off x="777240" y="3977640"/>
            <a:ext cx="292608" cy="292608"/>
          </a:xfrm>
          <a:prstGeom prst="ellipse">
            <a:avLst/>
          </a:prstGeom>
          <a:solidFill>
            <a:srgbClr val="D5DCE5"/>
          </a:solidFill>
          <a:ln w="6350">
            <a:solidFill>
              <a:srgbClr val="D5DCE5"/>
            </a:solidFill>
            <a:prstDash val="solid"/>
          </a:ln>
        </p:spPr>
      </p:sp>
      <p:sp>
        <p:nvSpPr>
          <p:cNvPr id="66" name="!!d61"/>
          <p:cNvSpPr/>
          <p:nvPr/>
        </p:nvSpPr>
        <p:spPr>
          <a:xfrm>
            <a:off x="1143000" y="3977640"/>
            <a:ext cx="292608" cy="292608"/>
          </a:xfrm>
          <a:prstGeom prst="ellipse">
            <a:avLst/>
          </a:prstGeom>
          <a:solidFill>
            <a:srgbClr val="D5DCE5"/>
          </a:solidFill>
          <a:ln w="6350">
            <a:solidFill>
              <a:srgbClr val="D5DCE5"/>
            </a:solidFill>
            <a:prstDash val="solid"/>
          </a:ln>
        </p:spPr>
      </p:sp>
      <p:sp>
        <p:nvSpPr>
          <p:cNvPr id="67" name="!!d62"/>
          <p:cNvSpPr/>
          <p:nvPr/>
        </p:nvSpPr>
        <p:spPr>
          <a:xfrm>
            <a:off x="1508760" y="3977640"/>
            <a:ext cx="292608" cy="292608"/>
          </a:xfrm>
          <a:prstGeom prst="ellipse">
            <a:avLst/>
          </a:prstGeom>
          <a:solidFill>
            <a:srgbClr val="D5DCE5"/>
          </a:solidFill>
          <a:ln w="6350">
            <a:solidFill>
              <a:srgbClr val="D5DCE5"/>
            </a:solidFill>
            <a:prstDash val="solid"/>
          </a:ln>
        </p:spPr>
      </p:sp>
      <p:sp>
        <p:nvSpPr>
          <p:cNvPr id="68" name="!!d63"/>
          <p:cNvSpPr/>
          <p:nvPr/>
        </p:nvSpPr>
        <p:spPr>
          <a:xfrm>
            <a:off x="1874520" y="3977640"/>
            <a:ext cx="292608" cy="292608"/>
          </a:xfrm>
          <a:prstGeom prst="ellipse">
            <a:avLst/>
          </a:prstGeom>
          <a:solidFill>
            <a:srgbClr val="D5DCE5"/>
          </a:solidFill>
          <a:ln w="6350">
            <a:solidFill>
              <a:srgbClr val="D5DCE5"/>
            </a:solidFill>
            <a:prstDash val="solid"/>
          </a:ln>
        </p:spPr>
      </p:sp>
      <p:sp>
        <p:nvSpPr>
          <p:cNvPr id="69" name="!!d64"/>
          <p:cNvSpPr/>
          <p:nvPr/>
        </p:nvSpPr>
        <p:spPr>
          <a:xfrm>
            <a:off x="2240280" y="3977640"/>
            <a:ext cx="292608" cy="292608"/>
          </a:xfrm>
          <a:prstGeom prst="ellipse">
            <a:avLst/>
          </a:prstGeom>
          <a:solidFill>
            <a:srgbClr val="D5DCE5"/>
          </a:solidFill>
          <a:ln w="6350">
            <a:solidFill>
              <a:srgbClr val="D5DCE5"/>
            </a:solidFill>
            <a:prstDash val="solid"/>
          </a:ln>
        </p:spPr>
      </p:sp>
      <p:sp>
        <p:nvSpPr>
          <p:cNvPr id="70" name="!!d65"/>
          <p:cNvSpPr/>
          <p:nvPr/>
        </p:nvSpPr>
        <p:spPr>
          <a:xfrm>
            <a:off x="2606040" y="3977640"/>
            <a:ext cx="292608" cy="292608"/>
          </a:xfrm>
          <a:prstGeom prst="ellipse">
            <a:avLst/>
          </a:prstGeom>
          <a:solidFill>
            <a:srgbClr val="D5DCE5"/>
          </a:solidFill>
          <a:ln w="6350">
            <a:solidFill>
              <a:srgbClr val="D5DCE5"/>
            </a:solidFill>
            <a:prstDash val="solid"/>
          </a:ln>
        </p:spPr>
      </p:sp>
      <p:sp>
        <p:nvSpPr>
          <p:cNvPr id="71" name="!!d66"/>
          <p:cNvSpPr/>
          <p:nvPr/>
        </p:nvSpPr>
        <p:spPr>
          <a:xfrm>
            <a:off x="2971800" y="3977640"/>
            <a:ext cx="292608" cy="292608"/>
          </a:xfrm>
          <a:prstGeom prst="ellipse">
            <a:avLst/>
          </a:prstGeom>
          <a:solidFill>
            <a:srgbClr val="D5DCE5"/>
          </a:solidFill>
          <a:ln w="6350">
            <a:solidFill>
              <a:srgbClr val="D5DCE5"/>
            </a:solidFill>
            <a:prstDash val="solid"/>
          </a:ln>
        </p:spPr>
      </p:sp>
      <p:sp>
        <p:nvSpPr>
          <p:cNvPr id="72" name="!!d67"/>
          <p:cNvSpPr/>
          <p:nvPr/>
        </p:nvSpPr>
        <p:spPr>
          <a:xfrm>
            <a:off x="3337560" y="3977640"/>
            <a:ext cx="292608" cy="292608"/>
          </a:xfrm>
          <a:prstGeom prst="ellipse">
            <a:avLst/>
          </a:prstGeom>
          <a:solidFill>
            <a:srgbClr val="D5DCE5"/>
          </a:solidFill>
          <a:ln w="6350">
            <a:solidFill>
              <a:srgbClr val="D5DCE5"/>
            </a:solidFill>
            <a:prstDash val="solid"/>
          </a:ln>
        </p:spPr>
      </p:sp>
      <p:sp>
        <p:nvSpPr>
          <p:cNvPr id="73" name="!!d68"/>
          <p:cNvSpPr/>
          <p:nvPr/>
        </p:nvSpPr>
        <p:spPr>
          <a:xfrm>
            <a:off x="3703320" y="3977640"/>
            <a:ext cx="292608" cy="292608"/>
          </a:xfrm>
          <a:prstGeom prst="ellipse">
            <a:avLst/>
          </a:prstGeom>
          <a:solidFill>
            <a:srgbClr val="D5DCE5"/>
          </a:solidFill>
          <a:ln w="6350">
            <a:solidFill>
              <a:srgbClr val="D5DCE5"/>
            </a:solidFill>
            <a:prstDash val="solid"/>
          </a:ln>
        </p:spPr>
      </p:sp>
      <p:sp>
        <p:nvSpPr>
          <p:cNvPr id="74" name="!!d69"/>
          <p:cNvSpPr/>
          <p:nvPr/>
        </p:nvSpPr>
        <p:spPr>
          <a:xfrm>
            <a:off x="4069080" y="3977640"/>
            <a:ext cx="292608" cy="292608"/>
          </a:xfrm>
          <a:prstGeom prst="ellipse">
            <a:avLst/>
          </a:prstGeom>
          <a:solidFill>
            <a:srgbClr val="D5DCE5"/>
          </a:solidFill>
          <a:ln w="6350">
            <a:solidFill>
              <a:srgbClr val="D5DCE5"/>
            </a:solidFill>
            <a:prstDash val="solid"/>
          </a:ln>
        </p:spPr>
      </p:sp>
      <p:sp>
        <p:nvSpPr>
          <p:cNvPr id="75" name="!!d70"/>
          <p:cNvSpPr/>
          <p:nvPr/>
        </p:nvSpPr>
        <p:spPr>
          <a:xfrm>
            <a:off x="777240" y="4343400"/>
            <a:ext cx="292608" cy="292608"/>
          </a:xfrm>
          <a:prstGeom prst="ellipse">
            <a:avLst/>
          </a:prstGeom>
          <a:solidFill>
            <a:srgbClr val="D5DCE5"/>
          </a:solidFill>
          <a:ln w="6350">
            <a:solidFill>
              <a:srgbClr val="D5DCE5"/>
            </a:solidFill>
            <a:prstDash val="solid"/>
          </a:ln>
        </p:spPr>
      </p:sp>
      <p:sp>
        <p:nvSpPr>
          <p:cNvPr id="76" name="!!d71"/>
          <p:cNvSpPr/>
          <p:nvPr/>
        </p:nvSpPr>
        <p:spPr>
          <a:xfrm>
            <a:off x="1143000" y="4343400"/>
            <a:ext cx="292608" cy="292608"/>
          </a:xfrm>
          <a:prstGeom prst="ellipse">
            <a:avLst/>
          </a:prstGeom>
          <a:solidFill>
            <a:srgbClr val="D5DCE5"/>
          </a:solidFill>
          <a:ln w="6350">
            <a:solidFill>
              <a:srgbClr val="D5DCE5"/>
            </a:solidFill>
            <a:prstDash val="solid"/>
          </a:ln>
        </p:spPr>
      </p:sp>
      <p:sp>
        <p:nvSpPr>
          <p:cNvPr id="77" name="!!d72"/>
          <p:cNvSpPr/>
          <p:nvPr/>
        </p:nvSpPr>
        <p:spPr>
          <a:xfrm>
            <a:off x="1508760" y="4343400"/>
            <a:ext cx="292608" cy="292608"/>
          </a:xfrm>
          <a:prstGeom prst="ellipse">
            <a:avLst/>
          </a:prstGeom>
          <a:solidFill>
            <a:srgbClr val="D5DCE5"/>
          </a:solidFill>
          <a:ln w="6350">
            <a:solidFill>
              <a:srgbClr val="D5DCE5"/>
            </a:solidFill>
            <a:prstDash val="solid"/>
          </a:ln>
        </p:spPr>
      </p:sp>
      <p:sp>
        <p:nvSpPr>
          <p:cNvPr id="78" name="!!d73"/>
          <p:cNvSpPr/>
          <p:nvPr/>
        </p:nvSpPr>
        <p:spPr>
          <a:xfrm>
            <a:off x="1874520" y="4343400"/>
            <a:ext cx="292608" cy="292608"/>
          </a:xfrm>
          <a:prstGeom prst="ellipse">
            <a:avLst/>
          </a:prstGeom>
          <a:solidFill>
            <a:srgbClr val="D5DCE5"/>
          </a:solidFill>
          <a:ln w="6350">
            <a:solidFill>
              <a:srgbClr val="D5DCE5"/>
            </a:solidFill>
            <a:prstDash val="solid"/>
          </a:ln>
        </p:spPr>
      </p:sp>
      <p:sp>
        <p:nvSpPr>
          <p:cNvPr id="79" name="!!d74"/>
          <p:cNvSpPr/>
          <p:nvPr/>
        </p:nvSpPr>
        <p:spPr>
          <a:xfrm>
            <a:off x="2240280" y="4343400"/>
            <a:ext cx="292608" cy="292608"/>
          </a:xfrm>
          <a:prstGeom prst="ellipse">
            <a:avLst/>
          </a:prstGeom>
          <a:solidFill>
            <a:srgbClr val="D5DCE5"/>
          </a:solidFill>
          <a:ln w="6350">
            <a:solidFill>
              <a:srgbClr val="D5DCE5"/>
            </a:solidFill>
            <a:prstDash val="solid"/>
          </a:ln>
        </p:spPr>
      </p:sp>
      <p:sp>
        <p:nvSpPr>
          <p:cNvPr id="80" name="!!d75"/>
          <p:cNvSpPr/>
          <p:nvPr/>
        </p:nvSpPr>
        <p:spPr>
          <a:xfrm>
            <a:off x="2606040" y="4343400"/>
            <a:ext cx="292608" cy="292608"/>
          </a:xfrm>
          <a:prstGeom prst="ellipse">
            <a:avLst/>
          </a:prstGeom>
          <a:solidFill>
            <a:srgbClr val="D5DCE5"/>
          </a:solidFill>
          <a:ln w="6350">
            <a:solidFill>
              <a:srgbClr val="D5DCE5"/>
            </a:solidFill>
            <a:prstDash val="solid"/>
          </a:ln>
        </p:spPr>
      </p:sp>
      <p:sp>
        <p:nvSpPr>
          <p:cNvPr id="81" name="!!d76"/>
          <p:cNvSpPr/>
          <p:nvPr/>
        </p:nvSpPr>
        <p:spPr>
          <a:xfrm>
            <a:off x="2971800" y="4343400"/>
            <a:ext cx="292608" cy="292608"/>
          </a:xfrm>
          <a:prstGeom prst="ellipse">
            <a:avLst/>
          </a:prstGeom>
          <a:solidFill>
            <a:srgbClr val="D5DCE5"/>
          </a:solidFill>
          <a:ln w="6350">
            <a:solidFill>
              <a:srgbClr val="D5DCE5"/>
            </a:solidFill>
            <a:prstDash val="solid"/>
          </a:ln>
        </p:spPr>
      </p:sp>
      <p:sp>
        <p:nvSpPr>
          <p:cNvPr id="82" name="!!d77"/>
          <p:cNvSpPr/>
          <p:nvPr/>
        </p:nvSpPr>
        <p:spPr>
          <a:xfrm>
            <a:off x="3337560" y="4343400"/>
            <a:ext cx="292608" cy="292608"/>
          </a:xfrm>
          <a:prstGeom prst="ellipse">
            <a:avLst/>
          </a:prstGeom>
          <a:solidFill>
            <a:srgbClr val="D5DCE5"/>
          </a:solidFill>
          <a:ln w="6350">
            <a:solidFill>
              <a:srgbClr val="D5DCE5"/>
            </a:solidFill>
            <a:prstDash val="solid"/>
          </a:ln>
        </p:spPr>
      </p:sp>
      <p:sp>
        <p:nvSpPr>
          <p:cNvPr id="83" name="!!d78"/>
          <p:cNvSpPr/>
          <p:nvPr/>
        </p:nvSpPr>
        <p:spPr>
          <a:xfrm>
            <a:off x="3703320" y="4343400"/>
            <a:ext cx="292608" cy="292608"/>
          </a:xfrm>
          <a:prstGeom prst="ellipse">
            <a:avLst/>
          </a:prstGeom>
          <a:solidFill>
            <a:srgbClr val="D5DCE5"/>
          </a:solidFill>
          <a:ln w="6350">
            <a:solidFill>
              <a:srgbClr val="D5DCE5"/>
            </a:solidFill>
            <a:prstDash val="solid"/>
          </a:ln>
        </p:spPr>
      </p:sp>
      <p:sp>
        <p:nvSpPr>
          <p:cNvPr id="84" name="!!d79"/>
          <p:cNvSpPr/>
          <p:nvPr/>
        </p:nvSpPr>
        <p:spPr>
          <a:xfrm>
            <a:off x="4069080" y="4343400"/>
            <a:ext cx="292608" cy="292608"/>
          </a:xfrm>
          <a:prstGeom prst="ellipse">
            <a:avLst/>
          </a:prstGeom>
          <a:solidFill>
            <a:srgbClr val="D5DCE5"/>
          </a:solidFill>
          <a:ln w="6350">
            <a:solidFill>
              <a:srgbClr val="D5DCE5"/>
            </a:solidFill>
            <a:prstDash val="solid"/>
          </a:ln>
        </p:spPr>
      </p:sp>
      <p:sp>
        <p:nvSpPr>
          <p:cNvPr id="85" name="!!d80"/>
          <p:cNvSpPr/>
          <p:nvPr/>
        </p:nvSpPr>
        <p:spPr>
          <a:xfrm>
            <a:off x="777240" y="4709160"/>
            <a:ext cx="292608" cy="292608"/>
          </a:xfrm>
          <a:prstGeom prst="ellipse">
            <a:avLst/>
          </a:prstGeom>
          <a:solidFill>
            <a:srgbClr val="D5DCE5"/>
          </a:solidFill>
          <a:ln w="6350">
            <a:solidFill>
              <a:srgbClr val="D5DCE5"/>
            </a:solidFill>
            <a:prstDash val="solid"/>
          </a:ln>
        </p:spPr>
      </p:sp>
      <p:sp>
        <p:nvSpPr>
          <p:cNvPr id="86" name="!!d81"/>
          <p:cNvSpPr/>
          <p:nvPr/>
        </p:nvSpPr>
        <p:spPr>
          <a:xfrm>
            <a:off x="1143000" y="4709160"/>
            <a:ext cx="292608" cy="292608"/>
          </a:xfrm>
          <a:prstGeom prst="ellipse">
            <a:avLst/>
          </a:prstGeom>
          <a:solidFill>
            <a:srgbClr val="D5DCE5"/>
          </a:solidFill>
          <a:ln w="6350">
            <a:solidFill>
              <a:srgbClr val="D5DCE5"/>
            </a:solidFill>
            <a:prstDash val="solid"/>
          </a:ln>
        </p:spPr>
      </p:sp>
      <p:sp>
        <p:nvSpPr>
          <p:cNvPr id="87" name="!!d82"/>
          <p:cNvSpPr/>
          <p:nvPr/>
        </p:nvSpPr>
        <p:spPr>
          <a:xfrm>
            <a:off x="1508760" y="4709160"/>
            <a:ext cx="292608" cy="292608"/>
          </a:xfrm>
          <a:prstGeom prst="ellipse">
            <a:avLst/>
          </a:prstGeom>
          <a:solidFill>
            <a:srgbClr val="D5DCE5"/>
          </a:solidFill>
          <a:ln w="6350">
            <a:solidFill>
              <a:srgbClr val="D5DCE5"/>
            </a:solidFill>
            <a:prstDash val="solid"/>
          </a:ln>
        </p:spPr>
      </p:sp>
      <p:sp>
        <p:nvSpPr>
          <p:cNvPr id="88" name="!!d83"/>
          <p:cNvSpPr/>
          <p:nvPr/>
        </p:nvSpPr>
        <p:spPr>
          <a:xfrm>
            <a:off x="1874520" y="4709160"/>
            <a:ext cx="292608" cy="292608"/>
          </a:xfrm>
          <a:prstGeom prst="ellipse">
            <a:avLst/>
          </a:prstGeom>
          <a:solidFill>
            <a:srgbClr val="D5DCE5"/>
          </a:solidFill>
          <a:ln w="6350">
            <a:solidFill>
              <a:srgbClr val="D5DCE5"/>
            </a:solidFill>
            <a:prstDash val="solid"/>
          </a:ln>
        </p:spPr>
      </p:sp>
      <p:sp>
        <p:nvSpPr>
          <p:cNvPr id="89" name="!!d84"/>
          <p:cNvSpPr/>
          <p:nvPr/>
        </p:nvSpPr>
        <p:spPr>
          <a:xfrm>
            <a:off x="2240280" y="4709160"/>
            <a:ext cx="292608" cy="292608"/>
          </a:xfrm>
          <a:prstGeom prst="ellipse">
            <a:avLst/>
          </a:prstGeom>
          <a:solidFill>
            <a:srgbClr val="D5DCE5"/>
          </a:solidFill>
          <a:ln w="6350">
            <a:solidFill>
              <a:srgbClr val="D5DCE5"/>
            </a:solidFill>
            <a:prstDash val="solid"/>
          </a:ln>
        </p:spPr>
      </p:sp>
      <p:sp>
        <p:nvSpPr>
          <p:cNvPr id="90" name="!!d85"/>
          <p:cNvSpPr/>
          <p:nvPr/>
        </p:nvSpPr>
        <p:spPr>
          <a:xfrm>
            <a:off x="2606040" y="4709160"/>
            <a:ext cx="292608" cy="292608"/>
          </a:xfrm>
          <a:prstGeom prst="ellipse">
            <a:avLst/>
          </a:prstGeom>
          <a:solidFill>
            <a:srgbClr val="D5DCE5"/>
          </a:solidFill>
          <a:ln w="6350">
            <a:solidFill>
              <a:srgbClr val="D5DCE5"/>
            </a:solidFill>
            <a:prstDash val="solid"/>
          </a:ln>
        </p:spPr>
      </p:sp>
      <p:sp>
        <p:nvSpPr>
          <p:cNvPr id="91" name="!!d86"/>
          <p:cNvSpPr/>
          <p:nvPr/>
        </p:nvSpPr>
        <p:spPr>
          <a:xfrm>
            <a:off x="2971800" y="4709160"/>
            <a:ext cx="292608" cy="292608"/>
          </a:xfrm>
          <a:prstGeom prst="ellipse">
            <a:avLst/>
          </a:prstGeom>
          <a:solidFill>
            <a:srgbClr val="D5DCE5"/>
          </a:solidFill>
          <a:ln w="6350">
            <a:solidFill>
              <a:srgbClr val="D5DCE5"/>
            </a:solidFill>
            <a:prstDash val="solid"/>
          </a:ln>
        </p:spPr>
      </p:sp>
      <p:sp>
        <p:nvSpPr>
          <p:cNvPr id="92" name="!!d87"/>
          <p:cNvSpPr/>
          <p:nvPr/>
        </p:nvSpPr>
        <p:spPr>
          <a:xfrm>
            <a:off x="3337560" y="4709160"/>
            <a:ext cx="292608" cy="292608"/>
          </a:xfrm>
          <a:prstGeom prst="ellipse">
            <a:avLst/>
          </a:prstGeom>
          <a:solidFill>
            <a:srgbClr val="D5DCE5"/>
          </a:solidFill>
          <a:ln w="6350">
            <a:solidFill>
              <a:srgbClr val="D5DCE5"/>
            </a:solidFill>
            <a:prstDash val="solid"/>
          </a:ln>
        </p:spPr>
      </p:sp>
      <p:sp>
        <p:nvSpPr>
          <p:cNvPr id="93" name="!!d88"/>
          <p:cNvSpPr/>
          <p:nvPr/>
        </p:nvSpPr>
        <p:spPr>
          <a:xfrm>
            <a:off x="3703320" y="4709160"/>
            <a:ext cx="292608" cy="292608"/>
          </a:xfrm>
          <a:prstGeom prst="ellipse">
            <a:avLst/>
          </a:prstGeom>
          <a:solidFill>
            <a:srgbClr val="D5DCE5"/>
          </a:solidFill>
          <a:ln w="6350">
            <a:solidFill>
              <a:srgbClr val="D5DCE5"/>
            </a:solidFill>
            <a:prstDash val="solid"/>
          </a:ln>
        </p:spPr>
      </p:sp>
      <p:sp>
        <p:nvSpPr>
          <p:cNvPr id="94" name="!!d89"/>
          <p:cNvSpPr/>
          <p:nvPr/>
        </p:nvSpPr>
        <p:spPr>
          <a:xfrm>
            <a:off x="4069080" y="4709160"/>
            <a:ext cx="292608" cy="292608"/>
          </a:xfrm>
          <a:prstGeom prst="ellipse">
            <a:avLst/>
          </a:prstGeom>
          <a:solidFill>
            <a:srgbClr val="D5DCE5"/>
          </a:solidFill>
          <a:ln w="6350">
            <a:solidFill>
              <a:srgbClr val="D5DCE5"/>
            </a:solidFill>
            <a:prstDash val="solid"/>
          </a:ln>
        </p:spPr>
      </p:sp>
      <p:sp>
        <p:nvSpPr>
          <p:cNvPr id="95" name="!!d90"/>
          <p:cNvSpPr/>
          <p:nvPr/>
        </p:nvSpPr>
        <p:spPr>
          <a:xfrm>
            <a:off x="777240" y="5074920"/>
            <a:ext cx="292608" cy="292608"/>
          </a:xfrm>
          <a:prstGeom prst="ellipse">
            <a:avLst/>
          </a:prstGeom>
          <a:solidFill>
            <a:srgbClr val="D5DCE5"/>
          </a:solidFill>
          <a:ln w="6350">
            <a:solidFill>
              <a:srgbClr val="D5DCE5"/>
            </a:solidFill>
            <a:prstDash val="solid"/>
          </a:ln>
        </p:spPr>
      </p:sp>
      <p:sp>
        <p:nvSpPr>
          <p:cNvPr id="96" name="!!d91"/>
          <p:cNvSpPr/>
          <p:nvPr/>
        </p:nvSpPr>
        <p:spPr>
          <a:xfrm>
            <a:off x="1143000" y="5074920"/>
            <a:ext cx="292608" cy="292608"/>
          </a:xfrm>
          <a:prstGeom prst="ellipse">
            <a:avLst/>
          </a:prstGeom>
          <a:solidFill>
            <a:srgbClr val="D5DCE5"/>
          </a:solidFill>
          <a:ln w="6350">
            <a:solidFill>
              <a:srgbClr val="D5DCE5"/>
            </a:solidFill>
            <a:prstDash val="solid"/>
          </a:ln>
        </p:spPr>
      </p:sp>
      <p:sp>
        <p:nvSpPr>
          <p:cNvPr id="97" name="!!d92"/>
          <p:cNvSpPr/>
          <p:nvPr/>
        </p:nvSpPr>
        <p:spPr>
          <a:xfrm>
            <a:off x="1508760" y="5074920"/>
            <a:ext cx="292608" cy="292608"/>
          </a:xfrm>
          <a:prstGeom prst="ellipse">
            <a:avLst/>
          </a:prstGeom>
          <a:solidFill>
            <a:srgbClr val="D5DCE5"/>
          </a:solidFill>
          <a:ln w="6350">
            <a:solidFill>
              <a:srgbClr val="D5DCE5"/>
            </a:solidFill>
            <a:prstDash val="solid"/>
          </a:ln>
        </p:spPr>
      </p:sp>
      <p:sp>
        <p:nvSpPr>
          <p:cNvPr id="98" name="!!d93"/>
          <p:cNvSpPr/>
          <p:nvPr/>
        </p:nvSpPr>
        <p:spPr>
          <a:xfrm>
            <a:off x="1874520" y="5074920"/>
            <a:ext cx="292608" cy="292608"/>
          </a:xfrm>
          <a:prstGeom prst="ellipse">
            <a:avLst/>
          </a:prstGeom>
          <a:solidFill>
            <a:srgbClr val="D5DCE5"/>
          </a:solidFill>
          <a:ln w="6350">
            <a:solidFill>
              <a:srgbClr val="D5DCE5"/>
            </a:solidFill>
            <a:prstDash val="solid"/>
          </a:ln>
        </p:spPr>
      </p:sp>
      <p:sp>
        <p:nvSpPr>
          <p:cNvPr id="99" name="!!d94"/>
          <p:cNvSpPr/>
          <p:nvPr/>
        </p:nvSpPr>
        <p:spPr>
          <a:xfrm>
            <a:off x="2240280" y="5074920"/>
            <a:ext cx="292608" cy="292608"/>
          </a:xfrm>
          <a:prstGeom prst="ellipse">
            <a:avLst/>
          </a:prstGeom>
          <a:solidFill>
            <a:srgbClr val="D5DCE5"/>
          </a:solidFill>
          <a:ln w="6350">
            <a:solidFill>
              <a:srgbClr val="D5DCE5"/>
            </a:solidFill>
            <a:prstDash val="solid"/>
          </a:ln>
        </p:spPr>
      </p:sp>
      <p:sp>
        <p:nvSpPr>
          <p:cNvPr id="100" name="!!d95"/>
          <p:cNvSpPr/>
          <p:nvPr/>
        </p:nvSpPr>
        <p:spPr>
          <a:xfrm>
            <a:off x="2606040" y="5074920"/>
            <a:ext cx="292608" cy="292608"/>
          </a:xfrm>
          <a:prstGeom prst="ellipse">
            <a:avLst/>
          </a:prstGeom>
          <a:solidFill>
            <a:srgbClr val="D5DCE5"/>
          </a:solidFill>
          <a:ln w="6350">
            <a:solidFill>
              <a:srgbClr val="D5DCE5"/>
            </a:solidFill>
            <a:prstDash val="solid"/>
          </a:ln>
        </p:spPr>
      </p:sp>
      <p:sp>
        <p:nvSpPr>
          <p:cNvPr id="101" name="!!d96"/>
          <p:cNvSpPr/>
          <p:nvPr/>
        </p:nvSpPr>
        <p:spPr>
          <a:xfrm>
            <a:off x="2971800" y="5074920"/>
            <a:ext cx="292608" cy="292608"/>
          </a:xfrm>
          <a:prstGeom prst="ellipse">
            <a:avLst/>
          </a:prstGeom>
          <a:solidFill>
            <a:srgbClr val="D5DCE5"/>
          </a:solidFill>
          <a:ln w="6350">
            <a:solidFill>
              <a:srgbClr val="D5DCE5"/>
            </a:solidFill>
            <a:prstDash val="solid"/>
          </a:ln>
        </p:spPr>
      </p:sp>
      <p:sp>
        <p:nvSpPr>
          <p:cNvPr id="102" name="!!d97"/>
          <p:cNvSpPr/>
          <p:nvPr/>
        </p:nvSpPr>
        <p:spPr>
          <a:xfrm>
            <a:off x="3337560" y="5074920"/>
            <a:ext cx="292608" cy="292608"/>
          </a:xfrm>
          <a:prstGeom prst="ellipse">
            <a:avLst/>
          </a:prstGeom>
          <a:solidFill>
            <a:srgbClr val="D5DCE5"/>
          </a:solidFill>
          <a:ln w="6350">
            <a:solidFill>
              <a:srgbClr val="D5DCE5"/>
            </a:solidFill>
            <a:prstDash val="solid"/>
          </a:ln>
        </p:spPr>
      </p:sp>
      <p:sp>
        <p:nvSpPr>
          <p:cNvPr id="103" name="!!d98"/>
          <p:cNvSpPr/>
          <p:nvPr/>
        </p:nvSpPr>
        <p:spPr>
          <a:xfrm>
            <a:off x="3703320" y="5074920"/>
            <a:ext cx="292608" cy="292608"/>
          </a:xfrm>
          <a:prstGeom prst="ellipse">
            <a:avLst/>
          </a:prstGeom>
          <a:solidFill>
            <a:srgbClr val="D5DCE5"/>
          </a:solidFill>
          <a:ln w="6350">
            <a:solidFill>
              <a:srgbClr val="D5DCE5"/>
            </a:solidFill>
            <a:prstDash val="solid"/>
          </a:ln>
        </p:spPr>
      </p:sp>
      <p:sp>
        <p:nvSpPr>
          <p:cNvPr id="104" name="!!d99"/>
          <p:cNvSpPr/>
          <p:nvPr/>
        </p:nvSpPr>
        <p:spPr>
          <a:xfrm>
            <a:off x="4069080" y="5074920"/>
            <a:ext cx="292608" cy="292608"/>
          </a:xfrm>
          <a:prstGeom prst="ellipse">
            <a:avLst/>
          </a:prstGeom>
          <a:solidFill>
            <a:srgbClr val="D5DCE5"/>
          </a:solidFill>
          <a:ln w="6350">
            <a:solidFill>
              <a:srgbClr val="D5DCE5"/>
            </a:solidFill>
            <a:prstDash val="solid"/>
          </a:ln>
        </p:spPr>
      </p:sp>
      <p:sp>
        <p:nvSpPr>
          <p:cNvPr id="105" name="!!dotcap"/>
          <p:cNvSpPr txBox="1"/>
          <p:nvPr/>
        </p:nvSpPr>
        <p:spPr>
          <a:xfrm>
            <a:off x="777240" y="5486400"/>
            <a:ext cx="4023360"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Each dot = one patient, scanned within 3 hours of onset</a:t>
            </a:r>
            <a:endParaRPr lang="en-US" sz="1200" dirty="0"/>
          </a:p>
        </p:txBody>
      </p:sp>
      <p:sp>
        <p:nvSpPr>
          <p:cNvPr id="106" name="Shape 103"/>
          <p:cNvSpPr/>
          <p:nvPr/>
        </p:nvSpPr>
        <p:spPr>
          <a:xfrm>
            <a:off x="5669280" y="1920240"/>
            <a:ext cx="5120640" cy="960120"/>
          </a:xfrm>
          <a:prstGeom prst="roundRect">
            <a:avLst>
              <a:gd name="adj" fmla="val 9524"/>
            </a:avLst>
          </a:prstGeom>
          <a:solidFill>
            <a:srgbClr val="E8EDF3"/>
          </a:solidFill>
          <a:ln w="6350">
            <a:solidFill>
              <a:srgbClr val="E8EDF3"/>
            </a:solidFill>
            <a:prstDash val="solid"/>
          </a:ln>
        </p:spPr>
      </p:sp>
      <p:sp>
        <p:nvSpPr>
          <p:cNvPr id="107" name="Shape 104"/>
          <p:cNvSpPr/>
          <p:nvPr/>
        </p:nvSpPr>
        <p:spPr>
          <a:xfrm>
            <a:off x="5897880" y="2103120"/>
            <a:ext cx="594360" cy="594360"/>
          </a:xfrm>
          <a:prstGeom prst="ellipse">
            <a:avLst/>
          </a:prstGeom>
          <a:solidFill>
            <a:srgbClr val="13233A"/>
          </a:solidFill>
          <a:ln w="6350">
            <a:solidFill>
              <a:srgbClr val="13233A"/>
            </a:solidFill>
            <a:prstDash val="solid"/>
          </a:ln>
        </p:spPr>
      </p:sp>
      <p:sp>
        <p:nvSpPr>
          <p:cNvPr id="108" name="Text 105"/>
          <p:cNvSpPr txBox="1"/>
          <p:nvPr/>
        </p:nvSpPr>
        <p:spPr>
          <a:xfrm>
            <a:off x="5897880" y="210312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a:t>
            </a:r>
            <a:endParaRPr lang="en-US" sz="2200" dirty="0"/>
          </a:p>
        </p:txBody>
      </p:sp>
      <p:sp>
        <p:nvSpPr>
          <p:cNvPr id="109" name="Text 106"/>
          <p:cNvSpPr txBox="1"/>
          <p:nvPr/>
        </p:nvSpPr>
        <p:spPr>
          <a:xfrm>
            <a:off x="6766560" y="1920240"/>
            <a:ext cx="3657600" cy="960120"/>
          </a:xfrm>
          <a:prstGeom prst="rect">
            <a:avLst/>
          </a:prstGeom>
          <a:noFill/>
          <a:ln/>
        </p:spPr>
        <p:txBody>
          <a:bodyPr wrap="square" lIns="0" tIns="0" rIns="0" bIns="0" rtlCol="0" anchor="ctr"/>
          <a:lstStyle/>
          <a:p>
            <a:pPr indent="0" marL="0">
              <a:buNone/>
            </a:pPr>
            <a:r>
              <a:rPr lang="en-US" sz="3200" b="1" dirty="0">
                <a:solidFill>
                  <a:srgbClr val="13233A"/>
                </a:solidFill>
                <a:latin typeface="Calibri" pitchFamily="34" charset="0"/>
                <a:ea typeface="Calibri" pitchFamily="34" charset="-122"/>
                <a:cs typeface="Calibri" pitchFamily="34" charset="-120"/>
              </a:rPr>
              <a:t>5 in 100</a:t>
            </a:r>
            <a:endParaRPr lang="en-US" sz="3200" dirty="0"/>
          </a:p>
        </p:txBody>
      </p:sp>
      <p:sp>
        <p:nvSpPr>
          <p:cNvPr id="110" name="Shape 107"/>
          <p:cNvSpPr/>
          <p:nvPr/>
        </p:nvSpPr>
        <p:spPr>
          <a:xfrm>
            <a:off x="5669280" y="3108960"/>
            <a:ext cx="5120640" cy="960120"/>
          </a:xfrm>
          <a:prstGeom prst="roundRect">
            <a:avLst>
              <a:gd name="adj" fmla="val 9524"/>
            </a:avLst>
          </a:prstGeom>
          <a:solidFill>
            <a:srgbClr val="E8EDF3"/>
          </a:solidFill>
          <a:ln w="6350">
            <a:solidFill>
              <a:srgbClr val="E8EDF3"/>
            </a:solidFill>
            <a:prstDash val="solid"/>
          </a:ln>
        </p:spPr>
      </p:sp>
      <p:sp>
        <p:nvSpPr>
          <p:cNvPr id="111" name="Shape 108"/>
          <p:cNvSpPr/>
          <p:nvPr/>
        </p:nvSpPr>
        <p:spPr>
          <a:xfrm>
            <a:off x="5897880" y="3291840"/>
            <a:ext cx="594360" cy="594360"/>
          </a:xfrm>
          <a:prstGeom prst="ellipse">
            <a:avLst/>
          </a:prstGeom>
          <a:solidFill>
            <a:srgbClr val="13233A"/>
          </a:solidFill>
          <a:ln w="6350">
            <a:solidFill>
              <a:srgbClr val="13233A"/>
            </a:solidFill>
            <a:prstDash val="solid"/>
          </a:ln>
        </p:spPr>
      </p:sp>
      <p:sp>
        <p:nvSpPr>
          <p:cNvPr id="112" name="Text 109"/>
          <p:cNvSpPr txBox="1"/>
          <p:nvPr/>
        </p:nvSpPr>
        <p:spPr>
          <a:xfrm>
            <a:off x="5897880" y="329184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B</a:t>
            </a:r>
            <a:endParaRPr lang="en-US" sz="2200" dirty="0"/>
          </a:p>
        </p:txBody>
      </p:sp>
      <p:sp>
        <p:nvSpPr>
          <p:cNvPr id="113" name="Text 110"/>
          <p:cNvSpPr txBox="1"/>
          <p:nvPr/>
        </p:nvSpPr>
        <p:spPr>
          <a:xfrm>
            <a:off x="6766560" y="3108960"/>
            <a:ext cx="3657600" cy="960120"/>
          </a:xfrm>
          <a:prstGeom prst="rect">
            <a:avLst/>
          </a:prstGeom>
          <a:noFill/>
          <a:ln/>
        </p:spPr>
        <p:txBody>
          <a:bodyPr wrap="square" lIns="0" tIns="0" rIns="0" bIns="0" rtlCol="0" anchor="ctr"/>
          <a:lstStyle/>
          <a:p>
            <a:pPr indent="0" marL="0">
              <a:buNone/>
            </a:pPr>
            <a:r>
              <a:rPr lang="en-US" sz="3200" b="1" dirty="0">
                <a:solidFill>
                  <a:srgbClr val="13233A"/>
                </a:solidFill>
                <a:latin typeface="Calibri" pitchFamily="34" charset="0"/>
                <a:ea typeface="Calibri" pitchFamily="34" charset="-122"/>
                <a:cs typeface="Calibri" pitchFamily="34" charset="-120"/>
              </a:rPr>
              <a:t>15 in 100</a:t>
            </a:r>
            <a:endParaRPr lang="en-US" sz="3200" dirty="0"/>
          </a:p>
        </p:txBody>
      </p:sp>
      <p:sp>
        <p:nvSpPr>
          <p:cNvPr id="114" name="Shape 111"/>
          <p:cNvSpPr/>
          <p:nvPr/>
        </p:nvSpPr>
        <p:spPr>
          <a:xfrm>
            <a:off x="5669280" y="4297680"/>
            <a:ext cx="5120640" cy="960120"/>
          </a:xfrm>
          <a:prstGeom prst="roundRect">
            <a:avLst>
              <a:gd name="adj" fmla="val 9524"/>
            </a:avLst>
          </a:prstGeom>
          <a:solidFill>
            <a:srgbClr val="E8EDF3"/>
          </a:solidFill>
          <a:ln w="6350">
            <a:solidFill>
              <a:srgbClr val="E8EDF3"/>
            </a:solidFill>
            <a:prstDash val="solid"/>
          </a:ln>
        </p:spPr>
      </p:sp>
      <p:sp>
        <p:nvSpPr>
          <p:cNvPr id="115" name="Shape 112"/>
          <p:cNvSpPr/>
          <p:nvPr/>
        </p:nvSpPr>
        <p:spPr>
          <a:xfrm>
            <a:off x="5897880" y="4480560"/>
            <a:ext cx="594360" cy="594360"/>
          </a:xfrm>
          <a:prstGeom prst="ellipse">
            <a:avLst/>
          </a:prstGeom>
          <a:solidFill>
            <a:srgbClr val="13233A"/>
          </a:solidFill>
          <a:ln w="6350">
            <a:solidFill>
              <a:srgbClr val="13233A"/>
            </a:solidFill>
            <a:prstDash val="solid"/>
          </a:ln>
        </p:spPr>
      </p:sp>
      <p:sp>
        <p:nvSpPr>
          <p:cNvPr id="116" name="Text 113"/>
          <p:cNvSpPr txBox="1"/>
          <p:nvPr/>
        </p:nvSpPr>
        <p:spPr>
          <a:xfrm>
            <a:off x="5897880" y="44805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C</a:t>
            </a:r>
            <a:endParaRPr lang="en-US" sz="2200" dirty="0"/>
          </a:p>
        </p:txBody>
      </p:sp>
      <p:sp>
        <p:nvSpPr>
          <p:cNvPr id="117" name="Text 114"/>
          <p:cNvSpPr txBox="1"/>
          <p:nvPr/>
        </p:nvSpPr>
        <p:spPr>
          <a:xfrm>
            <a:off x="6766560" y="4297680"/>
            <a:ext cx="3657600" cy="960120"/>
          </a:xfrm>
          <a:prstGeom prst="rect">
            <a:avLst/>
          </a:prstGeom>
          <a:noFill/>
          <a:ln/>
        </p:spPr>
        <p:txBody>
          <a:bodyPr wrap="square" lIns="0" tIns="0" rIns="0" bIns="0" rtlCol="0" anchor="ctr"/>
          <a:lstStyle/>
          <a:p>
            <a:pPr indent="0" marL="0">
              <a:buNone/>
            </a:pPr>
            <a:r>
              <a:rPr lang="en-US" sz="3200" b="1" dirty="0">
                <a:solidFill>
                  <a:srgbClr val="13233A"/>
                </a:solidFill>
                <a:latin typeface="Calibri" pitchFamily="34" charset="0"/>
                <a:ea typeface="Calibri" pitchFamily="34" charset="-122"/>
                <a:cs typeface="Calibri" pitchFamily="34" charset="-120"/>
              </a:rPr>
              <a:t>40 in 100</a:t>
            </a:r>
            <a:endParaRPr lang="en-US" sz="3200" dirty="0"/>
          </a:p>
        </p:txBody>
      </p:sp>
      <p:sp>
        <p:nvSpPr>
          <p:cNvPr id="118" name="Text 115"/>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19"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120"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21" name="trk1"/>
          <p:cNvSpPr/>
          <p:nvPr/>
        </p:nvSpPr>
        <p:spPr>
          <a:xfrm>
            <a:off x="8211312" y="6460236"/>
            <a:ext cx="128016" cy="128016"/>
          </a:xfrm>
          <a:prstGeom prst="ellipse">
            <a:avLst/>
          </a:prstGeom>
          <a:solidFill>
            <a:srgbClr val="C1272D"/>
          </a:solidFill>
          <a:ln w="6350">
            <a:solidFill>
              <a:srgbClr val="C1272D"/>
            </a:solidFill>
            <a:prstDash val="solid"/>
          </a:ln>
        </p:spPr>
      </p:sp>
      <p:sp>
        <p:nvSpPr>
          <p:cNvPr id="122"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Hours</a:t>
            </a:r>
            <a:endParaRPr lang="en-US" sz="1100" dirty="0"/>
          </a:p>
        </p:txBody>
      </p:sp>
      <p:sp>
        <p:nvSpPr>
          <p:cNvPr id="123"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124"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125"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126"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127"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18</a:t>
            </a:r>
            <a:endParaRPr lang="en-US" sz="11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HANDS UP</a:t>
            </a:r>
            <a:endParaRPr lang="en-US" sz="1400" dirty="0"/>
          </a:p>
        </p:txBody>
      </p:sp>
      <p:sp>
        <p:nvSpPr>
          <p:cNvPr id="4" name="Shape 1"/>
          <p:cNvSpPr/>
          <p:nvPr/>
        </p:nvSpPr>
        <p:spPr>
          <a:xfrm>
            <a:off x="8303666" y="356616"/>
            <a:ext cx="3339389"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459114" y="443484"/>
            <a:ext cx="173736" cy="173736"/>
          </a:xfrm>
          <a:prstGeom prst="rect">
            <a:avLst/>
          </a:prstGeom>
        </p:spPr>
      </p:pic>
      <p:sp>
        <p:nvSpPr>
          <p:cNvPr id="6" name="Text 2"/>
          <p:cNvSpPr txBox="1"/>
          <p:nvPr/>
        </p:nvSpPr>
        <p:spPr>
          <a:xfrm>
            <a:off x="8706002" y="356616"/>
            <a:ext cx="2863901"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Prospective · n = 103 · within 3 h</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C1272D"/>
                </a:solidFill>
                <a:latin typeface="Cambria" pitchFamily="34" charset="0"/>
                <a:ea typeface="Cambria" pitchFamily="34" charset="-122"/>
                <a:cs typeface="Cambria" pitchFamily="34" charset="-120"/>
              </a:rPr>
              <a:t>38 in 100 keep growing</a:t>
            </a:r>
            <a:endParaRPr lang="en-US" sz="4000" dirty="0"/>
          </a:p>
        </p:txBody>
      </p:sp>
      <p:sp>
        <p:nvSpPr>
          <p:cNvPr id="8" name="!!d00"/>
          <p:cNvSpPr/>
          <p:nvPr/>
        </p:nvSpPr>
        <p:spPr>
          <a:xfrm>
            <a:off x="777240" y="1783080"/>
            <a:ext cx="292608" cy="292608"/>
          </a:xfrm>
          <a:prstGeom prst="ellipse">
            <a:avLst/>
          </a:prstGeom>
          <a:solidFill>
            <a:srgbClr val="8E1B1F"/>
          </a:solidFill>
          <a:ln w="6350">
            <a:solidFill>
              <a:srgbClr val="8E1B1F"/>
            </a:solidFill>
            <a:prstDash val="solid"/>
          </a:ln>
        </p:spPr>
      </p:sp>
      <p:sp>
        <p:nvSpPr>
          <p:cNvPr id="9" name="!!d01"/>
          <p:cNvSpPr/>
          <p:nvPr/>
        </p:nvSpPr>
        <p:spPr>
          <a:xfrm>
            <a:off x="1143000" y="1783080"/>
            <a:ext cx="292608" cy="292608"/>
          </a:xfrm>
          <a:prstGeom prst="ellipse">
            <a:avLst/>
          </a:prstGeom>
          <a:solidFill>
            <a:srgbClr val="8E1B1F"/>
          </a:solidFill>
          <a:ln w="6350">
            <a:solidFill>
              <a:srgbClr val="8E1B1F"/>
            </a:solidFill>
            <a:prstDash val="solid"/>
          </a:ln>
        </p:spPr>
      </p:sp>
      <p:sp>
        <p:nvSpPr>
          <p:cNvPr id="10" name="!!d02"/>
          <p:cNvSpPr/>
          <p:nvPr/>
        </p:nvSpPr>
        <p:spPr>
          <a:xfrm>
            <a:off x="1508760" y="1783080"/>
            <a:ext cx="292608" cy="292608"/>
          </a:xfrm>
          <a:prstGeom prst="ellipse">
            <a:avLst/>
          </a:prstGeom>
          <a:solidFill>
            <a:srgbClr val="8E1B1F"/>
          </a:solidFill>
          <a:ln w="6350">
            <a:solidFill>
              <a:srgbClr val="8E1B1F"/>
            </a:solidFill>
            <a:prstDash val="solid"/>
          </a:ln>
        </p:spPr>
      </p:sp>
      <p:sp>
        <p:nvSpPr>
          <p:cNvPr id="11" name="!!d03"/>
          <p:cNvSpPr/>
          <p:nvPr/>
        </p:nvSpPr>
        <p:spPr>
          <a:xfrm>
            <a:off x="1874520" y="1783080"/>
            <a:ext cx="292608" cy="292608"/>
          </a:xfrm>
          <a:prstGeom prst="ellipse">
            <a:avLst/>
          </a:prstGeom>
          <a:solidFill>
            <a:srgbClr val="8E1B1F"/>
          </a:solidFill>
          <a:ln w="6350">
            <a:solidFill>
              <a:srgbClr val="8E1B1F"/>
            </a:solidFill>
            <a:prstDash val="solid"/>
          </a:ln>
        </p:spPr>
      </p:sp>
      <p:sp>
        <p:nvSpPr>
          <p:cNvPr id="12" name="!!d04"/>
          <p:cNvSpPr/>
          <p:nvPr/>
        </p:nvSpPr>
        <p:spPr>
          <a:xfrm>
            <a:off x="2240280" y="1783080"/>
            <a:ext cx="292608" cy="292608"/>
          </a:xfrm>
          <a:prstGeom prst="ellipse">
            <a:avLst/>
          </a:prstGeom>
          <a:solidFill>
            <a:srgbClr val="8E1B1F"/>
          </a:solidFill>
          <a:ln w="6350">
            <a:solidFill>
              <a:srgbClr val="8E1B1F"/>
            </a:solidFill>
            <a:prstDash val="solid"/>
          </a:ln>
        </p:spPr>
      </p:sp>
      <p:sp>
        <p:nvSpPr>
          <p:cNvPr id="13" name="!!d05"/>
          <p:cNvSpPr/>
          <p:nvPr/>
        </p:nvSpPr>
        <p:spPr>
          <a:xfrm>
            <a:off x="2606040" y="1783080"/>
            <a:ext cx="292608" cy="292608"/>
          </a:xfrm>
          <a:prstGeom prst="ellipse">
            <a:avLst/>
          </a:prstGeom>
          <a:solidFill>
            <a:srgbClr val="8E1B1F"/>
          </a:solidFill>
          <a:ln w="6350">
            <a:solidFill>
              <a:srgbClr val="8E1B1F"/>
            </a:solidFill>
            <a:prstDash val="solid"/>
          </a:ln>
        </p:spPr>
      </p:sp>
      <p:sp>
        <p:nvSpPr>
          <p:cNvPr id="14" name="!!d06"/>
          <p:cNvSpPr/>
          <p:nvPr/>
        </p:nvSpPr>
        <p:spPr>
          <a:xfrm>
            <a:off x="2971800" y="1783080"/>
            <a:ext cx="292608" cy="292608"/>
          </a:xfrm>
          <a:prstGeom prst="ellipse">
            <a:avLst/>
          </a:prstGeom>
          <a:solidFill>
            <a:srgbClr val="8E1B1F"/>
          </a:solidFill>
          <a:ln w="6350">
            <a:solidFill>
              <a:srgbClr val="8E1B1F"/>
            </a:solidFill>
            <a:prstDash val="solid"/>
          </a:ln>
        </p:spPr>
      </p:sp>
      <p:sp>
        <p:nvSpPr>
          <p:cNvPr id="15" name="!!d07"/>
          <p:cNvSpPr/>
          <p:nvPr/>
        </p:nvSpPr>
        <p:spPr>
          <a:xfrm>
            <a:off x="3337560" y="1783080"/>
            <a:ext cx="292608" cy="292608"/>
          </a:xfrm>
          <a:prstGeom prst="ellipse">
            <a:avLst/>
          </a:prstGeom>
          <a:solidFill>
            <a:srgbClr val="8E1B1F"/>
          </a:solidFill>
          <a:ln w="6350">
            <a:solidFill>
              <a:srgbClr val="8E1B1F"/>
            </a:solidFill>
            <a:prstDash val="solid"/>
          </a:ln>
        </p:spPr>
      </p:sp>
      <p:sp>
        <p:nvSpPr>
          <p:cNvPr id="16" name="!!d08"/>
          <p:cNvSpPr/>
          <p:nvPr/>
        </p:nvSpPr>
        <p:spPr>
          <a:xfrm>
            <a:off x="3703320" y="1783080"/>
            <a:ext cx="292608" cy="292608"/>
          </a:xfrm>
          <a:prstGeom prst="ellipse">
            <a:avLst/>
          </a:prstGeom>
          <a:solidFill>
            <a:srgbClr val="8E1B1F"/>
          </a:solidFill>
          <a:ln w="6350">
            <a:solidFill>
              <a:srgbClr val="8E1B1F"/>
            </a:solidFill>
            <a:prstDash val="solid"/>
          </a:ln>
        </p:spPr>
      </p:sp>
      <p:sp>
        <p:nvSpPr>
          <p:cNvPr id="17" name="!!d09"/>
          <p:cNvSpPr/>
          <p:nvPr/>
        </p:nvSpPr>
        <p:spPr>
          <a:xfrm>
            <a:off x="4069080" y="1783080"/>
            <a:ext cx="292608" cy="292608"/>
          </a:xfrm>
          <a:prstGeom prst="ellipse">
            <a:avLst/>
          </a:prstGeom>
          <a:solidFill>
            <a:srgbClr val="8E1B1F"/>
          </a:solidFill>
          <a:ln w="6350">
            <a:solidFill>
              <a:srgbClr val="8E1B1F"/>
            </a:solidFill>
            <a:prstDash val="solid"/>
          </a:ln>
        </p:spPr>
      </p:sp>
      <p:sp>
        <p:nvSpPr>
          <p:cNvPr id="18" name="!!d10"/>
          <p:cNvSpPr/>
          <p:nvPr/>
        </p:nvSpPr>
        <p:spPr>
          <a:xfrm>
            <a:off x="777240" y="2148840"/>
            <a:ext cx="292608" cy="292608"/>
          </a:xfrm>
          <a:prstGeom prst="ellipse">
            <a:avLst/>
          </a:prstGeom>
          <a:solidFill>
            <a:srgbClr val="8E1B1F"/>
          </a:solidFill>
          <a:ln w="6350">
            <a:solidFill>
              <a:srgbClr val="8E1B1F"/>
            </a:solidFill>
            <a:prstDash val="solid"/>
          </a:ln>
        </p:spPr>
      </p:sp>
      <p:sp>
        <p:nvSpPr>
          <p:cNvPr id="19" name="!!d11"/>
          <p:cNvSpPr/>
          <p:nvPr/>
        </p:nvSpPr>
        <p:spPr>
          <a:xfrm>
            <a:off x="1143000" y="2148840"/>
            <a:ext cx="292608" cy="292608"/>
          </a:xfrm>
          <a:prstGeom prst="ellipse">
            <a:avLst/>
          </a:prstGeom>
          <a:solidFill>
            <a:srgbClr val="8E1B1F"/>
          </a:solidFill>
          <a:ln w="6350">
            <a:solidFill>
              <a:srgbClr val="8E1B1F"/>
            </a:solidFill>
            <a:prstDash val="solid"/>
          </a:ln>
        </p:spPr>
      </p:sp>
      <p:sp>
        <p:nvSpPr>
          <p:cNvPr id="20" name="!!d12"/>
          <p:cNvSpPr/>
          <p:nvPr/>
        </p:nvSpPr>
        <p:spPr>
          <a:xfrm>
            <a:off x="1508760" y="2148840"/>
            <a:ext cx="292608" cy="292608"/>
          </a:xfrm>
          <a:prstGeom prst="ellipse">
            <a:avLst/>
          </a:prstGeom>
          <a:solidFill>
            <a:srgbClr val="8E1B1F"/>
          </a:solidFill>
          <a:ln w="6350">
            <a:solidFill>
              <a:srgbClr val="8E1B1F"/>
            </a:solidFill>
            <a:prstDash val="solid"/>
          </a:ln>
        </p:spPr>
      </p:sp>
      <p:sp>
        <p:nvSpPr>
          <p:cNvPr id="21" name="!!d13"/>
          <p:cNvSpPr/>
          <p:nvPr/>
        </p:nvSpPr>
        <p:spPr>
          <a:xfrm>
            <a:off x="1874520" y="2148840"/>
            <a:ext cx="292608" cy="292608"/>
          </a:xfrm>
          <a:prstGeom prst="ellipse">
            <a:avLst/>
          </a:prstGeom>
          <a:solidFill>
            <a:srgbClr val="8E1B1F"/>
          </a:solidFill>
          <a:ln w="6350">
            <a:solidFill>
              <a:srgbClr val="8E1B1F"/>
            </a:solidFill>
            <a:prstDash val="solid"/>
          </a:ln>
        </p:spPr>
      </p:sp>
      <p:sp>
        <p:nvSpPr>
          <p:cNvPr id="22" name="!!d14"/>
          <p:cNvSpPr/>
          <p:nvPr/>
        </p:nvSpPr>
        <p:spPr>
          <a:xfrm>
            <a:off x="2240280" y="2148840"/>
            <a:ext cx="292608" cy="292608"/>
          </a:xfrm>
          <a:prstGeom prst="ellipse">
            <a:avLst/>
          </a:prstGeom>
          <a:solidFill>
            <a:srgbClr val="8E1B1F"/>
          </a:solidFill>
          <a:ln w="6350">
            <a:solidFill>
              <a:srgbClr val="8E1B1F"/>
            </a:solidFill>
            <a:prstDash val="solid"/>
          </a:ln>
        </p:spPr>
      </p:sp>
      <p:sp>
        <p:nvSpPr>
          <p:cNvPr id="23" name="!!d15"/>
          <p:cNvSpPr/>
          <p:nvPr/>
        </p:nvSpPr>
        <p:spPr>
          <a:xfrm>
            <a:off x="2606040" y="2148840"/>
            <a:ext cx="292608" cy="292608"/>
          </a:xfrm>
          <a:prstGeom prst="ellipse">
            <a:avLst/>
          </a:prstGeom>
          <a:solidFill>
            <a:srgbClr val="8E1B1F"/>
          </a:solidFill>
          <a:ln w="6350">
            <a:solidFill>
              <a:srgbClr val="8E1B1F"/>
            </a:solidFill>
            <a:prstDash val="solid"/>
          </a:ln>
        </p:spPr>
      </p:sp>
      <p:sp>
        <p:nvSpPr>
          <p:cNvPr id="24" name="!!d16"/>
          <p:cNvSpPr/>
          <p:nvPr/>
        </p:nvSpPr>
        <p:spPr>
          <a:xfrm>
            <a:off x="2971800" y="2148840"/>
            <a:ext cx="292608" cy="292608"/>
          </a:xfrm>
          <a:prstGeom prst="ellipse">
            <a:avLst/>
          </a:prstGeom>
          <a:solidFill>
            <a:srgbClr val="8E1B1F"/>
          </a:solidFill>
          <a:ln w="6350">
            <a:solidFill>
              <a:srgbClr val="8E1B1F"/>
            </a:solidFill>
            <a:prstDash val="solid"/>
          </a:ln>
        </p:spPr>
      </p:sp>
      <p:sp>
        <p:nvSpPr>
          <p:cNvPr id="25" name="!!d17"/>
          <p:cNvSpPr/>
          <p:nvPr/>
        </p:nvSpPr>
        <p:spPr>
          <a:xfrm>
            <a:off x="3337560" y="2148840"/>
            <a:ext cx="292608" cy="292608"/>
          </a:xfrm>
          <a:prstGeom prst="ellipse">
            <a:avLst/>
          </a:prstGeom>
          <a:solidFill>
            <a:srgbClr val="8E1B1F"/>
          </a:solidFill>
          <a:ln w="6350">
            <a:solidFill>
              <a:srgbClr val="8E1B1F"/>
            </a:solidFill>
            <a:prstDash val="solid"/>
          </a:ln>
        </p:spPr>
      </p:sp>
      <p:sp>
        <p:nvSpPr>
          <p:cNvPr id="26" name="!!d18"/>
          <p:cNvSpPr/>
          <p:nvPr/>
        </p:nvSpPr>
        <p:spPr>
          <a:xfrm>
            <a:off x="3703320" y="2148840"/>
            <a:ext cx="292608" cy="292608"/>
          </a:xfrm>
          <a:prstGeom prst="ellipse">
            <a:avLst/>
          </a:prstGeom>
          <a:solidFill>
            <a:srgbClr val="8E1B1F"/>
          </a:solidFill>
          <a:ln w="6350">
            <a:solidFill>
              <a:srgbClr val="8E1B1F"/>
            </a:solidFill>
            <a:prstDash val="solid"/>
          </a:ln>
        </p:spPr>
      </p:sp>
      <p:sp>
        <p:nvSpPr>
          <p:cNvPr id="27" name="!!d19"/>
          <p:cNvSpPr/>
          <p:nvPr/>
        </p:nvSpPr>
        <p:spPr>
          <a:xfrm>
            <a:off x="4069080" y="2148840"/>
            <a:ext cx="292608" cy="292608"/>
          </a:xfrm>
          <a:prstGeom prst="ellipse">
            <a:avLst/>
          </a:prstGeom>
          <a:solidFill>
            <a:srgbClr val="8E1B1F"/>
          </a:solidFill>
          <a:ln w="6350">
            <a:solidFill>
              <a:srgbClr val="8E1B1F"/>
            </a:solidFill>
            <a:prstDash val="solid"/>
          </a:ln>
        </p:spPr>
      </p:sp>
      <p:sp>
        <p:nvSpPr>
          <p:cNvPr id="28" name="!!d20"/>
          <p:cNvSpPr/>
          <p:nvPr/>
        </p:nvSpPr>
        <p:spPr>
          <a:xfrm>
            <a:off x="777240" y="2514600"/>
            <a:ext cx="292608" cy="292608"/>
          </a:xfrm>
          <a:prstGeom prst="ellipse">
            <a:avLst/>
          </a:prstGeom>
          <a:solidFill>
            <a:srgbClr val="8E1B1F"/>
          </a:solidFill>
          <a:ln w="6350">
            <a:solidFill>
              <a:srgbClr val="8E1B1F"/>
            </a:solidFill>
            <a:prstDash val="solid"/>
          </a:ln>
        </p:spPr>
      </p:sp>
      <p:sp>
        <p:nvSpPr>
          <p:cNvPr id="29" name="!!d21"/>
          <p:cNvSpPr/>
          <p:nvPr/>
        </p:nvSpPr>
        <p:spPr>
          <a:xfrm>
            <a:off x="1143000" y="2514600"/>
            <a:ext cx="292608" cy="292608"/>
          </a:xfrm>
          <a:prstGeom prst="ellipse">
            <a:avLst/>
          </a:prstGeom>
          <a:solidFill>
            <a:srgbClr val="8E1B1F"/>
          </a:solidFill>
          <a:ln w="6350">
            <a:solidFill>
              <a:srgbClr val="8E1B1F"/>
            </a:solidFill>
            <a:prstDash val="solid"/>
          </a:ln>
        </p:spPr>
      </p:sp>
      <p:sp>
        <p:nvSpPr>
          <p:cNvPr id="30" name="!!d22"/>
          <p:cNvSpPr/>
          <p:nvPr/>
        </p:nvSpPr>
        <p:spPr>
          <a:xfrm>
            <a:off x="1508760" y="2514600"/>
            <a:ext cx="292608" cy="292608"/>
          </a:xfrm>
          <a:prstGeom prst="ellipse">
            <a:avLst/>
          </a:prstGeom>
          <a:solidFill>
            <a:srgbClr val="8E1B1F"/>
          </a:solidFill>
          <a:ln w="6350">
            <a:solidFill>
              <a:srgbClr val="8E1B1F"/>
            </a:solidFill>
            <a:prstDash val="solid"/>
          </a:ln>
        </p:spPr>
      </p:sp>
      <p:sp>
        <p:nvSpPr>
          <p:cNvPr id="31" name="!!d23"/>
          <p:cNvSpPr/>
          <p:nvPr/>
        </p:nvSpPr>
        <p:spPr>
          <a:xfrm>
            <a:off x="1874520" y="2514600"/>
            <a:ext cx="292608" cy="292608"/>
          </a:xfrm>
          <a:prstGeom prst="ellipse">
            <a:avLst/>
          </a:prstGeom>
          <a:solidFill>
            <a:srgbClr val="8E1B1F"/>
          </a:solidFill>
          <a:ln w="6350">
            <a:solidFill>
              <a:srgbClr val="8E1B1F"/>
            </a:solidFill>
            <a:prstDash val="solid"/>
          </a:ln>
        </p:spPr>
      </p:sp>
      <p:sp>
        <p:nvSpPr>
          <p:cNvPr id="32" name="!!d24"/>
          <p:cNvSpPr/>
          <p:nvPr/>
        </p:nvSpPr>
        <p:spPr>
          <a:xfrm>
            <a:off x="2240280" y="2514600"/>
            <a:ext cx="292608" cy="292608"/>
          </a:xfrm>
          <a:prstGeom prst="ellipse">
            <a:avLst/>
          </a:prstGeom>
          <a:solidFill>
            <a:srgbClr val="8E1B1F"/>
          </a:solidFill>
          <a:ln w="6350">
            <a:solidFill>
              <a:srgbClr val="8E1B1F"/>
            </a:solidFill>
            <a:prstDash val="solid"/>
          </a:ln>
        </p:spPr>
      </p:sp>
      <p:sp>
        <p:nvSpPr>
          <p:cNvPr id="33" name="!!d25"/>
          <p:cNvSpPr/>
          <p:nvPr/>
        </p:nvSpPr>
        <p:spPr>
          <a:xfrm>
            <a:off x="2606040" y="2514600"/>
            <a:ext cx="292608" cy="292608"/>
          </a:xfrm>
          <a:prstGeom prst="ellipse">
            <a:avLst/>
          </a:prstGeom>
          <a:solidFill>
            <a:srgbClr val="8E1B1F"/>
          </a:solidFill>
          <a:ln w="6350">
            <a:solidFill>
              <a:srgbClr val="8E1B1F"/>
            </a:solidFill>
            <a:prstDash val="solid"/>
          </a:ln>
        </p:spPr>
      </p:sp>
      <p:sp>
        <p:nvSpPr>
          <p:cNvPr id="34" name="!!d26"/>
          <p:cNvSpPr/>
          <p:nvPr/>
        </p:nvSpPr>
        <p:spPr>
          <a:xfrm>
            <a:off x="2971800" y="2514600"/>
            <a:ext cx="292608" cy="292608"/>
          </a:xfrm>
          <a:prstGeom prst="ellipse">
            <a:avLst/>
          </a:prstGeom>
          <a:solidFill>
            <a:srgbClr val="E88A8E"/>
          </a:solidFill>
          <a:ln w="6350">
            <a:solidFill>
              <a:srgbClr val="E88A8E"/>
            </a:solidFill>
            <a:prstDash val="solid"/>
          </a:ln>
        </p:spPr>
      </p:sp>
      <p:sp>
        <p:nvSpPr>
          <p:cNvPr id="35" name="!!d27"/>
          <p:cNvSpPr/>
          <p:nvPr/>
        </p:nvSpPr>
        <p:spPr>
          <a:xfrm>
            <a:off x="3337560" y="2514600"/>
            <a:ext cx="292608" cy="292608"/>
          </a:xfrm>
          <a:prstGeom prst="ellipse">
            <a:avLst/>
          </a:prstGeom>
          <a:solidFill>
            <a:srgbClr val="E88A8E"/>
          </a:solidFill>
          <a:ln w="6350">
            <a:solidFill>
              <a:srgbClr val="E88A8E"/>
            </a:solidFill>
            <a:prstDash val="solid"/>
          </a:ln>
        </p:spPr>
      </p:sp>
      <p:sp>
        <p:nvSpPr>
          <p:cNvPr id="36" name="!!d28"/>
          <p:cNvSpPr/>
          <p:nvPr/>
        </p:nvSpPr>
        <p:spPr>
          <a:xfrm>
            <a:off x="3703320" y="2514600"/>
            <a:ext cx="292608" cy="292608"/>
          </a:xfrm>
          <a:prstGeom prst="ellipse">
            <a:avLst/>
          </a:prstGeom>
          <a:solidFill>
            <a:srgbClr val="E88A8E"/>
          </a:solidFill>
          <a:ln w="6350">
            <a:solidFill>
              <a:srgbClr val="E88A8E"/>
            </a:solidFill>
            <a:prstDash val="solid"/>
          </a:ln>
        </p:spPr>
      </p:sp>
      <p:sp>
        <p:nvSpPr>
          <p:cNvPr id="37" name="!!d29"/>
          <p:cNvSpPr/>
          <p:nvPr/>
        </p:nvSpPr>
        <p:spPr>
          <a:xfrm>
            <a:off x="4069080" y="2514600"/>
            <a:ext cx="292608" cy="292608"/>
          </a:xfrm>
          <a:prstGeom prst="ellipse">
            <a:avLst/>
          </a:prstGeom>
          <a:solidFill>
            <a:srgbClr val="E88A8E"/>
          </a:solidFill>
          <a:ln w="6350">
            <a:solidFill>
              <a:srgbClr val="E88A8E"/>
            </a:solidFill>
            <a:prstDash val="solid"/>
          </a:ln>
        </p:spPr>
      </p:sp>
      <p:sp>
        <p:nvSpPr>
          <p:cNvPr id="38" name="!!d30"/>
          <p:cNvSpPr/>
          <p:nvPr/>
        </p:nvSpPr>
        <p:spPr>
          <a:xfrm>
            <a:off x="777240" y="2880360"/>
            <a:ext cx="292608" cy="292608"/>
          </a:xfrm>
          <a:prstGeom prst="ellipse">
            <a:avLst/>
          </a:prstGeom>
          <a:solidFill>
            <a:srgbClr val="E88A8E"/>
          </a:solidFill>
          <a:ln w="6350">
            <a:solidFill>
              <a:srgbClr val="E88A8E"/>
            </a:solidFill>
            <a:prstDash val="solid"/>
          </a:ln>
        </p:spPr>
      </p:sp>
      <p:sp>
        <p:nvSpPr>
          <p:cNvPr id="39" name="!!d31"/>
          <p:cNvSpPr/>
          <p:nvPr/>
        </p:nvSpPr>
        <p:spPr>
          <a:xfrm>
            <a:off x="1143000" y="2880360"/>
            <a:ext cx="292608" cy="292608"/>
          </a:xfrm>
          <a:prstGeom prst="ellipse">
            <a:avLst/>
          </a:prstGeom>
          <a:solidFill>
            <a:srgbClr val="E88A8E"/>
          </a:solidFill>
          <a:ln w="6350">
            <a:solidFill>
              <a:srgbClr val="E88A8E"/>
            </a:solidFill>
            <a:prstDash val="solid"/>
          </a:ln>
        </p:spPr>
      </p:sp>
      <p:sp>
        <p:nvSpPr>
          <p:cNvPr id="40" name="!!d32"/>
          <p:cNvSpPr/>
          <p:nvPr/>
        </p:nvSpPr>
        <p:spPr>
          <a:xfrm>
            <a:off x="1508760" y="2880360"/>
            <a:ext cx="292608" cy="292608"/>
          </a:xfrm>
          <a:prstGeom prst="ellipse">
            <a:avLst/>
          </a:prstGeom>
          <a:solidFill>
            <a:srgbClr val="E88A8E"/>
          </a:solidFill>
          <a:ln w="6350">
            <a:solidFill>
              <a:srgbClr val="E88A8E"/>
            </a:solidFill>
            <a:prstDash val="solid"/>
          </a:ln>
        </p:spPr>
      </p:sp>
      <p:sp>
        <p:nvSpPr>
          <p:cNvPr id="41" name="!!d33"/>
          <p:cNvSpPr/>
          <p:nvPr/>
        </p:nvSpPr>
        <p:spPr>
          <a:xfrm>
            <a:off x="1874520" y="2880360"/>
            <a:ext cx="292608" cy="292608"/>
          </a:xfrm>
          <a:prstGeom prst="ellipse">
            <a:avLst/>
          </a:prstGeom>
          <a:solidFill>
            <a:srgbClr val="E88A8E"/>
          </a:solidFill>
          <a:ln w="6350">
            <a:solidFill>
              <a:srgbClr val="E88A8E"/>
            </a:solidFill>
            <a:prstDash val="solid"/>
          </a:ln>
        </p:spPr>
      </p:sp>
      <p:sp>
        <p:nvSpPr>
          <p:cNvPr id="42" name="!!d34"/>
          <p:cNvSpPr/>
          <p:nvPr/>
        </p:nvSpPr>
        <p:spPr>
          <a:xfrm>
            <a:off x="2240280" y="2880360"/>
            <a:ext cx="292608" cy="292608"/>
          </a:xfrm>
          <a:prstGeom prst="ellipse">
            <a:avLst/>
          </a:prstGeom>
          <a:solidFill>
            <a:srgbClr val="E88A8E"/>
          </a:solidFill>
          <a:ln w="6350">
            <a:solidFill>
              <a:srgbClr val="E88A8E"/>
            </a:solidFill>
            <a:prstDash val="solid"/>
          </a:ln>
        </p:spPr>
      </p:sp>
      <p:sp>
        <p:nvSpPr>
          <p:cNvPr id="43" name="!!d35"/>
          <p:cNvSpPr/>
          <p:nvPr/>
        </p:nvSpPr>
        <p:spPr>
          <a:xfrm>
            <a:off x="2606040" y="2880360"/>
            <a:ext cx="292608" cy="292608"/>
          </a:xfrm>
          <a:prstGeom prst="ellipse">
            <a:avLst/>
          </a:prstGeom>
          <a:solidFill>
            <a:srgbClr val="E88A8E"/>
          </a:solidFill>
          <a:ln w="6350">
            <a:solidFill>
              <a:srgbClr val="E88A8E"/>
            </a:solidFill>
            <a:prstDash val="solid"/>
          </a:ln>
        </p:spPr>
      </p:sp>
      <p:sp>
        <p:nvSpPr>
          <p:cNvPr id="44" name="!!d36"/>
          <p:cNvSpPr/>
          <p:nvPr/>
        </p:nvSpPr>
        <p:spPr>
          <a:xfrm>
            <a:off x="2971800" y="2880360"/>
            <a:ext cx="292608" cy="292608"/>
          </a:xfrm>
          <a:prstGeom prst="ellipse">
            <a:avLst/>
          </a:prstGeom>
          <a:solidFill>
            <a:srgbClr val="E88A8E"/>
          </a:solidFill>
          <a:ln w="6350">
            <a:solidFill>
              <a:srgbClr val="E88A8E"/>
            </a:solidFill>
            <a:prstDash val="solid"/>
          </a:ln>
        </p:spPr>
      </p:sp>
      <p:sp>
        <p:nvSpPr>
          <p:cNvPr id="45" name="!!d37"/>
          <p:cNvSpPr/>
          <p:nvPr/>
        </p:nvSpPr>
        <p:spPr>
          <a:xfrm>
            <a:off x="3337560" y="2880360"/>
            <a:ext cx="292608" cy="292608"/>
          </a:xfrm>
          <a:prstGeom prst="ellipse">
            <a:avLst/>
          </a:prstGeom>
          <a:solidFill>
            <a:srgbClr val="E88A8E"/>
          </a:solidFill>
          <a:ln w="6350">
            <a:solidFill>
              <a:srgbClr val="E88A8E"/>
            </a:solidFill>
            <a:prstDash val="solid"/>
          </a:ln>
        </p:spPr>
      </p:sp>
      <p:sp>
        <p:nvSpPr>
          <p:cNvPr id="46" name="!!d38"/>
          <p:cNvSpPr/>
          <p:nvPr/>
        </p:nvSpPr>
        <p:spPr>
          <a:xfrm>
            <a:off x="3703320" y="2880360"/>
            <a:ext cx="292608" cy="292608"/>
          </a:xfrm>
          <a:prstGeom prst="ellipse">
            <a:avLst/>
          </a:prstGeom>
          <a:solidFill>
            <a:srgbClr val="D5DCE5"/>
          </a:solidFill>
          <a:ln w="6350">
            <a:solidFill>
              <a:srgbClr val="D5DCE5"/>
            </a:solidFill>
            <a:prstDash val="solid"/>
          </a:ln>
        </p:spPr>
      </p:sp>
      <p:sp>
        <p:nvSpPr>
          <p:cNvPr id="47" name="!!d39"/>
          <p:cNvSpPr/>
          <p:nvPr/>
        </p:nvSpPr>
        <p:spPr>
          <a:xfrm>
            <a:off x="4069080" y="2880360"/>
            <a:ext cx="292608" cy="292608"/>
          </a:xfrm>
          <a:prstGeom prst="ellipse">
            <a:avLst/>
          </a:prstGeom>
          <a:solidFill>
            <a:srgbClr val="D5DCE5"/>
          </a:solidFill>
          <a:ln w="6350">
            <a:solidFill>
              <a:srgbClr val="D5DCE5"/>
            </a:solidFill>
            <a:prstDash val="solid"/>
          </a:ln>
        </p:spPr>
      </p:sp>
      <p:sp>
        <p:nvSpPr>
          <p:cNvPr id="48" name="!!d40"/>
          <p:cNvSpPr/>
          <p:nvPr/>
        </p:nvSpPr>
        <p:spPr>
          <a:xfrm>
            <a:off x="777240" y="3246120"/>
            <a:ext cx="292608" cy="292608"/>
          </a:xfrm>
          <a:prstGeom prst="ellipse">
            <a:avLst/>
          </a:prstGeom>
          <a:solidFill>
            <a:srgbClr val="D5DCE5"/>
          </a:solidFill>
          <a:ln w="6350">
            <a:solidFill>
              <a:srgbClr val="D5DCE5"/>
            </a:solidFill>
            <a:prstDash val="solid"/>
          </a:ln>
        </p:spPr>
      </p:sp>
      <p:sp>
        <p:nvSpPr>
          <p:cNvPr id="49" name="!!d41"/>
          <p:cNvSpPr/>
          <p:nvPr/>
        </p:nvSpPr>
        <p:spPr>
          <a:xfrm>
            <a:off x="1143000" y="3246120"/>
            <a:ext cx="292608" cy="292608"/>
          </a:xfrm>
          <a:prstGeom prst="ellipse">
            <a:avLst/>
          </a:prstGeom>
          <a:solidFill>
            <a:srgbClr val="D5DCE5"/>
          </a:solidFill>
          <a:ln w="6350">
            <a:solidFill>
              <a:srgbClr val="D5DCE5"/>
            </a:solidFill>
            <a:prstDash val="solid"/>
          </a:ln>
        </p:spPr>
      </p:sp>
      <p:sp>
        <p:nvSpPr>
          <p:cNvPr id="50" name="!!d42"/>
          <p:cNvSpPr/>
          <p:nvPr/>
        </p:nvSpPr>
        <p:spPr>
          <a:xfrm>
            <a:off x="1508760" y="3246120"/>
            <a:ext cx="292608" cy="292608"/>
          </a:xfrm>
          <a:prstGeom prst="ellipse">
            <a:avLst/>
          </a:prstGeom>
          <a:solidFill>
            <a:srgbClr val="D5DCE5"/>
          </a:solidFill>
          <a:ln w="6350">
            <a:solidFill>
              <a:srgbClr val="D5DCE5"/>
            </a:solidFill>
            <a:prstDash val="solid"/>
          </a:ln>
        </p:spPr>
      </p:sp>
      <p:sp>
        <p:nvSpPr>
          <p:cNvPr id="51" name="!!d43"/>
          <p:cNvSpPr/>
          <p:nvPr/>
        </p:nvSpPr>
        <p:spPr>
          <a:xfrm>
            <a:off x="1874520" y="3246120"/>
            <a:ext cx="292608" cy="292608"/>
          </a:xfrm>
          <a:prstGeom prst="ellipse">
            <a:avLst/>
          </a:prstGeom>
          <a:solidFill>
            <a:srgbClr val="D5DCE5"/>
          </a:solidFill>
          <a:ln w="6350">
            <a:solidFill>
              <a:srgbClr val="D5DCE5"/>
            </a:solidFill>
            <a:prstDash val="solid"/>
          </a:ln>
        </p:spPr>
      </p:sp>
      <p:sp>
        <p:nvSpPr>
          <p:cNvPr id="52" name="!!d44"/>
          <p:cNvSpPr/>
          <p:nvPr/>
        </p:nvSpPr>
        <p:spPr>
          <a:xfrm>
            <a:off x="2240280" y="3246120"/>
            <a:ext cx="292608" cy="292608"/>
          </a:xfrm>
          <a:prstGeom prst="ellipse">
            <a:avLst/>
          </a:prstGeom>
          <a:solidFill>
            <a:srgbClr val="D5DCE5"/>
          </a:solidFill>
          <a:ln w="6350">
            <a:solidFill>
              <a:srgbClr val="D5DCE5"/>
            </a:solidFill>
            <a:prstDash val="solid"/>
          </a:ln>
        </p:spPr>
      </p:sp>
      <p:sp>
        <p:nvSpPr>
          <p:cNvPr id="53" name="!!d45"/>
          <p:cNvSpPr/>
          <p:nvPr/>
        </p:nvSpPr>
        <p:spPr>
          <a:xfrm>
            <a:off x="2606040" y="3246120"/>
            <a:ext cx="292608" cy="292608"/>
          </a:xfrm>
          <a:prstGeom prst="ellipse">
            <a:avLst/>
          </a:prstGeom>
          <a:solidFill>
            <a:srgbClr val="D5DCE5"/>
          </a:solidFill>
          <a:ln w="6350">
            <a:solidFill>
              <a:srgbClr val="D5DCE5"/>
            </a:solidFill>
            <a:prstDash val="solid"/>
          </a:ln>
        </p:spPr>
      </p:sp>
      <p:sp>
        <p:nvSpPr>
          <p:cNvPr id="54" name="!!d46"/>
          <p:cNvSpPr/>
          <p:nvPr/>
        </p:nvSpPr>
        <p:spPr>
          <a:xfrm>
            <a:off x="2971800" y="3246120"/>
            <a:ext cx="292608" cy="292608"/>
          </a:xfrm>
          <a:prstGeom prst="ellipse">
            <a:avLst/>
          </a:prstGeom>
          <a:solidFill>
            <a:srgbClr val="D5DCE5"/>
          </a:solidFill>
          <a:ln w="6350">
            <a:solidFill>
              <a:srgbClr val="D5DCE5"/>
            </a:solidFill>
            <a:prstDash val="solid"/>
          </a:ln>
        </p:spPr>
      </p:sp>
      <p:sp>
        <p:nvSpPr>
          <p:cNvPr id="55" name="!!d47"/>
          <p:cNvSpPr/>
          <p:nvPr/>
        </p:nvSpPr>
        <p:spPr>
          <a:xfrm>
            <a:off x="3337560" y="3246120"/>
            <a:ext cx="292608" cy="292608"/>
          </a:xfrm>
          <a:prstGeom prst="ellipse">
            <a:avLst/>
          </a:prstGeom>
          <a:solidFill>
            <a:srgbClr val="D5DCE5"/>
          </a:solidFill>
          <a:ln w="6350">
            <a:solidFill>
              <a:srgbClr val="D5DCE5"/>
            </a:solidFill>
            <a:prstDash val="solid"/>
          </a:ln>
        </p:spPr>
      </p:sp>
      <p:sp>
        <p:nvSpPr>
          <p:cNvPr id="56" name="!!d48"/>
          <p:cNvSpPr/>
          <p:nvPr/>
        </p:nvSpPr>
        <p:spPr>
          <a:xfrm>
            <a:off x="3703320" y="3246120"/>
            <a:ext cx="292608" cy="292608"/>
          </a:xfrm>
          <a:prstGeom prst="ellipse">
            <a:avLst/>
          </a:prstGeom>
          <a:solidFill>
            <a:srgbClr val="D5DCE5"/>
          </a:solidFill>
          <a:ln w="6350">
            <a:solidFill>
              <a:srgbClr val="D5DCE5"/>
            </a:solidFill>
            <a:prstDash val="solid"/>
          </a:ln>
        </p:spPr>
      </p:sp>
      <p:sp>
        <p:nvSpPr>
          <p:cNvPr id="57" name="!!d49"/>
          <p:cNvSpPr/>
          <p:nvPr/>
        </p:nvSpPr>
        <p:spPr>
          <a:xfrm>
            <a:off x="4069080" y="3246120"/>
            <a:ext cx="292608" cy="292608"/>
          </a:xfrm>
          <a:prstGeom prst="ellipse">
            <a:avLst/>
          </a:prstGeom>
          <a:solidFill>
            <a:srgbClr val="D5DCE5"/>
          </a:solidFill>
          <a:ln w="6350">
            <a:solidFill>
              <a:srgbClr val="D5DCE5"/>
            </a:solidFill>
            <a:prstDash val="solid"/>
          </a:ln>
        </p:spPr>
      </p:sp>
      <p:sp>
        <p:nvSpPr>
          <p:cNvPr id="58" name="!!d50"/>
          <p:cNvSpPr/>
          <p:nvPr/>
        </p:nvSpPr>
        <p:spPr>
          <a:xfrm>
            <a:off x="777240" y="3611880"/>
            <a:ext cx="292608" cy="292608"/>
          </a:xfrm>
          <a:prstGeom prst="ellipse">
            <a:avLst/>
          </a:prstGeom>
          <a:solidFill>
            <a:srgbClr val="D5DCE5"/>
          </a:solidFill>
          <a:ln w="6350">
            <a:solidFill>
              <a:srgbClr val="D5DCE5"/>
            </a:solidFill>
            <a:prstDash val="solid"/>
          </a:ln>
        </p:spPr>
      </p:sp>
      <p:sp>
        <p:nvSpPr>
          <p:cNvPr id="59" name="!!d51"/>
          <p:cNvSpPr/>
          <p:nvPr/>
        </p:nvSpPr>
        <p:spPr>
          <a:xfrm>
            <a:off x="1143000" y="3611880"/>
            <a:ext cx="292608" cy="292608"/>
          </a:xfrm>
          <a:prstGeom prst="ellipse">
            <a:avLst/>
          </a:prstGeom>
          <a:solidFill>
            <a:srgbClr val="D5DCE5"/>
          </a:solidFill>
          <a:ln w="6350">
            <a:solidFill>
              <a:srgbClr val="D5DCE5"/>
            </a:solidFill>
            <a:prstDash val="solid"/>
          </a:ln>
        </p:spPr>
      </p:sp>
      <p:sp>
        <p:nvSpPr>
          <p:cNvPr id="60" name="!!d52"/>
          <p:cNvSpPr/>
          <p:nvPr/>
        </p:nvSpPr>
        <p:spPr>
          <a:xfrm>
            <a:off x="1508760" y="3611880"/>
            <a:ext cx="292608" cy="292608"/>
          </a:xfrm>
          <a:prstGeom prst="ellipse">
            <a:avLst/>
          </a:prstGeom>
          <a:solidFill>
            <a:srgbClr val="D5DCE5"/>
          </a:solidFill>
          <a:ln w="6350">
            <a:solidFill>
              <a:srgbClr val="D5DCE5"/>
            </a:solidFill>
            <a:prstDash val="solid"/>
          </a:ln>
        </p:spPr>
      </p:sp>
      <p:sp>
        <p:nvSpPr>
          <p:cNvPr id="61" name="!!d53"/>
          <p:cNvSpPr/>
          <p:nvPr/>
        </p:nvSpPr>
        <p:spPr>
          <a:xfrm>
            <a:off x="1874520" y="3611880"/>
            <a:ext cx="292608" cy="292608"/>
          </a:xfrm>
          <a:prstGeom prst="ellipse">
            <a:avLst/>
          </a:prstGeom>
          <a:solidFill>
            <a:srgbClr val="D5DCE5"/>
          </a:solidFill>
          <a:ln w="6350">
            <a:solidFill>
              <a:srgbClr val="D5DCE5"/>
            </a:solidFill>
            <a:prstDash val="solid"/>
          </a:ln>
        </p:spPr>
      </p:sp>
      <p:sp>
        <p:nvSpPr>
          <p:cNvPr id="62" name="!!d54"/>
          <p:cNvSpPr/>
          <p:nvPr/>
        </p:nvSpPr>
        <p:spPr>
          <a:xfrm>
            <a:off x="2240280" y="3611880"/>
            <a:ext cx="292608" cy="292608"/>
          </a:xfrm>
          <a:prstGeom prst="ellipse">
            <a:avLst/>
          </a:prstGeom>
          <a:solidFill>
            <a:srgbClr val="D5DCE5"/>
          </a:solidFill>
          <a:ln w="6350">
            <a:solidFill>
              <a:srgbClr val="D5DCE5"/>
            </a:solidFill>
            <a:prstDash val="solid"/>
          </a:ln>
        </p:spPr>
      </p:sp>
      <p:sp>
        <p:nvSpPr>
          <p:cNvPr id="63" name="!!d55"/>
          <p:cNvSpPr/>
          <p:nvPr/>
        </p:nvSpPr>
        <p:spPr>
          <a:xfrm>
            <a:off x="2606040" y="3611880"/>
            <a:ext cx="292608" cy="292608"/>
          </a:xfrm>
          <a:prstGeom prst="ellipse">
            <a:avLst/>
          </a:prstGeom>
          <a:solidFill>
            <a:srgbClr val="D5DCE5"/>
          </a:solidFill>
          <a:ln w="6350">
            <a:solidFill>
              <a:srgbClr val="D5DCE5"/>
            </a:solidFill>
            <a:prstDash val="solid"/>
          </a:ln>
        </p:spPr>
      </p:sp>
      <p:sp>
        <p:nvSpPr>
          <p:cNvPr id="64" name="!!d56"/>
          <p:cNvSpPr/>
          <p:nvPr/>
        </p:nvSpPr>
        <p:spPr>
          <a:xfrm>
            <a:off x="2971800" y="3611880"/>
            <a:ext cx="292608" cy="292608"/>
          </a:xfrm>
          <a:prstGeom prst="ellipse">
            <a:avLst/>
          </a:prstGeom>
          <a:solidFill>
            <a:srgbClr val="D5DCE5"/>
          </a:solidFill>
          <a:ln w="6350">
            <a:solidFill>
              <a:srgbClr val="D5DCE5"/>
            </a:solidFill>
            <a:prstDash val="solid"/>
          </a:ln>
        </p:spPr>
      </p:sp>
      <p:sp>
        <p:nvSpPr>
          <p:cNvPr id="65" name="!!d57"/>
          <p:cNvSpPr/>
          <p:nvPr/>
        </p:nvSpPr>
        <p:spPr>
          <a:xfrm>
            <a:off x="3337560" y="3611880"/>
            <a:ext cx="292608" cy="292608"/>
          </a:xfrm>
          <a:prstGeom prst="ellipse">
            <a:avLst/>
          </a:prstGeom>
          <a:solidFill>
            <a:srgbClr val="D5DCE5"/>
          </a:solidFill>
          <a:ln w="6350">
            <a:solidFill>
              <a:srgbClr val="D5DCE5"/>
            </a:solidFill>
            <a:prstDash val="solid"/>
          </a:ln>
        </p:spPr>
      </p:sp>
      <p:sp>
        <p:nvSpPr>
          <p:cNvPr id="66" name="!!d58"/>
          <p:cNvSpPr/>
          <p:nvPr/>
        </p:nvSpPr>
        <p:spPr>
          <a:xfrm>
            <a:off x="3703320" y="3611880"/>
            <a:ext cx="292608" cy="292608"/>
          </a:xfrm>
          <a:prstGeom prst="ellipse">
            <a:avLst/>
          </a:prstGeom>
          <a:solidFill>
            <a:srgbClr val="D5DCE5"/>
          </a:solidFill>
          <a:ln w="6350">
            <a:solidFill>
              <a:srgbClr val="D5DCE5"/>
            </a:solidFill>
            <a:prstDash val="solid"/>
          </a:ln>
        </p:spPr>
      </p:sp>
      <p:sp>
        <p:nvSpPr>
          <p:cNvPr id="67" name="!!d59"/>
          <p:cNvSpPr/>
          <p:nvPr/>
        </p:nvSpPr>
        <p:spPr>
          <a:xfrm>
            <a:off x="4069080" y="3611880"/>
            <a:ext cx="292608" cy="292608"/>
          </a:xfrm>
          <a:prstGeom prst="ellipse">
            <a:avLst/>
          </a:prstGeom>
          <a:solidFill>
            <a:srgbClr val="D5DCE5"/>
          </a:solidFill>
          <a:ln w="6350">
            <a:solidFill>
              <a:srgbClr val="D5DCE5"/>
            </a:solidFill>
            <a:prstDash val="solid"/>
          </a:ln>
        </p:spPr>
      </p:sp>
      <p:sp>
        <p:nvSpPr>
          <p:cNvPr id="68" name="!!d60"/>
          <p:cNvSpPr/>
          <p:nvPr/>
        </p:nvSpPr>
        <p:spPr>
          <a:xfrm>
            <a:off x="777240" y="3977640"/>
            <a:ext cx="292608" cy="292608"/>
          </a:xfrm>
          <a:prstGeom prst="ellipse">
            <a:avLst/>
          </a:prstGeom>
          <a:solidFill>
            <a:srgbClr val="D5DCE5"/>
          </a:solidFill>
          <a:ln w="6350">
            <a:solidFill>
              <a:srgbClr val="D5DCE5"/>
            </a:solidFill>
            <a:prstDash val="solid"/>
          </a:ln>
        </p:spPr>
      </p:sp>
      <p:sp>
        <p:nvSpPr>
          <p:cNvPr id="69" name="!!d61"/>
          <p:cNvSpPr/>
          <p:nvPr/>
        </p:nvSpPr>
        <p:spPr>
          <a:xfrm>
            <a:off x="1143000" y="3977640"/>
            <a:ext cx="292608" cy="292608"/>
          </a:xfrm>
          <a:prstGeom prst="ellipse">
            <a:avLst/>
          </a:prstGeom>
          <a:solidFill>
            <a:srgbClr val="D5DCE5"/>
          </a:solidFill>
          <a:ln w="6350">
            <a:solidFill>
              <a:srgbClr val="D5DCE5"/>
            </a:solidFill>
            <a:prstDash val="solid"/>
          </a:ln>
        </p:spPr>
      </p:sp>
      <p:sp>
        <p:nvSpPr>
          <p:cNvPr id="70" name="!!d62"/>
          <p:cNvSpPr/>
          <p:nvPr/>
        </p:nvSpPr>
        <p:spPr>
          <a:xfrm>
            <a:off x="1508760" y="3977640"/>
            <a:ext cx="292608" cy="292608"/>
          </a:xfrm>
          <a:prstGeom prst="ellipse">
            <a:avLst/>
          </a:prstGeom>
          <a:solidFill>
            <a:srgbClr val="D5DCE5"/>
          </a:solidFill>
          <a:ln w="6350">
            <a:solidFill>
              <a:srgbClr val="D5DCE5"/>
            </a:solidFill>
            <a:prstDash val="solid"/>
          </a:ln>
        </p:spPr>
      </p:sp>
      <p:sp>
        <p:nvSpPr>
          <p:cNvPr id="71" name="!!d63"/>
          <p:cNvSpPr/>
          <p:nvPr/>
        </p:nvSpPr>
        <p:spPr>
          <a:xfrm>
            <a:off x="1874520" y="3977640"/>
            <a:ext cx="292608" cy="292608"/>
          </a:xfrm>
          <a:prstGeom prst="ellipse">
            <a:avLst/>
          </a:prstGeom>
          <a:solidFill>
            <a:srgbClr val="D5DCE5"/>
          </a:solidFill>
          <a:ln w="6350">
            <a:solidFill>
              <a:srgbClr val="D5DCE5"/>
            </a:solidFill>
            <a:prstDash val="solid"/>
          </a:ln>
        </p:spPr>
      </p:sp>
      <p:sp>
        <p:nvSpPr>
          <p:cNvPr id="72" name="!!d64"/>
          <p:cNvSpPr/>
          <p:nvPr/>
        </p:nvSpPr>
        <p:spPr>
          <a:xfrm>
            <a:off x="2240280" y="3977640"/>
            <a:ext cx="292608" cy="292608"/>
          </a:xfrm>
          <a:prstGeom prst="ellipse">
            <a:avLst/>
          </a:prstGeom>
          <a:solidFill>
            <a:srgbClr val="D5DCE5"/>
          </a:solidFill>
          <a:ln w="6350">
            <a:solidFill>
              <a:srgbClr val="D5DCE5"/>
            </a:solidFill>
            <a:prstDash val="solid"/>
          </a:ln>
        </p:spPr>
      </p:sp>
      <p:sp>
        <p:nvSpPr>
          <p:cNvPr id="73" name="!!d65"/>
          <p:cNvSpPr/>
          <p:nvPr/>
        </p:nvSpPr>
        <p:spPr>
          <a:xfrm>
            <a:off x="2606040" y="3977640"/>
            <a:ext cx="292608" cy="292608"/>
          </a:xfrm>
          <a:prstGeom prst="ellipse">
            <a:avLst/>
          </a:prstGeom>
          <a:solidFill>
            <a:srgbClr val="D5DCE5"/>
          </a:solidFill>
          <a:ln w="6350">
            <a:solidFill>
              <a:srgbClr val="D5DCE5"/>
            </a:solidFill>
            <a:prstDash val="solid"/>
          </a:ln>
        </p:spPr>
      </p:sp>
      <p:sp>
        <p:nvSpPr>
          <p:cNvPr id="74" name="!!d66"/>
          <p:cNvSpPr/>
          <p:nvPr/>
        </p:nvSpPr>
        <p:spPr>
          <a:xfrm>
            <a:off x="2971800" y="3977640"/>
            <a:ext cx="292608" cy="292608"/>
          </a:xfrm>
          <a:prstGeom prst="ellipse">
            <a:avLst/>
          </a:prstGeom>
          <a:solidFill>
            <a:srgbClr val="D5DCE5"/>
          </a:solidFill>
          <a:ln w="6350">
            <a:solidFill>
              <a:srgbClr val="D5DCE5"/>
            </a:solidFill>
            <a:prstDash val="solid"/>
          </a:ln>
        </p:spPr>
      </p:sp>
      <p:sp>
        <p:nvSpPr>
          <p:cNvPr id="75" name="!!d67"/>
          <p:cNvSpPr/>
          <p:nvPr/>
        </p:nvSpPr>
        <p:spPr>
          <a:xfrm>
            <a:off x="3337560" y="3977640"/>
            <a:ext cx="292608" cy="292608"/>
          </a:xfrm>
          <a:prstGeom prst="ellipse">
            <a:avLst/>
          </a:prstGeom>
          <a:solidFill>
            <a:srgbClr val="D5DCE5"/>
          </a:solidFill>
          <a:ln w="6350">
            <a:solidFill>
              <a:srgbClr val="D5DCE5"/>
            </a:solidFill>
            <a:prstDash val="solid"/>
          </a:ln>
        </p:spPr>
      </p:sp>
      <p:sp>
        <p:nvSpPr>
          <p:cNvPr id="76" name="!!d68"/>
          <p:cNvSpPr/>
          <p:nvPr/>
        </p:nvSpPr>
        <p:spPr>
          <a:xfrm>
            <a:off x="3703320" y="3977640"/>
            <a:ext cx="292608" cy="292608"/>
          </a:xfrm>
          <a:prstGeom prst="ellipse">
            <a:avLst/>
          </a:prstGeom>
          <a:solidFill>
            <a:srgbClr val="D5DCE5"/>
          </a:solidFill>
          <a:ln w="6350">
            <a:solidFill>
              <a:srgbClr val="D5DCE5"/>
            </a:solidFill>
            <a:prstDash val="solid"/>
          </a:ln>
        </p:spPr>
      </p:sp>
      <p:sp>
        <p:nvSpPr>
          <p:cNvPr id="77" name="!!d69"/>
          <p:cNvSpPr/>
          <p:nvPr/>
        </p:nvSpPr>
        <p:spPr>
          <a:xfrm>
            <a:off x="4069080" y="3977640"/>
            <a:ext cx="292608" cy="292608"/>
          </a:xfrm>
          <a:prstGeom prst="ellipse">
            <a:avLst/>
          </a:prstGeom>
          <a:solidFill>
            <a:srgbClr val="D5DCE5"/>
          </a:solidFill>
          <a:ln w="6350">
            <a:solidFill>
              <a:srgbClr val="D5DCE5"/>
            </a:solidFill>
            <a:prstDash val="solid"/>
          </a:ln>
        </p:spPr>
      </p:sp>
      <p:sp>
        <p:nvSpPr>
          <p:cNvPr id="78" name="!!d70"/>
          <p:cNvSpPr/>
          <p:nvPr/>
        </p:nvSpPr>
        <p:spPr>
          <a:xfrm>
            <a:off x="777240" y="4343400"/>
            <a:ext cx="292608" cy="292608"/>
          </a:xfrm>
          <a:prstGeom prst="ellipse">
            <a:avLst/>
          </a:prstGeom>
          <a:solidFill>
            <a:srgbClr val="D5DCE5"/>
          </a:solidFill>
          <a:ln w="6350">
            <a:solidFill>
              <a:srgbClr val="D5DCE5"/>
            </a:solidFill>
            <a:prstDash val="solid"/>
          </a:ln>
        </p:spPr>
      </p:sp>
      <p:sp>
        <p:nvSpPr>
          <p:cNvPr id="79" name="!!d71"/>
          <p:cNvSpPr/>
          <p:nvPr/>
        </p:nvSpPr>
        <p:spPr>
          <a:xfrm>
            <a:off x="1143000" y="4343400"/>
            <a:ext cx="292608" cy="292608"/>
          </a:xfrm>
          <a:prstGeom prst="ellipse">
            <a:avLst/>
          </a:prstGeom>
          <a:solidFill>
            <a:srgbClr val="D5DCE5"/>
          </a:solidFill>
          <a:ln w="6350">
            <a:solidFill>
              <a:srgbClr val="D5DCE5"/>
            </a:solidFill>
            <a:prstDash val="solid"/>
          </a:ln>
        </p:spPr>
      </p:sp>
      <p:sp>
        <p:nvSpPr>
          <p:cNvPr id="80" name="!!d72"/>
          <p:cNvSpPr/>
          <p:nvPr/>
        </p:nvSpPr>
        <p:spPr>
          <a:xfrm>
            <a:off x="1508760" y="4343400"/>
            <a:ext cx="292608" cy="292608"/>
          </a:xfrm>
          <a:prstGeom prst="ellipse">
            <a:avLst/>
          </a:prstGeom>
          <a:solidFill>
            <a:srgbClr val="D5DCE5"/>
          </a:solidFill>
          <a:ln w="6350">
            <a:solidFill>
              <a:srgbClr val="D5DCE5"/>
            </a:solidFill>
            <a:prstDash val="solid"/>
          </a:ln>
        </p:spPr>
      </p:sp>
      <p:sp>
        <p:nvSpPr>
          <p:cNvPr id="81" name="!!d73"/>
          <p:cNvSpPr/>
          <p:nvPr/>
        </p:nvSpPr>
        <p:spPr>
          <a:xfrm>
            <a:off x="1874520" y="4343400"/>
            <a:ext cx="292608" cy="292608"/>
          </a:xfrm>
          <a:prstGeom prst="ellipse">
            <a:avLst/>
          </a:prstGeom>
          <a:solidFill>
            <a:srgbClr val="D5DCE5"/>
          </a:solidFill>
          <a:ln w="6350">
            <a:solidFill>
              <a:srgbClr val="D5DCE5"/>
            </a:solidFill>
            <a:prstDash val="solid"/>
          </a:ln>
        </p:spPr>
      </p:sp>
      <p:sp>
        <p:nvSpPr>
          <p:cNvPr id="82" name="!!d74"/>
          <p:cNvSpPr/>
          <p:nvPr/>
        </p:nvSpPr>
        <p:spPr>
          <a:xfrm>
            <a:off x="2240280" y="4343400"/>
            <a:ext cx="292608" cy="292608"/>
          </a:xfrm>
          <a:prstGeom prst="ellipse">
            <a:avLst/>
          </a:prstGeom>
          <a:solidFill>
            <a:srgbClr val="D5DCE5"/>
          </a:solidFill>
          <a:ln w="6350">
            <a:solidFill>
              <a:srgbClr val="D5DCE5"/>
            </a:solidFill>
            <a:prstDash val="solid"/>
          </a:ln>
        </p:spPr>
      </p:sp>
      <p:sp>
        <p:nvSpPr>
          <p:cNvPr id="83" name="!!d75"/>
          <p:cNvSpPr/>
          <p:nvPr/>
        </p:nvSpPr>
        <p:spPr>
          <a:xfrm>
            <a:off x="2606040" y="4343400"/>
            <a:ext cx="292608" cy="292608"/>
          </a:xfrm>
          <a:prstGeom prst="ellipse">
            <a:avLst/>
          </a:prstGeom>
          <a:solidFill>
            <a:srgbClr val="D5DCE5"/>
          </a:solidFill>
          <a:ln w="6350">
            <a:solidFill>
              <a:srgbClr val="D5DCE5"/>
            </a:solidFill>
            <a:prstDash val="solid"/>
          </a:ln>
        </p:spPr>
      </p:sp>
      <p:sp>
        <p:nvSpPr>
          <p:cNvPr id="84" name="!!d76"/>
          <p:cNvSpPr/>
          <p:nvPr/>
        </p:nvSpPr>
        <p:spPr>
          <a:xfrm>
            <a:off x="2971800" y="4343400"/>
            <a:ext cx="292608" cy="292608"/>
          </a:xfrm>
          <a:prstGeom prst="ellipse">
            <a:avLst/>
          </a:prstGeom>
          <a:solidFill>
            <a:srgbClr val="D5DCE5"/>
          </a:solidFill>
          <a:ln w="6350">
            <a:solidFill>
              <a:srgbClr val="D5DCE5"/>
            </a:solidFill>
            <a:prstDash val="solid"/>
          </a:ln>
        </p:spPr>
      </p:sp>
      <p:sp>
        <p:nvSpPr>
          <p:cNvPr id="85" name="!!d77"/>
          <p:cNvSpPr/>
          <p:nvPr/>
        </p:nvSpPr>
        <p:spPr>
          <a:xfrm>
            <a:off x="3337560" y="4343400"/>
            <a:ext cx="292608" cy="292608"/>
          </a:xfrm>
          <a:prstGeom prst="ellipse">
            <a:avLst/>
          </a:prstGeom>
          <a:solidFill>
            <a:srgbClr val="D5DCE5"/>
          </a:solidFill>
          <a:ln w="6350">
            <a:solidFill>
              <a:srgbClr val="D5DCE5"/>
            </a:solidFill>
            <a:prstDash val="solid"/>
          </a:ln>
        </p:spPr>
      </p:sp>
      <p:sp>
        <p:nvSpPr>
          <p:cNvPr id="86" name="!!d78"/>
          <p:cNvSpPr/>
          <p:nvPr/>
        </p:nvSpPr>
        <p:spPr>
          <a:xfrm>
            <a:off x="3703320" y="4343400"/>
            <a:ext cx="292608" cy="292608"/>
          </a:xfrm>
          <a:prstGeom prst="ellipse">
            <a:avLst/>
          </a:prstGeom>
          <a:solidFill>
            <a:srgbClr val="D5DCE5"/>
          </a:solidFill>
          <a:ln w="6350">
            <a:solidFill>
              <a:srgbClr val="D5DCE5"/>
            </a:solidFill>
            <a:prstDash val="solid"/>
          </a:ln>
        </p:spPr>
      </p:sp>
      <p:sp>
        <p:nvSpPr>
          <p:cNvPr id="87" name="!!d79"/>
          <p:cNvSpPr/>
          <p:nvPr/>
        </p:nvSpPr>
        <p:spPr>
          <a:xfrm>
            <a:off x="4069080" y="4343400"/>
            <a:ext cx="292608" cy="292608"/>
          </a:xfrm>
          <a:prstGeom prst="ellipse">
            <a:avLst/>
          </a:prstGeom>
          <a:solidFill>
            <a:srgbClr val="D5DCE5"/>
          </a:solidFill>
          <a:ln w="6350">
            <a:solidFill>
              <a:srgbClr val="D5DCE5"/>
            </a:solidFill>
            <a:prstDash val="solid"/>
          </a:ln>
        </p:spPr>
      </p:sp>
      <p:sp>
        <p:nvSpPr>
          <p:cNvPr id="88" name="!!d80"/>
          <p:cNvSpPr/>
          <p:nvPr/>
        </p:nvSpPr>
        <p:spPr>
          <a:xfrm>
            <a:off x="777240" y="4709160"/>
            <a:ext cx="292608" cy="292608"/>
          </a:xfrm>
          <a:prstGeom prst="ellipse">
            <a:avLst/>
          </a:prstGeom>
          <a:solidFill>
            <a:srgbClr val="D5DCE5"/>
          </a:solidFill>
          <a:ln w="6350">
            <a:solidFill>
              <a:srgbClr val="D5DCE5"/>
            </a:solidFill>
            <a:prstDash val="solid"/>
          </a:ln>
        </p:spPr>
      </p:sp>
      <p:sp>
        <p:nvSpPr>
          <p:cNvPr id="89" name="!!d81"/>
          <p:cNvSpPr/>
          <p:nvPr/>
        </p:nvSpPr>
        <p:spPr>
          <a:xfrm>
            <a:off x="1143000" y="4709160"/>
            <a:ext cx="292608" cy="292608"/>
          </a:xfrm>
          <a:prstGeom prst="ellipse">
            <a:avLst/>
          </a:prstGeom>
          <a:solidFill>
            <a:srgbClr val="D5DCE5"/>
          </a:solidFill>
          <a:ln w="6350">
            <a:solidFill>
              <a:srgbClr val="D5DCE5"/>
            </a:solidFill>
            <a:prstDash val="solid"/>
          </a:ln>
        </p:spPr>
      </p:sp>
      <p:sp>
        <p:nvSpPr>
          <p:cNvPr id="90" name="!!d82"/>
          <p:cNvSpPr/>
          <p:nvPr/>
        </p:nvSpPr>
        <p:spPr>
          <a:xfrm>
            <a:off x="1508760" y="4709160"/>
            <a:ext cx="292608" cy="292608"/>
          </a:xfrm>
          <a:prstGeom prst="ellipse">
            <a:avLst/>
          </a:prstGeom>
          <a:solidFill>
            <a:srgbClr val="D5DCE5"/>
          </a:solidFill>
          <a:ln w="6350">
            <a:solidFill>
              <a:srgbClr val="D5DCE5"/>
            </a:solidFill>
            <a:prstDash val="solid"/>
          </a:ln>
        </p:spPr>
      </p:sp>
      <p:sp>
        <p:nvSpPr>
          <p:cNvPr id="91" name="!!d83"/>
          <p:cNvSpPr/>
          <p:nvPr/>
        </p:nvSpPr>
        <p:spPr>
          <a:xfrm>
            <a:off x="1874520" y="4709160"/>
            <a:ext cx="292608" cy="292608"/>
          </a:xfrm>
          <a:prstGeom prst="ellipse">
            <a:avLst/>
          </a:prstGeom>
          <a:solidFill>
            <a:srgbClr val="D5DCE5"/>
          </a:solidFill>
          <a:ln w="6350">
            <a:solidFill>
              <a:srgbClr val="D5DCE5"/>
            </a:solidFill>
            <a:prstDash val="solid"/>
          </a:ln>
        </p:spPr>
      </p:sp>
      <p:sp>
        <p:nvSpPr>
          <p:cNvPr id="92" name="!!d84"/>
          <p:cNvSpPr/>
          <p:nvPr/>
        </p:nvSpPr>
        <p:spPr>
          <a:xfrm>
            <a:off x="2240280" y="4709160"/>
            <a:ext cx="292608" cy="292608"/>
          </a:xfrm>
          <a:prstGeom prst="ellipse">
            <a:avLst/>
          </a:prstGeom>
          <a:solidFill>
            <a:srgbClr val="D5DCE5"/>
          </a:solidFill>
          <a:ln w="6350">
            <a:solidFill>
              <a:srgbClr val="D5DCE5"/>
            </a:solidFill>
            <a:prstDash val="solid"/>
          </a:ln>
        </p:spPr>
      </p:sp>
      <p:sp>
        <p:nvSpPr>
          <p:cNvPr id="93" name="!!d85"/>
          <p:cNvSpPr/>
          <p:nvPr/>
        </p:nvSpPr>
        <p:spPr>
          <a:xfrm>
            <a:off x="2606040" y="4709160"/>
            <a:ext cx="292608" cy="292608"/>
          </a:xfrm>
          <a:prstGeom prst="ellipse">
            <a:avLst/>
          </a:prstGeom>
          <a:solidFill>
            <a:srgbClr val="D5DCE5"/>
          </a:solidFill>
          <a:ln w="6350">
            <a:solidFill>
              <a:srgbClr val="D5DCE5"/>
            </a:solidFill>
            <a:prstDash val="solid"/>
          </a:ln>
        </p:spPr>
      </p:sp>
      <p:sp>
        <p:nvSpPr>
          <p:cNvPr id="94" name="!!d86"/>
          <p:cNvSpPr/>
          <p:nvPr/>
        </p:nvSpPr>
        <p:spPr>
          <a:xfrm>
            <a:off x="2971800" y="4709160"/>
            <a:ext cx="292608" cy="292608"/>
          </a:xfrm>
          <a:prstGeom prst="ellipse">
            <a:avLst/>
          </a:prstGeom>
          <a:solidFill>
            <a:srgbClr val="D5DCE5"/>
          </a:solidFill>
          <a:ln w="6350">
            <a:solidFill>
              <a:srgbClr val="D5DCE5"/>
            </a:solidFill>
            <a:prstDash val="solid"/>
          </a:ln>
        </p:spPr>
      </p:sp>
      <p:sp>
        <p:nvSpPr>
          <p:cNvPr id="95" name="!!d87"/>
          <p:cNvSpPr/>
          <p:nvPr/>
        </p:nvSpPr>
        <p:spPr>
          <a:xfrm>
            <a:off x="3337560" y="4709160"/>
            <a:ext cx="292608" cy="292608"/>
          </a:xfrm>
          <a:prstGeom prst="ellipse">
            <a:avLst/>
          </a:prstGeom>
          <a:solidFill>
            <a:srgbClr val="D5DCE5"/>
          </a:solidFill>
          <a:ln w="6350">
            <a:solidFill>
              <a:srgbClr val="D5DCE5"/>
            </a:solidFill>
            <a:prstDash val="solid"/>
          </a:ln>
        </p:spPr>
      </p:sp>
      <p:sp>
        <p:nvSpPr>
          <p:cNvPr id="96" name="!!d88"/>
          <p:cNvSpPr/>
          <p:nvPr/>
        </p:nvSpPr>
        <p:spPr>
          <a:xfrm>
            <a:off x="3703320" y="4709160"/>
            <a:ext cx="292608" cy="292608"/>
          </a:xfrm>
          <a:prstGeom prst="ellipse">
            <a:avLst/>
          </a:prstGeom>
          <a:solidFill>
            <a:srgbClr val="D5DCE5"/>
          </a:solidFill>
          <a:ln w="6350">
            <a:solidFill>
              <a:srgbClr val="D5DCE5"/>
            </a:solidFill>
            <a:prstDash val="solid"/>
          </a:ln>
        </p:spPr>
      </p:sp>
      <p:sp>
        <p:nvSpPr>
          <p:cNvPr id="97" name="!!d89"/>
          <p:cNvSpPr/>
          <p:nvPr/>
        </p:nvSpPr>
        <p:spPr>
          <a:xfrm>
            <a:off x="4069080" y="4709160"/>
            <a:ext cx="292608" cy="292608"/>
          </a:xfrm>
          <a:prstGeom prst="ellipse">
            <a:avLst/>
          </a:prstGeom>
          <a:solidFill>
            <a:srgbClr val="D5DCE5"/>
          </a:solidFill>
          <a:ln w="6350">
            <a:solidFill>
              <a:srgbClr val="D5DCE5"/>
            </a:solidFill>
            <a:prstDash val="solid"/>
          </a:ln>
        </p:spPr>
      </p:sp>
      <p:sp>
        <p:nvSpPr>
          <p:cNvPr id="98" name="!!d90"/>
          <p:cNvSpPr/>
          <p:nvPr/>
        </p:nvSpPr>
        <p:spPr>
          <a:xfrm>
            <a:off x="777240" y="5074920"/>
            <a:ext cx="292608" cy="292608"/>
          </a:xfrm>
          <a:prstGeom prst="ellipse">
            <a:avLst/>
          </a:prstGeom>
          <a:solidFill>
            <a:srgbClr val="D5DCE5"/>
          </a:solidFill>
          <a:ln w="6350">
            <a:solidFill>
              <a:srgbClr val="D5DCE5"/>
            </a:solidFill>
            <a:prstDash val="solid"/>
          </a:ln>
        </p:spPr>
      </p:sp>
      <p:sp>
        <p:nvSpPr>
          <p:cNvPr id="99" name="!!d91"/>
          <p:cNvSpPr/>
          <p:nvPr/>
        </p:nvSpPr>
        <p:spPr>
          <a:xfrm>
            <a:off x="1143000" y="5074920"/>
            <a:ext cx="292608" cy="292608"/>
          </a:xfrm>
          <a:prstGeom prst="ellipse">
            <a:avLst/>
          </a:prstGeom>
          <a:solidFill>
            <a:srgbClr val="D5DCE5"/>
          </a:solidFill>
          <a:ln w="6350">
            <a:solidFill>
              <a:srgbClr val="D5DCE5"/>
            </a:solidFill>
            <a:prstDash val="solid"/>
          </a:ln>
        </p:spPr>
      </p:sp>
      <p:sp>
        <p:nvSpPr>
          <p:cNvPr id="100" name="!!d92"/>
          <p:cNvSpPr/>
          <p:nvPr/>
        </p:nvSpPr>
        <p:spPr>
          <a:xfrm>
            <a:off x="1508760" y="5074920"/>
            <a:ext cx="292608" cy="292608"/>
          </a:xfrm>
          <a:prstGeom prst="ellipse">
            <a:avLst/>
          </a:prstGeom>
          <a:solidFill>
            <a:srgbClr val="D5DCE5"/>
          </a:solidFill>
          <a:ln w="6350">
            <a:solidFill>
              <a:srgbClr val="D5DCE5"/>
            </a:solidFill>
            <a:prstDash val="solid"/>
          </a:ln>
        </p:spPr>
      </p:sp>
      <p:sp>
        <p:nvSpPr>
          <p:cNvPr id="101" name="!!d93"/>
          <p:cNvSpPr/>
          <p:nvPr/>
        </p:nvSpPr>
        <p:spPr>
          <a:xfrm>
            <a:off x="1874520" y="5074920"/>
            <a:ext cx="292608" cy="292608"/>
          </a:xfrm>
          <a:prstGeom prst="ellipse">
            <a:avLst/>
          </a:prstGeom>
          <a:solidFill>
            <a:srgbClr val="D5DCE5"/>
          </a:solidFill>
          <a:ln w="6350">
            <a:solidFill>
              <a:srgbClr val="D5DCE5"/>
            </a:solidFill>
            <a:prstDash val="solid"/>
          </a:ln>
        </p:spPr>
      </p:sp>
      <p:sp>
        <p:nvSpPr>
          <p:cNvPr id="102" name="!!d94"/>
          <p:cNvSpPr/>
          <p:nvPr/>
        </p:nvSpPr>
        <p:spPr>
          <a:xfrm>
            <a:off x="2240280" y="5074920"/>
            <a:ext cx="292608" cy="292608"/>
          </a:xfrm>
          <a:prstGeom prst="ellipse">
            <a:avLst/>
          </a:prstGeom>
          <a:solidFill>
            <a:srgbClr val="D5DCE5"/>
          </a:solidFill>
          <a:ln w="6350">
            <a:solidFill>
              <a:srgbClr val="D5DCE5"/>
            </a:solidFill>
            <a:prstDash val="solid"/>
          </a:ln>
        </p:spPr>
      </p:sp>
      <p:sp>
        <p:nvSpPr>
          <p:cNvPr id="103" name="!!d95"/>
          <p:cNvSpPr/>
          <p:nvPr/>
        </p:nvSpPr>
        <p:spPr>
          <a:xfrm>
            <a:off x="2606040" y="5074920"/>
            <a:ext cx="292608" cy="292608"/>
          </a:xfrm>
          <a:prstGeom prst="ellipse">
            <a:avLst/>
          </a:prstGeom>
          <a:solidFill>
            <a:srgbClr val="D5DCE5"/>
          </a:solidFill>
          <a:ln w="6350">
            <a:solidFill>
              <a:srgbClr val="D5DCE5"/>
            </a:solidFill>
            <a:prstDash val="solid"/>
          </a:ln>
        </p:spPr>
      </p:sp>
      <p:sp>
        <p:nvSpPr>
          <p:cNvPr id="104" name="!!d96"/>
          <p:cNvSpPr/>
          <p:nvPr/>
        </p:nvSpPr>
        <p:spPr>
          <a:xfrm>
            <a:off x="2971800" y="5074920"/>
            <a:ext cx="292608" cy="292608"/>
          </a:xfrm>
          <a:prstGeom prst="ellipse">
            <a:avLst/>
          </a:prstGeom>
          <a:solidFill>
            <a:srgbClr val="D5DCE5"/>
          </a:solidFill>
          <a:ln w="6350">
            <a:solidFill>
              <a:srgbClr val="D5DCE5"/>
            </a:solidFill>
            <a:prstDash val="solid"/>
          </a:ln>
        </p:spPr>
      </p:sp>
      <p:sp>
        <p:nvSpPr>
          <p:cNvPr id="105" name="!!d97"/>
          <p:cNvSpPr/>
          <p:nvPr/>
        </p:nvSpPr>
        <p:spPr>
          <a:xfrm>
            <a:off x="3337560" y="5074920"/>
            <a:ext cx="292608" cy="292608"/>
          </a:xfrm>
          <a:prstGeom prst="ellipse">
            <a:avLst/>
          </a:prstGeom>
          <a:solidFill>
            <a:srgbClr val="D5DCE5"/>
          </a:solidFill>
          <a:ln w="6350">
            <a:solidFill>
              <a:srgbClr val="D5DCE5"/>
            </a:solidFill>
            <a:prstDash val="solid"/>
          </a:ln>
        </p:spPr>
      </p:sp>
      <p:sp>
        <p:nvSpPr>
          <p:cNvPr id="106" name="!!d98"/>
          <p:cNvSpPr/>
          <p:nvPr/>
        </p:nvSpPr>
        <p:spPr>
          <a:xfrm>
            <a:off x="3703320" y="5074920"/>
            <a:ext cx="292608" cy="292608"/>
          </a:xfrm>
          <a:prstGeom prst="ellipse">
            <a:avLst/>
          </a:prstGeom>
          <a:solidFill>
            <a:srgbClr val="D5DCE5"/>
          </a:solidFill>
          <a:ln w="6350">
            <a:solidFill>
              <a:srgbClr val="D5DCE5"/>
            </a:solidFill>
            <a:prstDash val="solid"/>
          </a:ln>
        </p:spPr>
      </p:sp>
      <p:sp>
        <p:nvSpPr>
          <p:cNvPr id="107" name="!!d99"/>
          <p:cNvSpPr/>
          <p:nvPr/>
        </p:nvSpPr>
        <p:spPr>
          <a:xfrm>
            <a:off x="4069080" y="5074920"/>
            <a:ext cx="292608" cy="292608"/>
          </a:xfrm>
          <a:prstGeom prst="ellipse">
            <a:avLst/>
          </a:prstGeom>
          <a:solidFill>
            <a:srgbClr val="D5DCE5"/>
          </a:solidFill>
          <a:ln w="6350">
            <a:solidFill>
              <a:srgbClr val="D5DCE5"/>
            </a:solidFill>
            <a:prstDash val="solid"/>
          </a:ln>
        </p:spPr>
      </p:sp>
      <p:sp>
        <p:nvSpPr>
          <p:cNvPr id="108" name="!!dotcap"/>
          <p:cNvSpPr txBox="1"/>
          <p:nvPr/>
        </p:nvSpPr>
        <p:spPr>
          <a:xfrm>
            <a:off x="777240" y="5486400"/>
            <a:ext cx="4023360"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Each dot = one patient, scanned within 3 hours of onset</a:t>
            </a:r>
            <a:endParaRPr lang="en-US" sz="1200" dirty="0"/>
          </a:p>
        </p:txBody>
      </p:sp>
      <p:sp>
        <p:nvSpPr>
          <p:cNvPr id="109" name="Shape 105"/>
          <p:cNvSpPr/>
          <p:nvPr/>
        </p:nvSpPr>
        <p:spPr>
          <a:xfrm>
            <a:off x="5669280" y="2039112"/>
            <a:ext cx="329184" cy="329184"/>
          </a:xfrm>
          <a:prstGeom prst="ellipse">
            <a:avLst/>
          </a:prstGeom>
          <a:solidFill>
            <a:srgbClr val="8E1B1F"/>
          </a:solidFill>
          <a:ln w="6350">
            <a:solidFill>
              <a:srgbClr val="8E1B1F"/>
            </a:solidFill>
            <a:prstDash val="solid"/>
          </a:ln>
        </p:spPr>
      </p:sp>
      <p:sp>
        <p:nvSpPr>
          <p:cNvPr id="110" name="Text 106"/>
          <p:cNvSpPr txBox="1"/>
          <p:nvPr/>
        </p:nvSpPr>
        <p:spPr>
          <a:xfrm>
            <a:off x="6217920" y="1965960"/>
            <a:ext cx="5425135" cy="475488"/>
          </a:xfrm>
          <a:prstGeom prst="rect">
            <a:avLst/>
          </a:prstGeom>
          <a:noFill/>
          <a:ln/>
        </p:spPr>
        <p:txBody>
          <a:bodyPr wrap="square" lIns="0" tIns="0" rIns="0" bIns="0" rtlCol="0" anchor="ctr"/>
          <a:lstStyle/>
          <a:p>
            <a:pPr indent="0" marL="0">
              <a:buNone/>
            </a:pPr>
            <a:r>
              <a:rPr lang="en-US" sz="2200" dirty="0">
                <a:solidFill>
                  <a:srgbClr val="1B2230"/>
                </a:solidFill>
                <a:latin typeface="Calibri" pitchFamily="34" charset="0"/>
                <a:ea typeface="Calibri" pitchFamily="34" charset="-122"/>
                <a:cs typeface="Calibri" pitchFamily="34" charset="-120"/>
              </a:rPr>
              <a:t>26 grew within the first hour</a:t>
            </a:r>
            <a:endParaRPr lang="en-US" sz="2200" dirty="0"/>
          </a:p>
        </p:txBody>
      </p:sp>
      <p:sp>
        <p:nvSpPr>
          <p:cNvPr id="111" name="Shape 107"/>
          <p:cNvSpPr/>
          <p:nvPr/>
        </p:nvSpPr>
        <p:spPr>
          <a:xfrm>
            <a:off x="5669280" y="2679192"/>
            <a:ext cx="329184" cy="329184"/>
          </a:xfrm>
          <a:prstGeom prst="ellipse">
            <a:avLst/>
          </a:prstGeom>
          <a:solidFill>
            <a:srgbClr val="E88A8E"/>
          </a:solidFill>
          <a:ln w="6350">
            <a:solidFill>
              <a:srgbClr val="E88A8E"/>
            </a:solidFill>
            <a:prstDash val="solid"/>
          </a:ln>
        </p:spPr>
      </p:sp>
      <p:sp>
        <p:nvSpPr>
          <p:cNvPr id="112" name="Text 108"/>
          <p:cNvSpPr txBox="1"/>
          <p:nvPr/>
        </p:nvSpPr>
        <p:spPr>
          <a:xfrm>
            <a:off x="6217920" y="2606040"/>
            <a:ext cx="5425135" cy="475488"/>
          </a:xfrm>
          <a:prstGeom prst="rect">
            <a:avLst/>
          </a:prstGeom>
          <a:noFill/>
          <a:ln/>
        </p:spPr>
        <p:txBody>
          <a:bodyPr wrap="square" lIns="0" tIns="0" rIns="0" bIns="0" rtlCol="0" anchor="ctr"/>
          <a:lstStyle/>
          <a:p>
            <a:pPr indent="0" marL="0">
              <a:buNone/>
            </a:pPr>
            <a:r>
              <a:rPr lang="en-US" sz="2200" dirty="0">
                <a:solidFill>
                  <a:srgbClr val="1B2230"/>
                </a:solidFill>
                <a:latin typeface="Calibri" pitchFamily="34" charset="0"/>
                <a:ea typeface="Calibri" pitchFamily="34" charset="-122"/>
                <a:cs typeface="Calibri" pitchFamily="34" charset="-120"/>
              </a:rPr>
              <a:t>12 more grew within 20 hours</a:t>
            </a:r>
            <a:endParaRPr lang="en-US" sz="2200" dirty="0"/>
          </a:p>
        </p:txBody>
      </p:sp>
      <p:sp>
        <p:nvSpPr>
          <p:cNvPr id="113" name="Shape 109"/>
          <p:cNvSpPr/>
          <p:nvPr/>
        </p:nvSpPr>
        <p:spPr>
          <a:xfrm>
            <a:off x="5669280" y="3319272"/>
            <a:ext cx="329184" cy="329184"/>
          </a:xfrm>
          <a:prstGeom prst="ellipse">
            <a:avLst/>
          </a:prstGeom>
          <a:solidFill>
            <a:srgbClr val="D5DCE5"/>
          </a:solidFill>
          <a:ln w="6350">
            <a:solidFill>
              <a:srgbClr val="D5DCE5"/>
            </a:solidFill>
            <a:prstDash val="solid"/>
          </a:ln>
        </p:spPr>
      </p:sp>
      <p:sp>
        <p:nvSpPr>
          <p:cNvPr id="114" name="Text 110"/>
          <p:cNvSpPr txBox="1"/>
          <p:nvPr/>
        </p:nvSpPr>
        <p:spPr>
          <a:xfrm>
            <a:off x="6217920" y="3246120"/>
            <a:ext cx="5425135" cy="475488"/>
          </a:xfrm>
          <a:prstGeom prst="rect">
            <a:avLst/>
          </a:prstGeom>
          <a:noFill/>
          <a:ln/>
        </p:spPr>
        <p:txBody>
          <a:bodyPr wrap="square" lIns="0" tIns="0" rIns="0" bIns="0" rtlCol="0" anchor="ctr"/>
          <a:lstStyle/>
          <a:p>
            <a:pPr indent="0" marL="0">
              <a:buNone/>
            </a:pPr>
            <a:r>
              <a:rPr lang="en-US" sz="2200" dirty="0">
                <a:solidFill>
                  <a:srgbClr val="1B2230"/>
                </a:solidFill>
                <a:latin typeface="Calibri" pitchFamily="34" charset="0"/>
                <a:ea typeface="Calibri" pitchFamily="34" charset="-122"/>
                <a:cs typeface="Calibri" pitchFamily="34" charset="-120"/>
              </a:rPr>
              <a:t>62 did not grow substantially</a:t>
            </a:r>
            <a:endParaRPr lang="en-US" sz="2200" dirty="0"/>
          </a:p>
        </p:txBody>
      </p:sp>
      <p:sp>
        <p:nvSpPr>
          <p:cNvPr id="115" name="Shape 111"/>
          <p:cNvSpPr/>
          <p:nvPr/>
        </p:nvSpPr>
        <p:spPr>
          <a:xfrm>
            <a:off x="5669280" y="4069080"/>
            <a:ext cx="5973775" cy="1691640"/>
          </a:xfrm>
          <a:prstGeom prst="roundRect">
            <a:avLst>
              <a:gd name="adj" fmla="val 5405"/>
            </a:avLst>
          </a:prstGeom>
          <a:solidFill>
            <a:srgbClr val="13233A"/>
          </a:solidFill>
          <a:ln w="6350">
            <a:solidFill>
              <a:srgbClr val="13233A"/>
            </a:solidFill>
            <a:prstDash val="solid"/>
          </a:ln>
        </p:spPr>
      </p:sp>
      <p:sp>
        <p:nvSpPr>
          <p:cNvPr id="116" name="Text 112"/>
          <p:cNvSpPr txBox="1"/>
          <p:nvPr/>
        </p:nvSpPr>
        <p:spPr>
          <a:xfrm>
            <a:off x="6035040" y="4069080"/>
            <a:ext cx="5242255" cy="1691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Jill: four hours</a:t>
            </a:r>
            <a:endParaRPr lang="en-US" sz="2400" dirty="0"/>
          </a:p>
          <a:p>
            <a:pPr indent="0" marL="0">
              <a:buNone/>
            </a:pPr>
            <a:r>
              <a:rPr lang="en-US" sz="2400" dirty="0">
                <a:solidFill>
                  <a:srgbClr val="C9D3E0"/>
                </a:solidFill>
                <a:latin typeface="Calibri" pitchFamily="34" charset="0"/>
                <a:ea typeface="Calibri" pitchFamily="34" charset="-122"/>
                <a:cs typeface="Calibri" pitchFamily="34" charset="-120"/>
              </a:rPr>
              <a:t>from headache to losing her speech</a:t>
            </a:r>
            <a:endParaRPr lang="en-US" sz="2400" dirty="0"/>
          </a:p>
        </p:txBody>
      </p:sp>
      <p:sp>
        <p:nvSpPr>
          <p:cNvPr id="117" name="Text 113"/>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Growth &gt; 33%, n = 103 (Brott et al., 1997). Every 10% of growth: +5% hazard of death (Davis et al., 2006).</a:t>
            </a:r>
            <a:endParaRPr lang="en-US" sz="1200" dirty="0"/>
          </a:p>
        </p:txBody>
      </p:sp>
      <p:sp>
        <p:nvSpPr>
          <p:cNvPr id="118" name="Text 114"/>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19"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120"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21" name="trk1"/>
          <p:cNvSpPr/>
          <p:nvPr/>
        </p:nvSpPr>
        <p:spPr>
          <a:xfrm>
            <a:off x="8211312" y="6460236"/>
            <a:ext cx="128016" cy="128016"/>
          </a:xfrm>
          <a:prstGeom prst="ellipse">
            <a:avLst/>
          </a:prstGeom>
          <a:solidFill>
            <a:srgbClr val="C1272D"/>
          </a:solidFill>
          <a:ln w="6350">
            <a:solidFill>
              <a:srgbClr val="C1272D"/>
            </a:solidFill>
            <a:prstDash val="solid"/>
          </a:ln>
        </p:spPr>
      </p:sp>
      <p:sp>
        <p:nvSpPr>
          <p:cNvPr id="122"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Hours</a:t>
            </a:r>
            <a:endParaRPr lang="en-US" sz="1100" dirty="0"/>
          </a:p>
        </p:txBody>
      </p:sp>
      <p:sp>
        <p:nvSpPr>
          <p:cNvPr id="123"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124"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125"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126"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127"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19</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33A"/>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F08A8E"/>
                </a:solidFill>
                <a:latin typeface="Calibri" pitchFamily="34" charset="0"/>
                <a:ea typeface="Calibri" pitchFamily="34" charset="-122"/>
                <a:cs typeface="Calibri" pitchFamily="34" charset="-120"/>
              </a:rPr>
              <a:t>02 · THE FIRST HOURS</a:t>
            </a:r>
            <a:endParaRPr lang="en-US" sz="1400" dirty="0"/>
          </a:p>
        </p:txBody>
      </p:sp>
      <p:sp>
        <p:nvSpPr>
          <p:cNvPr id="4" name="Shape 1"/>
          <p:cNvSpPr/>
          <p:nvPr/>
        </p:nvSpPr>
        <p:spPr>
          <a:xfrm>
            <a:off x="8706002" y="356616"/>
            <a:ext cx="2937053" cy="347472"/>
          </a:xfrm>
          <a:prstGeom prst="roundRect">
            <a:avLst>
              <a:gd name="adj" fmla="val 50000"/>
            </a:avLst>
          </a:prstGeom>
          <a:solidFill>
            <a:srgbClr val="1E3350"/>
          </a:solidFill>
          <a:ln w="6350">
            <a:solidFill>
              <a:srgbClr val="1E3350"/>
            </a:solidFill>
            <a:prstDash val="solid"/>
          </a:ln>
        </p:spPr>
      </p:sp>
      <p:pic>
        <p:nvPicPr>
          <p:cNvPr id="5" name="Image 0" descr="preencoded.png">    </p:cNvPr>
          <p:cNvPicPr>
            <a:picLocks noChangeAspect="1"/>
          </p:cNvPicPr>
          <p:nvPr/>
        </p:nvPicPr>
        <p:blipFill>
          <a:blip r:embed="rId1"/>
          <a:stretch>
            <a:fillRect/>
          </a:stretch>
        </p:blipFill>
        <p:spPr>
          <a:xfrm>
            <a:off x="8861450" y="443484"/>
            <a:ext cx="173736" cy="173736"/>
          </a:xfrm>
          <a:prstGeom prst="rect">
            <a:avLst/>
          </a:prstGeom>
        </p:spPr>
      </p:pic>
      <p:sp>
        <p:nvSpPr>
          <p:cNvPr id="6" name="Text 2"/>
          <p:cNvSpPr txBox="1"/>
          <p:nvPr/>
        </p:nvSpPr>
        <p:spPr>
          <a:xfrm>
            <a:off x="9108338" y="356616"/>
            <a:ext cx="2461565" cy="347472"/>
          </a:xfrm>
          <a:prstGeom prst="rect">
            <a:avLst/>
          </a:prstGeom>
          <a:noFill/>
          <a:ln/>
        </p:spPr>
        <p:txBody>
          <a:bodyPr wrap="square" lIns="0" tIns="0" rIns="0" bIns="0" rtlCol="0" anchor="ctr"/>
          <a:lstStyle/>
          <a:p>
            <a:pPr indent="0" marL="0">
              <a:buNone/>
            </a:pPr>
            <a:r>
              <a:rPr lang="en-US" sz="1300" b="1" dirty="0">
                <a:solidFill>
                  <a:srgbClr val="C9D3E0"/>
                </a:solidFill>
                <a:latin typeface="Calibri" pitchFamily="34" charset="0"/>
                <a:ea typeface="Calibri" pitchFamily="34" charset="-122"/>
                <a:cs typeface="Calibri" pitchFamily="34" charset="-120"/>
              </a:rPr>
              <a:t>Cohort · n = 188 · 1990s care</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Jill's clot was the size of a golf ball</a:t>
            </a:r>
            <a:endParaRPr lang="en-US" sz="4000" dirty="0"/>
          </a:p>
        </p:txBody>
      </p:sp>
      <p:sp>
        <p:nvSpPr>
          <p:cNvPr id="8" name="Shape 4"/>
          <p:cNvSpPr/>
          <p:nvPr/>
        </p:nvSpPr>
        <p:spPr>
          <a:xfrm>
            <a:off x="1495889" y="2135969"/>
            <a:ext cx="3226142" cy="3226142"/>
          </a:xfrm>
          <a:prstGeom prst="ellipse">
            <a:avLst/>
          </a:prstGeom>
          <a:solidFill>
            <a:srgbClr val="FFFFFF">
              <a:alpha val="0"/>
            </a:srgbClr>
          </a:solidFill>
          <a:ln w="25400">
            <a:solidFill>
              <a:srgbClr val="F08A8E"/>
            </a:solidFill>
            <a:prstDash val="dash"/>
          </a:ln>
        </p:spPr>
      </p:sp>
      <p:sp>
        <p:nvSpPr>
          <p:cNvPr id="9" name="Shape 5"/>
          <p:cNvSpPr/>
          <p:nvPr/>
        </p:nvSpPr>
        <p:spPr>
          <a:xfrm>
            <a:off x="1918411" y="4996282"/>
            <a:ext cx="2381098" cy="396850"/>
          </a:xfrm>
          <a:prstGeom prst="ellipse">
            <a:avLst/>
          </a:prstGeom>
          <a:solidFill>
            <a:srgbClr val="000000">
              <a:alpha val="45000"/>
            </a:srgbClr>
          </a:solidFill>
          <a:ln w="6350">
            <a:solidFill>
              <a:srgbClr val="000000">
                <a:alpha val="0"/>
              </a:srgbClr>
            </a:solidFill>
            <a:prstDash val="solid"/>
          </a:ln>
        </p:spPr>
      </p:sp>
      <p:sp>
        <p:nvSpPr>
          <p:cNvPr id="10" name="Shape 6"/>
          <p:cNvSpPr/>
          <p:nvPr/>
        </p:nvSpPr>
        <p:spPr>
          <a:xfrm>
            <a:off x="1691640" y="2331720"/>
            <a:ext cx="2834640" cy="2834640"/>
          </a:xfrm>
          <a:prstGeom prst="ellipse">
            <a:avLst/>
          </a:prstGeom>
          <a:solidFill>
            <a:srgbClr val="FAFBFC"/>
          </a:solidFill>
          <a:ln w="12700">
            <a:solidFill>
              <a:srgbClr val="D5DCE5"/>
            </a:solidFill>
            <a:prstDash val="solid"/>
          </a:ln>
        </p:spPr>
      </p:sp>
      <p:sp>
        <p:nvSpPr>
          <p:cNvPr id="11" name="Shape 7"/>
          <p:cNvSpPr/>
          <p:nvPr/>
        </p:nvSpPr>
        <p:spPr>
          <a:xfrm>
            <a:off x="2722403" y="2589193"/>
            <a:ext cx="149494" cy="149494"/>
          </a:xfrm>
          <a:prstGeom prst="ellipse">
            <a:avLst/>
          </a:prstGeom>
          <a:solidFill>
            <a:srgbClr val="DCE2EA"/>
          </a:solidFill>
          <a:ln w="6350">
            <a:solidFill>
              <a:srgbClr val="DCE2EA"/>
            </a:solidFill>
            <a:prstDash val="solid"/>
          </a:ln>
        </p:spPr>
      </p:sp>
      <p:sp>
        <p:nvSpPr>
          <p:cNvPr id="12" name="Shape 8"/>
          <p:cNvSpPr/>
          <p:nvPr/>
        </p:nvSpPr>
        <p:spPr>
          <a:xfrm>
            <a:off x="3031806" y="2586786"/>
            <a:ext cx="154307" cy="154307"/>
          </a:xfrm>
          <a:prstGeom prst="ellipse">
            <a:avLst/>
          </a:prstGeom>
          <a:solidFill>
            <a:srgbClr val="DCE2EA"/>
          </a:solidFill>
          <a:ln w="6350">
            <a:solidFill>
              <a:srgbClr val="DCE2EA"/>
            </a:solidFill>
            <a:prstDash val="solid"/>
          </a:ln>
        </p:spPr>
      </p:sp>
      <p:sp>
        <p:nvSpPr>
          <p:cNvPr id="13" name="Shape 9"/>
          <p:cNvSpPr/>
          <p:nvPr/>
        </p:nvSpPr>
        <p:spPr>
          <a:xfrm>
            <a:off x="3346023" y="2589193"/>
            <a:ext cx="149494" cy="149494"/>
          </a:xfrm>
          <a:prstGeom prst="ellipse">
            <a:avLst/>
          </a:prstGeom>
          <a:solidFill>
            <a:srgbClr val="DCE2EA"/>
          </a:solidFill>
          <a:ln w="6350">
            <a:solidFill>
              <a:srgbClr val="DCE2EA"/>
            </a:solidFill>
            <a:prstDash val="solid"/>
          </a:ln>
        </p:spPr>
      </p:sp>
      <p:sp>
        <p:nvSpPr>
          <p:cNvPr id="14" name="Shape 10"/>
          <p:cNvSpPr/>
          <p:nvPr/>
        </p:nvSpPr>
        <p:spPr>
          <a:xfrm>
            <a:off x="2254571" y="2860352"/>
            <a:ext cx="149727" cy="149727"/>
          </a:xfrm>
          <a:prstGeom prst="ellipse">
            <a:avLst/>
          </a:prstGeom>
          <a:solidFill>
            <a:srgbClr val="DCE2EA"/>
          </a:solidFill>
          <a:ln w="6350">
            <a:solidFill>
              <a:srgbClr val="DCE2EA"/>
            </a:solidFill>
            <a:prstDash val="solid"/>
          </a:ln>
        </p:spPr>
      </p:sp>
      <p:sp>
        <p:nvSpPr>
          <p:cNvPr id="15" name="Shape 11"/>
          <p:cNvSpPr/>
          <p:nvPr/>
        </p:nvSpPr>
        <p:spPr>
          <a:xfrm>
            <a:off x="2556755" y="2850725"/>
            <a:ext cx="168980" cy="168980"/>
          </a:xfrm>
          <a:prstGeom prst="ellipse">
            <a:avLst/>
          </a:prstGeom>
          <a:solidFill>
            <a:srgbClr val="DCE2EA"/>
          </a:solidFill>
          <a:ln w="6350">
            <a:solidFill>
              <a:srgbClr val="DCE2EA"/>
            </a:solidFill>
            <a:prstDash val="solid"/>
          </a:ln>
        </p:spPr>
      </p:sp>
      <p:sp>
        <p:nvSpPr>
          <p:cNvPr id="16" name="Shape 12"/>
          <p:cNvSpPr/>
          <p:nvPr/>
        </p:nvSpPr>
        <p:spPr>
          <a:xfrm>
            <a:off x="2863752" y="2845912"/>
            <a:ext cx="178606" cy="178606"/>
          </a:xfrm>
          <a:prstGeom prst="ellipse">
            <a:avLst/>
          </a:prstGeom>
          <a:solidFill>
            <a:srgbClr val="DCE2EA"/>
          </a:solidFill>
          <a:ln w="6350">
            <a:solidFill>
              <a:srgbClr val="DCE2EA"/>
            </a:solidFill>
            <a:prstDash val="solid"/>
          </a:ln>
        </p:spPr>
      </p:sp>
      <p:sp>
        <p:nvSpPr>
          <p:cNvPr id="17" name="Shape 13"/>
          <p:cNvSpPr/>
          <p:nvPr/>
        </p:nvSpPr>
        <p:spPr>
          <a:xfrm>
            <a:off x="3175562" y="2845912"/>
            <a:ext cx="178606" cy="178606"/>
          </a:xfrm>
          <a:prstGeom prst="ellipse">
            <a:avLst/>
          </a:prstGeom>
          <a:solidFill>
            <a:srgbClr val="DCE2EA"/>
          </a:solidFill>
          <a:ln w="6350">
            <a:solidFill>
              <a:srgbClr val="DCE2EA"/>
            </a:solidFill>
            <a:prstDash val="solid"/>
          </a:ln>
        </p:spPr>
      </p:sp>
      <p:sp>
        <p:nvSpPr>
          <p:cNvPr id="18" name="Shape 14"/>
          <p:cNvSpPr/>
          <p:nvPr/>
        </p:nvSpPr>
        <p:spPr>
          <a:xfrm>
            <a:off x="3492186" y="2850725"/>
            <a:ext cx="168980" cy="168980"/>
          </a:xfrm>
          <a:prstGeom prst="ellipse">
            <a:avLst/>
          </a:prstGeom>
          <a:solidFill>
            <a:srgbClr val="DCE2EA"/>
          </a:solidFill>
          <a:ln w="6350">
            <a:solidFill>
              <a:srgbClr val="DCE2EA"/>
            </a:solidFill>
            <a:prstDash val="solid"/>
          </a:ln>
        </p:spPr>
      </p:sp>
      <p:sp>
        <p:nvSpPr>
          <p:cNvPr id="19" name="Shape 15"/>
          <p:cNvSpPr/>
          <p:nvPr/>
        </p:nvSpPr>
        <p:spPr>
          <a:xfrm>
            <a:off x="3813623" y="2860352"/>
            <a:ext cx="149727" cy="149727"/>
          </a:xfrm>
          <a:prstGeom prst="ellipse">
            <a:avLst/>
          </a:prstGeom>
          <a:solidFill>
            <a:srgbClr val="DCE2EA"/>
          </a:solidFill>
          <a:ln w="6350">
            <a:solidFill>
              <a:srgbClr val="DCE2EA"/>
            </a:solidFill>
            <a:prstDash val="solid"/>
          </a:ln>
        </p:spPr>
      </p:sp>
      <p:sp>
        <p:nvSpPr>
          <p:cNvPr id="20" name="Shape 16"/>
          <p:cNvSpPr/>
          <p:nvPr/>
        </p:nvSpPr>
        <p:spPr>
          <a:xfrm>
            <a:off x="2096176" y="3129137"/>
            <a:ext cx="154706" cy="154706"/>
          </a:xfrm>
          <a:prstGeom prst="ellipse">
            <a:avLst/>
          </a:prstGeom>
          <a:solidFill>
            <a:srgbClr val="DCE2EA"/>
          </a:solidFill>
          <a:ln w="6350">
            <a:solidFill>
              <a:srgbClr val="DCE2EA"/>
            </a:solidFill>
            <a:prstDash val="solid"/>
          </a:ln>
        </p:spPr>
      </p:sp>
      <p:sp>
        <p:nvSpPr>
          <p:cNvPr id="21" name="Shape 17"/>
          <p:cNvSpPr/>
          <p:nvPr/>
        </p:nvSpPr>
        <p:spPr>
          <a:xfrm>
            <a:off x="2395953" y="3117104"/>
            <a:ext cx="178772" cy="178772"/>
          </a:xfrm>
          <a:prstGeom prst="ellipse">
            <a:avLst/>
          </a:prstGeom>
          <a:solidFill>
            <a:srgbClr val="DCE2EA"/>
          </a:solidFill>
          <a:ln w="6350">
            <a:solidFill>
              <a:srgbClr val="DCE2EA"/>
            </a:solidFill>
            <a:prstDash val="solid"/>
          </a:ln>
        </p:spPr>
      </p:sp>
      <p:sp>
        <p:nvSpPr>
          <p:cNvPr id="22" name="Shape 18"/>
          <p:cNvSpPr/>
          <p:nvPr/>
        </p:nvSpPr>
        <p:spPr>
          <a:xfrm>
            <a:off x="2700544" y="3109884"/>
            <a:ext cx="193212" cy="193212"/>
          </a:xfrm>
          <a:prstGeom prst="ellipse">
            <a:avLst/>
          </a:prstGeom>
          <a:solidFill>
            <a:srgbClr val="DCE2EA"/>
          </a:solidFill>
          <a:ln w="6350">
            <a:solidFill>
              <a:srgbClr val="DCE2EA"/>
            </a:solidFill>
            <a:prstDash val="solid"/>
          </a:ln>
        </p:spPr>
      </p:sp>
      <p:sp>
        <p:nvSpPr>
          <p:cNvPr id="23" name="Shape 19"/>
          <p:cNvSpPr/>
          <p:nvPr/>
        </p:nvSpPr>
        <p:spPr>
          <a:xfrm>
            <a:off x="3009947" y="3107477"/>
            <a:ext cx="198025" cy="198025"/>
          </a:xfrm>
          <a:prstGeom prst="ellipse">
            <a:avLst/>
          </a:prstGeom>
          <a:solidFill>
            <a:srgbClr val="DCE2EA"/>
          </a:solidFill>
          <a:ln w="6350">
            <a:solidFill>
              <a:srgbClr val="DCE2EA"/>
            </a:solidFill>
            <a:prstDash val="solid"/>
          </a:ln>
        </p:spPr>
      </p:sp>
      <p:sp>
        <p:nvSpPr>
          <p:cNvPr id="24" name="Shape 20"/>
          <p:cNvSpPr/>
          <p:nvPr/>
        </p:nvSpPr>
        <p:spPr>
          <a:xfrm>
            <a:off x="3324164" y="3109884"/>
            <a:ext cx="193212" cy="193212"/>
          </a:xfrm>
          <a:prstGeom prst="ellipse">
            <a:avLst/>
          </a:prstGeom>
          <a:solidFill>
            <a:srgbClr val="DCE2EA"/>
          </a:solidFill>
          <a:ln w="6350">
            <a:solidFill>
              <a:srgbClr val="DCE2EA"/>
            </a:solidFill>
            <a:prstDash val="solid"/>
          </a:ln>
        </p:spPr>
      </p:sp>
      <p:sp>
        <p:nvSpPr>
          <p:cNvPr id="25" name="Shape 21"/>
          <p:cNvSpPr/>
          <p:nvPr/>
        </p:nvSpPr>
        <p:spPr>
          <a:xfrm>
            <a:off x="3643195" y="3117104"/>
            <a:ext cx="178772" cy="178772"/>
          </a:xfrm>
          <a:prstGeom prst="ellipse">
            <a:avLst/>
          </a:prstGeom>
          <a:solidFill>
            <a:srgbClr val="DCE2EA"/>
          </a:solidFill>
          <a:ln w="6350">
            <a:solidFill>
              <a:srgbClr val="DCE2EA"/>
            </a:solidFill>
            <a:prstDash val="solid"/>
          </a:ln>
        </p:spPr>
      </p:sp>
      <p:sp>
        <p:nvSpPr>
          <p:cNvPr id="26" name="Shape 22"/>
          <p:cNvSpPr/>
          <p:nvPr/>
        </p:nvSpPr>
        <p:spPr>
          <a:xfrm>
            <a:off x="3967038" y="3129137"/>
            <a:ext cx="154706" cy="154706"/>
          </a:xfrm>
          <a:prstGeom prst="ellipse">
            <a:avLst/>
          </a:prstGeom>
          <a:solidFill>
            <a:srgbClr val="DCE2EA"/>
          </a:solidFill>
          <a:ln w="6350">
            <a:solidFill>
              <a:srgbClr val="DCE2EA"/>
            </a:solidFill>
            <a:prstDash val="solid"/>
          </a:ln>
        </p:spPr>
      </p:sp>
      <p:sp>
        <p:nvSpPr>
          <p:cNvPr id="27" name="Shape 23"/>
          <p:cNvSpPr/>
          <p:nvPr/>
        </p:nvSpPr>
        <p:spPr>
          <a:xfrm>
            <a:off x="1942627" y="3402769"/>
            <a:ext cx="149992" cy="149992"/>
          </a:xfrm>
          <a:prstGeom prst="ellipse">
            <a:avLst/>
          </a:prstGeom>
          <a:solidFill>
            <a:srgbClr val="DCE2EA"/>
          </a:solidFill>
          <a:ln w="6350">
            <a:solidFill>
              <a:srgbClr val="DCE2EA"/>
            </a:solidFill>
            <a:prstDash val="solid"/>
          </a:ln>
        </p:spPr>
      </p:sp>
      <p:sp>
        <p:nvSpPr>
          <p:cNvPr id="28" name="Shape 24"/>
          <p:cNvSpPr/>
          <p:nvPr/>
        </p:nvSpPr>
        <p:spPr>
          <a:xfrm>
            <a:off x="2239998" y="3388329"/>
            <a:ext cx="178872" cy="178872"/>
          </a:xfrm>
          <a:prstGeom prst="ellipse">
            <a:avLst/>
          </a:prstGeom>
          <a:solidFill>
            <a:srgbClr val="DCE2EA"/>
          </a:solidFill>
          <a:ln w="6350">
            <a:solidFill>
              <a:srgbClr val="DCE2EA"/>
            </a:solidFill>
            <a:prstDash val="solid"/>
          </a:ln>
        </p:spPr>
      </p:sp>
      <p:sp>
        <p:nvSpPr>
          <p:cNvPr id="29" name="Shape 25"/>
          <p:cNvSpPr/>
          <p:nvPr/>
        </p:nvSpPr>
        <p:spPr>
          <a:xfrm>
            <a:off x="2542182" y="3378702"/>
            <a:ext cx="198125" cy="198125"/>
          </a:xfrm>
          <a:prstGeom prst="ellipse">
            <a:avLst/>
          </a:prstGeom>
          <a:solidFill>
            <a:srgbClr val="DCE2EA"/>
          </a:solidFill>
          <a:ln w="6350">
            <a:solidFill>
              <a:srgbClr val="DCE2EA"/>
            </a:solidFill>
            <a:prstDash val="solid"/>
          </a:ln>
        </p:spPr>
      </p:sp>
      <p:sp>
        <p:nvSpPr>
          <p:cNvPr id="30" name="Shape 26"/>
          <p:cNvSpPr/>
          <p:nvPr/>
        </p:nvSpPr>
        <p:spPr>
          <a:xfrm>
            <a:off x="2849179" y="3373889"/>
            <a:ext cx="207752" cy="207752"/>
          </a:xfrm>
          <a:prstGeom prst="ellipse">
            <a:avLst/>
          </a:prstGeom>
          <a:solidFill>
            <a:srgbClr val="DCE2EA"/>
          </a:solidFill>
          <a:ln w="6350">
            <a:solidFill>
              <a:srgbClr val="DCE2EA"/>
            </a:solidFill>
            <a:prstDash val="solid"/>
          </a:ln>
        </p:spPr>
      </p:sp>
      <p:sp>
        <p:nvSpPr>
          <p:cNvPr id="31" name="Shape 27"/>
          <p:cNvSpPr/>
          <p:nvPr/>
        </p:nvSpPr>
        <p:spPr>
          <a:xfrm>
            <a:off x="3160989" y="3373889"/>
            <a:ext cx="207752" cy="207752"/>
          </a:xfrm>
          <a:prstGeom prst="ellipse">
            <a:avLst/>
          </a:prstGeom>
          <a:solidFill>
            <a:srgbClr val="DCE2EA"/>
          </a:solidFill>
          <a:ln w="6350">
            <a:solidFill>
              <a:srgbClr val="DCE2EA"/>
            </a:solidFill>
            <a:prstDash val="solid"/>
          </a:ln>
        </p:spPr>
      </p:sp>
      <p:sp>
        <p:nvSpPr>
          <p:cNvPr id="32" name="Shape 28"/>
          <p:cNvSpPr/>
          <p:nvPr/>
        </p:nvSpPr>
        <p:spPr>
          <a:xfrm>
            <a:off x="3477613" y="3378702"/>
            <a:ext cx="198125" cy="198125"/>
          </a:xfrm>
          <a:prstGeom prst="ellipse">
            <a:avLst/>
          </a:prstGeom>
          <a:solidFill>
            <a:srgbClr val="DCE2EA"/>
          </a:solidFill>
          <a:ln w="6350">
            <a:solidFill>
              <a:srgbClr val="DCE2EA"/>
            </a:solidFill>
            <a:prstDash val="solid"/>
          </a:ln>
        </p:spPr>
      </p:sp>
      <p:sp>
        <p:nvSpPr>
          <p:cNvPr id="33" name="Shape 29"/>
          <p:cNvSpPr/>
          <p:nvPr/>
        </p:nvSpPr>
        <p:spPr>
          <a:xfrm>
            <a:off x="3799050" y="3388329"/>
            <a:ext cx="178872" cy="178872"/>
          </a:xfrm>
          <a:prstGeom prst="ellipse">
            <a:avLst/>
          </a:prstGeom>
          <a:solidFill>
            <a:srgbClr val="DCE2EA"/>
          </a:solidFill>
          <a:ln w="6350">
            <a:solidFill>
              <a:srgbClr val="DCE2EA"/>
            </a:solidFill>
            <a:prstDash val="solid"/>
          </a:ln>
        </p:spPr>
      </p:sp>
      <p:sp>
        <p:nvSpPr>
          <p:cNvPr id="34" name="Shape 30"/>
          <p:cNvSpPr/>
          <p:nvPr/>
        </p:nvSpPr>
        <p:spPr>
          <a:xfrm>
            <a:off x="4125300" y="3402769"/>
            <a:ext cx="149992" cy="149992"/>
          </a:xfrm>
          <a:prstGeom prst="ellipse">
            <a:avLst/>
          </a:prstGeom>
          <a:solidFill>
            <a:srgbClr val="DCE2EA"/>
          </a:solidFill>
          <a:ln w="6350">
            <a:solidFill>
              <a:srgbClr val="DCE2EA"/>
            </a:solidFill>
            <a:prstDash val="solid"/>
          </a:ln>
        </p:spPr>
      </p:sp>
      <p:sp>
        <p:nvSpPr>
          <p:cNvPr id="35" name="Shape 31"/>
          <p:cNvSpPr/>
          <p:nvPr/>
        </p:nvSpPr>
        <p:spPr>
          <a:xfrm>
            <a:off x="2088890" y="3664401"/>
            <a:ext cx="169279" cy="169279"/>
          </a:xfrm>
          <a:prstGeom prst="ellipse">
            <a:avLst/>
          </a:prstGeom>
          <a:solidFill>
            <a:srgbClr val="DCE2EA"/>
          </a:solidFill>
          <a:ln w="6350">
            <a:solidFill>
              <a:srgbClr val="DCE2EA"/>
            </a:solidFill>
            <a:prstDash val="solid"/>
          </a:ln>
        </p:spPr>
      </p:sp>
      <p:sp>
        <p:nvSpPr>
          <p:cNvPr id="36" name="Shape 32"/>
          <p:cNvSpPr/>
          <p:nvPr/>
        </p:nvSpPr>
        <p:spPr>
          <a:xfrm>
            <a:off x="2388667" y="3652368"/>
            <a:ext cx="193345" cy="193345"/>
          </a:xfrm>
          <a:prstGeom prst="ellipse">
            <a:avLst/>
          </a:prstGeom>
          <a:solidFill>
            <a:srgbClr val="DCE2EA"/>
          </a:solidFill>
          <a:ln w="6350">
            <a:solidFill>
              <a:srgbClr val="DCE2EA"/>
            </a:solidFill>
            <a:prstDash val="solid"/>
          </a:ln>
        </p:spPr>
      </p:sp>
      <p:sp>
        <p:nvSpPr>
          <p:cNvPr id="37" name="Shape 33"/>
          <p:cNvSpPr/>
          <p:nvPr/>
        </p:nvSpPr>
        <p:spPr>
          <a:xfrm>
            <a:off x="2693257" y="3645148"/>
            <a:ext cx="207785" cy="207785"/>
          </a:xfrm>
          <a:prstGeom prst="ellipse">
            <a:avLst/>
          </a:prstGeom>
          <a:solidFill>
            <a:srgbClr val="DCE2EA"/>
          </a:solidFill>
          <a:ln w="6350">
            <a:solidFill>
              <a:srgbClr val="DCE2EA"/>
            </a:solidFill>
            <a:prstDash val="solid"/>
          </a:ln>
        </p:spPr>
      </p:sp>
      <p:sp>
        <p:nvSpPr>
          <p:cNvPr id="38" name="Shape 34"/>
          <p:cNvSpPr/>
          <p:nvPr/>
        </p:nvSpPr>
        <p:spPr>
          <a:xfrm>
            <a:off x="3002661" y="3642741"/>
            <a:ext cx="212598" cy="212598"/>
          </a:xfrm>
          <a:prstGeom prst="ellipse">
            <a:avLst/>
          </a:prstGeom>
          <a:solidFill>
            <a:srgbClr val="DCE2EA"/>
          </a:solidFill>
          <a:ln w="6350">
            <a:solidFill>
              <a:srgbClr val="DCE2EA"/>
            </a:solidFill>
            <a:prstDash val="solid"/>
          </a:ln>
        </p:spPr>
      </p:sp>
      <p:sp>
        <p:nvSpPr>
          <p:cNvPr id="39" name="Shape 35"/>
          <p:cNvSpPr/>
          <p:nvPr/>
        </p:nvSpPr>
        <p:spPr>
          <a:xfrm>
            <a:off x="3316878" y="3645148"/>
            <a:ext cx="207785" cy="207785"/>
          </a:xfrm>
          <a:prstGeom prst="ellipse">
            <a:avLst/>
          </a:prstGeom>
          <a:solidFill>
            <a:srgbClr val="DCE2EA"/>
          </a:solidFill>
          <a:ln w="6350">
            <a:solidFill>
              <a:srgbClr val="DCE2EA"/>
            </a:solidFill>
            <a:prstDash val="solid"/>
          </a:ln>
        </p:spPr>
      </p:sp>
      <p:sp>
        <p:nvSpPr>
          <p:cNvPr id="40" name="Shape 36"/>
          <p:cNvSpPr/>
          <p:nvPr/>
        </p:nvSpPr>
        <p:spPr>
          <a:xfrm>
            <a:off x="3635908" y="3652368"/>
            <a:ext cx="193345" cy="193345"/>
          </a:xfrm>
          <a:prstGeom prst="ellipse">
            <a:avLst/>
          </a:prstGeom>
          <a:solidFill>
            <a:srgbClr val="DCE2EA"/>
          </a:solidFill>
          <a:ln w="6350">
            <a:solidFill>
              <a:srgbClr val="DCE2EA"/>
            </a:solidFill>
            <a:prstDash val="solid"/>
          </a:ln>
        </p:spPr>
      </p:sp>
      <p:sp>
        <p:nvSpPr>
          <p:cNvPr id="41" name="Shape 37"/>
          <p:cNvSpPr/>
          <p:nvPr/>
        </p:nvSpPr>
        <p:spPr>
          <a:xfrm>
            <a:off x="3959752" y="3664401"/>
            <a:ext cx="169279" cy="169279"/>
          </a:xfrm>
          <a:prstGeom prst="ellipse">
            <a:avLst/>
          </a:prstGeom>
          <a:solidFill>
            <a:srgbClr val="DCE2EA"/>
          </a:solidFill>
          <a:ln w="6350">
            <a:solidFill>
              <a:srgbClr val="DCE2EA"/>
            </a:solidFill>
            <a:prstDash val="solid"/>
          </a:ln>
        </p:spPr>
      </p:sp>
      <p:sp>
        <p:nvSpPr>
          <p:cNvPr id="42" name="Shape 38"/>
          <p:cNvSpPr/>
          <p:nvPr/>
        </p:nvSpPr>
        <p:spPr>
          <a:xfrm>
            <a:off x="1942627" y="3945319"/>
            <a:ext cx="149992" cy="149992"/>
          </a:xfrm>
          <a:prstGeom prst="ellipse">
            <a:avLst/>
          </a:prstGeom>
          <a:solidFill>
            <a:srgbClr val="DCE2EA"/>
          </a:solidFill>
          <a:ln w="6350">
            <a:solidFill>
              <a:srgbClr val="DCE2EA"/>
            </a:solidFill>
            <a:prstDash val="solid"/>
          </a:ln>
        </p:spPr>
      </p:sp>
      <p:sp>
        <p:nvSpPr>
          <p:cNvPr id="43" name="Shape 39"/>
          <p:cNvSpPr/>
          <p:nvPr/>
        </p:nvSpPr>
        <p:spPr>
          <a:xfrm>
            <a:off x="2239998" y="3930879"/>
            <a:ext cx="178872" cy="178872"/>
          </a:xfrm>
          <a:prstGeom prst="ellipse">
            <a:avLst/>
          </a:prstGeom>
          <a:solidFill>
            <a:srgbClr val="DCE2EA"/>
          </a:solidFill>
          <a:ln w="6350">
            <a:solidFill>
              <a:srgbClr val="DCE2EA"/>
            </a:solidFill>
            <a:prstDash val="solid"/>
          </a:ln>
        </p:spPr>
      </p:sp>
      <p:sp>
        <p:nvSpPr>
          <p:cNvPr id="44" name="Shape 40"/>
          <p:cNvSpPr/>
          <p:nvPr/>
        </p:nvSpPr>
        <p:spPr>
          <a:xfrm>
            <a:off x="2542182" y="3921253"/>
            <a:ext cx="198125" cy="198125"/>
          </a:xfrm>
          <a:prstGeom prst="ellipse">
            <a:avLst/>
          </a:prstGeom>
          <a:solidFill>
            <a:srgbClr val="DCE2EA"/>
          </a:solidFill>
          <a:ln w="6350">
            <a:solidFill>
              <a:srgbClr val="DCE2EA"/>
            </a:solidFill>
            <a:prstDash val="solid"/>
          </a:ln>
        </p:spPr>
      </p:sp>
      <p:sp>
        <p:nvSpPr>
          <p:cNvPr id="45" name="Shape 41"/>
          <p:cNvSpPr/>
          <p:nvPr/>
        </p:nvSpPr>
        <p:spPr>
          <a:xfrm>
            <a:off x="2849179" y="3916439"/>
            <a:ext cx="207752" cy="207752"/>
          </a:xfrm>
          <a:prstGeom prst="ellipse">
            <a:avLst/>
          </a:prstGeom>
          <a:solidFill>
            <a:srgbClr val="DCE2EA"/>
          </a:solidFill>
          <a:ln w="6350">
            <a:solidFill>
              <a:srgbClr val="DCE2EA"/>
            </a:solidFill>
            <a:prstDash val="solid"/>
          </a:ln>
        </p:spPr>
      </p:sp>
      <p:sp>
        <p:nvSpPr>
          <p:cNvPr id="46" name="Shape 42"/>
          <p:cNvSpPr/>
          <p:nvPr/>
        </p:nvSpPr>
        <p:spPr>
          <a:xfrm>
            <a:off x="3160989" y="3916439"/>
            <a:ext cx="207752" cy="207752"/>
          </a:xfrm>
          <a:prstGeom prst="ellipse">
            <a:avLst/>
          </a:prstGeom>
          <a:solidFill>
            <a:srgbClr val="DCE2EA"/>
          </a:solidFill>
          <a:ln w="6350">
            <a:solidFill>
              <a:srgbClr val="DCE2EA"/>
            </a:solidFill>
            <a:prstDash val="solid"/>
          </a:ln>
        </p:spPr>
      </p:sp>
      <p:sp>
        <p:nvSpPr>
          <p:cNvPr id="47" name="Shape 43"/>
          <p:cNvSpPr/>
          <p:nvPr/>
        </p:nvSpPr>
        <p:spPr>
          <a:xfrm>
            <a:off x="3477613" y="3921253"/>
            <a:ext cx="198125" cy="198125"/>
          </a:xfrm>
          <a:prstGeom prst="ellipse">
            <a:avLst/>
          </a:prstGeom>
          <a:solidFill>
            <a:srgbClr val="DCE2EA"/>
          </a:solidFill>
          <a:ln w="6350">
            <a:solidFill>
              <a:srgbClr val="DCE2EA"/>
            </a:solidFill>
            <a:prstDash val="solid"/>
          </a:ln>
        </p:spPr>
      </p:sp>
      <p:sp>
        <p:nvSpPr>
          <p:cNvPr id="48" name="Shape 44"/>
          <p:cNvSpPr/>
          <p:nvPr/>
        </p:nvSpPr>
        <p:spPr>
          <a:xfrm>
            <a:off x="3799050" y="3930879"/>
            <a:ext cx="178872" cy="178872"/>
          </a:xfrm>
          <a:prstGeom prst="ellipse">
            <a:avLst/>
          </a:prstGeom>
          <a:solidFill>
            <a:srgbClr val="DCE2EA"/>
          </a:solidFill>
          <a:ln w="6350">
            <a:solidFill>
              <a:srgbClr val="DCE2EA"/>
            </a:solidFill>
            <a:prstDash val="solid"/>
          </a:ln>
        </p:spPr>
      </p:sp>
      <p:sp>
        <p:nvSpPr>
          <p:cNvPr id="49" name="Shape 45"/>
          <p:cNvSpPr/>
          <p:nvPr/>
        </p:nvSpPr>
        <p:spPr>
          <a:xfrm>
            <a:off x="4125300" y="3945319"/>
            <a:ext cx="149992" cy="149992"/>
          </a:xfrm>
          <a:prstGeom prst="ellipse">
            <a:avLst/>
          </a:prstGeom>
          <a:solidFill>
            <a:srgbClr val="DCE2EA"/>
          </a:solidFill>
          <a:ln w="6350">
            <a:solidFill>
              <a:srgbClr val="DCE2EA"/>
            </a:solidFill>
            <a:prstDash val="solid"/>
          </a:ln>
        </p:spPr>
      </p:sp>
      <p:sp>
        <p:nvSpPr>
          <p:cNvPr id="50" name="Shape 46"/>
          <p:cNvSpPr/>
          <p:nvPr/>
        </p:nvSpPr>
        <p:spPr>
          <a:xfrm>
            <a:off x="2096176" y="4214237"/>
            <a:ext cx="154706" cy="154706"/>
          </a:xfrm>
          <a:prstGeom prst="ellipse">
            <a:avLst/>
          </a:prstGeom>
          <a:solidFill>
            <a:srgbClr val="DCE2EA"/>
          </a:solidFill>
          <a:ln w="6350">
            <a:solidFill>
              <a:srgbClr val="DCE2EA"/>
            </a:solidFill>
            <a:prstDash val="solid"/>
          </a:ln>
        </p:spPr>
      </p:sp>
      <p:sp>
        <p:nvSpPr>
          <p:cNvPr id="51" name="Shape 47"/>
          <p:cNvSpPr/>
          <p:nvPr/>
        </p:nvSpPr>
        <p:spPr>
          <a:xfrm>
            <a:off x="2395953" y="4202204"/>
            <a:ext cx="178772" cy="178772"/>
          </a:xfrm>
          <a:prstGeom prst="ellipse">
            <a:avLst/>
          </a:prstGeom>
          <a:solidFill>
            <a:srgbClr val="DCE2EA"/>
          </a:solidFill>
          <a:ln w="6350">
            <a:solidFill>
              <a:srgbClr val="DCE2EA"/>
            </a:solidFill>
            <a:prstDash val="solid"/>
          </a:ln>
        </p:spPr>
      </p:sp>
      <p:sp>
        <p:nvSpPr>
          <p:cNvPr id="52" name="Shape 48"/>
          <p:cNvSpPr/>
          <p:nvPr/>
        </p:nvSpPr>
        <p:spPr>
          <a:xfrm>
            <a:off x="2700544" y="4194984"/>
            <a:ext cx="193212" cy="193212"/>
          </a:xfrm>
          <a:prstGeom prst="ellipse">
            <a:avLst/>
          </a:prstGeom>
          <a:solidFill>
            <a:srgbClr val="DCE2EA"/>
          </a:solidFill>
          <a:ln w="6350">
            <a:solidFill>
              <a:srgbClr val="DCE2EA"/>
            </a:solidFill>
            <a:prstDash val="solid"/>
          </a:ln>
        </p:spPr>
      </p:sp>
      <p:sp>
        <p:nvSpPr>
          <p:cNvPr id="53" name="Shape 49"/>
          <p:cNvSpPr/>
          <p:nvPr/>
        </p:nvSpPr>
        <p:spPr>
          <a:xfrm>
            <a:off x="3009947" y="4192577"/>
            <a:ext cx="198025" cy="198025"/>
          </a:xfrm>
          <a:prstGeom prst="ellipse">
            <a:avLst/>
          </a:prstGeom>
          <a:solidFill>
            <a:srgbClr val="DCE2EA"/>
          </a:solidFill>
          <a:ln w="6350">
            <a:solidFill>
              <a:srgbClr val="DCE2EA"/>
            </a:solidFill>
            <a:prstDash val="solid"/>
          </a:ln>
        </p:spPr>
      </p:sp>
      <p:sp>
        <p:nvSpPr>
          <p:cNvPr id="54" name="Shape 50"/>
          <p:cNvSpPr/>
          <p:nvPr/>
        </p:nvSpPr>
        <p:spPr>
          <a:xfrm>
            <a:off x="3324164" y="4194984"/>
            <a:ext cx="193212" cy="193212"/>
          </a:xfrm>
          <a:prstGeom prst="ellipse">
            <a:avLst/>
          </a:prstGeom>
          <a:solidFill>
            <a:srgbClr val="DCE2EA"/>
          </a:solidFill>
          <a:ln w="6350">
            <a:solidFill>
              <a:srgbClr val="DCE2EA"/>
            </a:solidFill>
            <a:prstDash val="solid"/>
          </a:ln>
        </p:spPr>
      </p:sp>
      <p:sp>
        <p:nvSpPr>
          <p:cNvPr id="55" name="Shape 51"/>
          <p:cNvSpPr/>
          <p:nvPr/>
        </p:nvSpPr>
        <p:spPr>
          <a:xfrm>
            <a:off x="3643195" y="4202204"/>
            <a:ext cx="178772" cy="178772"/>
          </a:xfrm>
          <a:prstGeom prst="ellipse">
            <a:avLst/>
          </a:prstGeom>
          <a:solidFill>
            <a:srgbClr val="DCE2EA"/>
          </a:solidFill>
          <a:ln w="6350">
            <a:solidFill>
              <a:srgbClr val="DCE2EA"/>
            </a:solidFill>
            <a:prstDash val="solid"/>
          </a:ln>
        </p:spPr>
      </p:sp>
      <p:sp>
        <p:nvSpPr>
          <p:cNvPr id="56" name="Shape 52"/>
          <p:cNvSpPr/>
          <p:nvPr/>
        </p:nvSpPr>
        <p:spPr>
          <a:xfrm>
            <a:off x="3967038" y="4214237"/>
            <a:ext cx="154706" cy="154706"/>
          </a:xfrm>
          <a:prstGeom prst="ellipse">
            <a:avLst/>
          </a:prstGeom>
          <a:solidFill>
            <a:srgbClr val="DCE2EA"/>
          </a:solidFill>
          <a:ln w="6350">
            <a:solidFill>
              <a:srgbClr val="DCE2EA"/>
            </a:solidFill>
            <a:prstDash val="solid"/>
          </a:ln>
        </p:spPr>
      </p:sp>
      <p:sp>
        <p:nvSpPr>
          <p:cNvPr id="57" name="Shape 53"/>
          <p:cNvSpPr/>
          <p:nvPr/>
        </p:nvSpPr>
        <p:spPr>
          <a:xfrm>
            <a:off x="2254571" y="4488002"/>
            <a:ext cx="149727" cy="149727"/>
          </a:xfrm>
          <a:prstGeom prst="ellipse">
            <a:avLst/>
          </a:prstGeom>
          <a:solidFill>
            <a:srgbClr val="DCE2EA"/>
          </a:solidFill>
          <a:ln w="6350">
            <a:solidFill>
              <a:srgbClr val="DCE2EA"/>
            </a:solidFill>
            <a:prstDash val="solid"/>
          </a:ln>
        </p:spPr>
      </p:sp>
      <p:sp>
        <p:nvSpPr>
          <p:cNvPr id="58" name="Shape 54"/>
          <p:cNvSpPr/>
          <p:nvPr/>
        </p:nvSpPr>
        <p:spPr>
          <a:xfrm>
            <a:off x="2556755" y="4478375"/>
            <a:ext cx="168980" cy="168980"/>
          </a:xfrm>
          <a:prstGeom prst="ellipse">
            <a:avLst/>
          </a:prstGeom>
          <a:solidFill>
            <a:srgbClr val="DCE2EA"/>
          </a:solidFill>
          <a:ln w="6350">
            <a:solidFill>
              <a:srgbClr val="DCE2EA"/>
            </a:solidFill>
            <a:prstDash val="solid"/>
          </a:ln>
        </p:spPr>
      </p:sp>
      <p:sp>
        <p:nvSpPr>
          <p:cNvPr id="59" name="Shape 55"/>
          <p:cNvSpPr/>
          <p:nvPr/>
        </p:nvSpPr>
        <p:spPr>
          <a:xfrm>
            <a:off x="2863752" y="4473562"/>
            <a:ext cx="178606" cy="178606"/>
          </a:xfrm>
          <a:prstGeom prst="ellipse">
            <a:avLst/>
          </a:prstGeom>
          <a:solidFill>
            <a:srgbClr val="DCE2EA"/>
          </a:solidFill>
          <a:ln w="6350">
            <a:solidFill>
              <a:srgbClr val="DCE2EA"/>
            </a:solidFill>
            <a:prstDash val="solid"/>
          </a:ln>
        </p:spPr>
      </p:sp>
      <p:sp>
        <p:nvSpPr>
          <p:cNvPr id="60" name="Shape 56"/>
          <p:cNvSpPr/>
          <p:nvPr/>
        </p:nvSpPr>
        <p:spPr>
          <a:xfrm>
            <a:off x="3175562" y="4473562"/>
            <a:ext cx="178606" cy="178606"/>
          </a:xfrm>
          <a:prstGeom prst="ellipse">
            <a:avLst/>
          </a:prstGeom>
          <a:solidFill>
            <a:srgbClr val="DCE2EA"/>
          </a:solidFill>
          <a:ln w="6350">
            <a:solidFill>
              <a:srgbClr val="DCE2EA"/>
            </a:solidFill>
            <a:prstDash val="solid"/>
          </a:ln>
        </p:spPr>
      </p:sp>
      <p:sp>
        <p:nvSpPr>
          <p:cNvPr id="61" name="Shape 57"/>
          <p:cNvSpPr/>
          <p:nvPr/>
        </p:nvSpPr>
        <p:spPr>
          <a:xfrm>
            <a:off x="3492186" y="4478375"/>
            <a:ext cx="168980" cy="168980"/>
          </a:xfrm>
          <a:prstGeom prst="ellipse">
            <a:avLst/>
          </a:prstGeom>
          <a:solidFill>
            <a:srgbClr val="DCE2EA"/>
          </a:solidFill>
          <a:ln w="6350">
            <a:solidFill>
              <a:srgbClr val="DCE2EA"/>
            </a:solidFill>
            <a:prstDash val="solid"/>
          </a:ln>
        </p:spPr>
      </p:sp>
      <p:sp>
        <p:nvSpPr>
          <p:cNvPr id="62" name="Shape 58"/>
          <p:cNvSpPr/>
          <p:nvPr/>
        </p:nvSpPr>
        <p:spPr>
          <a:xfrm>
            <a:off x="3813623" y="4488002"/>
            <a:ext cx="149727" cy="149727"/>
          </a:xfrm>
          <a:prstGeom prst="ellipse">
            <a:avLst/>
          </a:prstGeom>
          <a:solidFill>
            <a:srgbClr val="DCE2EA"/>
          </a:solidFill>
          <a:ln w="6350">
            <a:solidFill>
              <a:srgbClr val="DCE2EA"/>
            </a:solidFill>
            <a:prstDash val="solid"/>
          </a:ln>
        </p:spPr>
      </p:sp>
      <p:sp>
        <p:nvSpPr>
          <p:cNvPr id="63" name="Shape 59"/>
          <p:cNvSpPr/>
          <p:nvPr/>
        </p:nvSpPr>
        <p:spPr>
          <a:xfrm>
            <a:off x="2722403" y="4759393"/>
            <a:ext cx="149494" cy="149494"/>
          </a:xfrm>
          <a:prstGeom prst="ellipse">
            <a:avLst/>
          </a:prstGeom>
          <a:solidFill>
            <a:srgbClr val="DCE2EA"/>
          </a:solidFill>
          <a:ln w="6350">
            <a:solidFill>
              <a:srgbClr val="DCE2EA"/>
            </a:solidFill>
            <a:prstDash val="solid"/>
          </a:ln>
        </p:spPr>
      </p:sp>
      <p:sp>
        <p:nvSpPr>
          <p:cNvPr id="64" name="Shape 60"/>
          <p:cNvSpPr/>
          <p:nvPr/>
        </p:nvSpPr>
        <p:spPr>
          <a:xfrm>
            <a:off x="3031806" y="4756987"/>
            <a:ext cx="154307" cy="154307"/>
          </a:xfrm>
          <a:prstGeom prst="ellipse">
            <a:avLst/>
          </a:prstGeom>
          <a:solidFill>
            <a:srgbClr val="DCE2EA"/>
          </a:solidFill>
          <a:ln w="6350">
            <a:solidFill>
              <a:srgbClr val="DCE2EA"/>
            </a:solidFill>
            <a:prstDash val="solid"/>
          </a:ln>
        </p:spPr>
      </p:sp>
      <p:sp>
        <p:nvSpPr>
          <p:cNvPr id="65" name="Shape 61"/>
          <p:cNvSpPr/>
          <p:nvPr/>
        </p:nvSpPr>
        <p:spPr>
          <a:xfrm>
            <a:off x="3346023" y="4759393"/>
            <a:ext cx="149494" cy="149494"/>
          </a:xfrm>
          <a:prstGeom prst="ellipse">
            <a:avLst/>
          </a:prstGeom>
          <a:solidFill>
            <a:srgbClr val="DCE2EA"/>
          </a:solidFill>
          <a:ln w="6350">
            <a:solidFill>
              <a:srgbClr val="DCE2EA"/>
            </a:solidFill>
            <a:prstDash val="solid"/>
          </a:ln>
        </p:spPr>
      </p:sp>
      <p:sp>
        <p:nvSpPr>
          <p:cNvPr id="66" name="Shape 62"/>
          <p:cNvSpPr/>
          <p:nvPr/>
        </p:nvSpPr>
        <p:spPr>
          <a:xfrm>
            <a:off x="2088490" y="2615184"/>
            <a:ext cx="1190549" cy="1190549"/>
          </a:xfrm>
          <a:prstGeom prst="ellipse">
            <a:avLst/>
          </a:prstGeom>
          <a:solidFill>
            <a:srgbClr val="FFFFFF">
              <a:alpha val="55000"/>
            </a:srgbClr>
          </a:solidFill>
          <a:ln w="6350">
            <a:solidFill>
              <a:srgbClr val="FFFFFF">
                <a:alpha val="0"/>
              </a:srgbClr>
            </a:solidFill>
            <a:prstDash val="solid"/>
          </a:ln>
        </p:spPr>
      </p:sp>
      <p:sp>
        <p:nvSpPr>
          <p:cNvPr id="67" name="Text 63"/>
          <p:cNvSpPr txBox="1"/>
          <p:nvPr/>
        </p:nvSpPr>
        <p:spPr>
          <a:xfrm>
            <a:off x="4270371" y="1953089"/>
            <a:ext cx="1280160" cy="365760"/>
          </a:xfrm>
          <a:prstGeom prst="rect">
            <a:avLst/>
          </a:prstGeom>
          <a:noFill/>
          <a:ln/>
        </p:spPr>
        <p:txBody>
          <a:bodyPr wrap="square" lIns="0" tIns="0" rIns="0" bIns="0" rtlCol="0" anchor="ctr"/>
          <a:lstStyle/>
          <a:p>
            <a:pPr indent="0" marL="0">
              <a:buNone/>
            </a:pPr>
            <a:r>
              <a:rPr lang="en-US" sz="1800" b="1" dirty="0">
                <a:solidFill>
                  <a:srgbClr val="F08A8E"/>
                </a:solidFill>
                <a:latin typeface="Calibri" pitchFamily="34" charset="0"/>
                <a:ea typeface="Calibri" pitchFamily="34" charset="-122"/>
                <a:cs typeface="Calibri" pitchFamily="34" charset="-120"/>
              </a:rPr>
              <a:t>60 mL</a:t>
            </a:r>
            <a:endParaRPr lang="en-US" sz="1800" dirty="0"/>
          </a:p>
        </p:txBody>
      </p:sp>
      <p:sp>
        <p:nvSpPr>
          <p:cNvPr id="68" name="Text 64"/>
          <p:cNvSpPr txBox="1"/>
          <p:nvPr/>
        </p:nvSpPr>
        <p:spPr>
          <a:xfrm>
            <a:off x="6035040" y="1783080"/>
            <a:ext cx="5608015" cy="868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 golf ball ≈ 40 mL</a:t>
            </a:r>
            <a:endParaRPr lang="en-US" sz="4400" dirty="0"/>
          </a:p>
        </p:txBody>
      </p:sp>
      <p:sp>
        <p:nvSpPr>
          <p:cNvPr id="69" name="Text 65"/>
          <p:cNvSpPr txBox="1"/>
          <p:nvPr/>
        </p:nvSpPr>
        <p:spPr>
          <a:xfrm>
            <a:off x="6035040" y="2834640"/>
            <a:ext cx="5608015" cy="100584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60 mL + GCS ≤ 8: </a:t>
            </a:r>
            <a:pPr indent="0" marL="0">
              <a:buNone/>
            </a:pPr>
            <a:r>
              <a:rPr lang="en-US" sz="2600" b="1" dirty="0">
                <a:solidFill>
                  <a:srgbClr val="F08A8E"/>
                </a:solidFill>
                <a:latin typeface="Calibri" pitchFamily="34" charset="0"/>
                <a:ea typeface="Calibri" pitchFamily="34" charset="-122"/>
                <a:cs typeface="Calibri" pitchFamily="34" charset="-120"/>
              </a:rPr>
              <a:t>91% predicted 30-day mortality</a:t>
            </a:r>
            <a:endParaRPr lang="en-US" sz="2600" dirty="0"/>
          </a:p>
        </p:txBody>
      </p:sp>
      <p:sp>
        <p:nvSpPr>
          <p:cNvPr id="70" name="Shape 66"/>
          <p:cNvSpPr/>
          <p:nvPr/>
        </p:nvSpPr>
        <p:spPr>
          <a:xfrm>
            <a:off x="6035040" y="4114800"/>
            <a:ext cx="5608015" cy="1600200"/>
          </a:xfrm>
          <a:prstGeom prst="roundRect">
            <a:avLst>
              <a:gd name="adj" fmla="val 5714"/>
            </a:avLst>
          </a:prstGeom>
          <a:solidFill>
            <a:srgbClr val="1E3350"/>
          </a:solidFill>
          <a:ln w="6350">
            <a:solidFill>
              <a:srgbClr val="1E3350"/>
            </a:solidFill>
            <a:prstDash val="solid"/>
          </a:ln>
        </p:spPr>
      </p:sp>
      <p:sp>
        <p:nvSpPr>
          <p:cNvPr id="71" name="Text 67"/>
          <p:cNvSpPr txBox="1"/>
          <p:nvPr/>
        </p:nvSpPr>
        <p:spPr>
          <a:xfrm>
            <a:off x="6400800" y="4114800"/>
            <a:ext cx="4876495" cy="1600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A clot that grows by a third looks only 10% wider on a scan.</a:t>
            </a:r>
            <a:endParaRPr lang="en-US" sz="2600" dirty="0"/>
          </a:p>
        </p:txBody>
      </p:sp>
      <p:sp>
        <p:nvSpPr>
          <p:cNvPr id="72" name="Text 68"/>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93A6BC"/>
                </a:solidFill>
                <a:latin typeface="Calibri" pitchFamily="34" charset="0"/>
                <a:ea typeface="Calibri" pitchFamily="34" charset="-122"/>
                <a:cs typeface="Calibri" pitchFamily="34" charset="-120"/>
              </a:rPr>
              <a:t>Volume and 30-day mortality, n = 188 (Broderick et al., 1993). Clot size (Taylor, 2008b). A golf ball is 42.7 mm across (about 40.7 mL).</a:t>
            </a:r>
            <a:endParaRPr lang="en-US" sz="1200" dirty="0"/>
          </a:p>
        </p:txBody>
      </p:sp>
      <p:sp>
        <p:nvSpPr>
          <p:cNvPr id="73" name="Text 69"/>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93A6BC"/>
                </a:solidFill>
                <a:latin typeface="Calibri" pitchFamily="34" charset="0"/>
                <a:ea typeface="Calibri" pitchFamily="34" charset="-122"/>
                <a:cs typeface="Calibri" pitchFamily="34" charset="-120"/>
              </a:rPr>
              <a:t>Chapter 5  ·  Intracerebral haemorrhage</a:t>
            </a:r>
            <a:endParaRPr lang="en-US" sz="1100" dirty="0"/>
          </a:p>
        </p:txBody>
      </p:sp>
      <p:sp>
        <p:nvSpPr>
          <p:cNvPr id="74" name="trk0"/>
          <p:cNvSpPr/>
          <p:nvPr/>
        </p:nvSpPr>
        <p:spPr>
          <a:xfrm>
            <a:off x="7269480" y="6460236"/>
            <a:ext cx="128016" cy="128016"/>
          </a:xfrm>
          <a:prstGeom prst="ellipse">
            <a:avLst/>
          </a:prstGeom>
          <a:solidFill>
            <a:srgbClr val="3E5C76"/>
          </a:solidFill>
          <a:ln w="6350">
            <a:solidFill>
              <a:srgbClr val="3E5C76"/>
            </a:solidFill>
            <a:prstDash val="solid"/>
          </a:ln>
        </p:spPr>
      </p:sp>
      <p:sp>
        <p:nvSpPr>
          <p:cNvPr id="75"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93A6BC"/>
                </a:solidFill>
                <a:latin typeface="Calibri" pitchFamily="34" charset="0"/>
                <a:ea typeface="Calibri" pitchFamily="34" charset="-122"/>
                <a:cs typeface="Calibri" pitchFamily="34" charset="-120"/>
              </a:rPr>
              <a:t>Vessel</a:t>
            </a:r>
            <a:endParaRPr lang="en-US" sz="1100" dirty="0"/>
          </a:p>
        </p:txBody>
      </p:sp>
      <p:sp>
        <p:nvSpPr>
          <p:cNvPr id="76" name="trk1"/>
          <p:cNvSpPr/>
          <p:nvPr/>
        </p:nvSpPr>
        <p:spPr>
          <a:xfrm>
            <a:off x="8211312" y="6460236"/>
            <a:ext cx="128016" cy="128016"/>
          </a:xfrm>
          <a:prstGeom prst="ellipse">
            <a:avLst/>
          </a:prstGeom>
          <a:solidFill>
            <a:srgbClr val="F08A8E"/>
          </a:solidFill>
          <a:ln w="6350">
            <a:solidFill>
              <a:srgbClr val="F08A8E"/>
            </a:solidFill>
            <a:prstDash val="solid"/>
          </a:ln>
        </p:spPr>
      </p:sp>
      <p:sp>
        <p:nvSpPr>
          <p:cNvPr id="77"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b="1" dirty="0">
                <a:solidFill>
                  <a:srgbClr val="F08A8E"/>
                </a:solidFill>
                <a:latin typeface="Calibri" pitchFamily="34" charset="0"/>
                <a:ea typeface="Calibri" pitchFamily="34" charset="-122"/>
                <a:cs typeface="Calibri" pitchFamily="34" charset="-120"/>
              </a:rPr>
              <a:t>Hours</a:t>
            </a:r>
            <a:endParaRPr lang="en-US" sz="1100" dirty="0"/>
          </a:p>
        </p:txBody>
      </p:sp>
      <p:sp>
        <p:nvSpPr>
          <p:cNvPr id="78" name="trk2"/>
          <p:cNvSpPr/>
          <p:nvPr/>
        </p:nvSpPr>
        <p:spPr>
          <a:xfrm>
            <a:off x="9153144" y="6460236"/>
            <a:ext cx="128016" cy="128016"/>
          </a:xfrm>
          <a:prstGeom prst="ellipse">
            <a:avLst/>
          </a:prstGeom>
          <a:solidFill>
            <a:srgbClr val="3E5C76"/>
          </a:solidFill>
          <a:ln w="6350">
            <a:solidFill>
              <a:srgbClr val="3E5C76"/>
            </a:solidFill>
            <a:prstDash val="solid"/>
          </a:ln>
        </p:spPr>
      </p:sp>
      <p:sp>
        <p:nvSpPr>
          <p:cNvPr id="79"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93A6BC"/>
                </a:solidFill>
                <a:latin typeface="Calibri" pitchFamily="34" charset="0"/>
                <a:ea typeface="Calibri" pitchFamily="34" charset="-122"/>
                <a:cs typeface="Calibri" pitchFamily="34" charset="-120"/>
              </a:rPr>
              <a:t>Days</a:t>
            </a:r>
            <a:endParaRPr lang="en-US" sz="1100" dirty="0"/>
          </a:p>
        </p:txBody>
      </p:sp>
      <p:sp>
        <p:nvSpPr>
          <p:cNvPr id="80" name="trk3"/>
          <p:cNvSpPr/>
          <p:nvPr/>
        </p:nvSpPr>
        <p:spPr>
          <a:xfrm>
            <a:off x="10094976" y="6460236"/>
            <a:ext cx="128016" cy="128016"/>
          </a:xfrm>
          <a:prstGeom prst="ellipse">
            <a:avLst/>
          </a:prstGeom>
          <a:solidFill>
            <a:srgbClr val="3E5C76"/>
          </a:solidFill>
          <a:ln w="6350">
            <a:solidFill>
              <a:srgbClr val="3E5C76"/>
            </a:solidFill>
            <a:prstDash val="solid"/>
          </a:ln>
        </p:spPr>
      </p:sp>
      <p:sp>
        <p:nvSpPr>
          <p:cNvPr id="81"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93A6BC"/>
                </a:solidFill>
                <a:latin typeface="Calibri" pitchFamily="34" charset="0"/>
                <a:ea typeface="Calibri" pitchFamily="34" charset="-122"/>
                <a:cs typeface="Calibri" pitchFamily="34" charset="-120"/>
              </a:rPr>
              <a:t>Bedside</a:t>
            </a:r>
            <a:endParaRPr lang="en-US" sz="1100" dirty="0"/>
          </a:p>
        </p:txBody>
      </p:sp>
      <p:sp>
        <p:nvSpPr>
          <p:cNvPr id="82"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93A6BC"/>
                </a:solidFill>
                <a:latin typeface="Calibri" pitchFamily="34" charset="0"/>
                <a:ea typeface="Calibri" pitchFamily="34" charset="-122"/>
                <a:cs typeface="Calibri" pitchFamily="34" charset="-120"/>
              </a:rPr>
              <a:t>20</a:t>
            </a:r>
            <a:endParaRPr lang="en-US" sz="11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02 · THE FIRST HOURS</a:t>
            </a:r>
            <a:endParaRPr lang="en-US" sz="1400" dirty="0"/>
          </a:p>
        </p:txBody>
      </p:sp>
      <p:sp>
        <p:nvSpPr>
          <p:cNvPr id="4" name="Shape 1"/>
          <p:cNvSpPr/>
          <p:nvPr/>
        </p:nvSpPr>
        <p:spPr>
          <a:xfrm>
            <a:off x="9349740" y="356616"/>
            <a:ext cx="2293315"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9505188" y="443484"/>
            <a:ext cx="173736" cy="173736"/>
          </a:xfrm>
          <a:prstGeom prst="rect">
            <a:avLst/>
          </a:prstGeom>
        </p:spPr>
      </p:pic>
      <p:sp>
        <p:nvSpPr>
          <p:cNvPr id="6" name="Text 2"/>
          <p:cNvSpPr txBox="1"/>
          <p:nvPr/>
        </p:nvSpPr>
        <p:spPr>
          <a:xfrm>
            <a:off x="9752076" y="356616"/>
            <a:ext cx="1817827"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Review of cohort data</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The skull is a closed box</a:t>
            </a:r>
            <a:endParaRPr lang="en-US" sz="4000" dirty="0"/>
          </a:p>
        </p:txBody>
      </p:sp>
      <p:sp>
        <p:nvSpPr>
          <p:cNvPr id="8" name="Shape 4"/>
          <p:cNvSpPr/>
          <p:nvPr/>
        </p:nvSpPr>
        <p:spPr>
          <a:xfrm>
            <a:off x="868680" y="1828800"/>
            <a:ext cx="3931920" cy="3931920"/>
          </a:xfrm>
          <a:prstGeom prst="ellipse">
            <a:avLst/>
          </a:prstGeom>
          <a:solidFill>
            <a:srgbClr val="EEF1F5"/>
          </a:solidFill>
          <a:ln w="6350">
            <a:solidFill>
              <a:srgbClr val="EEF1F5"/>
            </a:solidFill>
            <a:prstDash val="solid"/>
          </a:ln>
        </p:spPr>
      </p:sp>
      <p:sp>
        <p:nvSpPr>
          <p:cNvPr id="9" name="Shape 5"/>
          <p:cNvSpPr/>
          <p:nvPr/>
        </p:nvSpPr>
        <p:spPr>
          <a:xfrm>
            <a:off x="1371600" y="2331720"/>
            <a:ext cx="2926080" cy="2926080"/>
          </a:xfrm>
          <a:prstGeom prst="ellipse">
            <a:avLst/>
          </a:prstGeom>
          <a:solidFill>
            <a:srgbClr val="DCE3EB"/>
          </a:solidFill>
          <a:ln w="6350">
            <a:solidFill>
              <a:srgbClr val="DCE3EB"/>
            </a:solidFill>
            <a:prstDash val="solid"/>
          </a:ln>
        </p:spPr>
      </p:sp>
      <p:sp>
        <p:nvSpPr>
          <p:cNvPr id="10" name="Shape 6"/>
          <p:cNvSpPr/>
          <p:nvPr/>
        </p:nvSpPr>
        <p:spPr>
          <a:xfrm>
            <a:off x="1874520" y="2834640"/>
            <a:ext cx="1920240" cy="1920240"/>
          </a:xfrm>
          <a:prstGeom prst="ellipse">
            <a:avLst/>
          </a:prstGeom>
          <a:solidFill>
            <a:srgbClr val="F6DCDD"/>
          </a:solidFill>
          <a:ln w="6350">
            <a:solidFill>
              <a:srgbClr val="F6DCDD"/>
            </a:solidFill>
            <a:prstDash val="solid"/>
          </a:ln>
        </p:spPr>
      </p:sp>
      <p:sp>
        <p:nvSpPr>
          <p:cNvPr id="11" name="Shape 7"/>
          <p:cNvSpPr/>
          <p:nvPr/>
        </p:nvSpPr>
        <p:spPr>
          <a:xfrm>
            <a:off x="2331720" y="3291840"/>
            <a:ext cx="1005840" cy="1005840"/>
          </a:xfrm>
          <a:prstGeom prst="ellipse">
            <a:avLst/>
          </a:prstGeom>
          <a:solidFill>
            <a:srgbClr val="C1272D"/>
          </a:solidFill>
          <a:ln w="6350">
            <a:solidFill>
              <a:srgbClr val="C1272D"/>
            </a:solidFill>
            <a:prstDash val="solid"/>
          </a:ln>
        </p:spPr>
      </p:sp>
      <p:sp>
        <p:nvSpPr>
          <p:cNvPr id="12" name="Shape 8"/>
          <p:cNvSpPr/>
          <p:nvPr/>
        </p:nvSpPr>
        <p:spPr>
          <a:xfrm>
            <a:off x="3407923" y="2139696"/>
            <a:ext cx="109728" cy="109728"/>
          </a:xfrm>
          <a:prstGeom prst="ellipse">
            <a:avLst/>
          </a:prstGeom>
          <a:solidFill>
            <a:srgbClr val="13233A"/>
          </a:solidFill>
          <a:ln w="6350">
            <a:solidFill>
              <a:srgbClr val="13233A"/>
            </a:solidFill>
            <a:prstDash val="solid"/>
          </a:ln>
        </p:spPr>
      </p:sp>
      <p:sp>
        <p:nvSpPr>
          <p:cNvPr id="13" name="Shape 9"/>
          <p:cNvSpPr/>
          <p:nvPr/>
        </p:nvSpPr>
        <p:spPr>
          <a:xfrm>
            <a:off x="3462787" y="2194560"/>
            <a:ext cx="1657853" cy="0"/>
          </a:xfrm>
          <a:prstGeom prst="line">
            <a:avLst/>
          </a:prstGeom>
          <a:noFill/>
          <a:ln w="12700">
            <a:solidFill>
              <a:srgbClr val="667285"/>
            </a:solidFill>
            <a:prstDash val="solid"/>
          </a:ln>
        </p:spPr>
      </p:sp>
      <p:sp>
        <p:nvSpPr>
          <p:cNvPr id="14" name="Text 10"/>
          <p:cNvSpPr txBox="1"/>
          <p:nvPr/>
        </p:nvSpPr>
        <p:spPr>
          <a:xfrm>
            <a:off x="5212080" y="1947672"/>
            <a:ext cx="2377440" cy="493776"/>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Shift and herniation</a:t>
            </a:r>
            <a:endParaRPr lang="en-US" sz="2000" dirty="0"/>
          </a:p>
        </p:txBody>
      </p:sp>
      <p:sp>
        <p:nvSpPr>
          <p:cNvPr id="15" name="Shape 11"/>
          <p:cNvSpPr/>
          <p:nvPr/>
        </p:nvSpPr>
        <p:spPr>
          <a:xfrm>
            <a:off x="3195200" y="2596896"/>
            <a:ext cx="109728" cy="109728"/>
          </a:xfrm>
          <a:prstGeom prst="ellipse">
            <a:avLst/>
          </a:prstGeom>
          <a:solidFill>
            <a:srgbClr val="13233A"/>
          </a:solidFill>
          <a:ln w="6350">
            <a:solidFill>
              <a:srgbClr val="13233A"/>
            </a:solidFill>
            <a:prstDash val="solid"/>
          </a:ln>
        </p:spPr>
      </p:sp>
      <p:sp>
        <p:nvSpPr>
          <p:cNvPr id="16" name="Shape 12"/>
          <p:cNvSpPr/>
          <p:nvPr/>
        </p:nvSpPr>
        <p:spPr>
          <a:xfrm>
            <a:off x="3250064" y="2651760"/>
            <a:ext cx="1870576" cy="0"/>
          </a:xfrm>
          <a:prstGeom prst="line">
            <a:avLst/>
          </a:prstGeom>
          <a:noFill/>
          <a:ln w="12700">
            <a:solidFill>
              <a:srgbClr val="667285"/>
            </a:solidFill>
            <a:prstDash val="solid"/>
          </a:ln>
        </p:spPr>
      </p:sp>
      <p:sp>
        <p:nvSpPr>
          <p:cNvPr id="17" name="Text 13"/>
          <p:cNvSpPr txBox="1"/>
          <p:nvPr/>
        </p:nvSpPr>
        <p:spPr>
          <a:xfrm>
            <a:off x="5212080" y="2404872"/>
            <a:ext cx="2377440" cy="493776"/>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Raised pressure</a:t>
            </a:r>
            <a:endParaRPr lang="en-US" sz="2000" dirty="0"/>
          </a:p>
        </p:txBody>
      </p:sp>
      <p:sp>
        <p:nvSpPr>
          <p:cNvPr id="18" name="Shape 14"/>
          <p:cNvSpPr/>
          <p:nvPr/>
        </p:nvSpPr>
        <p:spPr>
          <a:xfrm>
            <a:off x="3133922" y="3099816"/>
            <a:ext cx="109728" cy="109728"/>
          </a:xfrm>
          <a:prstGeom prst="ellipse">
            <a:avLst/>
          </a:prstGeom>
          <a:solidFill>
            <a:srgbClr val="13233A"/>
          </a:solidFill>
          <a:ln w="6350">
            <a:solidFill>
              <a:srgbClr val="13233A"/>
            </a:solidFill>
            <a:prstDash val="solid"/>
          </a:ln>
        </p:spPr>
      </p:sp>
      <p:sp>
        <p:nvSpPr>
          <p:cNvPr id="19" name="Shape 15"/>
          <p:cNvSpPr/>
          <p:nvPr/>
        </p:nvSpPr>
        <p:spPr>
          <a:xfrm>
            <a:off x="3188786" y="3154680"/>
            <a:ext cx="1931854" cy="0"/>
          </a:xfrm>
          <a:prstGeom prst="line">
            <a:avLst/>
          </a:prstGeom>
          <a:noFill/>
          <a:ln w="12700">
            <a:solidFill>
              <a:srgbClr val="667285"/>
            </a:solidFill>
            <a:prstDash val="solid"/>
          </a:ln>
        </p:spPr>
      </p:sp>
      <p:sp>
        <p:nvSpPr>
          <p:cNvPr id="20" name="Text 16"/>
          <p:cNvSpPr txBox="1"/>
          <p:nvPr/>
        </p:nvSpPr>
        <p:spPr>
          <a:xfrm>
            <a:off x="5212080" y="2907792"/>
            <a:ext cx="2377440" cy="493776"/>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Compression</a:t>
            </a:r>
            <a:endParaRPr lang="en-US" sz="2000" dirty="0"/>
          </a:p>
        </p:txBody>
      </p:sp>
      <p:sp>
        <p:nvSpPr>
          <p:cNvPr id="21" name="Shape 17"/>
          <p:cNvSpPr/>
          <p:nvPr/>
        </p:nvSpPr>
        <p:spPr>
          <a:xfrm>
            <a:off x="3054096" y="3739896"/>
            <a:ext cx="109728" cy="109728"/>
          </a:xfrm>
          <a:prstGeom prst="ellipse">
            <a:avLst/>
          </a:prstGeom>
          <a:solidFill>
            <a:srgbClr val="13233A"/>
          </a:solidFill>
          <a:ln w="6350">
            <a:solidFill>
              <a:srgbClr val="13233A"/>
            </a:solidFill>
            <a:prstDash val="solid"/>
          </a:ln>
        </p:spPr>
      </p:sp>
      <p:sp>
        <p:nvSpPr>
          <p:cNvPr id="22" name="Shape 18"/>
          <p:cNvSpPr/>
          <p:nvPr/>
        </p:nvSpPr>
        <p:spPr>
          <a:xfrm>
            <a:off x="3108960" y="3794760"/>
            <a:ext cx="2011680" cy="0"/>
          </a:xfrm>
          <a:prstGeom prst="line">
            <a:avLst/>
          </a:prstGeom>
          <a:noFill/>
          <a:ln w="12700">
            <a:solidFill>
              <a:srgbClr val="667285"/>
            </a:solidFill>
            <a:prstDash val="solid"/>
          </a:ln>
        </p:spPr>
      </p:sp>
      <p:sp>
        <p:nvSpPr>
          <p:cNvPr id="23" name="Text 19"/>
          <p:cNvSpPr txBox="1"/>
          <p:nvPr/>
        </p:nvSpPr>
        <p:spPr>
          <a:xfrm>
            <a:off x="5212080" y="3547872"/>
            <a:ext cx="2377440" cy="493776"/>
          </a:xfrm>
          <a:prstGeom prst="rect">
            <a:avLst/>
          </a:prstGeom>
          <a:noFill/>
          <a:ln/>
        </p:spPr>
        <p:txBody>
          <a:bodyPr wrap="square" lIns="0" tIns="0" rIns="0" bIns="0" rtlCol="0" anchor="ctr"/>
          <a:lstStyle/>
          <a:p>
            <a:pPr indent="0" marL="0">
              <a:buNone/>
            </a:pPr>
            <a:r>
              <a:rPr lang="en-US" sz="2000" b="1" dirty="0">
                <a:solidFill>
                  <a:srgbClr val="C1272D"/>
                </a:solidFill>
                <a:latin typeface="Calibri" pitchFamily="34" charset="0"/>
                <a:ea typeface="Calibri" pitchFamily="34" charset="-122"/>
                <a:cs typeface="Calibri" pitchFamily="34" charset="-120"/>
              </a:rPr>
              <a:t>The clot</a:t>
            </a:r>
            <a:endParaRPr lang="en-US" sz="2000" dirty="0"/>
          </a:p>
        </p:txBody>
      </p:sp>
      <p:sp>
        <p:nvSpPr>
          <p:cNvPr id="24" name="Shape 20"/>
          <p:cNvSpPr/>
          <p:nvPr/>
        </p:nvSpPr>
        <p:spPr>
          <a:xfrm>
            <a:off x="7818120" y="1828800"/>
            <a:ext cx="3824935" cy="3931920"/>
          </a:xfrm>
          <a:prstGeom prst="roundRect">
            <a:avLst>
              <a:gd name="adj" fmla="val 2391"/>
            </a:avLst>
          </a:prstGeom>
          <a:solidFill>
            <a:srgbClr val="E8EDF3"/>
          </a:solidFill>
          <a:ln w="6350">
            <a:solidFill>
              <a:srgbClr val="E8EDF3"/>
            </a:solidFill>
            <a:prstDash val="solid"/>
          </a:ln>
        </p:spPr>
      </p:sp>
      <p:sp>
        <p:nvSpPr>
          <p:cNvPr id="25" name="Text 21"/>
          <p:cNvSpPr txBox="1"/>
          <p:nvPr/>
        </p:nvSpPr>
        <p:spPr>
          <a:xfrm>
            <a:off x="8183880" y="2148840"/>
            <a:ext cx="3093415" cy="1280160"/>
          </a:xfrm>
          <a:prstGeom prst="rect">
            <a:avLst/>
          </a:prstGeom>
          <a:noFill/>
          <a:ln/>
        </p:spPr>
        <p:txBody>
          <a:bodyPr wrap="square" lIns="0" tIns="0" rIns="0" bIns="0" rtlCol="0" anchor="ctr"/>
          <a:lstStyle/>
          <a:p>
            <a:pPr indent="0" marL="0">
              <a:buNone/>
            </a:pPr>
            <a:r>
              <a:rPr lang="en-US" sz="7200" b="1" dirty="0">
                <a:solidFill>
                  <a:srgbClr val="13233A"/>
                </a:solidFill>
                <a:latin typeface="Cambria" pitchFamily="34" charset="0"/>
                <a:ea typeface="Cambria" pitchFamily="34" charset="-122"/>
                <a:cs typeface="Cambria" pitchFamily="34" charset="-120"/>
              </a:rPr>
              <a:t>≈45%</a:t>
            </a:r>
            <a:endParaRPr lang="en-US" sz="7200" dirty="0"/>
          </a:p>
        </p:txBody>
      </p:sp>
      <p:sp>
        <p:nvSpPr>
          <p:cNvPr id="26" name="Text 22"/>
          <p:cNvSpPr txBox="1"/>
          <p:nvPr/>
        </p:nvSpPr>
        <p:spPr>
          <a:xfrm>
            <a:off x="8183880" y="3474720"/>
            <a:ext cx="3093415" cy="868680"/>
          </a:xfrm>
          <a:prstGeom prst="rect">
            <a:avLst/>
          </a:prstGeom>
          <a:noFill/>
          <a:ln/>
        </p:spPr>
        <p:txBody>
          <a:bodyPr wrap="square" lIns="0" tIns="0" rIns="0" bIns="0" rtlCol="0" anchor="t"/>
          <a:lstStyle/>
          <a:p>
            <a:pPr indent="0" marL="0">
              <a:buNone/>
            </a:pPr>
            <a:r>
              <a:rPr lang="en-US" sz="2400" b="1" dirty="0">
                <a:solidFill>
                  <a:srgbClr val="13233A"/>
                </a:solidFill>
                <a:latin typeface="Calibri" pitchFamily="34" charset="0"/>
                <a:ea typeface="Calibri" pitchFamily="34" charset="-122"/>
                <a:cs typeface="Calibri" pitchFamily="34" charset="-120"/>
              </a:rPr>
              <a:t>break into the ventricles</a:t>
            </a:r>
            <a:endParaRPr lang="en-US" sz="2400" dirty="0"/>
          </a:p>
        </p:txBody>
      </p:sp>
      <p:sp>
        <p:nvSpPr>
          <p:cNvPr id="27" name="Text 23"/>
          <p:cNvSpPr txBox="1"/>
          <p:nvPr/>
        </p:nvSpPr>
        <p:spPr>
          <a:xfrm>
            <a:off x="8183880" y="4206240"/>
            <a:ext cx="3093415" cy="868680"/>
          </a:xfrm>
          <a:prstGeom prst="rect">
            <a:avLst/>
          </a:prstGeom>
          <a:noFill/>
          <a:ln/>
        </p:spPr>
        <p:txBody>
          <a:bodyPr wrap="square" lIns="0" tIns="0" rIns="0" bIns="0" rtlCol="0" anchor="t"/>
          <a:lstStyle/>
          <a:p>
            <a:pPr indent="0" marL="0">
              <a:buNone/>
            </a:pPr>
            <a:r>
              <a:rPr lang="en-US" sz="2000" dirty="0">
                <a:solidFill>
                  <a:srgbClr val="3E5C76"/>
                </a:solidFill>
                <a:latin typeface="Calibri" pitchFamily="34" charset="0"/>
                <a:ea typeface="Calibri" pitchFamily="34" charset="-122"/>
                <a:cs typeface="Calibri" pitchFamily="34" charset="-120"/>
              </a:rPr>
              <a:t>→ hydrocephalus, worse outcome</a:t>
            </a:r>
            <a:endParaRPr lang="en-US" sz="2000" dirty="0"/>
          </a:p>
        </p:txBody>
      </p:sp>
      <p:sp>
        <p:nvSpPr>
          <p:cNvPr id="28" name="Text 24"/>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Intraventricular extension and outcome (Hanley, 2009).</a:t>
            </a:r>
            <a:endParaRPr lang="en-US" sz="1200" dirty="0"/>
          </a:p>
        </p:txBody>
      </p:sp>
      <p:sp>
        <p:nvSpPr>
          <p:cNvPr id="29" name="Text 25"/>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0"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1"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2" name="trk1"/>
          <p:cNvSpPr/>
          <p:nvPr/>
        </p:nvSpPr>
        <p:spPr>
          <a:xfrm>
            <a:off x="8211312" y="6460236"/>
            <a:ext cx="128016" cy="128016"/>
          </a:xfrm>
          <a:prstGeom prst="ellipse">
            <a:avLst/>
          </a:prstGeom>
          <a:solidFill>
            <a:srgbClr val="C1272D"/>
          </a:solidFill>
          <a:ln w="6350">
            <a:solidFill>
              <a:srgbClr val="C1272D"/>
            </a:solidFill>
            <a:prstDash val="solid"/>
          </a:ln>
        </p:spPr>
      </p:sp>
      <p:sp>
        <p:nvSpPr>
          <p:cNvPr id="33"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Hours</a:t>
            </a:r>
            <a:endParaRPr lang="en-US" sz="1100" dirty="0"/>
          </a:p>
        </p:txBody>
      </p:sp>
      <p:sp>
        <p:nvSpPr>
          <p:cNvPr id="34"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5"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6"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7"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8"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21</a:t>
            </a:r>
            <a:endParaRPr lang="en-US" sz="11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halo0"/>
          <p:cNvSpPr/>
          <p:nvPr/>
        </p:nvSpPr>
        <p:spPr>
          <a:xfrm>
            <a:off x="7406640" y="1508760"/>
            <a:ext cx="3840480" cy="3840480"/>
          </a:xfrm>
          <a:prstGeom prst="ellipse">
            <a:avLst/>
          </a:prstGeom>
          <a:solidFill>
            <a:srgbClr val="C1272D">
              <a:alpha val="12000"/>
            </a:srgbClr>
          </a:solidFill>
          <a:ln w="6350">
            <a:solidFill>
              <a:srgbClr val="C1272D">
                <a:alpha val="0"/>
              </a:srgbClr>
            </a:solidFill>
            <a:prstDash val="solid"/>
          </a:ln>
        </p:spPr>
      </p:sp>
      <p:sp>
        <p:nvSpPr>
          <p:cNvPr id="5" name="!!halo1"/>
          <p:cNvSpPr/>
          <p:nvPr/>
        </p:nvSpPr>
        <p:spPr>
          <a:xfrm>
            <a:off x="7726680" y="1828800"/>
            <a:ext cx="3200400" cy="3200400"/>
          </a:xfrm>
          <a:prstGeom prst="ellipse">
            <a:avLst/>
          </a:prstGeom>
          <a:solidFill>
            <a:srgbClr val="C1272D">
              <a:alpha val="22000"/>
            </a:srgbClr>
          </a:solidFill>
          <a:ln w="6350">
            <a:solidFill>
              <a:srgbClr val="C1272D">
                <a:alpha val="0"/>
              </a:srgbClr>
            </a:solidFill>
            <a:prstDash val="solid"/>
          </a:ln>
        </p:spPr>
      </p:sp>
      <p:sp>
        <p:nvSpPr>
          <p:cNvPr id="6" name="!!bleed"/>
          <p:cNvSpPr/>
          <p:nvPr/>
        </p:nvSpPr>
        <p:spPr>
          <a:xfrm>
            <a:off x="8092440" y="2194560"/>
            <a:ext cx="2468880" cy="2468880"/>
          </a:xfrm>
          <a:prstGeom prst="ellipse">
            <a:avLst/>
          </a:prstGeom>
          <a:solidFill>
            <a:srgbClr val="C1272D"/>
          </a:solidFill>
          <a:ln w="6350">
            <a:solidFill>
              <a:srgbClr val="C1272D"/>
            </a:solidFill>
            <a:prstDash val="solid"/>
          </a:ln>
        </p:spPr>
      </p:sp>
      <p:sp>
        <p:nvSpPr>
          <p:cNvPr id="7" name="Text 4"/>
          <p:cNvSpPr txBox="1"/>
          <p:nvPr/>
        </p:nvSpPr>
        <p:spPr>
          <a:xfrm>
            <a:off x="731520" y="1325880"/>
            <a:ext cx="2743200" cy="1463040"/>
          </a:xfrm>
          <a:prstGeom prst="rect">
            <a:avLst/>
          </a:prstGeom>
          <a:noFill/>
          <a:ln/>
        </p:spPr>
        <p:txBody>
          <a:bodyPr wrap="square" lIns="0" tIns="0" rIns="0" bIns="0" rtlCol="0" anchor="b"/>
          <a:lstStyle/>
          <a:p>
            <a:pPr indent="0" marL="0">
              <a:buNone/>
            </a:pPr>
            <a:r>
              <a:rPr lang="en-US" sz="11000" b="1" dirty="0">
                <a:solidFill>
                  <a:srgbClr val="E0474C"/>
                </a:solidFill>
                <a:latin typeface="Cambria" pitchFamily="34" charset="0"/>
                <a:ea typeface="Cambria" pitchFamily="34" charset="-122"/>
                <a:cs typeface="Cambria" pitchFamily="34" charset="-120"/>
              </a:rPr>
              <a:t>03</a:t>
            </a:r>
            <a:endParaRPr lang="en-US" sz="11000" dirty="0"/>
          </a:p>
        </p:txBody>
      </p:sp>
      <p:sp>
        <p:nvSpPr>
          <p:cNvPr id="8" name="Text 5"/>
          <p:cNvSpPr txBox="1"/>
          <p:nvPr/>
        </p:nvSpPr>
        <p:spPr>
          <a:xfrm>
            <a:off x="731520" y="2926080"/>
            <a:ext cx="62179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The days after</a:t>
            </a:r>
            <a:endParaRPr lang="en-US" sz="5400" dirty="0"/>
          </a:p>
        </p:txBody>
      </p:sp>
      <p:sp>
        <p:nvSpPr>
          <p:cNvPr id="9" name="Text 6"/>
          <p:cNvSpPr txBox="1"/>
          <p:nvPr/>
        </p:nvSpPr>
        <p:spPr>
          <a:xfrm>
            <a:off x="731520" y="3931920"/>
            <a:ext cx="5760720" cy="82296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When the blood becomes a toxin</a:t>
            </a:r>
            <a:endParaRPr lang="en-US" sz="2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03 · THE DAYS AFTER</a:t>
            </a:r>
            <a:endParaRPr lang="en-US" sz="1400" dirty="0"/>
          </a:p>
        </p:txBody>
      </p:sp>
      <p:sp>
        <p:nvSpPr>
          <p:cNvPr id="4" name="Shape 1"/>
          <p:cNvSpPr/>
          <p:nvPr/>
        </p:nvSpPr>
        <p:spPr>
          <a:xfrm>
            <a:off x="8947404" y="356616"/>
            <a:ext cx="2695651"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9102852" y="443484"/>
            <a:ext cx="173736" cy="173736"/>
          </a:xfrm>
          <a:prstGeom prst="rect">
            <a:avLst/>
          </a:prstGeom>
        </p:spPr>
      </p:pic>
      <p:sp>
        <p:nvSpPr>
          <p:cNvPr id="6" name="Text 2"/>
          <p:cNvSpPr txBox="1"/>
          <p:nvPr/>
        </p:nvSpPr>
        <p:spPr>
          <a:xfrm>
            <a:off x="9349740" y="356616"/>
            <a:ext cx="2220163"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Serial CT · hyperacute ICH</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Oedema builds in waves</a:t>
            </a:r>
            <a:endParaRPr lang="en-US" sz="4000" dirty="0"/>
          </a:p>
        </p:txBody>
      </p:sp>
      <p:sp>
        <p:nvSpPr>
          <p:cNvPr id="8" name="Shape 4"/>
          <p:cNvSpPr/>
          <p:nvPr/>
        </p:nvSpPr>
        <p:spPr>
          <a:xfrm>
            <a:off x="822960" y="2971800"/>
            <a:ext cx="10561320" cy="0"/>
          </a:xfrm>
          <a:prstGeom prst="line">
            <a:avLst/>
          </a:prstGeom>
          <a:noFill/>
          <a:ln w="38100">
            <a:solidFill>
              <a:srgbClr val="C9D2DE"/>
            </a:solidFill>
            <a:prstDash val="solid"/>
            <a:tailEnd type="triangle"/>
          </a:ln>
        </p:spPr>
      </p:sp>
      <p:sp>
        <p:nvSpPr>
          <p:cNvPr id="9" name="Text 5"/>
          <p:cNvSpPr txBox="1"/>
          <p:nvPr/>
        </p:nvSpPr>
        <p:spPr>
          <a:xfrm>
            <a:off x="685800" y="1783080"/>
            <a:ext cx="2651760" cy="457200"/>
          </a:xfrm>
          <a:prstGeom prst="rect">
            <a:avLst/>
          </a:prstGeom>
          <a:noFill/>
          <a:ln/>
        </p:spPr>
        <p:txBody>
          <a:bodyPr wrap="square" lIns="0" tIns="0" rIns="0" bIns="0" rtlCol="0" anchor="ctr"/>
          <a:lstStyle/>
          <a:p>
            <a:pPr indent="0" marL="0">
              <a:buNone/>
            </a:pPr>
            <a:r>
              <a:rPr lang="en-US" sz="2200" b="1" dirty="0">
                <a:solidFill>
                  <a:srgbClr val="3E5C76"/>
                </a:solidFill>
                <a:latin typeface="Calibri" pitchFamily="34" charset="0"/>
                <a:ea typeface="Calibri" pitchFamily="34" charset="-122"/>
                <a:cs typeface="Calibri" pitchFamily="34" charset="-120"/>
              </a:rPr>
              <a:t>Hours</a:t>
            </a:r>
            <a:endParaRPr lang="en-US" sz="2200" dirty="0"/>
          </a:p>
        </p:txBody>
      </p:sp>
      <p:sp>
        <p:nvSpPr>
          <p:cNvPr id="10" name="Shape 6"/>
          <p:cNvSpPr/>
          <p:nvPr/>
        </p:nvSpPr>
        <p:spPr>
          <a:xfrm>
            <a:off x="960120" y="2743200"/>
            <a:ext cx="457200" cy="457200"/>
          </a:xfrm>
          <a:prstGeom prst="ellipse">
            <a:avLst/>
          </a:prstGeom>
          <a:solidFill>
            <a:srgbClr val="F6DCDD"/>
          </a:solidFill>
          <a:ln w="31750">
            <a:solidFill>
              <a:srgbClr val="FFFFFF"/>
            </a:solidFill>
            <a:prstDash val="solid"/>
          </a:ln>
        </p:spPr>
      </p:sp>
      <p:sp>
        <p:nvSpPr>
          <p:cNvPr id="11" name="Text 7"/>
          <p:cNvSpPr txBox="1"/>
          <p:nvPr/>
        </p:nvSpPr>
        <p:spPr>
          <a:xfrm>
            <a:off x="685800" y="3657600"/>
            <a:ext cx="26517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Clot retracts</a:t>
            </a:r>
            <a:endParaRPr lang="en-US" sz="2800" dirty="0"/>
          </a:p>
        </p:txBody>
      </p:sp>
      <p:sp>
        <p:nvSpPr>
          <p:cNvPr id="12" name="Text 8"/>
          <p:cNvSpPr txBox="1"/>
          <p:nvPr/>
        </p:nvSpPr>
        <p:spPr>
          <a:xfrm>
            <a:off x="3474720" y="1783080"/>
            <a:ext cx="2651760" cy="457200"/>
          </a:xfrm>
          <a:prstGeom prst="rect">
            <a:avLst/>
          </a:prstGeom>
          <a:noFill/>
          <a:ln/>
        </p:spPr>
        <p:txBody>
          <a:bodyPr wrap="square" lIns="0" tIns="0" rIns="0" bIns="0" rtlCol="0" anchor="ctr"/>
          <a:lstStyle/>
          <a:p>
            <a:pPr indent="0" marL="0">
              <a:buNone/>
            </a:pPr>
            <a:r>
              <a:rPr lang="en-US" sz="2200" b="1" dirty="0">
                <a:solidFill>
                  <a:srgbClr val="3E5C76"/>
                </a:solidFill>
                <a:latin typeface="Calibri" pitchFamily="34" charset="0"/>
                <a:ea typeface="Calibri" pitchFamily="34" charset="-122"/>
                <a:cs typeface="Calibri" pitchFamily="34" charset="-120"/>
              </a:rPr>
              <a:t>Days 1–2</a:t>
            </a:r>
            <a:endParaRPr lang="en-US" sz="2200" dirty="0"/>
          </a:p>
        </p:txBody>
      </p:sp>
      <p:sp>
        <p:nvSpPr>
          <p:cNvPr id="13" name="Shape 9"/>
          <p:cNvSpPr/>
          <p:nvPr/>
        </p:nvSpPr>
        <p:spPr>
          <a:xfrm>
            <a:off x="3657600" y="2651760"/>
            <a:ext cx="640080" cy="640080"/>
          </a:xfrm>
          <a:prstGeom prst="ellipse">
            <a:avLst/>
          </a:prstGeom>
          <a:solidFill>
            <a:srgbClr val="E88A8E"/>
          </a:solidFill>
          <a:ln w="31750">
            <a:solidFill>
              <a:srgbClr val="FFFFFF"/>
            </a:solidFill>
            <a:prstDash val="solid"/>
          </a:ln>
        </p:spPr>
      </p:sp>
      <p:sp>
        <p:nvSpPr>
          <p:cNvPr id="14" name="Text 10"/>
          <p:cNvSpPr txBox="1"/>
          <p:nvPr/>
        </p:nvSpPr>
        <p:spPr>
          <a:xfrm>
            <a:off x="3474720" y="3657600"/>
            <a:ext cx="26517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Thrombin</a:t>
            </a:r>
            <a:endParaRPr lang="en-US" sz="2800" dirty="0"/>
          </a:p>
        </p:txBody>
      </p:sp>
      <p:sp>
        <p:nvSpPr>
          <p:cNvPr id="15" name="Text 11"/>
          <p:cNvSpPr txBox="1"/>
          <p:nvPr/>
        </p:nvSpPr>
        <p:spPr>
          <a:xfrm>
            <a:off x="6263640" y="1783080"/>
            <a:ext cx="2651760" cy="457200"/>
          </a:xfrm>
          <a:prstGeom prst="rect">
            <a:avLst/>
          </a:prstGeom>
          <a:noFill/>
          <a:ln/>
        </p:spPr>
        <p:txBody>
          <a:bodyPr wrap="square" lIns="0" tIns="0" rIns="0" bIns="0" rtlCol="0" anchor="ctr"/>
          <a:lstStyle/>
          <a:p>
            <a:pPr indent="0" marL="0">
              <a:buNone/>
            </a:pPr>
            <a:r>
              <a:rPr lang="en-US" sz="2200" b="1" dirty="0">
                <a:solidFill>
                  <a:srgbClr val="3E5C76"/>
                </a:solidFill>
                <a:latin typeface="Calibri" pitchFamily="34" charset="0"/>
                <a:ea typeface="Calibri" pitchFamily="34" charset="-122"/>
                <a:cs typeface="Calibri" pitchFamily="34" charset="-120"/>
              </a:rPr>
              <a:t>Day 3+</a:t>
            </a:r>
            <a:endParaRPr lang="en-US" sz="2200" dirty="0"/>
          </a:p>
        </p:txBody>
      </p:sp>
      <p:sp>
        <p:nvSpPr>
          <p:cNvPr id="16" name="Shape 12"/>
          <p:cNvSpPr/>
          <p:nvPr/>
        </p:nvSpPr>
        <p:spPr>
          <a:xfrm>
            <a:off x="6355080" y="2560320"/>
            <a:ext cx="822960" cy="822960"/>
          </a:xfrm>
          <a:prstGeom prst="ellipse">
            <a:avLst/>
          </a:prstGeom>
          <a:solidFill>
            <a:srgbClr val="C1272D"/>
          </a:solidFill>
          <a:ln w="31750">
            <a:solidFill>
              <a:srgbClr val="FFFFFF"/>
            </a:solidFill>
            <a:prstDash val="solid"/>
          </a:ln>
        </p:spPr>
      </p:sp>
      <p:sp>
        <p:nvSpPr>
          <p:cNvPr id="17" name="Text 13"/>
          <p:cNvSpPr txBox="1"/>
          <p:nvPr/>
        </p:nvSpPr>
        <p:spPr>
          <a:xfrm>
            <a:off x="6263640" y="3657600"/>
            <a:ext cx="26517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Iron</a:t>
            </a:r>
            <a:endParaRPr lang="en-US" sz="2800" dirty="0"/>
          </a:p>
        </p:txBody>
      </p:sp>
      <p:sp>
        <p:nvSpPr>
          <p:cNvPr id="18" name="Text 14"/>
          <p:cNvSpPr txBox="1"/>
          <p:nvPr/>
        </p:nvSpPr>
        <p:spPr>
          <a:xfrm>
            <a:off x="9052560" y="1783080"/>
            <a:ext cx="2651760" cy="457200"/>
          </a:xfrm>
          <a:prstGeom prst="rect">
            <a:avLst/>
          </a:prstGeom>
          <a:noFill/>
          <a:ln/>
        </p:spPr>
        <p:txBody>
          <a:bodyPr wrap="square" lIns="0" tIns="0" rIns="0" bIns="0" rtlCol="0" anchor="ctr"/>
          <a:lstStyle/>
          <a:p>
            <a:pPr indent="0" marL="0">
              <a:buNone/>
            </a:pPr>
            <a:r>
              <a:rPr lang="en-US" sz="2200" b="1" dirty="0">
                <a:solidFill>
                  <a:srgbClr val="3E5C76"/>
                </a:solidFill>
                <a:latin typeface="Calibri" pitchFamily="34" charset="0"/>
                <a:ea typeface="Calibri" pitchFamily="34" charset="-122"/>
                <a:cs typeface="Calibri" pitchFamily="34" charset="-120"/>
              </a:rPr>
              <a:t>Weeks</a:t>
            </a:r>
            <a:endParaRPr lang="en-US" sz="2200" dirty="0"/>
          </a:p>
        </p:txBody>
      </p:sp>
      <p:sp>
        <p:nvSpPr>
          <p:cNvPr id="19" name="Shape 15"/>
          <p:cNvSpPr/>
          <p:nvPr/>
        </p:nvSpPr>
        <p:spPr>
          <a:xfrm>
            <a:off x="9052560" y="2468880"/>
            <a:ext cx="1005840" cy="1005840"/>
          </a:xfrm>
          <a:prstGeom prst="ellipse">
            <a:avLst/>
          </a:prstGeom>
          <a:solidFill>
            <a:srgbClr val="8E1B1F"/>
          </a:solidFill>
          <a:ln w="31750">
            <a:solidFill>
              <a:srgbClr val="FFFFFF"/>
            </a:solidFill>
            <a:prstDash val="solid"/>
          </a:ln>
        </p:spPr>
      </p:sp>
      <p:sp>
        <p:nvSpPr>
          <p:cNvPr id="20" name="Text 16"/>
          <p:cNvSpPr txBox="1"/>
          <p:nvPr/>
        </p:nvSpPr>
        <p:spPr>
          <a:xfrm>
            <a:off x="9052560" y="3657600"/>
            <a:ext cx="26517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Clearance</a:t>
            </a:r>
            <a:endParaRPr lang="en-US" sz="2800" dirty="0"/>
          </a:p>
        </p:txBody>
      </p:sp>
      <p:sp>
        <p:nvSpPr>
          <p:cNvPr id="21" name="Shape 17"/>
          <p:cNvSpPr/>
          <p:nvPr/>
        </p:nvSpPr>
        <p:spPr>
          <a:xfrm>
            <a:off x="548640" y="4572000"/>
            <a:ext cx="6675120" cy="1188720"/>
          </a:xfrm>
          <a:prstGeom prst="roundRect">
            <a:avLst>
              <a:gd name="adj" fmla="val 7692"/>
            </a:avLst>
          </a:prstGeom>
          <a:solidFill>
            <a:srgbClr val="F6DCDD"/>
          </a:solidFill>
          <a:ln w="6350">
            <a:solidFill>
              <a:srgbClr val="F6DCDD"/>
            </a:solidFill>
            <a:prstDash val="solid"/>
          </a:ln>
        </p:spPr>
      </p:sp>
      <p:sp>
        <p:nvSpPr>
          <p:cNvPr id="22" name="Text 18"/>
          <p:cNvSpPr txBox="1"/>
          <p:nvPr/>
        </p:nvSpPr>
        <p:spPr>
          <a:xfrm>
            <a:off x="868680" y="4572000"/>
            <a:ext cx="6217920" cy="1188720"/>
          </a:xfrm>
          <a:prstGeom prst="rect">
            <a:avLst/>
          </a:prstGeom>
          <a:noFill/>
          <a:ln/>
        </p:spPr>
        <p:txBody>
          <a:bodyPr wrap="square" lIns="0" tIns="0" rIns="0" bIns="0" rtlCol="0" anchor="ctr"/>
          <a:lstStyle/>
          <a:p>
            <a:pPr indent="0" marL="0">
              <a:buNone/>
            </a:pPr>
            <a:r>
              <a:rPr lang="en-US" sz="3600" b="1" dirty="0">
                <a:solidFill>
                  <a:srgbClr val="C1272D"/>
                </a:solidFill>
                <a:latin typeface="Cambria" pitchFamily="34" charset="0"/>
                <a:ea typeface="Cambria" pitchFamily="34" charset="-122"/>
                <a:cs typeface="Cambria" pitchFamily="34" charset="-120"/>
              </a:rPr>
              <a:t>+75% </a:t>
            </a:r>
            <a:pPr indent="0" marL="0">
              <a:buNone/>
            </a:pPr>
            <a:r>
              <a:rPr lang="en-US" sz="2200" b="1" dirty="0">
                <a:solidFill>
                  <a:srgbClr val="8E1B1F"/>
                </a:solidFill>
                <a:latin typeface="Calibri" pitchFamily="34" charset="0"/>
                <a:ea typeface="Calibri" pitchFamily="34" charset="-122"/>
                <a:cs typeface="Calibri" pitchFamily="34" charset="-120"/>
              </a:rPr>
              <a:t>oedema in the first 24 hours</a:t>
            </a:r>
            <a:endParaRPr lang="en-US" sz="2200" dirty="0"/>
          </a:p>
        </p:txBody>
      </p:sp>
      <p:sp>
        <p:nvSpPr>
          <p:cNvPr id="23" name="Shape 19"/>
          <p:cNvSpPr/>
          <p:nvPr/>
        </p:nvSpPr>
        <p:spPr>
          <a:xfrm>
            <a:off x="7498080" y="4572000"/>
            <a:ext cx="4144975" cy="1188720"/>
          </a:xfrm>
          <a:prstGeom prst="roundRect">
            <a:avLst>
              <a:gd name="adj" fmla="val 7692"/>
            </a:avLst>
          </a:prstGeom>
          <a:solidFill>
            <a:srgbClr val="13233A"/>
          </a:solidFill>
          <a:ln w="6350">
            <a:solidFill>
              <a:srgbClr val="13233A"/>
            </a:solidFill>
            <a:prstDash val="solid"/>
          </a:ln>
        </p:spPr>
      </p:sp>
      <p:sp>
        <p:nvSpPr>
          <p:cNvPr id="24" name="Text 20"/>
          <p:cNvSpPr txBox="1"/>
          <p:nvPr/>
        </p:nvSpPr>
        <p:spPr>
          <a:xfrm>
            <a:off x="7818120" y="4572000"/>
            <a:ext cx="3504895" cy="118872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Jill: surgery 17 days later</a:t>
            </a:r>
            <a:endParaRPr lang="en-US" sz="2200" dirty="0"/>
          </a:p>
        </p:txBody>
      </p:sp>
      <p:sp>
        <p:nvSpPr>
          <p:cNvPr id="25" name="Text 21"/>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Oedema mechanisms (Xi et al., 2006); +75% in 24 h (Gebel et al., 2002); timing of Jill's surgery (Taylor, 2008b).</a:t>
            </a:r>
            <a:endParaRPr lang="en-US" sz="1200" dirty="0"/>
          </a:p>
        </p:txBody>
      </p:sp>
      <p:sp>
        <p:nvSpPr>
          <p:cNvPr id="26" name="Text 22"/>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7"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28"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29"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0"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1" name="trk2"/>
          <p:cNvSpPr/>
          <p:nvPr/>
        </p:nvSpPr>
        <p:spPr>
          <a:xfrm>
            <a:off x="9153144" y="6460236"/>
            <a:ext cx="128016" cy="128016"/>
          </a:xfrm>
          <a:prstGeom prst="ellipse">
            <a:avLst/>
          </a:prstGeom>
          <a:solidFill>
            <a:srgbClr val="C1272D"/>
          </a:solidFill>
          <a:ln w="6350">
            <a:solidFill>
              <a:srgbClr val="C1272D"/>
            </a:solidFill>
            <a:prstDash val="solid"/>
          </a:ln>
        </p:spPr>
      </p:sp>
      <p:sp>
        <p:nvSpPr>
          <p:cNvPr id="32"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Days</a:t>
            </a:r>
            <a:endParaRPr lang="en-US" sz="1100" dirty="0"/>
          </a:p>
        </p:txBody>
      </p:sp>
      <p:sp>
        <p:nvSpPr>
          <p:cNvPr id="33"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4"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5"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23</a:t>
            </a:r>
            <a:endParaRPr lang="en-US" sz="11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03 · THE DAYS AFTER</a:t>
            </a:r>
            <a:endParaRPr lang="en-US" sz="1400" dirty="0"/>
          </a:p>
        </p:txBody>
      </p:sp>
      <p:sp>
        <p:nvSpPr>
          <p:cNvPr id="4" name="Shape 1"/>
          <p:cNvSpPr/>
          <p:nvPr/>
        </p:nvSpPr>
        <p:spPr>
          <a:xfrm>
            <a:off x="7659929" y="356616"/>
            <a:ext cx="3983126"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7815377" y="443484"/>
            <a:ext cx="173736" cy="173736"/>
          </a:xfrm>
          <a:prstGeom prst="rect">
            <a:avLst/>
          </a:prstGeom>
        </p:spPr>
      </p:pic>
      <p:sp>
        <p:nvSpPr>
          <p:cNvPr id="6" name="Text 2"/>
          <p:cNvSpPr txBox="1"/>
          <p:nvPr/>
        </p:nvSpPr>
        <p:spPr>
          <a:xfrm>
            <a:off x="8062265" y="356616"/>
            <a:ext cx="3507638"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Mostly animal models · not yet a treatment</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Three toxins, one result</a:t>
            </a:r>
            <a:endParaRPr lang="en-US" sz="4000" dirty="0"/>
          </a:p>
        </p:txBody>
      </p:sp>
      <p:sp>
        <p:nvSpPr>
          <p:cNvPr id="8" name="Shape 4"/>
          <p:cNvSpPr/>
          <p:nvPr/>
        </p:nvSpPr>
        <p:spPr>
          <a:xfrm>
            <a:off x="1574749" y="1783080"/>
            <a:ext cx="1463040" cy="1463040"/>
          </a:xfrm>
          <a:prstGeom prst="ellipse">
            <a:avLst/>
          </a:prstGeom>
          <a:solidFill>
            <a:srgbClr val="C1272D"/>
          </a:solidFill>
          <a:ln w="6350">
            <a:solidFill>
              <a:srgbClr val="C1272D"/>
            </a:solidFill>
            <a:prstDash val="solid"/>
          </a:ln>
        </p:spPr>
      </p:sp>
      <p:pic>
        <p:nvPicPr>
          <p:cNvPr id="9" name="Image 1" descr="preencoded.png">    </p:cNvPr>
          <p:cNvPicPr>
            <a:picLocks noChangeAspect="1"/>
          </p:cNvPicPr>
          <p:nvPr/>
        </p:nvPicPr>
        <p:blipFill>
          <a:blip r:embed="rId2"/>
          <a:stretch>
            <a:fillRect/>
          </a:stretch>
        </p:blipFill>
        <p:spPr>
          <a:xfrm>
            <a:off x="1940509" y="2148840"/>
            <a:ext cx="731520" cy="731520"/>
          </a:xfrm>
          <a:prstGeom prst="rect">
            <a:avLst/>
          </a:prstGeom>
        </p:spPr>
      </p:pic>
      <p:sp>
        <p:nvSpPr>
          <p:cNvPr id="10" name="Text 5"/>
          <p:cNvSpPr txBox="1"/>
          <p:nvPr/>
        </p:nvSpPr>
        <p:spPr>
          <a:xfrm>
            <a:off x="548640" y="3383280"/>
            <a:ext cx="3515258" cy="594360"/>
          </a:xfrm>
          <a:prstGeom prst="rect">
            <a:avLst/>
          </a:prstGeom>
          <a:noFill/>
          <a:ln/>
        </p:spPr>
        <p:txBody>
          <a:bodyPr wrap="square" lIns="0" tIns="0" rIns="0" bIns="0" rtlCol="0" anchor="ctr"/>
          <a:lstStyle/>
          <a:p>
            <a:pPr algn="ctr" indent="0" marL="0">
              <a:buNone/>
            </a:pPr>
            <a:r>
              <a:rPr lang="en-US" sz="3000" b="1" dirty="0">
                <a:solidFill>
                  <a:srgbClr val="13233A"/>
                </a:solidFill>
                <a:latin typeface="Calibri" pitchFamily="34" charset="0"/>
                <a:ea typeface="Calibri" pitchFamily="34" charset="-122"/>
                <a:cs typeface="Calibri" pitchFamily="34" charset="-120"/>
              </a:rPr>
              <a:t>Thrombin</a:t>
            </a:r>
            <a:endParaRPr lang="en-US" sz="3000" dirty="0"/>
          </a:p>
        </p:txBody>
      </p:sp>
      <p:sp>
        <p:nvSpPr>
          <p:cNvPr id="11" name="Shape 6"/>
          <p:cNvSpPr/>
          <p:nvPr/>
        </p:nvSpPr>
        <p:spPr>
          <a:xfrm>
            <a:off x="2306269" y="4069080"/>
            <a:ext cx="0" cy="502920"/>
          </a:xfrm>
          <a:prstGeom prst="line">
            <a:avLst/>
          </a:prstGeom>
          <a:noFill/>
          <a:ln w="25400">
            <a:solidFill>
              <a:srgbClr val="667285"/>
            </a:solidFill>
            <a:prstDash val="solid"/>
            <a:tailEnd type="triangle"/>
          </a:ln>
        </p:spPr>
      </p:sp>
      <p:sp>
        <p:nvSpPr>
          <p:cNvPr id="12" name="Shape 7"/>
          <p:cNvSpPr/>
          <p:nvPr/>
        </p:nvSpPr>
        <p:spPr>
          <a:xfrm>
            <a:off x="5364328" y="1783080"/>
            <a:ext cx="1463040" cy="1463040"/>
          </a:xfrm>
          <a:prstGeom prst="ellipse">
            <a:avLst/>
          </a:prstGeom>
          <a:solidFill>
            <a:srgbClr val="C1272D"/>
          </a:solidFill>
          <a:ln w="6350">
            <a:solidFill>
              <a:srgbClr val="C1272D"/>
            </a:solidFill>
            <a:prstDash val="solid"/>
          </a:ln>
        </p:spPr>
      </p:sp>
      <p:pic>
        <p:nvPicPr>
          <p:cNvPr id="13" name="Image 2" descr="preencoded.png">    </p:cNvPr>
          <p:cNvPicPr>
            <a:picLocks noChangeAspect="1"/>
          </p:cNvPicPr>
          <p:nvPr/>
        </p:nvPicPr>
        <p:blipFill>
          <a:blip r:embed="rId3"/>
          <a:stretch>
            <a:fillRect/>
          </a:stretch>
        </p:blipFill>
        <p:spPr>
          <a:xfrm>
            <a:off x="5730088" y="2148840"/>
            <a:ext cx="731520" cy="731520"/>
          </a:xfrm>
          <a:prstGeom prst="rect">
            <a:avLst/>
          </a:prstGeom>
        </p:spPr>
      </p:pic>
      <p:sp>
        <p:nvSpPr>
          <p:cNvPr id="14" name="Text 8"/>
          <p:cNvSpPr txBox="1"/>
          <p:nvPr/>
        </p:nvSpPr>
        <p:spPr>
          <a:xfrm>
            <a:off x="4338218" y="3383280"/>
            <a:ext cx="3515258" cy="594360"/>
          </a:xfrm>
          <a:prstGeom prst="rect">
            <a:avLst/>
          </a:prstGeom>
          <a:noFill/>
          <a:ln/>
        </p:spPr>
        <p:txBody>
          <a:bodyPr wrap="square" lIns="0" tIns="0" rIns="0" bIns="0" rtlCol="0" anchor="ctr"/>
          <a:lstStyle/>
          <a:p>
            <a:pPr algn="ctr" indent="0" marL="0">
              <a:buNone/>
            </a:pPr>
            <a:r>
              <a:rPr lang="en-US" sz="3000" b="1" dirty="0">
                <a:solidFill>
                  <a:srgbClr val="13233A"/>
                </a:solidFill>
                <a:latin typeface="Calibri" pitchFamily="34" charset="0"/>
                <a:ea typeface="Calibri" pitchFamily="34" charset="-122"/>
                <a:cs typeface="Calibri" pitchFamily="34" charset="-120"/>
              </a:rPr>
              <a:t>Iron</a:t>
            </a:r>
            <a:endParaRPr lang="en-US" sz="3000" dirty="0"/>
          </a:p>
        </p:txBody>
      </p:sp>
      <p:sp>
        <p:nvSpPr>
          <p:cNvPr id="15" name="Shape 9"/>
          <p:cNvSpPr/>
          <p:nvPr/>
        </p:nvSpPr>
        <p:spPr>
          <a:xfrm>
            <a:off x="6095848" y="4069080"/>
            <a:ext cx="0" cy="502920"/>
          </a:xfrm>
          <a:prstGeom prst="line">
            <a:avLst/>
          </a:prstGeom>
          <a:noFill/>
          <a:ln w="25400">
            <a:solidFill>
              <a:srgbClr val="667285"/>
            </a:solidFill>
            <a:prstDash val="solid"/>
            <a:tailEnd type="triangle"/>
          </a:ln>
        </p:spPr>
      </p:sp>
      <p:sp>
        <p:nvSpPr>
          <p:cNvPr id="16" name="Shape 10"/>
          <p:cNvSpPr/>
          <p:nvPr/>
        </p:nvSpPr>
        <p:spPr>
          <a:xfrm>
            <a:off x="9153906" y="1783080"/>
            <a:ext cx="1463040" cy="1463040"/>
          </a:xfrm>
          <a:prstGeom prst="ellipse">
            <a:avLst/>
          </a:prstGeom>
          <a:solidFill>
            <a:srgbClr val="C1272D"/>
          </a:solidFill>
          <a:ln w="6350">
            <a:solidFill>
              <a:srgbClr val="C1272D"/>
            </a:solidFill>
            <a:prstDash val="solid"/>
          </a:ln>
        </p:spPr>
      </p:sp>
      <p:pic>
        <p:nvPicPr>
          <p:cNvPr id="17" name="Image 3" descr="preencoded.png">    </p:cNvPr>
          <p:cNvPicPr>
            <a:picLocks noChangeAspect="1"/>
          </p:cNvPicPr>
          <p:nvPr/>
        </p:nvPicPr>
        <p:blipFill>
          <a:blip r:embed="rId4"/>
          <a:stretch>
            <a:fillRect/>
          </a:stretch>
        </p:blipFill>
        <p:spPr>
          <a:xfrm>
            <a:off x="9519666" y="2148840"/>
            <a:ext cx="731520" cy="731520"/>
          </a:xfrm>
          <a:prstGeom prst="rect">
            <a:avLst/>
          </a:prstGeom>
        </p:spPr>
      </p:pic>
      <p:sp>
        <p:nvSpPr>
          <p:cNvPr id="18" name="Text 11"/>
          <p:cNvSpPr txBox="1"/>
          <p:nvPr/>
        </p:nvSpPr>
        <p:spPr>
          <a:xfrm>
            <a:off x="8127797" y="3383280"/>
            <a:ext cx="3515258" cy="594360"/>
          </a:xfrm>
          <a:prstGeom prst="rect">
            <a:avLst/>
          </a:prstGeom>
          <a:noFill/>
          <a:ln/>
        </p:spPr>
        <p:txBody>
          <a:bodyPr wrap="square" lIns="0" tIns="0" rIns="0" bIns="0" rtlCol="0" anchor="ctr"/>
          <a:lstStyle/>
          <a:p>
            <a:pPr algn="ctr" indent="0" marL="0">
              <a:buNone/>
            </a:pPr>
            <a:r>
              <a:rPr lang="en-US" sz="3000" b="1" dirty="0">
                <a:solidFill>
                  <a:srgbClr val="13233A"/>
                </a:solidFill>
                <a:latin typeface="Calibri" pitchFamily="34" charset="0"/>
                <a:ea typeface="Calibri" pitchFamily="34" charset="-122"/>
                <a:cs typeface="Calibri" pitchFamily="34" charset="-120"/>
              </a:rPr>
              <a:t>Inflammation</a:t>
            </a:r>
            <a:endParaRPr lang="en-US" sz="3000" dirty="0"/>
          </a:p>
        </p:txBody>
      </p:sp>
      <p:sp>
        <p:nvSpPr>
          <p:cNvPr id="19" name="Shape 12"/>
          <p:cNvSpPr/>
          <p:nvPr/>
        </p:nvSpPr>
        <p:spPr>
          <a:xfrm>
            <a:off x="9885426" y="4069080"/>
            <a:ext cx="0" cy="502920"/>
          </a:xfrm>
          <a:prstGeom prst="line">
            <a:avLst/>
          </a:prstGeom>
          <a:noFill/>
          <a:ln w="25400">
            <a:solidFill>
              <a:srgbClr val="667285"/>
            </a:solidFill>
            <a:prstDash val="solid"/>
            <a:tailEnd type="triangle"/>
          </a:ln>
        </p:spPr>
      </p:sp>
      <p:sp>
        <p:nvSpPr>
          <p:cNvPr id="20" name="Shape 13"/>
          <p:cNvSpPr/>
          <p:nvPr/>
        </p:nvSpPr>
        <p:spPr>
          <a:xfrm>
            <a:off x="548640" y="4663440"/>
            <a:ext cx="11094415" cy="1097280"/>
          </a:xfrm>
          <a:prstGeom prst="roundRect">
            <a:avLst>
              <a:gd name="adj" fmla="val 8333"/>
            </a:avLst>
          </a:prstGeom>
          <a:solidFill>
            <a:srgbClr val="13233A"/>
          </a:solidFill>
          <a:ln w="6350">
            <a:solidFill>
              <a:srgbClr val="13233A"/>
            </a:solidFill>
            <a:prstDash val="solid"/>
          </a:ln>
        </p:spPr>
      </p:sp>
      <p:sp>
        <p:nvSpPr>
          <p:cNvPr id="21" name="Text 14"/>
          <p:cNvSpPr txBox="1"/>
          <p:nvPr/>
        </p:nvSpPr>
        <p:spPr>
          <a:xfrm>
            <a:off x="548640" y="4663440"/>
            <a:ext cx="11094415"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Leaky barrier   →   more oedema   →   neuronal death</a:t>
            </a:r>
            <a:endParaRPr lang="en-US" sz="3000" dirty="0"/>
          </a:p>
        </p:txBody>
      </p:sp>
      <p:sp>
        <p:nvSpPr>
          <p:cNvPr id="22" name="Text 15"/>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Mechanisms (Xi et al., 2006). The deferoxamine trial i-DEF was neutral (Selim et al., 2019).</a:t>
            </a:r>
            <a:endParaRPr lang="en-US" sz="1200" dirty="0"/>
          </a:p>
        </p:txBody>
      </p:sp>
      <p:sp>
        <p:nvSpPr>
          <p:cNvPr id="23" name="Text 16"/>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4"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25"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26"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7"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8" name="trk2"/>
          <p:cNvSpPr/>
          <p:nvPr/>
        </p:nvSpPr>
        <p:spPr>
          <a:xfrm>
            <a:off x="9153144" y="6460236"/>
            <a:ext cx="128016" cy="128016"/>
          </a:xfrm>
          <a:prstGeom prst="ellipse">
            <a:avLst/>
          </a:prstGeom>
          <a:solidFill>
            <a:srgbClr val="C1272D"/>
          </a:solidFill>
          <a:ln w="6350">
            <a:solidFill>
              <a:srgbClr val="C1272D"/>
            </a:solidFill>
            <a:prstDash val="solid"/>
          </a:ln>
        </p:spPr>
      </p:sp>
      <p:sp>
        <p:nvSpPr>
          <p:cNvPr id="29"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Days</a:t>
            </a:r>
            <a:endParaRPr lang="en-US" sz="1100" dirty="0"/>
          </a:p>
        </p:txBody>
      </p:sp>
      <p:sp>
        <p:nvSpPr>
          <p:cNvPr id="30"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1"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2"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24</a:t>
            </a:r>
            <a:endParaRPr lang="en-US" sz="11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TRUE OR FALSE?</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True or false?</a:t>
            </a:r>
            <a:endParaRPr lang="en-US" sz="4000" dirty="0"/>
          </a:p>
        </p:txBody>
      </p:sp>
      <p:sp>
        <p:nvSpPr>
          <p:cNvPr id="5" name="!!claimcard"/>
          <p:cNvSpPr/>
          <p:nvPr/>
        </p:nvSpPr>
        <p:spPr>
          <a:xfrm>
            <a:off x="548640" y="1920240"/>
            <a:ext cx="11094415" cy="2926080"/>
          </a:xfrm>
          <a:prstGeom prst="roundRect">
            <a:avLst>
              <a:gd name="adj" fmla="val 3125"/>
            </a:avLst>
          </a:prstGeom>
          <a:solidFill>
            <a:srgbClr val="E8EDF3"/>
          </a:solidFill>
          <a:ln w="6350">
            <a:solidFill>
              <a:srgbClr val="E8EDF3"/>
            </a:solidFill>
            <a:prstDash val="solid"/>
          </a:ln>
        </p:spPr>
      </p:sp>
      <p:sp>
        <p:nvSpPr>
          <p:cNvPr id="6" name="!!claim"/>
          <p:cNvSpPr txBox="1"/>
          <p:nvPr/>
        </p:nvSpPr>
        <p:spPr>
          <a:xfrm>
            <a:off x="1097280" y="1920240"/>
            <a:ext cx="9997135" cy="2926080"/>
          </a:xfrm>
          <a:prstGeom prst="rect">
            <a:avLst/>
          </a:prstGeom>
          <a:noFill/>
          <a:ln/>
        </p:spPr>
        <p:txBody>
          <a:bodyPr wrap="square" lIns="0" tIns="0" rIns="0" bIns="0" rtlCol="0" anchor="ctr"/>
          <a:lstStyle/>
          <a:p>
            <a:pPr algn="ctr" indent="0" marL="0">
              <a:buNone/>
            </a:pPr>
            <a:r>
              <a:rPr lang="en-US" sz="4400" b="1" i="1" dirty="0">
                <a:solidFill>
                  <a:srgbClr val="13233A"/>
                </a:solidFill>
                <a:latin typeface="Cambria" pitchFamily="34" charset="0"/>
                <a:ea typeface="Cambria" pitchFamily="34" charset="-122"/>
                <a:cs typeface="Cambria" pitchFamily="34" charset="-120"/>
              </a:rPr>
              <a:t>“The rim around the clot is starving tissue.”</a:t>
            </a:r>
            <a:endParaRPr lang="en-US" sz="4400" dirty="0"/>
          </a:p>
        </p:txBody>
      </p:sp>
      <p:sp>
        <p:nvSpPr>
          <p:cNvPr id="7" name="Text 4"/>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8"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9"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0"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1"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12" name="trk2"/>
          <p:cNvSpPr/>
          <p:nvPr/>
        </p:nvSpPr>
        <p:spPr>
          <a:xfrm>
            <a:off x="9153144" y="6460236"/>
            <a:ext cx="128016" cy="128016"/>
          </a:xfrm>
          <a:prstGeom prst="ellipse">
            <a:avLst/>
          </a:prstGeom>
          <a:solidFill>
            <a:srgbClr val="C1272D"/>
          </a:solidFill>
          <a:ln w="6350">
            <a:solidFill>
              <a:srgbClr val="C1272D"/>
            </a:solidFill>
            <a:prstDash val="solid"/>
          </a:ln>
        </p:spPr>
      </p:sp>
      <p:sp>
        <p:nvSpPr>
          <p:cNvPr id="13"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Days</a:t>
            </a:r>
            <a:endParaRPr lang="en-US" sz="1100" dirty="0"/>
          </a:p>
        </p:txBody>
      </p:sp>
      <p:sp>
        <p:nvSpPr>
          <p:cNvPr id="14"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15"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16"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25</a:t>
            </a:r>
            <a:endParaRPr lang="en-US" sz="11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TRUE OR FALSE?</a:t>
            </a:r>
            <a:endParaRPr lang="en-US" sz="1400" dirty="0"/>
          </a:p>
        </p:txBody>
      </p:sp>
      <p:sp>
        <p:nvSpPr>
          <p:cNvPr id="4" name="Shape 1"/>
          <p:cNvSpPr/>
          <p:nvPr/>
        </p:nvSpPr>
        <p:spPr>
          <a:xfrm>
            <a:off x="8866937" y="356616"/>
            <a:ext cx="2776118"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9022385" y="443484"/>
            <a:ext cx="173736" cy="173736"/>
          </a:xfrm>
          <a:prstGeom prst="rect">
            <a:avLst/>
          </a:prstGeom>
        </p:spPr>
      </p:pic>
      <p:sp>
        <p:nvSpPr>
          <p:cNvPr id="6" name="Text 2"/>
          <p:cNvSpPr txBox="1"/>
          <p:nvPr/>
        </p:nvSpPr>
        <p:spPr>
          <a:xfrm>
            <a:off x="9269273" y="356616"/>
            <a:ext cx="2300630"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PET n = 19, then RCT n = 75</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C1272D"/>
                </a:solidFill>
                <a:latin typeface="Cambria" pitchFamily="34" charset="0"/>
                <a:ea typeface="Cambria" pitchFamily="34" charset="-122"/>
                <a:cs typeface="Cambria" pitchFamily="34" charset="-120"/>
              </a:rPr>
              <a:t>False: the rim is resting, not starving</a:t>
            </a:r>
            <a:endParaRPr lang="en-US" sz="4000" dirty="0"/>
          </a:p>
        </p:txBody>
      </p:sp>
      <p:sp>
        <p:nvSpPr>
          <p:cNvPr id="8" name="!!claimcard"/>
          <p:cNvSpPr/>
          <p:nvPr/>
        </p:nvSpPr>
        <p:spPr>
          <a:xfrm>
            <a:off x="548640" y="1783080"/>
            <a:ext cx="4023360" cy="3977640"/>
          </a:xfrm>
          <a:prstGeom prst="roundRect">
            <a:avLst>
              <a:gd name="adj" fmla="val 2299"/>
            </a:avLst>
          </a:prstGeom>
          <a:solidFill>
            <a:srgbClr val="E8EDF3"/>
          </a:solidFill>
          <a:ln w="6350">
            <a:solidFill>
              <a:srgbClr val="E8EDF3"/>
            </a:solidFill>
            <a:prstDash val="solid"/>
          </a:ln>
        </p:spPr>
      </p:sp>
      <p:sp>
        <p:nvSpPr>
          <p:cNvPr id="9" name="!!claim"/>
          <p:cNvSpPr txBox="1"/>
          <p:nvPr/>
        </p:nvSpPr>
        <p:spPr>
          <a:xfrm>
            <a:off x="868680" y="1783080"/>
            <a:ext cx="3383280" cy="2103120"/>
          </a:xfrm>
          <a:prstGeom prst="rect">
            <a:avLst/>
          </a:prstGeom>
          <a:noFill/>
          <a:ln/>
        </p:spPr>
        <p:txBody>
          <a:bodyPr wrap="square" lIns="0" tIns="0" rIns="0" bIns="0" rtlCol="0" anchor="ctr"/>
          <a:lstStyle/>
          <a:p>
            <a:pPr indent="0" marL="0">
              <a:buNone/>
            </a:pPr>
            <a:r>
              <a:rPr lang="en-US" sz="2400" b="1" i="1" dirty="0">
                <a:solidFill>
                  <a:srgbClr val="667285"/>
                </a:solidFill>
                <a:latin typeface="Cambria" pitchFamily="34" charset="0"/>
                <a:ea typeface="Cambria" pitchFamily="34" charset="-122"/>
                <a:cs typeface="Cambria" pitchFamily="34" charset="-120"/>
              </a:rPr>
              <a:t>“The rim around the clot is starving tissue.”</a:t>
            </a:r>
            <a:endParaRPr lang="en-US" sz="2400" dirty="0"/>
          </a:p>
        </p:txBody>
      </p:sp>
      <p:sp>
        <p:nvSpPr>
          <p:cNvPr id="10" name="Text 6"/>
          <p:cNvSpPr txBox="1"/>
          <p:nvPr/>
        </p:nvSpPr>
        <p:spPr>
          <a:xfrm>
            <a:off x="868680" y="3931920"/>
            <a:ext cx="3383280" cy="1645920"/>
          </a:xfrm>
          <a:prstGeom prst="rect">
            <a:avLst/>
          </a:prstGeom>
          <a:noFill/>
          <a:ln/>
        </p:spPr>
        <p:txBody>
          <a:bodyPr wrap="square" lIns="0" tIns="0" rIns="0" bIns="0" rtlCol="0" anchor="t"/>
          <a:lstStyle/>
          <a:p>
            <a:pPr indent="0" marL="0">
              <a:buNone/>
            </a:pPr>
            <a:r>
              <a:rPr lang="en-US" sz="2000" b="1" dirty="0">
                <a:solidFill>
                  <a:srgbClr val="13233A"/>
                </a:solidFill>
                <a:latin typeface="Calibri" pitchFamily="34" charset="0"/>
                <a:ea typeface="Calibri" pitchFamily="34" charset="-122"/>
                <a:cs typeface="Calibri" pitchFamily="34" charset="-120"/>
              </a:rPr>
              <a:t>Lowering BP below 150 did not reduce flow around the clot (ICH ADAPT).</a:t>
            </a:r>
            <a:endParaRPr lang="en-US" sz="2000" dirty="0"/>
          </a:p>
        </p:txBody>
      </p:sp>
      <p:sp>
        <p:nvSpPr>
          <p:cNvPr id="11" name="Text 7"/>
          <p:cNvSpPr txBox="1"/>
          <p:nvPr/>
        </p:nvSpPr>
        <p:spPr>
          <a:xfrm>
            <a:off x="4937760" y="1783080"/>
            <a:ext cx="6705295" cy="4114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Rim vs the same area on the other side (PET)</a:t>
            </a:r>
            <a:endParaRPr lang="en-US" sz="1800" dirty="0"/>
          </a:p>
        </p:txBody>
      </p:sp>
      <p:graphicFrame>
        <p:nvGraphicFramePr>
          <p:cNvPr id="12" name="Chart 0" descr=""/>
          <p:cNvGraphicFramePr/>
          <p:nvPr/>
        </p:nvGraphicFramePr>
        <p:xfrm>
          <a:off x="4937760" y="2194560"/>
          <a:ext cx="6705295" cy="3611880"/>
        </p:xfrm>
        <a:graphic xmlns:a="http://schemas.openxmlformats.org/drawingml/2006/main">
          <a:graphicData uri="http://schemas.openxmlformats.org/drawingml/2006/chart">
            <c:chart xmlns:c="http://schemas.openxmlformats.org/drawingml/2006/chart" r:id="rId2"/>
          </a:graphicData>
        </a:graphic>
      </p:graphicFrame>
      <p:sp>
        <p:nvSpPr>
          <p:cNvPr id="13" name="Text 8"/>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PET, n = 19, 5–22 h after onset (Zazulia et al., 2001); ICH ADAPT randomised trial, n = 75 (Butcher et al., 2013).</a:t>
            </a:r>
            <a:endParaRPr lang="en-US" sz="1200" dirty="0"/>
          </a:p>
        </p:txBody>
      </p:sp>
      <p:sp>
        <p:nvSpPr>
          <p:cNvPr id="14" name="Text 9"/>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5"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16"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7"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8"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19" name="trk2"/>
          <p:cNvSpPr/>
          <p:nvPr/>
        </p:nvSpPr>
        <p:spPr>
          <a:xfrm>
            <a:off x="9153144" y="6460236"/>
            <a:ext cx="128016" cy="128016"/>
          </a:xfrm>
          <a:prstGeom prst="ellipse">
            <a:avLst/>
          </a:prstGeom>
          <a:solidFill>
            <a:srgbClr val="C1272D"/>
          </a:solidFill>
          <a:ln w="6350">
            <a:solidFill>
              <a:srgbClr val="C1272D"/>
            </a:solidFill>
            <a:prstDash val="solid"/>
          </a:ln>
        </p:spPr>
      </p:sp>
      <p:sp>
        <p:nvSpPr>
          <p:cNvPr id="20"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Days</a:t>
            </a:r>
            <a:endParaRPr lang="en-US" sz="1100" dirty="0"/>
          </a:p>
        </p:txBody>
      </p:sp>
      <p:sp>
        <p:nvSpPr>
          <p:cNvPr id="21"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2"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3"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26</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halo0"/>
          <p:cNvSpPr/>
          <p:nvPr/>
        </p:nvSpPr>
        <p:spPr>
          <a:xfrm>
            <a:off x="7223760" y="1325880"/>
            <a:ext cx="4206240" cy="4206240"/>
          </a:xfrm>
          <a:prstGeom prst="ellipse">
            <a:avLst/>
          </a:prstGeom>
          <a:solidFill>
            <a:srgbClr val="C1272D">
              <a:alpha val="10000"/>
            </a:srgbClr>
          </a:solidFill>
          <a:ln w="6350">
            <a:solidFill>
              <a:srgbClr val="C1272D">
                <a:alpha val="0"/>
              </a:srgbClr>
            </a:solidFill>
            <a:prstDash val="solid"/>
          </a:ln>
        </p:spPr>
      </p:sp>
      <p:sp>
        <p:nvSpPr>
          <p:cNvPr id="5" name="!!halo1"/>
          <p:cNvSpPr/>
          <p:nvPr/>
        </p:nvSpPr>
        <p:spPr>
          <a:xfrm>
            <a:off x="7635240" y="1737360"/>
            <a:ext cx="3383280" cy="3383280"/>
          </a:xfrm>
          <a:prstGeom prst="ellipse">
            <a:avLst/>
          </a:prstGeom>
          <a:solidFill>
            <a:srgbClr val="C1272D">
              <a:alpha val="20000"/>
            </a:srgbClr>
          </a:solidFill>
          <a:ln w="6350">
            <a:solidFill>
              <a:srgbClr val="C1272D">
                <a:alpha val="0"/>
              </a:srgbClr>
            </a:solidFill>
            <a:prstDash val="solid"/>
          </a:ln>
        </p:spPr>
      </p:sp>
      <p:sp>
        <p:nvSpPr>
          <p:cNvPr id="6" name="!!bleed"/>
          <p:cNvSpPr/>
          <p:nvPr/>
        </p:nvSpPr>
        <p:spPr>
          <a:xfrm>
            <a:off x="8092440" y="2194560"/>
            <a:ext cx="2468880" cy="2468880"/>
          </a:xfrm>
          <a:prstGeom prst="ellipse">
            <a:avLst/>
          </a:prstGeom>
          <a:solidFill>
            <a:srgbClr val="C1272D"/>
          </a:solidFill>
          <a:ln w="6350">
            <a:solidFill>
              <a:srgbClr val="C1272D"/>
            </a:solidFill>
            <a:prstDash val="solid"/>
          </a:ln>
        </p:spPr>
      </p:sp>
      <p:sp>
        <p:nvSpPr>
          <p:cNvPr id="7" name="Text 4"/>
          <p:cNvSpPr txBox="1"/>
          <p:nvPr/>
        </p:nvSpPr>
        <p:spPr>
          <a:xfrm>
            <a:off x="731520" y="1325880"/>
            <a:ext cx="2743200" cy="1463040"/>
          </a:xfrm>
          <a:prstGeom prst="rect">
            <a:avLst/>
          </a:prstGeom>
          <a:noFill/>
          <a:ln/>
        </p:spPr>
        <p:txBody>
          <a:bodyPr wrap="square" lIns="0" tIns="0" rIns="0" bIns="0" rtlCol="0" anchor="b"/>
          <a:lstStyle/>
          <a:p>
            <a:pPr indent="0" marL="0">
              <a:buNone/>
            </a:pPr>
            <a:r>
              <a:rPr lang="en-US" sz="11000" b="1" dirty="0">
                <a:solidFill>
                  <a:srgbClr val="E0474C"/>
                </a:solidFill>
                <a:latin typeface="Cambria" pitchFamily="34" charset="0"/>
                <a:ea typeface="Cambria" pitchFamily="34" charset="-122"/>
                <a:cs typeface="Cambria" pitchFamily="34" charset="-120"/>
              </a:rPr>
              <a:t>04</a:t>
            </a:r>
            <a:endParaRPr lang="en-US" sz="11000" dirty="0"/>
          </a:p>
        </p:txBody>
      </p:sp>
      <p:sp>
        <p:nvSpPr>
          <p:cNvPr id="8" name="Text 5"/>
          <p:cNvSpPr txBox="1"/>
          <p:nvPr/>
        </p:nvSpPr>
        <p:spPr>
          <a:xfrm>
            <a:off x="731520" y="2926080"/>
            <a:ext cx="62179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At the bedside</a:t>
            </a:r>
            <a:endParaRPr lang="en-US" sz="5400" dirty="0"/>
          </a:p>
        </p:txBody>
      </p:sp>
      <p:sp>
        <p:nvSpPr>
          <p:cNvPr id="9" name="Text 6"/>
          <p:cNvSpPr txBox="1"/>
          <p:nvPr/>
        </p:nvSpPr>
        <p:spPr>
          <a:xfrm>
            <a:off x="731520" y="3931920"/>
            <a:ext cx="5760720" cy="82296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What it means for physiotherapy</a:t>
            </a:r>
            <a:endParaRPr lang="en-US" sz="2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04 · AT THE BEDSIDE  ·  WHEN TO START</a:t>
            </a:r>
            <a:endParaRPr lang="en-US" sz="1400" dirty="0"/>
          </a:p>
        </p:txBody>
      </p:sp>
      <p:sp>
        <p:nvSpPr>
          <p:cNvPr id="4" name="Shape 1"/>
          <p:cNvSpPr/>
          <p:nvPr/>
        </p:nvSpPr>
        <p:spPr>
          <a:xfrm>
            <a:off x="8223199" y="356616"/>
            <a:ext cx="3419856"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378647" y="443484"/>
            <a:ext cx="173736" cy="173736"/>
          </a:xfrm>
          <a:prstGeom prst="rect">
            <a:avLst/>
          </a:prstGeom>
        </p:spPr>
      </p:pic>
      <p:sp>
        <p:nvSpPr>
          <p:cNvPr id="6" name="Text 2"/>
          <p:cNvSpPr txBox="1"/>
          <p:nvPr/>
        </p:nvSpPr>
        <p:spPr>
          <a:xfrm>
            <a:off x="8625535" y="356616"/>
            <a:ext cx="2944368"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RCTs · mostly small · low certainty</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Early helps; very early and intense may not</a:t>
            </a:r>
            <a:endParaRPr lang="en-US" sz="4000" dirty="0"/>
          </a:p>
        </p:txBody>
      </p:sp>
      <p:sp>
        <p:nvSpPr>
          <p:cNvPr id="8" name="Text 4"/>
          <p:cNvSpPr txBox="1"/>
          <p:nvPr/>
        </p:nvSpPr>
        <p:spPr>
          <a:xfrm>
            <a:off x="822960" y="1737360"/>
            <a:ext cx="10789920" cy="274320"/>
          </a:xfrm>
          <a:prstGeom prst="rect">
            <a:avLst/>
          </a:prstGeom>
          <a:noFill/>
          <a:ln/>
        </p:spPr>
        <p:txBody>
          <a:bodyPr wrap="square" lIns="0" tIns="0" rIns="0" bIns="0" rtlCol="0" anchor="ctr"/>
          <a:lstStyle/>
          <a:p>
            <a:pPr indent="0" marL="0">
              <a:buNone/>
            </a:pPr>
            <a:r>
              <a:rPr lang="en-US" sz="1400" b="1" dirty="0">
                <a:solidFill>
                  <a:srgbClr val="667285"/>
                </a:solidFill>
                <a:latin typeface="Calibri" pitchFamily="34" charset="0"/>
                <a:ea typeface="Calibri" pitchFamily="34" charset="-122"/>
                <a:cs typeface="Calibri" pitchFamily="34" charset="-120"/>
              </a:rPr>
              <a:t>AVERT Trial Collaboration Group (2015)  ·  RCT  ·  n = 2104  ·  infarcts and bleeds</a:t>
            </a:r>
            <a:endParaRPr lang="en-US" sz="1400" dirty="0"/>
          </a:p>
        </p:txBody>
      </p:sp>
      <p:sp>
        <p:nvSpPr>
          <p:cNvPr id="9" name="Text 5"/>
          <p:cNvSpPr txBox="1"/>
          <p:nvPr/>
        </p:nvSpPr>
        <p:spPr>
          <a:xfrm>
            <a:off x="822960" y="2011680"/>
            <a:ext cx="10789920" cy="384048"/>
          </a:xfrm>
          <a:prstGeom prst="rect">
            <a:avLst/>
          </a:prstGeom>
          <a:noFill/>
          <a:ln/>
        </p:spPr>
        <p:txBody>
          <a:bodyPr wrap="square" lIns="0" tIns="0" rIns="0" bIns="0" rtlCol="0" anchor="ctr"/>
          <a:lstStyle/>
          <a:p>
            <a:pPr indent="0" marL="0">
              <a:buNone/>
            </a:pPr>
            <a:r>
              <a:rPr lang="en-US" sz="2000" b="1" dirty="0">
                <a:solidFill>
                  <a:srgbClr val="8E1B1F"/>
                </a:solidFill>
                <a:latin typeface="Calibri" pitchFamily="34" charset="0"/>
                <a:ea typeface="Calibri" pitchFamily="34" charset="-122"/>
                <a:cs typeface="Calibri" pitchFamily="34" charset="-120"/>
              </a:rPr>
              <a:t>High dose within 24 h: fewer good outcomes (46% vs 50%)</a:t>
            </a:r>
            <a:endParaRPr lang="en-US" sz="2000" dirty="0"/>
          </a:p>
        </p:txBody>
      </p:sp>
      <p:sp>
        <p:nvSpPr>
          <p:cNvPr id="10" name="Shape 6"/>
          <p:cNvSpPr/>
          <p:nvPr/>
        </p:nvSpPr>
        <p:spPr>
          <a:xfrm>
            <a:off x="822960" y="2441448"/>
            <a:ext cx="3444240" cy="182880"/>
          </a:xfrm>
          <a:prstGeom prst="roundRect">
            <a:avLst>
              <a:gd name="adj" fmla="val 50000"/>
            </a:avLst>
          </a:prstGeom>
          <a:solidFill>
            <a:srgbClr val="C1272D"/>
          </a:solidFill>
          <a:ln w="6350">
            <a:solidFill>
              <a:srgbClr val="C1272D"/>
            </a:solidFill>
            <a:prstDash val="solid"/>
          </a:ln>
        </p:spPr>
      </p:sp>
      <p:sp>
        <p:nvSpPr>
          <p:cNvPr id="11" name="Text 7"/>
          <p:cNvSpPr txBox="1"/>
          <p:nvPr/>
        </p:nvSpPr>
        <p:spPr>
          <a:xfrm>
            <a:off x="822960" y="2679192"/>
            <a:ext cx="10789920" cy="274320"/>
          </a:xfrm>
          <a:prstGeom prst="rect">
            <a:avLst/>
          </a:prstGeom>
          <a:noFill/>
          <a:ln/>
        </p:spPr>
        <p:txBody>
          <a:bodyPr wrap="square" lIns="0" tIns="0" rIns="0" bIns="0" rtlCol="0" anchor="ctr"/>
          <a:lstStyle/>
          <a:p>
            <a:pPr indent="0" marL="0">
              <a:buNone/>
            </a:pPr>
            <a:r>
              <a:rPr lang="en-US" sz="1400" b="1" dirty="0">
                <a:solidFill>
                  <a:srgbClr val="667285"/>
                </a:solidFill>
                <a:latin typeface="Calibri" pitchFamily="34" charset="0"/>
                <a:ea typeface="Calibri" pitchFamily="34" charset="-122"/>
                <a:cs typeface="Calibri" pitchFamily="34" charset="-120"/>
              </a:rPr>
              <a:t>Liu et al. (2014)  ·  RCT  ·  n = 243  ·  ICH</a:t>
            </a:r>
            <a:endParaRPr lang="en-US" sz="1400" dirty="0"/>
          </a:p>
        </p:txBody>
      </p:sp>
      <p:sp>
        <p:nvSpPr>
          <p:cNvPr id="12" name="Text 8"/>
          <p:cNvSpPr txBox="1"/>
          <p:nvPr/>
        </p:nvSpPr>
        <p:spPr>
          <a:xfrm>
            <a:off x="822960" y="2953512"/>
            <a:ext cx="10789920" cy="384048"/>
          </a:xfrm>
          <a:prstGeom prst="rect">
            <a:avLst/>
          </a:prstGeom>
          <a:noFill/>
          <a:ln/>
        </p:spPr>
        <p:txBody>
          <a:bodyPr wrap="square" lIns="0" tIns="0" rIns="0" bIns="0" rtlCol="0" anchor="ctr"/>
          <a:lstStyle/>
          <a:p>
            <a:pPr indent="0" marL="0">
              <a:buNone/>
            </a:pPr>
            <a:r>
              <a:rPr lang="en-US" sz="2000" b="1" dirty="0">
                <a:solidFill>
                  <a:srgbClr val="13233A"/>
                </a:solidFill>
                <a:latin typeface="Calibri" pitchFamily="34" charset="0"/>
                <a:ea typeface="Calibri" pitchFamily="34" charset="-122"/>
                <a:cs typeface="Calibri" pitchFamily="34" charset="-120"/>
              </a:rPr>
              <a:t>Rehab started within 48 h: better MBI, fewer deaths</a:t>
            </a:r>
            <a:endParaRPr lang="en-US" sz="2000" dirty="0"/>
          </a:p>
        </p:txBody>
      </p:sp>
      <p:sp>
        <p:nvSpPr>
          <p:cNvPr id="13" name="Shape 9"/>
          <p:cNvSpPr/>
          <p:nvPr/>
        </p:nvSpPr>
        <p:spPr>
          <a:xfrm>
            <a:off x="822960" y="3383280"/>
            <a:ext cx="6888480" cy="182880"/>
          </a:xfrm>
          <a:prstGeom prst="roundRect">
            <a:avLst>
              <a:gd name="adj" fmla="val 50000"/>
            </a:avLst>
          </a:prstGeom>
          <a:solidFill>
            <a:srgbClr val="3E5C76"/>
          </a:solidFill>
          <a:ln w="6350">
            <a:solidFill>
              <a:srgbClr val="3E5C76"/>
            </a:solidFill>
            <a:prstDash val="solid"/>
          </a:ln>
        </p:spPr>
      </p:sp>
      <p:sp>
        <p:nvSpPr>
          <p:cNvPr id="14" name="Text 10"/>
          <p:cNvSpPr txBox="1"/>
          <p:nvPr/>
        </p:nvSpPr>
        <p:spPr>
          <a:xfrm>
            <a:off x="4267200" y="3621024"/>
            <a:ext cx="7345680" cy="274320"/>
          </a:xfrm>
          <a:prstGeom prst="rect">
            <a:avLst/>
          </a:prstGeom>
          <a:noFill/>
          <a:ln/>
        </p:spPr>
        <p:txBody>
          <a:bodyPr wrap="square" lIns="0" tIns="0" rIns="0" bIns="0" rtlCol="0" anchor="ctr"/>
          <a:lstStyle/>
          <a:p>
            <a:pPr indent="0" marL="0">
              <a:buNone/>
            </a:pPr>
            <a:r>
              <a:rPr lang="en-US" sz="1400" b="1" dirty="0">
                <a:solidFill>
                  <a:srgbClr val="667285"/>
                </a:solidFill>
                <a:latin typeface="Calibri" pitchFamily="34" charset="0"/>
                <a:ea typeface="Calibri" pitchFamily="34" charset="-122"/>
                <a:cs typeface="Calibri" pitchFamily="34" charset="-120"/>
              </a:rPr>
              <a:t>Yen et al. (2020)  ·  RCT  ·  n = 60  ·  mild to moderate ICH</a:t>
            </a:r>
            <a:endParaRPr lang="en-US" sz="1400" dirty="0"/>
          </a:p>
        </p:txBody>
      </p:sp>
      <p:sp>
        <p:nvSpPr>
          <p:cNvPr id="15" name="Text 11"/>
          <p:cNvSpPr txBox="1"/>
          <p:nvPr/>
        </p:nvSpPr>
        <p:spPr>
          <a:xfrm>
            <a:off x="4267200" y="3895344"/>
            <a:ext cx="7345680" cy="384048"/>
          </a:xfrm>
          <a:prstGeom prst="rect">
            <a:avLst/>
          </a:prstGeom>
          <a:noFill/>
          <a:ln/>
        </p:spPr>
        <p:txBody>
          <a:bodyPr wrap="square" lIns="0" tIns="0" rIns="0" bIns="0" rtlCol="0" anchor="ctr"/>
          <a:lstStyle/>
          <a:p>
            <a:pPr indent="0" marL="0">
              <a:buNone/>
            </a:pPr>
            <a:r>
              <a:rPr lang="en-US" sz="2000" b="1" dirty="0">
                <a:solidFill>
                  <a:srgbClr val="13233A"/>
                </a:solidFill>
                <a:latin typeface="Calibri" pitchFamily="34" charset="0"/>
                <a:ea typeface="Calibri" pitchFamily="34" charset="-122"/>
                <a:cs typeface="Calibri" pitchFamily="34" charset="-120"/>
              </a:rPr>
              <a:t>Out of bed at 24–72 h: better FIM-motor and walking</a:t>
            </a:r>
            <a:endParaRPr lang="en-US" sz="2000" dirty="0"/>
          </a:p>
        </p:txBody>
      </p:sp>
      <p:sp>
        <p:nvSpPr>
          <p:cNvPr id="16" name="Shape 12"/>
          <p:cNvSpPr/>
          <p:nvPr/>
        </p:nvSpPr>
        <p:spPr>
          <a:xfrm>
            <a:off x="4267200" y="4325112"/>
            <a:ext cx="6888480" cy="182880"/>
          </a:xfrm>
          <a:prstGeom prst="roundRect">
            <a:avLst>
              <a:gd name="adj" fmla="val 50000"/>
            </a:avLst>
          </a:prstGeom>
          <a:solidFill>
            <a:srgbClr val="13233A"/>
          </a:solidFill>
          <a:ln w="6350">
            <a:solidFill>
              <a:srgbClr val="13233A"/>
            </a:solidFill>
            <a:prstDash val="solid"/>
          </a:ln>
        </p:spPr>
      </p:sp>
      <p:sp>
        <p:nvSpPr>
          <p:cNvPr id="17" name="Shape 13"/>
          <p:cNvSpPr/>
          <p:nvPr/>
        </p:nvSpPr>
        <p:spPr>
          <a:xfrm>
            <a:off x="822960" y="4617720"/>
            <a:ext cx="10652760" cy="0"/>
          </a:xfrm>
          <a:prstGeom prst="line">
            <a:avLst/>
          </a:prstGeom>
          <a:noFill/>
          <a:ln w="25400">
            <a:solidFill>
              <a:srgbClr val="C9D2DE"/>
            </a:solidFill>
            <a:prstDash val="solid"/>
            <a:tailEnd type="triangle"/>
          </a:ln>
        </p:spPr>
      </p:sp>
      <p:sp>
        <p:nvSpPr>
          <p:cNvPr id="18" name="Shape 14"/>
          <p:cNvSpPr/>
          <p:nvPr/>
        </p:nvSpPr>
        <p:spPr>
          <a:xfrm>
            <a:off x="822960" y="4535424"/>
            <a:ext cx="0" cy="164592"/>
          </a:xfrm>
          <a:prstGeom prst="line">
            <a:avLst/>
          </a:prstGeom>
          <a:noFill/>
          <a:ln w="19050">
            <a:solidFill>
              <a:srgbClr val="667285"/>
            </a:solidFill>
            <a:prstDash val="solid"/>
          </a:ln>
        </p:spPr>
      </p:sp>
      <p:sp>
        <p:nvSpPr>
          <p:cNvPr id="19" name="Text 15"/>
          <p:cNvSpPr txBox="1"/>
          <p:nvPr/>
        </p:nvSpPr>
        <p:spPr>
          <a:xfrm>
            <a:off x="365760" y="4727448"/>
            <a:ext cx="914400" cy="256032"/>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0 h</a:t>
            </a:r>
            <a:endParaRPr lang="en-US" sz="1400" dirty="0"/>
          </a:p>
        </p:txBody>
      </p:sp>
      <p:sp>
        <p:nvSpPr>
          <p:cNvPr id="20" name="Shape 16"/>
          <p:cNvSpPr/>
          <p:nvPr/>
        </p:nvSpPr>
        <p:spPr>
          <a:xfrm>
            <a:off x="4267200" y="4535424"/>
            <a:ext cx="0" cy="164592"/>
          </a:xfrm>
          <a:prstGeom prst="line">
            <a:avLst/>
          </a:prstGeom>
          <a:noFill/>
          <a:ln w="19050">
            <a:solidFill>
              <a:srgbClr val="667285"/>
            </a:solidFill>
            <a:prstDash val="solid"/>
          </a:ln>
        </p:spPr>
      </p:sp>
      <p:sp>
        <p:nvSpPr>
          <p:cNvPr id="21" name="Text 17"/>
          <p:cNvSpPr txBox="1"/>
          <p:nvPr/>
        </p:nvSpPr>
        <p:spPr>
          <a:xfrm>
            <a:off x="3810000" y="4727448"/>
            <a:ext cx="914400" cy="256032"/>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24 h</a:t>
            </a:r>
            <a:endParaRPr lang="en-US" sz="1400" dirty="0"/>
          </a:p>
        </p:txBody>
      </p:sp>
      <p:sp>
        <p:nvSpPr>
          <p:cNvPr id="22" name="Shape 18"/>
          <p:cNvSpPr/>
          <p:nvPr/>
        </p:nvSpPr>
        <p:spPr>
          <a:xfrm>
            <a:off x="7711440" y="4535424"/>
            <a:ext cx="0" cy="164592"/>
          </a:xfrm>
          <a:prstGeom prst="line">
            <a:avLst/>
          </a:prstGeom>
          <a:noFill/>
          <a:ln w="19050">
            <a:solidFill>
              <a:srgbClr val="667285"/>
            </a:solidFill>
            <a:prstDash val="solid"/>
          </a:ln>
        </p:spPr>
      </p:sp>
      <p:sp>
        <p:nvSpPr>
          <p:cNvPr id="23" name="Text 19"/>
          <p:cNvSpPr txBox="1"/>
          <p:nvPr/>
        </p:nvSpPr>
        <p:spPr>
          <a:xfrm>
            <a:off x="7254240" y="4727448"/>
            <a:ext cx="914400" cy="256032"/>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48 h</a:t>
            </a:r>
            <a:endParaRPr lang="en-US" sz="1400" dirty="0"/>
          </a:p>
        </p:txBody>
      </p:sp>
      <p:sp>
        <p:nvSpPr>
          <p:cNvPr id="24" name="Shape 20"/>
          <p:cNvSpPr/>
          <p:nvPr/>
        </p:nvSpPr>
        <p:spPr>
          <a:xfrm>
            <a:off x="11155680" y="4535424"/>
            <a:ext cx="0" cy="164592"/>
          </a:xfrm>
          <a:prstGeom prst="line">
            <a:avLst/>
          </a:prstGeom>
          <a:noFill/>
          <a:ln w="19050">
            <a:solidFill>
              <a:srgbClr val="667285"/>
            </a:solidFill>
            <a:prstDash val="solid"/>
          </a:ln>
        </p:spPr>
      </p:sp>
      <p:sp>
        <p:nvSpPr>
          <p:cNvPr id="25" name="Text 21"/>
          <p:cNvSpPr txBox="1"/>
          <p:nvPr/>
        </p:nvSpPr>
        <p:spPr>
          <a:xfrm>
            <a:off x="10698480" y="4727448"/>
            <a:ext cx="914400" cy="256032"/>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72 h</a:t>
            </a:r>
            <a:endParaRPr lang="en-US" sz="1400" dirty="0"/>
          </a:p>
        </p:txBody>
      </p:sp>
      <p:sp>
        <p:nvSpPr>
          <p:cNvPr id="26" name="Shape 22"/>
          <p:cNvSpPr/>
          <p:nvPr/>
        </p:nvSpPr>
        <p:spPr>
          <a:xfrm>
            <a:off x="548640" y="5074920"/>
            <a:ext cx="11094415" cy="749808"/>
          </a:xfrm>
          <a:prstGeom prst="roundRect">
            <a:avLst>
              <a:gd name="adj" fmla="val 12195"/>
            </a:avLst>
          </a:prstGeom>
          <a:solidFill>
            <a:srgbClr val="13233A"/>
          </a:solidFill>
          <a:ln w="6350">
            <a:solidFill>
              <a:srgbClr val="13233A"/>
            </a:solidFill>
            <a:prstDash val="solid"/>
          </a:ln>
        </p:spPr>
      </p:sp>
      <p:sp>
        <p:nvSpPr>
          <p:cNvPr id="27" name="Text 23"/>
          <p:cNvSpPr txBox="1"/>
          <p:nvPr/>
        </p:nvSpPr>
        <p:spPr>
          <a:xfrm>
            <a:off x="868680" y="5074920"/>
            <a:ext cx="6949440" cy="74980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Short and frequent </a:t>
            </a:r>
            <a:pPr indent="0" marL="0">
              <a:buNone/>
            </a:pPr>
            <a:r>
              <a:rPr lang="en-US" sz="1900" dirty="0">
                <a:solidFill>
                  <a:srgbClr val="C9D3E0"/>
                </a:solidFill>
                <a:latin typeface="Calibri" pitchFamily="34" charset="0"/>
                <a:ea typeface="Calibri" pitchFamily="34" charset="-122"/>
                <a:cs typeface="Calibri" pitchFamily="34" charset="-120"/>
              </a:rPr>
              <a:t>sessions did better (Bernhardt et al., 2016)</a:t>
            </a:r>
            <a:endParaRPr lang="en-US" sz="1900" dirty="0"/>
          </a:p>
        </p:txBody>
      </p:sp>
      <p:sp>
        <p:nvSpPr>
          <p:cNvPr id="28" name="Text 24"/>
          <p:cNvSpPr txBox="1"/>
          <p:nvPr/>
        </p:nvSpPr>
        <p:spPr>
          <a:xfrm>
            <a:off x="7955280" y="5074920"/>
            <a:ext cx="3459175" cy="749808"/>
          </a:xfrm>
          <a:prstGeom prst="rect">
            <a:avLst/>
          </a:prstGeom>
          <a:noFill/>
          <a:ln/>
        </p:spPr>
        <p:txBody>
          <a:bodyPr wrap="square" lIns="0" tIns="0" rIns="0" bIns="0" rtlCol="0" anchor="ctr"/>
          <a:lstStyle/>
          <a:p>
            <a:pPr algn="r" indent="0" marL="0">
              <a:buNone/>
            </a:pPr>
            <a:r>
              <a:rPr lang="en-US" sz="1800" b="1" dirty="0">
                <a:solidFill>
                  <a:srgbClr val="F08A8E"/>
                </a:solidFill>
                <a:latin typeface="Calibri" pitchFamily="34" charset="0"/>
                <a:ea typeface="Calibri" pitchFamily="34" charset="-122"/>
                <a:cs typeface="Calibri" pitchFamily="34" charset="-120"/>
              </a:rPr>
              <a:t>Certainty: low (Kan et al., 2026)</a:t>
            </a:r>
            <a:endParaRPr lang="en-US" sz="1800" dirty="0"/>
          </a:p>
        </p:txBody>
      </p:sp>
      <p:sp>
        <p:nvSpPr>
          <p:cNvPr id="29" name="Text 25"/>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Kan et al. (2026): 17 RCTs, n = 1396. Blood pressure variability was unchanged with early mobilisation (Yen et al., 2021).</a:t>
            </a:r>
            <a:endParaRPr lang="en-US" sz="1200" dirty="0"/>
          </a:p>
        </p:txBody>
      </p:sp>
      <p:sp>
        <p:nvSpPr>
          <p:cNvPr id="30" name="Text 26"/>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1"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2"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3"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4"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5"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6"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7"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38"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39"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28</a:t>
            </a:r>
            <a:endParaRPr lang="en-US" sz="11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CLINICAL REASONING</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Day 4: drowsier than yesterday</a:t>
            </a:r>
            <a:endParaRPr lang="en-US" sz="4000" dirty="0"/>
          </a:p>
        </p:txBody>
      </p:sp>
      <p:sp>
        <p:nvSpPr>
          <p:cNvPr id="5" name="Shape 2"/>
          <p:cNvSpPr/>
          <p:nvPr/>
        </p:nvSpPr>
        <p:spPr>
          <a:xfrm>
            <a:off x="548640" y="1737360"/>
            <a:ext cx="4297680" cy="2514600"/>
          </a:xfrm>
          <a:prstGeom prst="roundRect">
            <a:avLst>
              <a:gd name="adj" fmla="val 3636"/>
            </a:avLst>
          </a:prstGeom>
          <a:solidFill>
            <a:srgbClr val="E8EDF3"/>
          </a:solidFill>
          <a:ln w="6350">
            <a:solidFill>
              <a:srgbClr val="E8EDF3"/>
            </a:solidFill>
            <a:prstDash val="solid"/>
          </a:ln>
        </p:spPr>
      </p:sp>
      <p:sp>
        <p:nvSpPr>
          <p:cNvPr id="6" name="Text 3"/>
          <p:cNvSpPr txBox="1"/>
          <p:nvPr/>
        </p:nvSpPr>
        <p:spPr>
          <a:xfrm>
            <a:off x="868680" y="1874520"/>
            <a:ext cx="3657600" cy="320040"/>
          </a:xfrm>
          <a:prstGeom prst="rect">
            <a:avLst/>
          </a:prstGeom>
          <a:noFill/>
          <a:ln/>
        </p:spPr>
        <p:txBody>
          <a:bodyPr wrap="square" lIns="0" tIns="0" rIns="0" bIns="0" rtlCol="0" anchor="ctr"/>
          <a:lstStyle/>
          <a:p>
            <a:pPr indent="0" marL="0">
              <a:buNone/>
            </a:pPr>
            <a:r>
              <a:rPr lang="en-US" sz="1300" b="1" spc="200" kern="0" dirty="0">
                <a:solidFill>
                  <a:srgbClr val="3E5C76"/>
                </a:solidFill>
                <a:latin typeface="Calibri" pitchFamily="34" charset="0"/>
                <a:ea typeface="Calibri" pitchFamily="34" charset="-122"/>
                <a:cs typeface="Calibri" pitchFamily="34" charset="-120"/>
              </a:rPr>
              <a:t>MR K, 68  ·  A COMPOSITE CASE</a:t>
            </a:r>
            <a:endParaRPr lang="en-US" sz="1300" dirty="0"/>
          </a:p>
        </p:txBody>
      </p:sp>
      <p:sp>
        <p:nvSpPr>
          <p:cNvPr id="7" name="Text 4"/>
          <p:cNvSpPr txBox="1"/>
          <p:nvPr/>
        </p:nvSpPr>
        <p:spPr>
          <a:xfrm>
            <a:off x="868680" y="2212848"/>
            <a:ext cx="3657600" cy="868680"/>
          </a:xfrm>
          <a:prstGeom prst="rect">
            <a:avLst/>
          </a:prstGeom>
          <a:noFill/>
          <a:ln/>
        </p:spPr>
        <p:txBody>
          <a:bodyPr wrap="square" lIns="0" tIns="0" rIns="0" bIns="0" rtlCol="0" anchor="ctr"/>
          <a:lstStyle/>
          <a:p>
            <a:pPr indent="0" marL="0">
              <a:buNone/>
            </a:pPr>
            <a:r>
              <a:rPr lang="en-US" sz="2500" b="1" dirty="0">
                <a:solidFill>
                  <a:srgbClr val="13233A"/>
                </a:solidFill>
                <a:latin typeface="Calibri" pitchFamily="34" charset="0"/>
                <a:ea typeface="Calibri" pitchFamily="34" charset="-122"/>
                <a:cs typeface="Calibri" pitchFamily="34" charset="-120"/>
              </a:rPr>
              <a:t>Left putaminal bleed, 22 mL</a:t>
            </a:r>
            <a:endParaRPr lang="en-US" sz="2500" dirty="0"/>
          </a:p>
        </p:txBody>
      </p:sp>
      <p:sp>
        <p:nvSpPr>
          <p:cNvPr id="8" name="Text 5"/>
          <p:cNvSpPr txBox="1"/>
          <p:nvPr/>
        </p:nvSpPr>
        <p:spPr>
          <a:xfrm>
            <a:off x="868680" y="3081528"/>
            <a:ext cx="3657600" cy="384048"/>
          </a:xfrm>
          <a:prstGeom prst="rect">
            <a:avLst/>
          </a:prstGeom>
          <a:noFill/>
          <a:ln/>
        </p:spPr>
        <p:txBody>
          <a:bodyPr wrap="square" lIns="0" tIns="0" rIns="0" bIns="0" rtlCol="0" anchor="ctr"/>
          <a:lstStyle/>
          <a:p>
            <a:pPr indent="0" marL="0">
              <a:buNone/>
            </a:pPr>
            <a:r>
              <a:rPr lang="en-US" sz="1900" dirty="0">
                <a:solidFill>
                  <a:srgbClr val="1B2230"/>
                </a:solidFill>
                <a:latin typeface="Calibri" pitchFamily="34" charset="0"/>
                <a:ea typeface="Calibri" pitchFamily="34" charset="-122"/>
                <a:cs typeface="Calibri" pitchFamily="34" charset="-120"/>
              </a:rPr>
              <a:t>Long-standing hypertension</a:t>
            </a:r>
            <a:endParaRPr lang="en-US" sz="1900" dirty="0"/>
          </a:p>
        </p:txBody>
      </p:sp>
      <p:sp>
        <p:nvSpPr>
          <p:cNvPr id="9" name="Shape 6"/>
          <p:cNvSpPr/>
          <p:nvPr/>
        </p:nvSpPr>
        <p:spPr>
          <a:xfrm>
            <a:off x="868680" y="3584448"/>
            <a:ext cx="3657600" cy="0"/>
          </a:xfrm>
          <a:prstGeom prst="line">
            <a:avLst/>
          </a:prstGeom>
          <a:noFill/>
          <a:ln w="12700">
            <a:solidFill>
              <a:srgbClr val="C9D2DE"/>
            </a:solidFill>
            <a:prstDash val="solid"/>
          </a:ln>
        </p:spPr>
      </p:sp>
      <p:sp>
        <p:nvSpPr>
          <p:cNvPr id="10" name="Text 7"/>
          <p:cNvSpPr txBox="1"/>
          <p:nvPr/>
        </p:nvSpPr>
        <p:spPr>
          <a:xfrm>
            <a:off x="868680" y="3657600"/>
            <a:ext cx="3657600" cy="457200"/>
          </a:xfrm>
          <a:prstGeom prst="rect">
            <a:avLst/>
          </a:prstGeom>
          <a:noFill/>
          <a:ln/>
        </p:spPr>
        <p:txBody>
          <a:bodyPr wrap="square" lIns="0" tIns="0" rIns="0" bIns="0" rtlCol="0" anchor="ctr"/>
          <a:lstStyle/>
          <a:p>
            <a:pPr indent="0" marL="0">
              <a:buNone/>
            </a:pPr>
            <a:r>
              <a:rPr lang="en-US" sz="1800" dirty="0">
                <a:solidFill>
                  <a:srgbClr val="3E5C76"/>
                </a:solidFill>
                <a:latin typeface="Calibri" pitchFamily="34" charset="0"/>
                <a:ea typeface="Calibri" pitchFamily="34" charset="-122"/>
                <a:cs typeface="Calibri" pitchFamily="34" charset="-120"/>
              </a:rPr>
              <a:t>Yesterday: sat out 20 min, GCS 15</a:t>
            </a:r>
            <a:endParaRPr lang="en-US" sz="1800" dirty="0"/>
          </a:p>
        </p:txBody>
      </p:sp>
      <p:sp>
        <p:nvSpPr>
          <p:cNvPr id="11" name="Shape 8"/>
          <p:cNvSpPr/>
          <p:nvPr/>
        </p:nvSpPr>
        <p:spPr>
          <a:xfrm>
            <a:off x="5120640" y="1737360"/>
            <a:ext cx="6522415" cy="2514600"/>
          </a:xfrm>
          <a:prstGeom prst="roundRect">
            <a:avLst>
              <a:gd name="adj" fmla="val 3636"/>
            </a:avLst>
          </a:prstGeom>
          <a:solidFill>
            <a:srgbClr val="F6DCDD"/>
          </a:solidFill>
          <a:ln w="6350">
            <a:solidFill>
              <a:srgbClr val="F6DCDD"/>
            </a:solidFill>
            <a:prstDash val="solid"/>
          </a:ln>
        </p:spPr>
      </p:sp>
      <p:sp>
        <p:nvSpPr>
          <p:cNvPr id="12" name="Text 9"/>
          <p:cNvSpPr txBox="1"/>
          <p:nvPr/>
        </p:nvSpPr>
        <p:spPr>
          <a:xfrm>
            <a:off x="5440680" y="1874520"/>
            <a:ext cx="5882335" cy="320040"/>
          </a:xfrm>
          <a:prstGeom prst="rect">
            <a:avLst/>
          </a:prstGeom>
          <a:noFill/>
          <a:ln/>
        </p:spPr>
        <p:txBody>
          <a:bodyPr wrap="square" lIns="0" tIns="0" rIns="0" bIns="0" rtlCol="0" anchor="ctr"/>
          <a:lstStyle/>
          <a:p>
            <a:pPr indent="0" marL="0">
              <a:buNone/>
            </a:pPr>
            <a:r>
              <a:rPr lang="en-US" sz="1300" b="1" spc="200" kern="0" dirty="0">
                <a:solidFill>
                  <a:srgbClr val="8E1B1F"/>
                </a:solidFill>
                <a:latin typeface="Calibri" pitchFamily="34" charset="0"/>
                <a:ea typeface="Calibri" pitchFamily="34" charset="-122"/>
                <a:cs typeface="Calibri" pitchFamily="34" charset="-120"/>
              </a:rPr>
              <a:t>TODAY, 9 A.M.</a:t>
            </a:r>
            <a:endParaRPr lang="en-US" sz="1300" dirty="0"/>
          </a:p>
        </p:txBody>
      </p:sp>
      <p:sp>
        <p:nvSpPr>
          <p:cNvPr id="13" name="Shape 10"/>
          <p:cNvSpPr/>
          <p:nvPr/>
        </p:nvSpPr>
        <p:spPr>
          <a:xfrm>
            <a:off x="5440680" y="2633472"/>
            <a:ext cx="182880" cy="182880"/>
          </a:xfrm>
          <a:prstGeom prst="ellipse">
            <a:avLst/>
          </a:prstGeom>
          <a:solidFill>
            <a:srgbClr val="C1272D"/>
          </a:solidFill>
          <a:ln w="6350">
            <a:solidFill>
              <a:srgbClr val="C1272D"/>
            </a:solidFill>
            <a:prstDash val="solid"/>
          </a:ln>
        </p:spPr>
      </p:sp>
      <p:sp>
        <p:nvSpPr>
          <p:cNvPr id="14" name="Text 11"/>
          <p:cNvSpPr txBox="1"/>
          <p:nvPr/>
        </p:nvSpPr>
        <p:spPr>
          <a:xfrm>
            <a:off x="5788152" y="2377440"/>
            <a:ext cx="2529688" cy="694944"/>
          </a:xfrm>
          <a:prstGeom prst="rect">
            <a:avLst/>
          </a:prstGeom>
          <a:noFill/>
          <a:ln/>
        </p:spPr>
        <p:txBody>
          <a:bodyPr wrap="square" lIns="0" tIns="0" rIns="0" bIns="0" rtlCol="0" anchor="ctr"/>
          <a:lstStyle/>
          <a:p>
            <a:pPr indent="0" marL="0">
              <a:buNone/>
            </a:pPr>
            <a:r>
              <a:rPr lang="en-US" sz="2800" b="1" dirty="0">
                <a:solidFill>
                  <a:srgbClr val="8E1B1F"/>
                </a:solidFill>
                <a:latin typeface="Calibri" pitchFamily="34" charset="0"/>
                <a:ea typeface="Calibri" pitchFamily="34" charset="-122"/>
                <a:cs typeface="Calibri" pitchFamily="34" charset="-120"/>
              </a:rPr>
              <a:t>GCS 13</a:t>
            </a:r>
            <a:endParaRPr lang="en-US" sz="2800" dirty="0"/>
          </a:p>
        </p:txBody>
      </p:sp>
      <p:sp>
        <p:nvSpPr>
          <p:cNvPr id="15" name="Shape 12"/>
          <p:cNvSpPr/>
          <p:nvPr/>
        </p:nvSpPr>
        <p:spPr>
          <a:xfrm>
            <a:off x="8381848" y="2633472"/>
            <a:ext cx="182880" cy="182880"/>
          </a:xfrm>
          <a:prstGeom prst="ellipse">
            <a:avLst/>
          </a:prstGeom>
          <a:solidFill>
            <a:srgbClr val="C1272D"/>
          </a:solidFill>
          <a:ln w="6350">
            <a:solidFill>
              <a:srgbClr val="C1272D"/>
            </a:solidFill>
            <a:prstDash val="solid"/>
          </a:ln>
        </p:spPr>
      </p:sp>
      <p:sp>
        <p:nvSpPr>
          <p:cNvPr id="16" name="Text 13"/>
          <p:cNvSpPr txBox="1"/>
          <p:nvPr/>
        </p:nvSpPr>
        <p:spPr>
          <a:xfrm>
            <a:off x="8729320" y="2377440"/>
            <a:ext cx="2529688" cy="694944"/>
          </a:xfrm>
          <a:prstGeom prst="rect">
            <a:avLst/>
          </a:prstGeom>
          <a:noFill/>
          <a:ln/>
        </p:spPr>
        <p:txBody>
          <a:bodyPr wrap="square" lIns="0" tIns="0" rIns="0" bIns="0" rtlCol="0" anchor="ctr"/>
          <a:lstStyle/>
          <a:p>
            <a:pPr indent="0" marL="0">
              <a:buNone/>
            </a:pPr>
            <a:r>
              <a:rPr lang="en-US" sz="2800" b="1" dirty="0">
                <a:solidFill>
                  <a:srgbClr val="8E1B1F"/>
                </a:solidFill>
                <a:latin typeface="Calibri" pitchFamily="34" charset="0"/>
                <a:ea typeface="Calibri" pitchFamily="34" charset="-122"/>
                <a:cs typeface="Calibri" pitchFamily="34" charset="-120"/>
              </a:rPr>
              <a:t>New headache</a:t>
            </a:r>
            <a:endParaRPr lang="en-US" sz="2800" dirty="0"/>
          </a:p>
        </p:txBody>
      </p:sp>
      <p:sp>
        <p:nvSpPr>
          <p:cNvPr id="17" name="Shape 14"/>
          <p:cNvSpPr/>
          <p:nvPr/>
        </p:nvSpPr>
        <p:spPr>
          <a:xfrm>
            <a:off x="5440680" y="3502152"/>
            <a:ext cx="182880" cy="182880"/>
          </a:xfrm>
          <a:prstGeom prst="ellipse">
            <a:avLst/>
          </a:prstGeom>
          <a:solidFill>
            <a:srgbClr val="C1272D"/>
          </a:solidFill>
          <a:ln w="6350">
            <a:solidFill>
              <a:srgbClr val="C1272D"/>
            </a:solidFill>
            <a:prstDash val="solid"/>
          </a:ln>
        </p:spPr>
      </p:sp>
      <p:sp>
        <p:nvSpPr>
          <p:cNvPr id="18" name="Text 15"/>
          <p:cNvSpPr txBox="1"/>
          <p:nvPr/>
        </p:nvSpPr>
        <p:spPr>
          <a:xfrm>
            <a:off x="5788152" y="3246120"/>
            <a:ext cx="2529688" cy="694944"/>
          </a:xfrm>
          <a:prstGeom prst="rect">
            <a:avLst/>
          </a:prstGeom>
          <a:noFill/>
          <a:ln/>
        </p:spPr>
        <p:txBody>
          <a:bodyPr wrap="square" lIns="0" tIns="0" rIns="0" bIns="0" rtlCol="0" anchor="ctr"/>
          <a:lstStyle/>
          <a:p>
            <a:pPr indent="0" marL="0">
              <a:buNone/>
            </a:pPr>
            <a:r>
              <a:rPr lang="en-US" sz="2800" b="1" dirty="0">
                <a:solidFill>
                  <a:srgbClr val="8E1B1F"/>
                </a:solidFill>
                <a:latin typeface="Calibri" pitchFamily="34" charset="0"/>
                <a:ea typeface="Calibri" pitchFamily="34" charset="-122"/>
                <a:cs typeface="Calibri" pitchFamily="34" charset="-120"/>
              </a:rPr>
              <a:t>Vomited once</a:t>
            </a:r>
            <a:endParaRPr lang="en-US" sz="2800" dirty="0"/>
          </a:p>
        </p:txBody>
      </p:sp>
      <p:sp>
        <p:nvSpPr>
          <p:cNvPr id="19" name="Shape 16"/>
          <p:cNvSpPr/>
          <p:nvPr/>
        </p:nvSpPr>
        <p:spPr>
          <a:xfrm>
            <a:off x="8381848" y="3502152"/>
            <a:ext cx="182880" cy="182880"/>
          </a:xfrm>
          <a:prstGeom prst="ellipse">
            <a:avLst/>
          </a:prstGeom>
          <a:solidFill>
            <a:srgbClr val="C1272D"/>
          </a:solidFill>
          <a:ln w="6350">
            <a:solidFill>
              <a:srgbClr val="C1272D"/>
            </a:solidFill>
            <a:prstDash val="solid"/>
          </a:ln>
        </p:spPr>
      </p:sp>
      <p:sp>
        <p:nvSpPr>
          <p:cNvPr id="20" name="Text 17"/>
          <p:cNvSpPr txBox="1"/>
          <p:nvPr/>
        </p:nvSpPr>
        <p:spPr>
          <a:xfrm>
            <a:off x="8729320" y="3246120"/>
            <a:ext cx="2529688" cy="694944"/>
          </a:xfrm>
          <a:prstGeom prst="rect">
            <a:avLst/>
          </a:prstGeom>
          <a:noFill/>
          <a:ln/>
        </p:spPr>
        <p:txBody>
          <a:bodyPr wrap="square" lIns="0" tIns="0" rIns="0" bIns="0" rtlCol="0" anchor="ctr"/>
          <a:lstStyle/>
          <a:p>
            <a:pPr indent="0" marL="0">
              <a:buNone/>
            </a:pPr>
            <a:r>
              <a:rPr lang="en-US" sz="2800" b="1" dirty="0">
                <a:solidFill>
                  <a:srgbClr val="8E1B1F"/>
                </a:solidFill>
                <a:latin typeface="Calibri" pitchFamily="34" charset="0"/>
                <a:ea typeface="Calibri" pitchFamily="34" charset="-122"/>
                <a:cs typeface="Calibri" pitchFamily="34" charset="-120"/>
              </a:rPr>
              <a:t>BP 184/98</a:t>
            </a:r>
            <a:endParaRPr lang="en-US" sz="2800" dirty="0"/>
          </a:p>
        </p:txBody>
      </p:sp>
      <p:sp>
        <p:nvSpPr>
          <p:cNvPr id="21" name="Text 18"/>
          <p:cNvSpPr txBox="1"/>
          <p:nvPr/>
        </p:nvSpPr>
        <p:spPr>
          <a:xfrm>
            <a:off x="548640" y="4434840"/>
            <a:ext cx="11094415" cy="457200"/>
          </a:xfrm>
          <a:prstGeom prst="rect">
            <a:avLst/>
          </a:prstGeom>
          <a:noFill/>
          <a:ln/>
        </p:spPr>
        <p:txBody>
          <a:bodyPr wrap="square" lIns="0" tIns="0" rIns="0" bIns="0" rtlCol="0" anchor="ctr"/>
          <a:lstStyle/>
          <a:p>
            <a:pPr indent="0" marL="0">
              <a:buNone/>
            </a:pPr>
            <a:r>
              <a:rPr lang="en-US" sz="2200" b="1" dirty="0">
                <a:solidFill>
                  <a:srgbClr val="13233A"/>
                </a:solidFill>
                <a:latin typeface="Calibri" pitchFamily="34" charset="0"/>
                <a:ea typeface="Calibri" pitchFamily="34" charset="-122"/>
                <a:cs typeface="Calibri" pitchFamily="34" charset="-120"/>
              </a:rPr>
              <a:t>Planned: sit-to-stand practice. What do you do?</a:t>
            </a:r>
            <a:endParaRPr lang="en-US" sz="2200" dirty="0"/>
          </a:p>
        </p:txBody>
      </p:sp>
      <p:sp>
        <p:nvSpPr>
          <p:cNvPr id="22" name="Shape 19"/>
          <p:cNvSpPr/>
          <p:nvPr/>
        </p:nvSpPr>
        <p:spPr>
          <a:xfrm>
            <a:off x="548640" y="5029200"/>
            <a:ext cx="3515258" cy="749808"/>
          </a:xfrm>
          <a:prstGeom prst="roundRect">
            <a:avLst>
              <a:gd name="adj" fmla="val 12195"/>
            </a:avLst>
          </a:prstGeom>
          <a:solidFill>
            <a:srgbClr val="E8EDF3"/>
          </a:solidFill>
          <a:ln w="6350">
            <a:solidFill>
              <a:srgbClr val="E8EDF3"/>
            </a:solidFill>
            <a:prstDash val="solid"/>
          </a:ln>
        </p:spPr>
      </p:sp>
      <p:sp>
        <p:nvSpPr>
          <p:cNvPr id="23" name="Shape 20"/>
          <p:cNvSpPr/>
          <p:nvPr/>
        </p:nvSpPr>
        <p:spPr>
          <a:xfrm>
            <a:off x="731520" y="5148072"/>
            <a:ext cx="512064" cy="512064"/>
          </a:xfrm>
          <a:prstGeom prst="ellipse">
            <a:avLst/>
          </a:prstGeom>
          <a:solidFill>
            <a:srgbClr val="13233A"/>
          </a:solidFill>
          <a:ln w="6350">
            <a:solidFill>
              <a:srgbClr val="13233A"/>
            </a:solidFill>
            <a:prstDash val="solid"/>
          </a:ln>
        </p:spPr>
      </p:sp>
      <p:sp>
        <p:nvSpPr>
          <p:cNvPr id="24" name="Text 21"/>
          <p:cNvSpPr txBox="1"/>
          <p:nvPr/>
        </p:nvSpPr>
        <p:spPr>
          <a:xfrm>
            <a:off x="731520" y="51480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25" name="Text 22"/>
          <p:cNvSpPr txBox="1"/>
          <p:nvPr/>
        </p:nvSpPr>
        <p:spPr>
          <a:xfrm>
            <a:off x="1417320" y="5029200"/>
            <a:ext cx="2555138" cy="749808"/>
          </a:xfrm>
          <a:prstGeom prst="rect">
            <a:avLst/>
          </a:prstGeom>
          <a:noFill/>
          <a:ln/>
        </p:spPr>
        <p:txBody>
          <a:bodyPr wrap="square" lIns="0" tIns="0" rIns="0" bIns="0" rtlCol="0" anchor="ctr"/>
          <a:lstStyle/>
          <a:p>
            <a:pPr indent="0" marL="0">
              <a:buNone/>
            </a:pPr>
            <a:r>
              <a:rPr lang="en-US" sz="2100" b="1" dirty="0">
                <a:solidFill>
                  <a:srgbClr val="13233A"/>
                </a:solidFill>
                <a:latin typeface="Calibri" pitchFamily="34" charset="0"/>
                <a:ea typeface="Calibri" pitchFamily="34" charset="-122"/>
                <a:cs typeface="Calibri" pitchFamily="34" charset="-120"/>
              </a:rPr>
              <a:t>Go ahead, but shorter</a:t>
            </a:r>
            <a:endParaRPr lang="en-US" sz="2100" dirty="0"/>
          </a:p>
        </p:txBody>
      </p:sp>
      <p:sp>
        <p:nvSpPr>
          <p:cNvPr id="26" name="Shape 23"/>
          <p:cNvSpPr/>
          <p:nvPr/>
        </p:nvSpPr>
        <p:spPr>
          <a:xfrm>
            <a:off x="4338218" y="5029200"/>
            <a:ext cx="3515258" cy="749808"/>
          </a:xfrm>
          <a:prstGeom prst="roundRect">
            <a:avLst>
              <a:gd name="adj" fmla="val 12195"/>
            </a:avLst>
          </a:prstGeom>
          <a:solidFill>
            <a:srgbClr val="E8EDF3"/>
          </a:solidFill>
          <a:ln w="6350">
            <a:solidFill>
              <a:srgbClr val="E8EDF3"/>
            </a:solidFill>
            <a:prstDash val="solid"/>
          </a:ln>
        </p:spPr>
      </p:sp>
      <p:sp>
        <p:nvSpPr>
          <p:cNvPr id="27" name="Shape 24"/>
          <p:cNvSpPr/>
          <p:nvPr/>
        </p:nvSpPr>
        <p:spPr>
          <a:xfrm>
            <a:off x="4521098" y="5148072"/>
            <a:ext cx="512064" cy="512064"/>
          </a:xfrm>
          <a:prstGeom prst="ellipse">
            <a:avLst/>
          </a:prstGeom>
          <a:solidFill>
            <a:srgbClr val="13233A"/>
          </a:solidFill>
          <a:ln w="6350">
            <a:solidFill>
              <a:srgbClr val="13233A"/>
            </a:solidFill>
            <a:prstDash val="solid"/>
          </a:ln>
        </p:spPr>
      </p:sp>
      <p:sp>
        <p:nvSpPr>
          <p:cNvPr id="28" name="Text 25"/>
          <p:cNvSpPr txBox="1"/>
          <p:nvPr/>
        </p:nvSpPr>
        <p:spPr>
          <a:xfrm>
            <a:off x="4521098" y="51480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p>
        </p:txBody>
      </p:sp>
      <p:sp>
        <p:nvSpPr>
          <p:cNvPr id="29" name="Text 26"/>
          <p:cNvSpPr txBox="1"/>
          <p:nvPr/>
        </p:nvSpPr>
        <p:spPr>
          <a:xfrm>
            <a:off x="5206898" y="5029200"/>
            <a:ext cx="2555138" cy="749808"/>
          </a:xfrm>
          <a:prstGeom prst="rect">
            <a:avLst/>
          </a:prstGeom>
          <a:noFill/>
          <a:ln/>
        </p:spPr>
        <p:txBody>
          <a:bodyPr wrap="square" lIns="0" tIns="0" rIns="0" bIns="0" rtlCol="0" anchor="ctr"/>
          <a:lstStyle/>
          <a:p>
            <a:pPr indent="0" marL="0">
              <a:buNone/>
            </a:pPr>
            <a:r>
              <a:rPr lang="en-US" sz="2100" b="1" dirty="0">
                <a:solidFill>
                  <a:srgbClr val="13233A"/>
                </a:solidFill>
                <a:latin typeface="Calibri" pitchFamily="34" charset="0"/>
                <a:ea typeface="Calibri" pitchFamily="34" charset="-122"/>
                <a:cs typeface="Calibri" pitchFamily="34" charset="-120"/>
              </a:rPr>
              <a:t>Bed-level work only</a:t>
            </a:r>
            <a:endParaRPr lang="en-US" sz="2100" dirty="0"/>
          </a:p>
        </p:txBody>
      </p:sp>
      <p:sp>
        <p:nvSpPr>
          <p:cNvPr id="30" name="Shape 27"/>
          <p:cNvSpPr/>
          <p:nvPr/>
        </p:nvSpPr>
        <p:spPr>
          <a:xfrm>
            <a:off x="8127797" y="5029200"/>
            <a:ext cx="3515258" cy="749808"/>
          </a:xfrm>
          <a:prstGeom prst="roundRect">
            <a:avLst>
              <a:gd name="adj" fmla="val 12195"/>
            </a:avLst>
          </a:prstGeom>
          <a:solidFill>
            <a:srgbClr val="E8EDF3"/>
          </a:solidFill>
          <a:ln w="6350">
            <a:solidFill>
              <a:srgbClr val="E8EDF3"/>
            </a:solidFill>
            <a:prstDash val="solid"/>
          </a:ln>
        </p:spPr>
      </p:sp>
      <p:sp>
        <p:nvSpPr>
          <p:cNvPr id="31" name="Shape 28"/>
          <p:cNvSpPr/>
          <p:nvPr/>
        </p:nvSpPr>
        <p:spPr>
          <a:xfrm>
            <a:off x="8310677" y="5148072"/>
            <a:ext cx="512064" cy="512064"/>
          </a:xfrm>
          <a:prstGeom prst="ellipse">
            <a:avLst/>
          </a:prstGeom>
          <a:solidFill>
            <a:srgbClr val="13233A"/>
          </a:solidFill>
          <a:ln w="6350">
            <a:solidFill>
              <a:srgbClr val="13233A"/>
            </a:solidFill>
            <a:prstDash val="solid"/>
          </a:ln>
        </p:spPr>
      </p:sp>
      <p:sp>
        <p:nvSpPr>
          <p:cNvPr id="32" name="Text 29"/>
          <p:cNvSpPr txBox="1"/>
          <p:nvPr/>
        </p:nvSpPr>
        <p:spPr>
          <a:xfrm>
            <a:off x="8310677" y="51480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a:t>
            </a:r>
            <a:endParaRPr lang="en-US" sz="2000" dirty="0"/>
          </a:p>
        </p:txBody>
      </p:sp>
      <p:sp>
        <p:nvSpPr>
          <p:cNvPr id="33" name="Text 30"/>
          <p:cNvSpPr txBox="1"/>
          <p:nvPr/>
        </p:nvSpPr>
        <p:spPr>
          <a:xfrm>
            <a:off x="8996477" y="5029200"/>
            <a:ext cx="2555138" cy="749808"/>
          </a:xfrm>
          <a:prstGeom prst="rect">
            <a:avLst/>
          </a:prstGeom>
          <a:noFill/>
          <a:ln/>
        </p:spPr>
        <p:txBody>
          <a:bodyPr wrap="square" lIns="0" tIns="0" rIns="0" bIns="0" rtlCol="0" anchor="ctr"/>
          <a:lstStyle/>
          <a:p>
            <a:pPr indent="0" marL="0">
              <a:buNone/>
            </a:pPr>
            <a:r>
              <a:rPr lang="en-US" sz="2100" b="1" dirty="0">
                <a:solidFill>
                  <a:srgbClr val="13233A"/>
                </a:solidFill>
                <a:latin typeface="Calibri" pitchFamily="34" charset="0"/>
                <a:ea typeface="Calibri" pitchFamily="34" charset="-122"/>
                <a:cs typeface="Calibri" pitchFamily="34" charset="-120"/>
              </a:rPr>
              <a:t>Hold and escalate</a:t>
            </a:r>
            <a:endParaRPr lang="en-US" sz="2100" dirty="0"/>
          </a:p>
        </p:txBody>
      </p:sp>
      <p:sp>
        <p:nvSpPr>
          <p:cNvPr id="34" name="Text 31"/>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A composite teaching case, not a real patient.</a:t>
            </a:r>
            <a:endParaRPr lang="en-US" sz="1200" dirty="0"/>
          </a:p>
        </p:txBody>
      </p:sp>
      <p:sp>
        <p:nvSpPr>
          <p:cNvPr id="35" name="Text 32"/>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6"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7"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8"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9"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40"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41"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42"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43"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44"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29</a:t>
            </a:r>
            <a:endParaRPr lang="en-US" sz="11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CLINICAL REASONING</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C1272D"/>
                </a:solidFill>
                <a:latin typeface="Cambria" pitchFamily="34" charset="0"/>
                <a:ea typeface="Cambria" pitchFamily="34" charset="-122"/>
                <a:cs typeface="Cambria" pitchFamily="34" charset="-120"/>
              </a:rPr>
              <a:t>C: hold the session and escalate</a:t>
            </a:r>
            <a:endParaRPr lang="en-US" sz="4000" dirty="0"/>
          </a:p>
        </p:txBody>
      </p:sp>
      <p:sp>
        <p:nvSpPr>
          <p:cNvPr id="5" name="Shape 2"/>
          <p:cNvSpPr/>
          <p:nvPr/>
        </p:nvSpPr>
        <p:spPr>
          <a:xfrm>
            <a:off x="548640" y="1783080"/>
            <a:ext cx="2567864" cy="2880360"/>
          </a:xfrm>
          <a:prstGeom prst="roundRect">
            <a:avLst>
              <a:gd name="adj" fmla="val 3561"/>
            </a:avLst>
          </a:prstGeom>
          <a:solidFill>
            <a:srgbClr val="E8EDF3"/>
          </a:solidFill>
          <a:ln w="6350">
            <a:solidFill>
              <a:srgbClr val="E8EDF3"/>
            </a:solidFill>
            <a:prstDash val="solid"/>
          </a:ln>
        </p:spPr>
      </p:sp>
      <p:sp>
        <p:nvSpPr>
          <p:cNvPr id="6" name="Shape 3"/>
          <p:cNvSpPr/>
          <p:nvPr/>
        </p:nvSpPr>
        <p:spPr>
          <a:xfrm>
            <a:off x="822960" y="2011680"/>
            <a:ext cx="566928" cy="566928"/>
          </a:xfrm>
          <a:prstGeom prst="ellipse">
            <a:avLst/>
          </a:prstGeom>
          <a:solidFill>
            <a:srgbClr val="13233A"/>
          </a:solidFill>
          <a:ln w="6350">
            <a:solidFill>
              <a:srgbClr val="13233A"/>
            </a:solidFill>
            <a:prstDash val="solid"/>
          </a:ln>
        </p:spPr>
      </p:sp>
      <p:sp>
        <p:nvSpPr>
          <p:cNvPr id="7" name="Text 4"/>
          <p:cNvSpPr txBox="1"/>
          <p:nvPr/>
        </p:nvSpPr>
        <p:spPr>
          <a:xfrm>
            <a:off x="822960" y="201168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8" name="Text 5"/>
          <p:cNvSpPr txBox="1"/>
          <p:nvPr/>
        </p:nvSpPr>
        <p:spPr>
          <a:xfrm>
            <a:off x="822960" y="2697480"/>
            <a:ext cx="2019224" cy="548640"/>
          </a:xfrm>
          <a:prstGeom prst="rect">
            <a:avLst/>
          </a:prstGeom>
          <a:noFill/>
          <a:ln/>
        </p:spPr>
        <p:txBody>
          <a:bodyPr wrap="square" lIns="0" tIns="0" rIns="0" bIns="0" rtlCol="0" anchor="ctr"/>
          <a:lstStyle/>
          <a:p>
            <a:pPr indent="0" marL="0">
              <a:buNone/>
            </a:pPr>
            <a:r>
              <a:rPr lang="en-US" sz="2800" b="1" dirty="0">
                <a:solidFill>
                  <a:srgbClr val="13233A"/>
                </a:solidFill>
                <a:latin typeface="Calibri" pitchFamily="34" charset="0"/>
                <a:ea typeface="Calibri" pitchFamily="34" charset="-122"/>
                <a:cs typeface="Calibri" pitchFamily="34" charset="-120"/>
              </a:rPr>
              <a:t>Notice</a:t>
            </a:r>
            <a:endParaRPr lang="en-US" sz="2800" dirty="0"/>
          </a:p>
        </p:txBody>
      </p:sp>
      <p:sp>
        <p:nvSpPr>
          <p:cNvPr id="9" name="Text 6"/>
          <p:cNvSpPr txBox="1"/>
          <p:nvPr/>
        </p:nvSpPr>
        <p:spPr>
          <a:xfrm>
            <a:off x="822960" y="3291840"/>
            <a:ext cx="2110664" cy="1280160"/>
          </a:xfrm>
          <a:prstGeom prst="rect">
            <a:avLst/>
          </a:prstGeom>
          <a:noFill/>
          <a:ln/>
        </p:spPr>
        <p:txBody>
          <a:bodyPr wrap="square" lIns="0" tIns="0" rIns="0" bIns="0" rtlCol="0" anchor="t"/>
          <a:lstStyle/>
          <a:p>
            <a:pPr indent="0" marL="0">
              <a:buNone/>
            </a:pPr>
            <a:r>
              <a:rPr lang="en-US" sz="1900" dirty="0">
                <a:solidFill>
                  <a:srgbClr val="1B2230"/>
                </a:solidFill>
                <a:latin typeface="Calibri" pitchFamily="34" charset="0"/>
                <a:ea typeface="Calibri" pitchFamily="34" charset="-122"/>
                <a:cs typeface="Calibri" pitchFamily="34" charset="-120"/>
              </a:rPr>
              <a:t>GCS down 2. New headache, vomiting, BP up.</a:t>
            </a:r>
            <a:endParaRPr lang="en-US" sz="1900" dirty="0"/>
          </a:p>
        </p:txBody>
      </p:sp>
      <p:sp>
        <p:nvSpPr>
          <p:cNvPr id="10" name="Text 7"/>
          <p:cNvSpPr txBox="1"/>
          <p:nvPr/>
        </p:nvSpPr>
        <p:spPr>
          <a:xfrm>
            <a:off x="3134792" y="283464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11" name="Shape 8"/>
          <p:cNvSpPr/>
          <p:nvPr/>
        </p:nvSpPr>
        <p:spPr>
          <a:xfrm>
            <a:off x="3390824" y="1783080"/>
            <a:ext cx="2567864" cy="2880360"/>
          </a:xfrm>
          <a:prstGeom prst="roundRect">
            <a:avLst>
              <a:gd name="adj" fmla="val 3561"/>
            </a:avLst>
          </a:prstGeom>
          <a:solidFill>
            <a:srgbClr val="E8EDF3"/>
          </a:solidFill>
          <a:ln w="6350">
            <a:solidFill>
              <a:srgbClr val="E8EDF3"/>
            </a:solidFill>
            <a:prstDash val="solid"/>
          </a:ln>
        </p:spPr>
      </p:sp>
      <p:sp>
        <p:nvSpPr>
          <p:cNvPr id="12" name="Shape 9"/>
          <p:cNvSpPr/>
          <p:nvPr/>
        </p:nvSpPr>
        <p:spPr>
          <a:xfrm>
            <a:off x="3665144" y="2011680"/>
            <a:ext cx="566928" cy="566928"/>
          </a:xfrm>
          <a:prstGeom prst="ellipse">
            <a:avLst/>
          </a:prstGeom>
          <a:solidFill>
            <a:srgbClr val="13233A"/>
          </a:solidFill>
          <a:ln w="6350">
            <a:solidFill>
              <a:srgbClr val="13233A"/>
            </a:solidFill>
            <a:prstDash val="solid"/>
          </a:ln>
        </p:spPr>
      </p:sp>
      <p:sp>
        <p:nvSpPr>
          <p:cNvPr id="13" name="Text 10"/>
          <p:cNvSpPr txBox="1"/>
          <p:nvPr/>
        </p:nvSpPr>
        <p:spPr>
          <a:xfrm>
            <a:off x="3665144" y="201168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4" name="Text 11"/>
          <p:cNvSpPr txBox="1"/>
          <p:nvPr/>
        </p:nvSpPr>
        <p:spPr>
          <a:xfrm>
            <a:off x="3665144" y="2697480"/>
            <a:ext cx="2019224" cy="548640"/>
          </a:xfrm>
          <a:prstGeom prst="rect">
            <a:avLst/>
          </a:prstGeom>
          <a:noFill/>
          <a:ln/>
        </p:spPr>
        <p:txBody>
          <a:bodyPr wrap="square" lIns="0" tIns="0" rIns="0" bIns="0" rtlCol="0" anchor="ctr"/>
          <a:lstStyle/>
          <a:p>
            <a:pPr indent="0" marL="0">
              <a:buNone/>
            </a:pPr>
            <a:r>
              <a:rPr lang="en-US" sz="2800" b="1" dirty="0">
                <a:solidFill>
                  <a:srgbClr val="13233A"/>
                </a:solidFill>
                <a:latin typeface="Calibri" pitchFamily="34" charset="0"/>
                <a:ea typeface="Calibri" pitchFamily="34" charset="-122"/>
                <a:cs typeface="Calibri" pitchFamily="34" charset="-120"/>
              </a:rPr>
              <a:t>Interpret</a:t>
            </a:r>
            <a:endParaRPr lang="en-US" sz="2800" dirty="0"/>
          </a:p>
        </p:txBody>
      </p:sp>
      <p:sp>
        <p:nvSpPr>
          <p:cNvPr id="15" name="Text 12"/>
          <p:cNvSpPr txBox="1"/>
          <p:nvPr/>
        </p:nvSpPr>
        <p:spPr>
          <a:xfrm>
            <a:off x="3665144" y="3291840"/>
            <a:ext cx="2110664" cy="1280160"/>
          </a:xfrm>
          <a:prstGeom prst="rect">
            <a:avLst/>
          </a:prstGeom>
          <a:noFill/>
          <a:ln/>
        </p:spPr>
        <p:txBody>
          <a:bodyPr wrap="square" lIns="0" tIns="0" rIns="0" bIns="0" rtlCol="0" anchor="t"/>
          <a:lstStyle/>
          <a:p>
            <a:pPr indent="0" marL="0">
              <a:buNone/>
            </a:pPr>
            <a:r>
              <a:rPr lang="en-US" sz="1900" dirty="0">
                <a:solidFill>
                  <a:srgbClr val="1B2230"/>
                </a:solidFill>
                <a:latin typeface="Calibri" pitchFamily="34" charset="0"/>
                <a:ea typeface="Calibri" pitchFamily="34" charset="-122"/>
                <a:cs typeface="Calibri" pitchFamily="34" charset="-120"/>
              </a:rPr>
              <a:t>Day 4: oedema still building. Or growth? Hydrocephalus?</a:t>
            </a:r>
            <a:endParaRPr lang="en-US" sz="1900" dirty="0"/>
          </a:p>
        </p:txBody>
      </p:sp>
      <p:sp>
        <p:nvSpPr>
          <p:cNvPr id="16" name="Text 13"/>
          <p:cNvSpPr txBox="1"/>
          <p:nvPr/>
        </p:nvSpPr>
        <p:spPr>
          <a:xfrm>
            <a:off x="5976976" y="283464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17" name="Shape 14"/>
          <p:cNvSpPr/>
          <p:nvPr/>
        </p:nvSpPr>
        <p:spPr>
          <a:xfrm>
            <a:off x="6233008" y="1783080"/>
            <a:ext cx="2567864" cy="2880360"/>
          </a:xfrm>
          <a:prstGeom prst="roundRect">
            <a:avLst>
              <a:gd name="adj" fmla="val 3561"/>
            </a:avLst>
          </a:prstGeom>
          <a:solidFill>
            <a:srgbClr val="F6DCDD"/>
          </a:solidFill>
          <a:ln w="6350">
            <a:solidFill>
              <a:srgbClr val="F6DCDD"/>
            </a:solidFill>
            <a:prstDash val="solid"/>
          </a:ln>
        </p:spPr>
      </p:sp>
      <p:sp>
        <p:nvSpPr>
          <p:cNvPr id="18" name="Shape 15"/>
          <p:cNvSpPr/>
          <p:nvPr/>
        </p:nvSpPr>
        <p:spPr>
          <a:xfrm>
            <a:off x="6507328" y="2011680"/>
            <a:ext cx="566928" cy="566928"/>
          </a:xfrm>
          <a:prstGeom prst="ellipse">
            <a:avLst/>
          </a:prstGeom>
          <a:solidFill>
            <a:srgbClr val="C1272D"/>
          </a:solidFill>
          <a:ln w="6350">
            <a:solidFill>
              <a:srgbClr val="C1272D"/>
            </a:solidFill>
            <a:prstDash val="solid"/>
          </a:ln>
        </p:spPr>
      </p:sp>
      <p:sp>
        <p:nvSpPr>
          <p:cNvPr id="19" name="Text 16"/>
          <p:cNvSpPr txBox="1"/>
          <p:nvPr/>
        </p:nvSpPr>
        <p:spPr>
          <a:xfrm>
            <a:off x="6507328" y="201168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0" name="Text 17"/>
          <p:cNvSpPr txBox="1"/>
          <p:nvPr/>
        </p:nvSpPr>
        <p:spPr>
          <a:xfrm>
            <a:off x="6507328" y="2697480"/>
            <a:ext cx="2019224" cy="548640"/>
          </a:xfrm>
          <a:prstGeom prst="rect">
            <a:avLst/>
          </a:prstGeom>
          <a:noFill/>
          <a:ln/>
        </p:spPr>
        <p:txBody>
          <a:bodyPr wrap="square" lIns="0" tIns="0" rIns="0" bIns="0" rtlCol="0" anchor="ctr"/>
          <a:lstStyle/>
          <a:p>
            <a:pPr indent="0" marL="0">
              <a:buNone/>
            </a:pPr>
            <a:r>
              <a:rPr lang="en-US" sz="2800" b="1" dirty="0">
                <a:solidFill>
                  <a:srgbClr val="8E1B1F"/>
                </a:solidFill>
                <a:latin typeface="Calibri" pitchFamily="34" charset="0"/>
                <a:ea typeface="Calibri" pitchFamily="34" charset="-122"/>
                <a:cs typeface="Calibri" pitchFamily="34" charset="-120"/>
              </a:rPr>
              <a:t>Act</a:t>
            </a:r>
            <a:endParaRPr lang="en-US" sz="2800" dirty="0"/>
          </a:p>
        </p:txBody>
      </p:sp>
      <p:sp>
        <p:nvSpPr>
          <p:cNvPr id="21" name="Text 18"/>
          <p:cNvSpPr txBox="1"/>
          <p:nvPr/>
        </p:nvSpPr>
        <p:spPr>
          <a:xfrm>
            <a:off x="6507328" y="3291840"/>
            <a:ext cx="2110664" cy="1280160"/>
          </a:xfrm>
          <a:prstGeom prst="rect">
            <a:avLst/>
          </a:prstGeom>
          <a:noFill/>
          <a:ln/>
        </p:spPr>
        <p:txBody>
          <a:bodyPr wrap="square" lIns="0" tIns="0" rIns="0" bIns="0" rtlCol="0" anchor="t"/>
          <a:lstStyle/>
          <a:p>
            <a:pPr indent="0" marL="0">
              <a:buNone/>
            </a:pPr>
            <a:r>
              <a:rPr lang="en-US" sz="1900" dirty="0">
                <a:solidFill>
                  <a:srgbClr val="1B2230"/>
                </a:solidFill>
                <a:latin typeface="Calibri" pitchFamily="34" charset="0"/>
                <a:ea typeface="Calibri" pitchFamily="34" charset="-122"/>
                <a:cs typeface="Calibri" pitchFamily="34" charset="-120"/>
              </a:rPr>
              <a:t>Stop. Tell the medical team now. Repeat neuro obs.</a:t>
            </a:r>
            <a:endParaRPr lang="en-US" sz="1900" dirty="0"/>
          </a:p>
        </p:txBody>
      </p:sp>
      <p:sp>
        <p:nvSpPr>
          <p:cNvPr id="22" name="Text 19"/>
          <p:cNvSpPr txBox="1"/>
          <p:nvPr/>
        </p:nvSpPr>
        <p:spPr>
          <a:xfrm>
            <a:off x="8819159" y="283464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23" name="Shape 20"/>
          <p:cNvSpPr/>
          <p:nvPr/>
        </p:nvSpPr>
        <p:spPr>
          <a:xfrm>
            <a:off x="9075191" y="1783080"/>
            <a:ext cx="2567864" cy="2880360"/>
          </a:xfrm>
          <a:prstGeom prst="roundRect">
            <a:avLst>
              <a:gd name="adj" fmla="val 3561"/>
            </a:avLst>
          </a:prstGeom>
          <a:solidFill>
            <a:srgbClr val="E8EDF3"/>
          </a:solidFill>
          <a:ln w="6350">
            <a:solidFill>
              <a:srgbClr val="E8EDF3"/>
            </a:solidFill>
            <a:prstDash val="solid"/>
          </a:ln>
        </p:spPr>
      </p:sp>
      <p:sp>
        <p:nvSpPr>
          <p:cNvPr id="24" name="Shape 21"/>
          <p:cNvSpPr/>
          <p:nvPr/>
        </p:nvSpPr>
        <p:spPr>
          <a:xfrm>
            <a:off x="9349511" y="2011680"/>
            <a:ext cx="566928" cy="566928"/>
          </a:xfrm>
          <a:prstGeom prst="ellipse">
            <a:avLst/>
          </a:prstGeom>
          <a:solidFill>
            <a:srgbClr val="13233A"/>
          </a:solidFill>
          <a:ln w="6350">
            <a:solidFill>
              <a:srgbClr val="13233A"/>
            </a:solidFill>
            <a:prstDash val="solid"/>
          </a:ln>
        </p:spPr>
      </p:sp>
      <p:sp>
        <p:nvSpPr>
          <p:cNvPr id="25" name="Text 22"/>
          <p:cNvSpPr txBox="1"/>
          <p:nvPr/>
        </p:nvSpPr>
        <p:spPr>
          <a:xfrm>
            <a:off x="9349511" y="201168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6" name="Text 23"/>
          <p:cNvSpPr txBox="1"/>
          <p:nvPr/>
        </p:nvSpPr>
        <p:spPr>
          <a:xfrm>
            <a:off x="9349511" y="2697480"/>
            <a:ext cx="2019224" cy="548640"/>
          </a:xfrm>
          <a:prstGeom prst="rect">
            <a:avLst/>
          </a:prstGeom>
          <a:noFill/>
          <a:ln/>
        </p:spPr>
        <p:txBody>
          <a:bodyPr wrap="square" lIns="0" tIns="0" rIns="0" bIns="0" rtlCol="0" anchor="ctr"/>
          <a:lstStyle/>
          <a:p>
            <a:pPr indent="0" marL="0">
              <a:buNone/>
            </a:pPr>
            <a:r>
              <a:rPr lang="en-US" sz="2800" b="1" dirty="0">
                <a:solidFill>
                  <a:srgbClr val="13233A"/>
                </a:solidFill>
                <a:latin typeface="Calibri" pitchFamily="34" charset="0"/>
                <a:ea typeface="Calibri" pitchFamily="34" charset="-122"/>
                <a:cs typeface="Calibri" pitchFamily="34" charset="-120"/>
              </a:rPr>
              <a:t>Reflect</a:t>
            </a:r>
            <a:endParaRPr lang="en-US" sz="2800" dirty="0"/>
          </a:p>
        </p:txBody>
      </p:sp>
      <p:sp>
        <p:nvSpPr>
          <p:cNvPr id="27" name="Text 24"/>
          <p:cNvSpPr txBox="1"/>
          <p:nvPr/>
        </p:nvSpPr>
        <p:spPr>
          <a:xfrm>
            <a:off x="9349511" y="3291840"/>
            <a:ext cx="2110664" cy="1280160"/>
          </a:xfrm>
          <a:prstGeom prst="rect">
            <a:avLst/>
          </a:prstGeom>
          <a:noFill/>
          <a:ln/>
        </p:spPr>
        <p:txBody>
          <a:bodyPr wrap="square" lIns="0" tIns="0" rIns="0" bIns="0" rtlCol="0" anchor="t"/>
          <a:lstStyle/>
          <a:p>
            <a:pPr indent="0" marL="0">
              <a:buNone/>
            </a:pPr>
            <a:r>
              <a:rPr lang="en-US" sz="1900" dirty="0">
                <a:solidFill>
                  <a:srgbClr val="1B2230"/>
                </a:solidFill>
                <a:latin typeface="Calibri" pitchFamily="34" charset="0"/>
                <a:ea typeface="Calibri" pitchFamily="34" charset="-122"/>
                <a:cs typeface="Calibri" pitchFamily="34" charset="-120"/>
              </a:rPr>
              <a:t>The timeline predicted this. Screen before every session.</a:t>
            </a:r>
            <a:endParaRPr lang="en-US" sz="1900" dirty="0"/>
          </a:p>
        </p:txBody>
      </p:sp>
      <p:sp>
        <p:nvSpPr>
          <p:cNvPr id="28" name="Shape 25"/>
          <p:cNvSpPr/>
          <p:nvPr/>
        </p:nvSpPr>
        <p:spPr>
          <a:xfrm>
            <a:off x="10359123" y="4663440"/>
            <a:ext cx="0" cy="457200"/>
          </a:xfrm>
          <a:prstGeom prst="line">
            <a:avLst/>
          </a:prstGeom>
          <a:noFill/>
          <a:ln w="25400">
            <a:solidFill>
              <a:srgbClr val="3E5C76"/>
            </a:solidFill>
            <a:prstDash val="solid"/>
          </a:ln>
        </p:spPr>
      </p:sp>
      <p:sp>
        <p:nvSpPr>
          <p:cNvPr id="29" name="Shape 26"/>
          <p:cNvSpPr/>
          <p:nvPr/>
        </p:nvSpPr>
        <p:spPr>
          <a:xfrm flipH="1">
            <a:off x="1832572" y="5120640"/>
            <a:ext cx="8526551" cy="0"/>
          </a:xfrm>
          <a:prstGeom prst="line">
            <a:avLst/>
          </a:prstGeom>
          <a:noFill/>
          <a:ln w="25400">
            <a:solidFill>
              <a:srgbClr val="3E5C76"/>
            </a:solidFill>
            <a:prstDash val="solid"/>
          </a:ln>
        </p:spPr>
      </p:sp>
      <p:sp>
        <p:nvSpPr>
          <p:cNvPr id="30" name="Shape 27"/>
          <p:cNvSpPr/>
          <p:nvPr/>
        </p:nvSpPr>
        <p:spPr>
          <a:xfrm flipV="1">
            <a:off x="1832572" y="4681728"/>
            <a:ext cx="0" cy="438912"/>
          </a:xfrm>
          <a:prstGeom prst="line">
            <a:avLst/>
          </a:prstGeom>
          <a:noFill/>
          <a:ln w="25400">
            <a:solidFill>
              <a:srgbClr val="3E5C76"/>
            </a:solidFill>
            <a:prstDash val="solid"/>
            <a:tailEnd type="triangle"/>
          </a:ln>
        </p:spPr>
      </p:sp>
      <p:sp>
        <p:nvSpPr>
          <p:cNvPr id="31" name="Text 28"/>
          <p:cNvSpPr txBox="1"/>
          <p:nvPr/>
        </p:nvSpPr>
        <p:spPr>
          <a:xfrm>
            <a:off x="4267048" y="4919472"/>
            <a:ext cx="3657600" cy="402336"/>
          </a:xfrm>
          <a:prstGeom prst="rect">
            <a:avLst/>
          </a:prstGeom>
          <a:solidFill>
            <a:srgbClr val="FFFFFF"/>
          </a:solidFill>
          <a:ln/>
        </p:spPr>
        <p:txBody>
          <a:bodyPr wrap="square" lIns="0" tIns="0" rIns="0" bIns="0" rtlCol="0" anchor="ctr"/>
          <a:lstStyle/>
          <a:p>
            <a:pPr algn="ctr" indent="0" marL="0">
              <a:buNone/>
            </a:pPr>
            <a:r>
              <a:rPr lang="en-US" sz="1700" b="1" dirty="0">
                <a:solidFill>
                  <a:srgbClr val="3E5C76"/>
                </a:solidFill>
                <a:latin typeface="Calibri" pitchFamily="34" charset="0"/>
                <a:ea typeface="Calibri" pitchFamily="34" charset="-122"/>
                <a:cs typeface="Calibri" pitchFamily="34" charset="-120"/>
              </a:rPr>
              <a:t>Repeat before every session</a:t>
            </a:r>
            <a:endParaRPr lang="en-US" sz="1700" dirty="0"/>
          </a:p>
        </p:txBody>
      </p:sp>
      <p:sp>
        <p:nvSpPr>
          <p:cNvPr id="32" name="Text 29"/>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Clinical reasoning cycle adapted from Levett-Jones et al. (2010).</a:t>
            </a:r>
            <a:endParaRPr lang="en-US" sz="1200" dirty="0"/>
          </a:p>
        </p:txBody>
      </p:sp>
      <p:sp>
        <p:nvSpPr>
          <p:cNvPr id="33" name="Text 30"/>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4"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5"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6"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7"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8"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9"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40"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41"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42"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30</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PROGNOSIS  ·  DO BLEEDS RECOVER BETTER?</a:t>
            </a:r>
            <a:endParaRPr lang="en-US" sz="1400" dirty="0"/>
          </a:p>
        </p:txBody>
      </p:sp>
      <p:sp>
        <p:nvSpPr>
          <p:cNvPr id="4" name="Shape 1"/>
          <p:cNvSpPr/>
          <p:nvPr/>
        </p:nvSpPr>
        <p:spPr>
          <a:xfrm>
            <a:off x="7981798" y="356616"/>
            <a:ext cx="3661258"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137246" y="443484"/>
            <a:ext cx="173736" cy="173736"/>
          </a:xfrm>
          <a:prstGeom prst="rect">
            <a:avLst/>
          </a:prstGeom>
        </p:spPr>
      </p:pic>
      <p:sp>
        <p:nvSpPr>
          <p:cNvPr id="6" name="Text 2"/>
          <p:cNvSpPr txBox="1"/>
          <p:nvPr/>
        </p:nvSpPr>
        <p:spPr>
          <a:xfrm>
            <a:off x="8384134" y="356616"/>
            <a:ext cx="3185770"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Observational · confounded by severity</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It depends what you match</a:t>
            </a:r>
            <a:endParaRPr lang="en-US" sz="4000" dirty="0"/>
          </a:p>
        </p:txBody>
      </p:sp>
      <p:sp>
        <p:nvSpPr>
          <p:cNvPr id="8" name="Text 4"/>
          <p:cNvSpPr txBox="1"/>
          <p:nvPr/>
        </p:nvSpPr>
        <p:spPr>
          <a:xfrm>
            <a:off x="3954780" y="1755648"/>
            <a:ext cx="1371600" cy="365760"/>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ICH worse</a:t>
            </a:r>
            <a:endParaRPr lang="en-US" sz="1400" dirty="0"/>
          </a:p>
        </p:txBody>
      </p:sp>
      <p:sp>
        <p:nvSpPr>
          <p:cNvPr id="9" name="Text 5"/>
          <p:cNvSpPr txBox="1"/>
          <p:nvPr/>
        </p:nvSpPr>
        <p:spPr>
          <a:xfrm>
            <a:off x="5097780" y="1755648"/>
            <a:ext cx="1371600" cy="365760"/>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No difference</a:t>
            </a:r>
            <a:endParaRPr lang="en-US" sz="1400" dirty="0"/>
          </a:p>
        </p:txBody>
      </p:sp>
      <p:sp>
        <p:nvSpPr>
          <p:cNvPr id="10" name="Text 6"/>
          <p:cNvSpPr txBox="1"/>
          <p:nvPr/>
        </p:nvSpPr>
        <p:spPr>
          <a:xfrm>
            <a:off x="6240780" y="1755648"/>
            <a:ext cx="1371600" cy="365760"/>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ICH better</a:t>
            </a:r>
            <a:endParaRPr lang="en-US" sz="1400" dirty="0"/>
          </a:p>
        </p:txBody>
      </p:sp>
      <p:sp>
        <p:nvSpPr>
          <p:cNvPr id="11" name="Shape 7"/>
          <p:cNvSpPr/>
          <p:nvPr/>
        </p:nvSpPr>
        <p:spPr>
          <a:xfrm>
            <a:off x="4069080" y="2322576"/>
            <a:ext cx="3429000" cy="420624"/>
          </a:xfrm>
          <a:prstGeom prst="roundRect">
            <a:avLst>
              <a:gd name="adj" fmla="val 50000"/>
            </a:avLst>
          </a:prstGeom>
          <a:solidFill>
            <a:srgbClr val="F3F5F8"/>
          </a:solidFill>
          <a:ln w="6350">
            <a:solidFill>
              <a:srgbClr val="F3F5F8"/>
            </a:solidFill>
            <a:prstDash val="solid"/>
          </a:ln>
        </p:spPr>
      </p:sp>
      <p:sp>
        <p:nvSpPr>
          <p:cNvPr id="12" name="Shape 8"/>
          <p:cNvSpPr/>
          <p:nvPr/>
        </p:nvSpPr>
        <p:spPr>
          <a:xfrm>
            <a:off x="4069080" y="3035808"/>
            <a:ext cx="3429000" cy="420624"/>
          </a:xfrm>
          <a:prstGeom prst="roundRect">
            <a:avLst>
              <a:gd name="adj" fmla="val 50000"/>
            </a:avLst>
          </a:prstGeom>
          <a:solidFill>
            <a:srgbClr val="F3F5F8"/>
          </a:solidFill>
          <a:ln w="6350">
            <a:solidFill>
              <a:srgbClr val="F3F5F8"/>
            </a:solidFill>
            <a:prstDash val="solid"/>
          </a:ln>
        </p:spPr>
      </p:sp>
      <p:sp>
        <p:nvSpPr>
          <p:cNvPr id="13" name="Shape 9"/>
          <p:cNvSpPr/>
          <p:nvPr/>
        </p:nvSpPr>
        <p:spPr>
          <a:xfrm>
            <a:off x="4069080" y="3749040"/>
            <a:ext cx="3429000" cy="420624"/>
          </a:xfrm>
          <a:prstGeom prst="roundRect">
            <a:avLst>
              <a:gd name="adj" fmla="val 50000"/>
            </a:avLst>
          </a:prstGeom>
          <a:solidFill>
            <a:srgbClr val="F3F5F8"/>
          </a:solidFill>
          <a:ln w="6350">
            <a:solidFill>
              <a:srgbClr val="F3F5F8"/>
            </a:solidFill>
            <a:prstDash val="solid"/>
          </a:ln>
        </p:spPr>
      </p:sp>
      <p:sp>
        <p:nvSpPr>
          <p:cNvPr id="14" name="Shape 10"/>
          <p:cNvSpPr/>
          <p:nvPr/>
        </p:nvSpPr>
        <p:spPr>
          <a:xfrm>
            <a:off x="4069080" y="4462272"/>
            <a:ext cx="3429000" cy="420624"/>
          </a:xfrm>
          <a:prstGeom prst="roundRect">
            <a:avLst>
              <a:gd name="adj" fmla="val 50000"/>
            </a:avLst>
          </a:prstGeom>
          <a:solidFill>
            <a:srgbClr val="F3F5F8"/>
          </a:solidFill>
          <a:ln w="6350">
            <a:solidFill>
              <a:srgbClr val="F3F5F8"/>
            </a:solidFill>
            <a:prstDash val="solid"/>
          </a:ln>
        </p:spPr>
      </p:sp>
      <p:sp>
        <p:nvSpPr>
          <p:cNvPr id="15" name="Shape 11"/>
          <p:cNvSpPr/>
          <p:nvPr/>
        </p:nvSpPr>
        <p:spPr>
          <a:xfrm>
            <a:off x="4069080" y="5175504"/>
            <a:ext cx="3429000" cy="420624"/>
          </a:xfrm>
          <a:prstGeom prst="roundRect">
            <a:avLst>
              <a:gd name="adj" fmla="val 50000"/>
            </a:avLst>
          </a:prstGeom>
          <a:solidFill>
            <a:srgbClr val="F3F5F8"/>
          </a:solidFill>
          <a:ln w="6350">
            <a:solidFill>
              <a:srgbClr val="F3F5F8"/>
            </a:solidFill>
            <a:prstDash val="solid"/>
          </a:ln>
        </p:spPr>
      </p:sp>
      <p:sp>
        <p:nvSpPr>
          <p:cNvPr id="16" name="Shape 12"/>
          <p:cNvSpPr/>
          <p:nvPr/>
        </p:nvSpPr>
        <p:spPr>
          <a:xfrm>
            <a:off x="5783580" y="2157984"/>
            <a:ext cx="0" cy="3602736"/>
          </a:xfrm>
          <a:prstGeom prst="line">
            <a:avLst/>
          </a:prstGeom>
          <a:noFill/>
          <a:ln w="19050">
            <a:solidFill>
              <a:srgbClr val="C9D2DE"/>
            </a:solidFill>
            <a:prstDash val="dash"/>
          </a:ln>
        </p:spPr>
      </p:sp>
      <p:sp>
        <p:nvSpPr>
          <p:cNvPr id="17" name="Text 13"/>
          <p:cNvSpPr txBox="1"/>
          <p:nvPr/>
        </p:nvSpPr>
        <p:spPr>
          <a:xfrm>
            <a:off x="548640" y="2212848"/>
            <a:ext cx="3474720" cy="6400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Kelly et al. (2003)</a:t>
            </a:r>
            <a:endParaRPr lang="en-US" sz="1800" dirty="0"/>
          </a:p>
          <a:p>
            <a:pPr indent="0" marL="0">
              <a:buNone/>
            </a:pPr>
            <a:r>
              <a:rPr lang="en-US" sz="1400" dirty="0">
                <a:solidFill>
                  <a:srgbClr val="667285"/>
                </a:solidFill>
                <a:latin typeface="Calibri" pitchFamily="34" charset="0"/>
                <a:ea typeface="Calibri" pitchFamily="34" charset="-122"/>
                <a:cs typeface="Calibri" pitchFamily="34" charset="-120"/>
              </a:rPr>
              <a:t>n = 1064  ·  unmatched</a:t>
            </a:r>
            <a:endParaRPr lang="en-US" sz="1800" dirty="0"/>
          </a:p>
        </p:txBody>
      </p:sp>
      <p:sp>
        <p:nvSpPr>
          <p:cNvPr id="18" name="Shape 14"/>
          <p:cNvSpPr/>
          <p:nvPr/>
        </p:nvSpPr>
        <p:spPr>
          <a:xfrm>
            <a:off x="6743700" y="2350008"/>
            <a:ext cx="365760" cy="365760"/>
          </a:xfrm>
          <a:prstGeom prst="ellipse">
            <a:avLst/>
          </a:prstGeom>
          <a:solidFill>
            <a:srgbClr val="AEB9C7"/>
          </a:solidFill>
          <a:ln w="6350">
            <a:solidFill>
              <a:srgbClr val="AEB9C7"/>
            </a:solidFill>
            <a:prstDash val="solid"/>
          </a:ln>
        </p:spPr>
      </p:sp>
      <p:sp>
        <p:nvSpPr>
          <p:cNvPr id="19" name="Text 15"/>
          <p:cNvSpPr txBox="1"/>
          <p:nvPr/>
        </p:nvSpPr>
        <p:spPr>
          <a:xfrm>
            <a:off x="548640" y="2926080"/>
            <a:ext cx="3474720" cy="6400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Paolucci et al. (2003)</a:t>
            </a:r>
            <a:endParaRPr lang="en-US" sz="1800" dirty="0"/>
          </a:p>
          <a:p>
            <a:pPr indent="0" marL="0">
              <a:buNone/>
            </a:pPr>
            <a:r>
              <a:rPr lang="en-US" sz="1400" b="1" dirty="0">
                <a:solidFill>
                  <a:srgbClr val="3E5C76"/>
                </a:solidFill>
                <a:latin typeface="Calibri" pitchFamily="34" charset="0"/>
                <a:ea typeface="Calibri" pitchFamily="34" charset="-122"/>
                <a:cs typeface="Calibri" pitchFamily="34" charset="-120"/>
              </a:rPr>
              <a:t>n = 270  ·  matched on the deficit</a:t>
            </a:r>
            <a:endParaRPr lang="en-US" sz="1800" dirty="0"/>
          </a:p>
        </p:txBody>
      </p:sp>
      <p:sp>
        <p:nvSpPr>
          <p:cNvPr id="20" name="Shape 16"/>
          <p:cNvSpPr/>
          <p:nvPr/>
        </p:nvSpPr>
        <p:spPr>
          <a:xfrm>
            <a:off x="6743700" y="3063240"/>
            <a:ext cx="365760" cy="365760"/>
          </a:xfrm>
          <a:prstGeom prst="ellipse">
            <a:avLst/>
          </a:prstGeom>
          <a:solidFill>
            <a:srgbClr val="13233A"/>
          </a:solidFill>
          <a:ln w="6350">
            <a:solidFill>
              <a:srgbClr val="13233A"/>
            </a:solidFill>
            <a:prstDash val="solid"/>
          </a:ln>
        </p:spPr>
      </p:sp>
      <p:sp>
        <p:nvSpPr>
          <p:cNvPr id="21" name="Text 17"/>
          <p:cNvSpPr txBox="1"/>
          <p:nvPr/>
        </p:nvSpPr>
        <p:spPr>
          <a:xfrm>
            <a:off x="548640" y="3639312"/>
            <a:ext cx="3474720" cy="6400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Salvadori et al. (2021)</a:t>
            </a:r>
            <a:endParaRPr lang="en-US" sz="1800" dirty="0"/>
          </a:p>
          <a:p>
            <a:pPr indent="0" marL="0">
              <a:buNone/>
            </a:pPr>
            <a:r>
              <a:rPr lang="en-US" sz="1400" dirty="0">
                <a:solidFill>
                  <a:srgbClr val="667285"/>
                </a:solidFill>
                <a:latin typeface="Calibri" pitchFamily="34" charset="0"/>
                <a:ea typeface="Calibri" pitchFamily="34" charset="-122"/>
                <a:cs typeface="Calibri" pitchFamily="34" charset="-120"/>
              </a:rPr>
              <a:t>n = 229  ·  unmatched</a:t>
            </a:r>
            <a:endParaRPr lang="en-US" sz="1800" dirty="0"/>
          </a:p>
        </p:txBody>
      </p:sp>
      <p:sp>
        <p:nvSpPr>
          <p:cNvPr id="22" name="Shape 18"/>
          <p:cNvSpPr/>
          <p:nvPr/>
        </p:nvSpPr>
        <p:spPr>
          <a:xfrm>
            <a:off x="5600700" y="3776472"/>
            <a:ext cx="365760" cy="365760"/>
          </a:xfrm>
          <a:prstGeom prst="ellipse">
            <a:avLst/>
          </a:prstGeom>
          <a:solidFill>
            <a:srgbClr val="AEB9C7"/>
          </a:solidFill>
          <a:ln w="6350">
            <a:solidFill>
              <a:srgbClr val="AEB9C7"/>
            </a:solidFill>
            <a:prstDash val="solid"/>
          </a:ln>
        </p:spPr>
      </p:sp>
      <p:sp>
        <p:nvSpPr>
          <p:cNvPr id="23" name="Text 19"/>
          <p:cNvSpPr txBox="1"/>
          <p:nvPr/>
        </p:nvSpPr>
        <p:spPr>
          <a:xfrm>
            <a:off x="548640" y="4352544"/>
            <a:ext cx="3474720" cy="6400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Oosterveer et al. (2022)</a:t>
            </a:r>
            <a:endParaRPr lang="en-US" sz="1800" dirty="0"/>
          </a:p>
          <a:p>
            <a:pPr indent="0" marL="0">
              <a:buNone/>
            </a:pPr>
            <a:r>
              <a:rPr lang="en-US" sz="1400" dirty="0">
                <a:solidFill>
                  <a:srgbClr val="667285"/>
                </a:solidFill>
                <a:latin typeface="Calibri" pitchFamily="34" charset="0"/>
                <a:ea typeface="Calibri" pitchFamily="34" charset="-122"/>
                <a:cs typeface="Calibri" pitchFamily="34" charset="-120"/>
              </a:rPr>
              <a:t>n = 360  ·  unmatched</a:t>
            </a:r>
            <a:endParaRPr lang="en-US" sz="1800" dirty="0"/>
          </a:p>
        </p:txBody>
      </p:sp>
      <p:sp>
        <p:nvSpPr>
          <p:cNvPr id="24" name="Shape 20"/>
          <p:cNvSpPr/>
          <p:nvPr/>
        </p:nvSpPr>
        <p:spPr>
          <a:xfrm>
            <a:off x="5600700" y="4489704"/>
            <a:ext cx="365760" cy="365760"/>
          </a:xfrm>
          <a:prstGeom prst="ellipse">
            <a:avLst/>
          </a:prstGeom>
          <a:solidFill>
            <a:srgbClr val="AEB9C7"/>
          </a:solidFill>
          <a:ln w="6350">
            <a:solidFill>
              <a:srgbClr val="AEB9C7"/>
            </a:solidFill>
            <a:prstDash val="solid"/>
          </a:ln>
        </p:spPr>
      </p:sp>
      <p:sp>
        <p:nvSpPr>
          <p:cNvPr id="25" name="Text 21"/>
          <p:cNvSpPr txBox="1"/>
          <p:nvPr/>
        </p:nvSpPr>
        <p:spPr>
          <a:xfrm>
            <a:off x="548640" y="5065776"/>
            <a:ext cx="3474720" cy="6400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Balk et al. (2026)</a:t>
            </a:r>
            <a:endParaRPr lang="en-US" sz="1800" dirty="0"/>
          </a:p>
          <a:p>
            <a:pPr indent="0" marL="0">
              <a:buNone/>
            </a:pPr>
            <a:r>
              <a:rPr lang="en-US" sz="1400" b="1" dirty="0">
                <a:solidFill>
                  <a:srgbClr val="8E1B1F"/>
                </a:solidFill>
                <a:latin typeface="Calibri" pitchFamily="34" charset="0"/>
                <a:ea typeface="Calibri" pitchFamily="34" charset="-122"/>
                <a:cs typeface="Calibri" pitchFamily="34" charset="-120"/>
              </a:rPr>
              <a:t>n = 194  ·  matched on lesion size, site</a:t>
            </a:r>
            <a:endParaRPr lang="en-US" sz="1800" dirty="0"/>
          </a:p>
        </p:txBody>
      </p:sp>
      <p:sp>
        <p:nvSpPr>
          <p:cNvPr id="26" name="Shape 22"/>
          <p:cNvSpPr/>
          <p:nvPr/>
        </p:nvSpPr>
        <p:spPr>
          <a:xfrm>
            <a:off x="4457700" y="5202936"/>
            <a:ext cx="365760" cy="365760"/>
          </a:xfrm>
          <a:prstGeom prst="ellipse">
            <a:avLst/>
          </a:prstGeom>
          <a:solidFill>
            <a:srgbClr val="C1272D"/>
          </a:solidFill>
          <a:ln w="6350">
            <a:solidFill>
              <a:srgbClr val="C1272D"/>
            </a:solidFill>
            <a:prstDash val="solid"/>
          </a:ln>
        </p:spPr>
      </p:sp>
      <p:sp>
        <p:nvSpPr>
          <p:cNvPr id="27" name="Shape 23"/>
          <p:cNvSpPr/>
          <p:nvPr/>
        </p:nvSpPr>
        <p:spPr>
          <a:xfrm>
            <a:off x="7955280" y="2212848"/>
            <a:ext cx="3687775" cy="1691640"/>
          </a:xfrm>
          <a:prstGeom prst="roundRect">
            <a:avLst>
              <a:gd name="adj" fmla="val 5405"/>
            </a:avLst>
          </a:prstGeom>
          <a:solidFill>
            <a:srgbClr val="E8EDF3"/>
          </a:solidFill>
          <a:ln w="6350">
            <a:solidFill>
              <a:srgbClr val="E8EDF3"/>
            </a:solidFill>
            <a:prstDash val="solid"/>
          </a:ln>
        </p:spPr>
      </p:sp>
      <p:sp>
        <p:nvSpPr>
          <p:cNvPr id="28" name="Text 24"/>
          <p:cNvSpPr txBox="1"/>
          <p:nvPr/>
        </p:nvSpPr>
        <p:spPr>
          <a:xfrm>
            <a:off x="8275320" y="2331720"/>
            <a:ext cx="3047695" cy="320040"/>
          </a:xfrm>
          <a:prstGeom prst="rect">
            <a:avLst/>
          </a:prstGeom>
          <a:noFill/>
          <a:ln/>
        </p:spPr>
        <p:txBody>
          <a:bodyPr wrap="square" lIns="0" tIns="0" rIns="0" bIns="0" rtlCol="0" anchor="ctr"/>
          <a:lstStyle/>
          <a:p>
            <a:pPr indent="0" marL="0">
              <a:buNone/>
            </a:pPr>
            <a:r>
              <a:rPr lang="en-US" sz="1300" b="1" spc="200" kern="0" dirty="0">
                <a:solidFill>
                  <a:srgbClr val="3E5C76"/>
                </a:solidFill>
                <a:latin typeface="Calibri" pitchFamily="34" charset="0"/>
                <a:ea typeface="Calibri" pitchFamily="34" charset="-122"/>
                <a:cs typeface="Calibri" pitchFamily="34" charset="-120"/>
              </a:rPr>
              <a:t>MATCH ON THE DEFICIT</a:t>
            </a:r>
            <a:endParaRPr lang="en-US" sz="1300" dirty="0"/>
          </a:p>
        </p:txBody>
      </p:sp>
      <p:sp>
        <p:nvSpPr>
          <p:cNvPr id="29" name="Text 25"/>
          <p:cNvSpPr txBox="1"/>
          <p:nvPr/>
        </p:nvSpPr>
        <p:spPr>
          <a:xfrm>
            <a:off x="8275320" y="2651760"/>
            <a:ext cx="3047695" cy="502920"/>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ICH looks better</a:t>
            </a:r>
            <a:endParaRPr lang="en-US" sz="2600" dirty="0"/>
          </a:p>
        </p:txBody>
      </p:sp>
      <p:sp>
        <p:nvSpPr>
          <p:cNvPr id="30" name="Text 26"/>
          <p:cNvSpPr txBox="1"/>
          <p:nvPr/>
        </p:nvSpPr>
        <p:spPr>
          <a:xfrm>
            <a:off x="8275320" y="3154680"/>
            <a:ext cx="3139135" cy="685800"/>
          </a:xfrm>
          <a:prstGeom prst="rect">
            <a:avLst/>
          </a:prstGeom>
          <a:noFill/>
          <a:ln/>
        </p:spPr>
        <p:txBody>
          <a:bodyPr wrap="square" lIns="0" tIns="0" rIns="0" bIns="0" rtlCol="0" anchor="t"/>
          <a:lstStyle/>
          <a:p>
            <a:pPr indent="0" marL="0">
              <a:buNone/>
            </a:pPr>
            <a:r>
              <a:rPr lang="en-US" sz="1700" dirty="0">
                <a:solidFill>
                  <a:srgbClr val="1B2230"/>
                </a:solidFill>
                <a:latin typeface="Calibri" pitchFamily="34" charset="0"/>
                <a:ea typeface="Calibri" pitchFamily="34" charset="-122"/>
                <a:cs typeface="Calibri" pitchFamily="34" charset="-120"/>
              </a:rPr>
              <a:t>More of the deficit is pressure, and pressure resolves.</a:t>
            </a:r>
            <a:endParaRPr lang="en-US" sz="1700" dirty="0"/>
          </a:p>
        </p:txBody>
      </p:sp>
      <p:sp>
        <p:nvSpPr>
          <p:cNvPr id="31" name="Shape 27"/>
          <p:cNvSpPr/>
          <p:nvPr/>
        </p:nvSpPr>
        <p:spPr>
          <a:xfrm>
            <a:off x="7955280" y="4069080"/>
            <a:ext cx="3687775" cy="1691640"/>
          </a:xfrm>
          <a:prstGeom prst="roundRect">
            <a:avLst>
              <a:gd name="adj" fmla="val 5405"/>
            </a:avLst>
          </a:prstGeom>
          <a:solidFill>
            <a:srgbClr val="F6DCDD"/>
          </a:solidFill>
          <a:ln w="6350">
            <a:solidFill>
              <a:srgbClr val="F6DCDD"/>
            </a:solidFill>
            <a:prstDash val="solid"/>
          </a:ln>
        </p:spPr>
      </p:sp>
      <p:sp>
        <p:nvSpPr>
          <p:cNvPr id="32" name="Text 28"/>
          <p:cNvSpPr txBox="1"/>
          <p:nvPr/>
        </p:nvSpPr>
        <p:spPr>
          <a:xfrm>
            <a:off x="8275320" y="4187952"/>
            <a:ext cx="3047695" cy="320040"/>
          </a:xfrm>
          <a:prstGeom prst="rect">
            <a:avLst/>
          </a:prstGeom>
          <a:noFill/>
          <a:ln/>
        </p:spPr>
        <p:txBody>
          <a:bodyPr wrap="square" lIns="0" tIns="0" rIns="0" bIns="0" rtlCol="0" anchor="ctr"/>
          <a:lstStyle/>
          <a:p>
            <a:pPr indent="0" marL="0">
              <a:buNone/>
            </a:pPr>
            <a:r>
              <a:rPr lang="en-US" sz="1300" b="1" spc="200" kern="0" dirty="0">
                <a:solidFill>
                  <a:srgbClr val="8E1B1F"/>
                </a:solidFill>
                <a:latin typeface="Calibri" pitchFamily="34" charset="0"/>
                <a:ea typeface="Calibri" pitchFamily="34" charset="-122"/>
                <a:cs typeface="Calibri" pitchFamily="34" charset="-120"/>
              </a:rPr>
              <a:t>MATCH ON THE LESION</a:t>
            </a:r>
            <a:endParaRPr lang="en-US" sz="1300" dirty="0"/>
          </a:p>
        </p:txBody>
      </p:sp>
      <p:sp>
        <p:nvSpPr>
          <p:cNvPr id="33" name="Text 29"/>
          <p:cNvSpPr txBox="1"/>
          <p:nvPr/>
        </p:nvSpPr>
        <p:spPr>
          <a:xfrm>
            <a:off x="8275320" y="4507992"/>
            <a:ext cx="3047695" cy="502920"/>
          </a:xfrm>
          <a:prstGeom prst="rect">
            <a:avLst/>
          </a:prstGeom>
          <a:noFill/>
          <a:ln/>
        </p:spPr>
        <p:txBody>
          <a:bodyPr wrap="square" lIns="0" tIns="0" rIns="0" bIns="0" rtlCol="0" anchor="ctr"/>
          <a:lstStyle/>
          <a:p>
            <a:pPr indent="0" marL="0">
              <a:buNone/>
            </a:pPr>
            <a:r>
              <a:rPr lang="en-US" sz="2600" b="1" dirty="0">
                <a:solidFill>
                  <a:srgbClr val="C1272D"/>
                </a:solidFill>
                <a:latin typeface="Calibri" pitchFamily="34" charset="0"/>
                <a:ea typeface="Calibri" pitchFamily="34" charset="-122"/>
                <a:cs typeface="Calibri" pitchFamily="34" charset="-120"/>
              </a:rPr>
              <a:t>ICH looks worse</a:t>
            </a:r>
            <a:endParaRPr lang="en-US" sz="2600" dirty="0"/>
          </a:p>
        </p:txBody>
      </p:sp>
      <p:sp>
        <p:nvSpPr>
          <p:cNvPr id="34" name="Text 30"/>
          <p:cNvSpPr txBox="1"/>
          <p:nvPr/>
        </p:nvSpPr>
        <p:spPr>
          <a:xfrm>
            <a:off x="8275320" y="5010912"/>
            <a:ext cx="3139135" cy="685800"/>
          </a:xfrm>
          <a:prstGeom prst="rect">
            <a:avLst/>
          </a:prstGeom>
          <a:noFill/>
          <a:ln/>
        </p:spPr>
        <p:txBody>
          <a:bodyPr wrap="square" lIns="0" tIns="0" rIns="0" bIns="0" rtlCol="0" anchor="t"/>
          <a:lstStyle/>
          <a:p>
            <a:pPr indent="0" marL="0">
              <a:buNone/>
            </a:pPr>
            <a:r>
              <a:rPr lang="en-US" sz="1700" dirty="0">
                <a:solidFill>
                  <a:srgbClr val="8E1B1F"/>
                </a:solidFill>
                <a:latin typeface="Calibri" pitchFamily="34" charset="0"/>
                <a:ea typeface="Calibri" pitchFamily="34" charset="-122"/>
                <a:cs typeface="Calibri" pitchFamily="34" charset="-120"/>
              </a:rPr>
              <a:t>The blood itself is toxic.</a:t>
            </a:r>
            <a:endParaRPr lang="en-US" sz="1700" dirty="0"/>
          </a:p>
        </p:txBody>
      </p:sp>
      <p:sp>
        <p:nvSpPr>
          <p:cNvPr id="35" name="Text 31"/>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Each dot shows the direction of the main finding, not its size. Severe early deficit is not a fixed ceiling (Yoo &amp; Chung, 2026).</a:t>
            </a:r>
            <a:endParaRPr lang="en-US" sz="1200" dirty="0"/>
          </a:p>
        </p:txBody>
      </p:sp>
      <p:sp>
        <p:nvSpPr>
          <p:cNvPr id="36" name="Text 32"/>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7"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8"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9"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40"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41"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42"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43"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44"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45"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31</a:t>
            </a:r>
            <a:endParaRPr lang="en-US" sz="11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04 · AT THE BEDSIDE</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Every stage is a window to act</a:t>
            </a:r>
            <a:endParaRPr lang="en-US" sz="4000" dirty="0"/>
          </a:p>
        </p:txBody>
      </p:sp>
      <p:sp>
        <p:nvSpPr>
          <p:cNvPr id="5" name="Shape 2"/>
          <p:cNvSpPr/>
          <p:nvPr/>
        </p:nvSpPr>
        <p:spPr>
          <a:xfrm>
            <a:off x="548640" y="1737360"/>
            <a:ext cx="11094415" cy="914400"/>
          </a:xfrm>
          <a:prstGeom prst="roundRect">
            <a:avLst>
              <a:gd name="adj" fmla="val 10000"/>
            </a:avLst>
          </a:prstGeom>
          <a:solidFill>
            <a:srgbClr val="E8EDF3"/>
          </a:solidFill>
          <a:ln w="6350">
            <a:solidFill>
              <a:srgbClr val="E8EDF3"/>
            </a:solidFill>
            <a:prstDash val="solid"/>
          </a:ln>
        </p:spPr>
      </p:sp>
      <p:sp>
        <p:nvSpPr>
          <p:cNvPr id="6" name="Shape 3"/>
          <p:cNvSpPr/>
          <p:nvPr/>
        </p:nvSpPr>
        <p:spPr>
          <a:xfrm>
            <a:off x="777240" y="1892808"/>
            <a:ext cx="603504" cy="603504"/>
          </a:xfrm>
          <a:prstGeom prst="ellipse">
            <a:avLst/>
          </a:prstGeom>
          <a:solidFill>
            <a:srgbClr val="13233A"/>
          </a:solidFill>
          <a:ln w="6350">
            <a:solidFill>
              <a:srgbClr val="13233A"/>
            </a:solidFill>
            <a:prstDash val="solid"/>
          </a:ln>
        </p:spPr>
      </p:sp>
      <p:pic>
        <p:nvPicPr>
          <p:cNvPr id="7" name="Image 0" descr="preencoded.png">    </p:cNvPr>
          <p:cNvPicPr>
            <a:picLocks noChangeAspect="1"/>
          </p:cNvPicPr>
          <p:nvPr/>
        </p:nvPicPr>
        <p:blipFill>
          <a:blip r:embed="rId1"/>
          <a:stretch>
            <a:fillRect/>
          </a:stretch>
        </p:blipFill>
        <p:spPr>
          <a:xfrm>
            <a:off x="928116" y="2043684"/>
            <a:ext cx="301752" cy="301752"/>
          </a:xfrm>
          <a:prstGeom prst="rect">
            <a:avLst/>
          </a:prstGeom>
        </p:spPr>
      </p:pic>
      <p:sp>
        <p:nvSpPr>
          <p:cNvPr id="8" name="Text 4"/>
          <p:cNvSpPr txBox="1"/>
          <p:nvPr/>
        </p:nvSpPr>
        <p:spPr>
          <a:xfrm>
            <a:off x="1600200" y="1792224"/>
            <a:ext cx="2926080" cy="475488"/>
          </a:xfrm>
          <a:prstGeom prst="rect">
            <a:avLst/>
          </a:prstGeom>
          <a:noFill/>
          <a:ln/>
        </p:spPr>
        <p:txBody>
          <a:bodyPr wrap="square" lIns="0" tIns="0" rIns="0" bIns="0" rtlCol="0" anchor="b"/>
          <a:lstStyle/>
          <a:p>
            <a:pPr indent="0" marL="0">
              <a:buNone/>
            </a:pPr>
            <a:r>
              <a:rPr lang="en-US" sz="2400" b="1" dirty="0">
                <a:solidFill>
                  <a:srgbClr val="13233A"/>
                </a:solidFill>
                <a:latin typeface="Calibri" pitchFamily="34" charset="0"/>
                <a:ea typeface="Calibri" pitchFamily="34" charset="-122"/>
                <a:cs typeface="Calibri" pitchFamily="34" charset="-120"/>
              </a:rPr>
              <a:t>The vessel</a:t>
            </a:r>
            <a:endParaRPr lang="en-US" sz="2400" dirty="0"/>
          </a:p>
        </p:txBody>
      </p:sp>
      <p:sp>
        <p:nvSpPr>
          <p:cNvPr id="9" name="Text 5"/>
          <p:cNvSpPr txBox="1"/>
          <p:nvPr/>
        </p:nvSpPr>
        <p:spPr>
          <a:xfrm>
            <a:off x="1600200" y="2286000"/>
            <a:ext cx="2926080" cy="292608"/>
          </a:xfrm>
          <a:prstGeom prst="rect">
            <a:avLst/>
          </a:prstGeom>
          <a:noFill/>
          <a:ln/>
        </p:spPr>
        <p:txBody>
          <a:bodyPr wrap="square" lIns="0" tIns="0" rIns="0" bIns="0" rtlCol="0" anchor="t"/>
          <a:lstStyle/>
          <a:p>
            <a:pPr indent="0" marL="0">
              <a:buNone/>
            </a:pPr>
            <a:r>
              <a:rPr lang="en-US" sz="1500" b="1" dirty="0">
                <a:solidFill>
                  <a:srgbClr val="3E5C76"/>
                </a:solidFill>
                <a:latin typeface="Calibri" pitchFamily="34" charset="0"/>
                <a:ea typeface="Calibri" pitchFamily="34" charset="-122"/>
                <a:cs typeface="Calibri" pitchFamily="34" charset="-120"/>
              </a:rPr>
              <a:t>Before and after</a:t>
            </a:r>
            <a:endParaRPr lang="en-US" sz="1500" dirty="0"/>
          </a:p>
        </p:txBody>
      </p:sp>
      <p:sp>
        <p:nvSpPr>
          <p:cNvPr id="10" name="Text 6"/>
          <p:cNvSpPr txBox="1"/>
          <p:nvPr/>
        </p:nvSpPr>
        <p:spPr>
          <a:xfrm>
            <a:off x="4526280" y="1737360"/>
            <a:ext cx="6949440" cy="91440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Know the cause. Check BP before, during and after activity.</a:t>
            </a:r>
            <a:endParaRPr lang="en-US" sz="2100" dirty="0"/>
          </a:p>
        </p:txBody>
      </p:sp>
      <p:sp>
        <p:nvSpPr>
          <p:cNvPr id="11" name="Shape 7"/>
          <p:cNvSpPr/>
          <p:nvPr/>
        </p:nvSpPr>
        <p:spPr>
          <a:xfrm>
            <a:off x="548640" y="2761488"/>
            <a:ext cx="11094415" cy="914400"/>
          </a:xfrm>
          <a:prstGeom prst="roundRect">
            <a:avLst>
              <a:gd name="adj" fmla="val 10000"/>
            </a:avLst>
          </a:prstGeom>
          <a:solidFill>
            <a:srgbClr val="E8EDF3"/>
          </a:solidFill>
          <a:ln w="6350">
            <a:solidFill>
              <a:srgbClr val="E8EDF3"/>
            </a:solidFill>
            <a:prstDash val="solid"/>
          </a:ln>
        </p:spPr>
      </p:sp>
      <p:sp>
        <p:nvSpPr>
          <p:cNvPr id="12" name="Shape 8"/>
          <p:cNvSpPr/>
          <p:nvPr/>
        </p:nvSpPr>
        <p:spPr>
          <a:xfrm>
            <a:off x="777240" y="2916936"/>
            <a:ext cx="603504" cy="603504"/>
          </a:xfrm>
          <a:prstGeom prst="ellipse">
            <a:avLst/>
          </a:prstGeom>
          <a:solidFill>
            <a:srgbClr val="13233A"/>
          </a:solidFill>
          <a:ln w="6350">
            <a:solidFill>
              <a:srgbClr val="13233A"/>
            </a:solidFill>
            <a:prstDash val="solid"/>
          </a:ln>
        </p:spPr>
      </p:sp>
      <p:pic>
        <p:nvPicPr>
          <p:cNvPr id="13" name="Image 1" descr="preencoded.png">    </p:cNvPr>
          <p:cNvPicPr>
            <a:picLocks noChangeAspect="1"/>
          </p:cNvPicPr>
          <p:nvPr/>
        </p:nvPicPr>
        <p:blipFill>
          <a:blip r:embed="rId2"/>
          <a:stretch>
            <a:fillRect/>
          </a:stretch>
        </p:blipFill>
        <p:spPr>
          <a:xfrm>
            <a:off x="928116" y="3067812"/>
            <a:ext cx="301752" cy="301752"/>
          </a:xfrm>
          <a:prstGeom prst="rect">
            <a:avLst/>
          </a:prstGeom>
        </p:spPr>
      </p:pic>
      <p:sp>
        <p:nvSpPr>
          <p:cNvPr id="14" name="Text 9"/>
          <p:cNvSpPr txBox="1"/>
          <p:nvPr/>
        </p:nvSpPr>
        <p:spPr>
          <a:xfrm>
            <a:off x="1600200" y="2816352"/>
            <a:ext cx="2926080" cy="475488"/>
          </a:xfrm>
          <a:prstGeom prst="rect">
            <a:avLst/>
          </a:prstGeom>
          <a:noFill/>
          <a:ln/>
        </p:spPr>
        <p:txBody>
          <a:bodyPr wrap="square" lIns="0" tIns="0" rIns="0" bIns="0" rtlCol="0" anchor="b"/>
          <a:lstStyle/>
          <a:p>
            <a:pPr indent="0" marL="0">
              <a:buNone/>
            </a:pPr>
            <a:r>
              <a:rPr lang="en-US" sz="2400" b="1" dirty="0">
                <a:solidFill>
                  <a:srgbClr val="13233A"/>
                </a:solidFill>
                <a:latin typeface="Calibri" pitchFamily="34" charset="0"/>
                <a:ea typeface="Calibri" pitchFamily="34" charset="-122"/>
                <a:cs typeface="Calibri" pitchFamily="34" charset="-120"/>
              </a:rPr>
              <a:t>The first hours</a:t>
            </a:r>
            <a:endParaRPr lang="en-US" sz="2400" dirty="0"/>
          </a:p>
        </p:txBody>
      </p:sp>
      <p:sp>
        <p:nvSpPr>
          <p:cNvPr id="15" name="Text 10"/>
          <p:cNvSpPr txBox="1"/>
          <p:nvPr/>
        </p:nvSpPr>
        <p:spPr>
          <a:xfrm>
            <a:off x="1600200" y="3310128"/>
            <a:ext cx="2926080" cy="292608"/>
          </a:xfrm>
          <a:prstGeom prst="rect">
            <a:avLst/>
          </a:prstGeom>
          <a:noFill/>
          <a:ln/>
        </p:spPr>
        <p:txBody>
          <a:bodyPr wrap="square" lIns="0" tIns="0" rIns="0" bIns="0" rtlCol="0" anchor="t"/>
          <a:lstStyle/>
          <a:p>
            <a:pPr indent="0" marL="0">
              <a:buNone/>
            </a:pPr>
            <a:r>
              <a:rPr lang="en-US" sz="1500" b="1" dirty="0">
                <a:solidFill>
                  <a:srgbClr val="3E5C76"/>
                </a:solidFill>
                <a:latin typeface="Calibri" pitchFamily="34" charset="0"/>
                <a:ea typeface="Calibri" pitchFamily="34" charset="-122"/>
                <a:cs typeface="Calibri" pitchFamily="34" charset="-120"/>
              </a:rPr>
              <a:t>First 24–72 hours</a:t>
            </a:r>
            <a:endParaRPr lang="en-US" sz="1500" dirty="0"/>
          </a:p>
        </p:txBody>
      </p:sp>
      <p:sp>
        <p:nvSpPr>
          <p:cNvPr id="16" name="Text 11"/>
          <p:cNvSpPr txBox="1"/>
          <p:nvPr/>
        </p:nvSpPr>
        <p:spPr>
          <a:xfrm>
            <a:off x="4526280" y="2761488"/>
            <a:ext cx="6949440" cy="91440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Neuro obs first. Short, gentle sessions; nothing intense.</a:t>
            </a:r>
            <a:endParaRPr lang="en-US" sz="2100" dirty="0"/>
          </a:p>
        </p:txBody>
      </p:sp>
      <p:sp>
        <p:nvSpPr>
          <p:cNvPr id="17" name="Shape 12"/>
          <p:cNvSpPr/>
          <p:nvPr/>
        </p:nvSpPr>
        <p:spPr>
          <a:xfrm>
            <a:off x="548640" y="3785616"/>
            <a:ext cx="11094415" cy="914400"/>
          </a:xfrm>
          <a:prstGeom prst="roundRect">
            <a:avLst>
              <a:gd name="adj" fmla="val 10000"/>
            </a:avLst>
          </a:prstGeom>
          <a:solidFill>
            <a:srgbClr val="F6DCDD"/>
          </a:solidFill>
          <a:ln w="6350">
            <a:solidFill>
              <a:srgbClr val="F6DCDD"/>
            </a:solidFill>
            <a:prstDash val="solid"/>
          </a:ln>
        </p:spPr>
      </p:sp>
      <p:sp>
        <p:nvSpPr>
          <p:cNvPr id="18" name="Shape 13"/>
          <p:cNvSpPr/>
          <p:nvPr/>
        </p:nvSpPr>
        <p:spPr>
          <a:xfrm>
            <a:off x="777240" y="3941064"/>
            <a:ext cx="603504" cy="603504"/>
          </a:xfrm>
          <a:prstGeom prst="ellipse">
            <a:avLst/>
          </a:prstGeom>
          <a:solidFill>
            <a:srgbClr val="C1272D"/>
          </a:solidFill>
          <a:ln w="6350">
            <a:solidFill>
              <a:srgbClr val="C1272D"/>
            </a:solidFill>
            <a:prstDash val="solid"/>
          </a:ln>
        </p:spPr>
      </p:sp>
      <p:pic>
        <p:nvPicPr>
          <p:cNvPr id="19" name="Image 2" descr="preencoded.png">    </p:cNvPr>
          <p:cNvPicPr>
            <a:picLocks noChangeAspect="1"/>
          </p:cNvPicPr>
          <p:nvPr/>
        </p:nvPicPr>
        <p:blipFill>
          <a:blip r:embed="rId3"/>
          <a:stretch>
            <a:fillRect/>
          </a:stretch>
        </p:blipFill>
        <p:spPr>
          <a:xfrm>
            <a:off x="928116" y="4091940"/>
            <a:ext cx="301752" cy="301752"/>
          </a:xfrm>
          <a:prstGeom prst="rect">
            <a:avLst/>
          </a:prstGeom>
        </p:spPr>
      </p:pic>
      <p:sp>
        <p:nvSpPr>
          <p:cNvPr id="20" name="Text 14"/>
          <p:cNvSpPr txBox="1"/>
          <p:nvPr/>
        </p:nvSpPr>
        <p:spPr>
          <a:xfrm>
            <a:off x="1600200" y="3840480"/>
            <a:ext cx="2926080" cy="475488"/>
          </a:xfrm>
          <a:prstGeom prst="rect">
            <a:avLst/>
          </a:prstGeom>
          <a:noFill/>
          <a:ln/>
        </p:spPr>
        <p:txBody>
          <a:bodyPr wrap="square" lIns="0" tIns="0" rIns="0" bIns="0" rtlCol="0" anchor="b"/>
          <a:lstStyle/>
          <a:p>
            <a:pPr indent="0" marL="0">
              <a:buNone/>
            </a:pPr>
            <a:r>
              <a:rPr lang="en-US" sz="2400" b="1" dirty="0">
                <a:solidFill>
                  <a:srgbClr val="13233A"/>
                </a:solidFill>
                <a:latin typeface="Calibri" pitchFamily="34" charset="0"/>
                <a:ea typeface="Calibri" pitchFamily="34" charset="-122"/>
                <a:cs typeface="Calibri" pitchFamily="34" charset="-120"/>
              </a:rPr>
              <a:t>The days after</a:t>
            </a:r>
            <a:endParaRPr lang="en-US" sz="2400" dirty="0"/>
          </a:p>
        </p:txBody>
      </p:sp>
      <p:sp>
        <p:nvSpPr>
          <p:cNvPr id="21" name="Text 15"/>
          <p:cNvSpPr txBox="1"/>
          <p:nvPr/>
        </p:nvSpPr>
        <p:spPr>
          <a:xfrm>
            <a:off x="1600200" y="4334256"/>
            <a:ext cx="2926080" cy="292608"/>
          </a:xfrm>
          <a:prstGeom prst="rect">
            <a:avLst/>
          </a:prstGeom>
          <a:noFill/>
          <a:ln/>
        </p:spPr>
        <p:txBody>
          <a:bodyPr wrap="square" lIns="0" tIns="0" rIns="0" bIns="0" rtlCol="0" anchor="t"/>
          <a:lstStyle/>
          <a:p>
            <a:pPr indent="0" marL="0">
              <a:buNone/>
            </a:pPr>
            <a:r>
              <a:rPr lang="en-US" sz="1500" b="1" dirty="0">
                <a:solidFill>
                  <a:srgbClr val="8E1B1F"/>
                </a:solidFill>
                <a:latin typeface="Calibri" pitchFamily="34" charset="0"/>
                <a:ea typeface="Calibri" pitchFamily="34" charset="-122"/>
                <a:cs typeface="Calibri" pitchFamily="34" charset="-120"/>
              </a:rPr>
              <a:t>Days to weeks</a:t>
            </a:r>
            <a:endParaRPr lang="en-US" sz="1500" dirty="0"/>
          </a:p>
        </p:txBody>
      </p:sp>
      <p:sp>
        <p:nvSpPr>
          <p:cNvPr id="22" name="Text 16"/>
          <p:cNvSpPr txBox="1"/>
          <p:nvPr/>
        </p:nvSpPr>
        <p:spPr>
          <a:xfrm>
            <a:off x="4526280" y="3785616"/>
            <a:ext cx="6949440" cy="91440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Screen every session. Expect ups and downs. Drowsy: escalate.</a:t>
            </a:r>
            <a:endParaRPr lang="en-US" sz="2100" dirty="0"/>
          </a:p>
        </p:txBody>
      </p:sp>
      <p:sp>
        <p:nvSpPr>
          <p:cNvPr id="23" name="Shape 17"/>
          <p:cNvSpPr/>
          <p:nvPr/>
        </p:nvSpPr>
        <p:spPr>
          <a:xfrm>
            <a:off x="548640" y="4809744"/>
            <a:ext cx="11094415" cy="914400"/>
          </a:xfrm>
          <a:prstGeom prst="roundRect">
            <a:avLst>
              <a:gd name="adj" fmla="val 10000"/>
            </a:avLst>
          </a:prstGeom>
          <a:solidFill>
            <a:srgbClr val="E8EDF3"/>
          </a:solidFill>
          <a:ln w="6350">
            <a:solidFill>
              <a:srgbClr val="E8EDF3"/>
            </a:solidFill>
            <a:prstDash val="solid"/>
          </a:ln>
        </p:spPr>
      </p:sp>
      <p:sp>
        <p:nvSpPr>
          <p:cNvPr id="24" name="Shape 18"/>
          <p:cNvSpPr/>
          <p:nvPr/>
        </p:nvSpPr>
        <p:spPr>
          <a:xfrm>
            <a:off x="777240" y="4965192"/>
            <a:ext cx="603504" cy="603504"/>
          </a:xfrm>
          <a:prstGeom prst="ellipse">
            <a:avLst/>
          </a:prstGeom>
          <a:solidFill>
            <a:srgbClr val="13233A"/>
          </a:solidFill>
          <a:ln w="6350">
            <a:solidFill>
              <a:srgbClr val="13233A"/>
            </a:solidFill>
            <a:prstDash val="solid"/>
          </a:ln>
        </p:spPr>
      </p:sp>
      <p:pic>
        <p:nvPicPr>
          <p:cNvPr id="25" name="Image 3" descr="preencoded.png">    </p:cNvPr>
          <p:cNvPicPr>
            <a:picLocks noChangeAspect="1"/>
          </p:cNvPicPr>
          <p:nvPr/>
        </p:nvPicPr>
        <p:blipFill>
          <a:blip r:embed="rId4"/>
          <a:stretch>
            <a:fillRect/>
          </a:stretch>
        </p:blipFill>
        <p:spPr>
          <a:xfrm>
            <a:off x="928116" y="5116068"/>
            <a:ext cx="301752" cy="301752"/>
          </a:xfrm>
          <a:prstGeom prst="rect">
            <a:avLst/>
          </a:prstGeom>
        </p:spPr>
      </p:pic>
      <p:sp>
        <p:nvSpPr>
          <p:cNvPr id="26" name="Text 19"/>
          <p:cNvSpPr txBox="1"/>
          <p:nvPr/>
        </p:nvSpPr>
        <p:spPr>
          <a:xfrm>
            <a:off x="1600200" y="4864608"/>
            <a:ext cx="2926080" cy="475488"/>
          </a:xfrm>
          <a:prstGeom prst="rect">
            <a:avLst/>
          </a:prstGeom>
          <a:noFill/>
          <a:ln/>
        </p:spPr>
        <p:txBody>
          <a:bodyPr wrap="square" lIns="0" tIns="0" rIns="0" bIns="0" rtlCol="0" anchor="b"/>
          <a:lstStyle/>
          <a:p>
            <a:pPr indent="0" marL="0">
              <a:buNone/>
            </a:pPr>
            <a:r>
              <a:rPr lang="en-US" sz="2400" b="1" dirty="0">
                <a:solidFill>
                  <a:srgbClr val="13233A"/>
                </a:solidFill>
                <a:latin typeface="Calibri" pitchFamily="34" charset="0"/>
                <a:ea typeface="Calibri" pitchFamily="34" charset="-122"/>
                <a:cs typeface="Calibri" pitchFamily="34" charset="-120"/>
              </a:rPr>
              <a:t>The months after</a:t>
            </a:r>
            <a:endParaRPr lang="en-US" sz="2400" dirty="0"/>
          </a:p>
        </p:txBody>
      </p:sp>
      <p:sp>
        <p:nvSpPr>
          <p:cNvPr id="27" name="Text 20"/>
          <p:cNvSpPr txBox="1"/>
          <p:nvPr/>
        </p:nvSpPr>
        <p:spPr>
          <a:xfrm>
            <a:off x="1600200" y="5358384"/>
            <a:ext cx="2926080" cy="292608"/>
          </a:xfrm>
          <a:prstGeom prst="rect">
            <a:avLst/>
          </a:prstGeom>
          <a:noFill/>
          <a:ln/>
        </p:spPr>
        <p:txBody>
          <a:bodyPr wrap="square" lIns="0" tIns="0" rIns="0" bIns="0" rtlCol="0" anchor="t"/>
          <a:lstStyle/>
          <a:p>
            <a:pPr indent="0" marL="0">
              <a:buNone/>
            </a:pPr>
            <a:r>
              <a:rPr lang="en-US" sz="1500" b="1" dirty="0">
                <a:solidFill>
                  <a:srgbClr val="3E5C76"/>
                </a:solidFill>
                <a:latin typeface="Calibri" pitchFamily="34" charset="0"/>
                <a:ea typeface="Calibri" pitchFamily="34" charset="-122"/>
                <a:cs typeface="Calibri" pitchFamily="34" charset="-120"/>
              </a:rPr>
              <a:t>Weeks to months</a:t>
            </a:r>
            <a:endParaRPr lang="en-US" sz="1500" dirty="0"/>
          </a:p>
        </p:txBody>
      </p:sp>
      <p:sp>
        <p:nvSpPr>
          <p:cNvPr id="28" name="Text 21"/>
          <p:cNvSpPr txBox="1"/>
          <p:nvPr/>
        </p:nvSpPr>
        <p:spPr>
          <a:xfrm>
            <a:off x="4526280" y="4809744"/>
            <a:ext cx="6949440" cy="91440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No early ceiling. Target what the location predicts.</a:t>
            </a:r>
            <a:endParaRPr lang="en-US" sz="2100" dirty="0"/>
          </a:p>
        </p:txBody>
      </p:sp>
      <p:sp>
        <p:nvSpPr>
          <p:cNvPr id="29" name="Text 22"/>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(AVERT Trial Collaboration Group, 2015; Bernhardt et al., 2016; Levett-Jones et al., 2010; Puig et al., 2019; Yoo &amp; Chung, 2026)</a:t>
            </a:r>
            <a:endParaRPr lang="en-US" sz="1200" dirty="0"/>
          </a:p>
        </p:txBody>
      </p:sp>
      <p:sp>
        <p:nvSpPr>
          <p:cNvPr id="30" name="Text 23"/>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1"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2"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3"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4"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5"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6"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7"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38"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39"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32</a:t>
            </a:r>
            <a:endParaRPr lang="en-US" sz="11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SUMMARY</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If you remember three things</a:t>
            </a:r>
            <a:endParaRPr lang="en-US" sz="4000" dirty="0"/>
          </a:p>
        </p:txBody>
      </p:sp>
      <p:sp>
        <p:nvSpPr>
          <p:cNvPr id="5" name="Shape 2"/>
          <p:cNvSpPr/>
          <p:nvPr/>
        </p:nvSpPr>
        <p:spPr>
          <a:xfrm>
            <a:off x="640080" y="2011680"/>
            <a:ext cx="731520" cy="731520"/>
          </a:xfrm>
          <a:prstGeom prst="ellipse">
            <a:avLst/>
          </a:prstGeom>
          <a:solidFill>
            <a:srgbClr val="C1272D"/>
          </a:solidFill>
          <a:ln w="6350">
            <a:solidFill>
              <a:srgbClr val="C1272D"/>
            </a:solidFill>
            <a:prstDash val="solid"/>
          </a:ln>
        </p:spPr>
      </p:sp>
      <p:sp>
        <p:nvSpPr>
          <p:cNvPr id="6" name="Text 3"/>
          <p:cNvSpPr txBox="1"/>
          <p:nvPr/>
        </p:nvSpPr>
        <p:spPr>
          <a:xfrm>
            <a:off x="640080" y="20116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7" name="Text 4"/>
          <p:cNvSpPr txBox="1"/>
          <p:nvPr/>
        </p:nvSpPr>
        <p:spPr>
          <a:xfrm>
            <a:off x="1828800" y="1920240"/>
            <a:ext cx="9814255" cy="914400"/>
          </a:xfrm>
          <a:prstGeom prst="rect">
            <a:avLst/>
          </a:prstGeom>
          <a:noFill/>
          <a:ln/>
        </p:spPr>
        <p:txBody>
          <a:bodyPr wrap="square" lIns="0" tIns="0" rIns="0" bIns="0"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The vessel decides where it bleeds.</a:t>
            </a:r>
            <a:endParaRPr lang="en-US" sz="3400" dirty="0"/>
          </a:p>
        </p:txBody>
      </p:sp>
      <p:sp>
        <p:nvSpPr>
          <p:cNvPr id="8" name="Shape 5"/>
          <p:cNvSpPr/>
          <p:nvPr/>
        </p:nvSpPr>
        <p:spPr>
          <a:xfrm>
            <a:off x="585216" y="3191256"/>
            <a:ext cx="841248" cy="841248"/>
          </a:xfrm>
          <a:prstGeom prst="ellipse">
            <a:avLst/>
          </a:prstGeom>
          <a:solidFill>
            <a:srgbClr val="C1272D"/>
          </a:solidFill>
          <a:ln w="6350">
            <a:solidFill>
              <a:srgbClr val="C1272D"/>
            </a:solidFill>
            <a:prstDash val="solid"/>
          </a:ln>
        </p:spPr>
      </p:sp>
      <p:sp>
        <p:nvSpPr>
          <p:cNvPr id="9" name="Text 6"/>
          <p:cNvSpPr txBox="1"/>
          <p:nvPr/>
        </p:nvSpPr>
        <p:spPr>
          <a:xfrm>
            <a:off x="585216" y="3191256"/>
            <a:ext cx="841248" cy="84124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0" name="Text 7"/>
          <p:cNvSpPr txBox="1"/>
          <p:nvPr/>
        </p:nvSpPr>
        <p:spPr>
          <a:xfrm>
            <a:off x="1828800" y="3154680"/>
            <a:ext cx="9814255" cy="914400"/>
          </a:xfrm>
          <a:prstGeom prst="rect">
            <a:avLst/>
          </a:prstGeom>
          <a:noFill/>
          <a:ln/>
        </p:spPr>
        <p:txBody>
          <a:bodyPr wrap="square" lIns="0" tIns="0" rIns="0" bIns="0"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The first hours decide how big it gets.</a:t>
            </a:r>
            <a:endParaRPr lang="en-US" sz="3400" dirty="0"/>
          </a:p>
        </p:txBody>
      </p:sp>
      <p:sp>
        <p:nvSpPr>
          <p:cNvPr id="11" name="Shape 8"/>
          <p:cNvSpPr/>
          <p:nvPr/>
        </p:nvSpPr>
        <p:spPr>
          <a:xfrm>
            <a:off x="530352" y="4370832"/>
            <a:ext cx="950976" cy="950976"/>
          </a:xfrm>
          <a:prstGeom prst="ellipse">
            <a:avLst/>
          </a:prstGeom>
          <a:solidFill>
            <a:srgbClr val="C1272D"/>
          </a:solidFill>
          <a:ln w="6350">
            <a:solidFill>
              <a:srgbClr val="C1272D"/>
            </a:solidFill>
            <a:prstDash val="solid"/>
          </a:ln>
        </p:spPr>
      </p:sp>
      <p:sp>
        <p:nvSpPr>
          <p:cNvPr id="12" name="Text 9"/>
          <p:cNvSpPr txBox="1"/>
          <p:nvPr/>
        </p:nvSpPr>
        <p:spPr>
          <a:xfrm>
            <a:off x="530352" y="4370832"/>
            <a:ext cx="950976" cy="950976"/>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3" name="Text 10"/>
          <p:cNvSpPr txBox="1"/>
          <p:nvPr/>
        </p:nvSpPr>
        <p:spPr>
          <a:xfrm>
            <a:off x="1828800" y="4389120"/>
            <a:ext cx="9814255" cy="914400"/>
          </a:xfrm>
          <a:prstGeom prst="rect">
            <a:avLst/>
          </a:prstGeom>
          <a:noFill/>
          <a:ln/>
        </p:spPr>
        <p:txBody>
          <a:bodyPr wrap="square" lIns="0" tIns="0" rIns="0" bIns="0"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The blood keeps injuring the brain for days.</a:t>
            </a:r>
            <a:endParaRPr lang="en-US" sz="3400" dirty="0"/>
          </a:p>
        </p:txBody>
      </p:sp>
      <p:sp>
        <p:nvSpPr>
          <p:cNvPr id="14" name="Text 11"/>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Adapted from Rossi and Cordonnier (2014).</a:t>
            </a:r>
            <a:endParaRPr lang="en-US" sz="1200" dirty="0"/>
          </a:p>
        </p:txBody>
      </p:sp>
      <p:sp>
        <p:nvSpPr>
          <p:cNvPr id="15" name="Text 12"/>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6"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17"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8"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9"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0"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21"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2"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23"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24"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33</a:t>
            </a:r>
            <a:endParaRPr lang="en-US" sz="11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7498080" y="1417320"/>
            <a:ext cx="4023360" cy="4023360"/>
          </a:xfrm>
          <a:prstGeom prst="ellipse">
            <a:avLst/>
          </a:prstGeom>
          <a:solidFill>
            <a:srgbClr val="FFFFFF">
              <a:alpha val="0"/>
            </a:srgbClr>
          </a:solidFill>
          <a:ln w="12700">
            <a:solidFill>
              <a:srgbClr val="3E5C76"/>
            </a:solidFill>
            <a:prstDash val="solid"/>
          </a:ln>
        </p:spPr>
      </p:sp>
      <p:sp>
        <p:nvSpPr>
          <p:cNvPr id="4" name="!!bleed"/>
          <p:cNvSpPr/>
          <p:nvPr/>
        </p:nvSpPr>
        <p:spPr>
          <a:xfrm>
            <a:off x="9304020" y="3223260"/>
            <a:ext cx="411480" cy="411480"/>
          </a:xfrm>
          <a:prstGeom prst="ellipse">
            <a:avLst/>
          </a:prstGeom>
          <a:solidFill>
            <a:srgbClr val="C1272D"/>
          </a:solidFill>
          <a:ln w="6350">
            <a:solidFill>
              <a:srgbClr val="C1272D"/>
            </a:solidFill>
            <a:prstDash val="solid"/>
          </a:ln>
        </p:spPr>
      </p:sp>
      <p:sp>
        <p:nvSpPr>
          <p:cNvPr id="5" name="Text 2"/>
          <p:cNvSpPr txBox="1"/>
          <p:nvPr/>
        </p:nvSpPr>
        <p:spPr>
          <a:xfrm>
            <a:off x="731520" y="1097280"/>
            <a:ext cx="6400800" cy="365760"/>
          </a:xfrm>
          <a:prstGeom prst="rect">
            <a:avLst/>
          </a:prstGeom>
          <a:noFill/>
          <a:ln/>
        </p:spPr>
        <p:txBody>
          <a:bodyPr wrap="square" lIns="0" tIns="0" rIns="0" bIns="0" rtlCol="0" anchor="ctr"/>
          <a:lstStyle/>
          <a:p>
            <a:pPr indent="0" marL="0">
              <a:buNone/>
            </a:pPr>
            <a:r>
              <a:rPr lang="en-US" sz="1600" b="1" spc="400" kern="0" dirty="0">
                <a:solidFill>
                  <a:srgbClr val="F08A8E"/>
                </a:solidFill>
                <a:latin typeface="Calibri" pitchFamily="34" charset="0"/>
                <a:ea typeface="Calibri" pitchFamily="34" charset="-122"/>
                <a:cs typeface="Calibri" pitchFamily="34" charset="-120"/>
              </a:rPr>
              <a:t>EIGHT YEARS LATER</a:t>
            </a:r>
            <a:endParaRPr lang="en-US" sz="1600" dirty="0"/>
          </a:p>
        </p:txBody>
      </p:sp>
      <p:sp>
        <p:nvSpPr>
          <p:cNvPr id="6" name="Text 3"/>
          <p:cNvSpPr txBox="1"/>
          <p:nvPr/>
        </p:nvSpPr>
        <p:spPr>
          <a:xfrm>
            <a:off x="731520" y="1554480"/>
            <a:ext cx="6766560" cy="1371600"/>
          </a:xfrm>
          <a:prstGeom prst="rect">
            <a:avLst/>
          </a:prstGeom>
          <a:noFill/>
          <a:ln/>
        </p:spPr>
        <p:txBody>
          <a:bodyPr wrap="square" lIns="0" tIns="0" rIns="0" bIns="0" rtlCol="0" anchor="t"/>
          <a:lstStyle/>
          <a:p>
            <a:pPr indent="0" marL="0">
              <a:buNone/>
            </a:pPr>
            <a:r>
              <a:rPr lang="en-US" sz="2800" dirty="0">
                <a:solidFill>
                  <a:srgbClr val="C9D3E0"/>
                </a:solidFill>
                <a:latin typeface="Calibri" pitchFamily="34" charset="0"/>
                <a:ea typeface="Calibri" pitchFamily="34" charset="-122"/>
                <a:cs typeface="Calibri" pitchFamily="34" charset="-120"/>
              </a:rPr>
              <a:t>Jill walked onto the TED stage holding a human brain.</a:t>
            </a:r>
            <a:endParaRPr lang="en-US" sz="2800" dirty="0"/>
          </a:p>
        </p:txBody>
      </p:sp>
      <p:sp>
        <p:nvSpPr>
          <p:cNvPr id="7" name="Text 4"/>
          <p:cNvSpPr txBox="1"/>
          <p:nvPr/>
        </p:nvSpPr>
        <p:spPr>
          <a:xfrm>
            <a:off x="731520" y="3017520"/>
            <a:ext cx="6949440" cy="155448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ICH is a process,</a:t>
            </a:r>
            <a:endParaRPr lang="en-US" sz="4800" dirty="0"/>
          </a:p>
          <a:p>
            <a:pPr indent="0" marL="0">
              <a:buNone/>
            </a:pPr>
            <a:r>
              <a:rPr lang="en-US" sz="4800" b="1" dirty="0">
                <a:solidFill>
                  <a:srgbClr val="FFFFFF"/>
                </a:solidFill>
                <a:latin typeface="Cambria" pitchFamily="34" charset="0"/>
                <a:ea typeface="Cambria" pitchFamily="34" charset="-122"/>
                <a:cs typeface="Cambria" pitchFamily="34" charset="-120"/>
              </a:rPr>
              <a:t>not a moment.</a:t>
            </a:r>
            <a:endParaRPr lang="en-US" sz="4800" dirty="0"/>
          </a:p>
        </p:txBody>
      </p:sp>
      <p:sp>
        <p:nvSpPr>
          <p:cNvPr id="8" name="Text 5"/>
          <p:cNvSpPr txBox="1"/>
          <p:nvPr/>
        </p:nvSpPr>
        <p:spPr>
          <a:xfrm>
            <a:off x="731520" y="4937760"/>
            <a:ext cx="6766560" cy="548640"/>
          </a:xfrm>
          <a:prstGeom prst="rect">
            <a:avLst/>
          </a:prstGeom>
          <a:noFill/>
          <a:ln/>
        </p:spPr>
        <p:txBody>
          <a:bodyPr wrap="square" lIns="0" tIns="0" rIns="0" bIns="0" rtlCol="0" anchor="t"/>
          <a:lstStyle/>
          <a:p>
            <a:pPr indent="0" marL="0">
              <a:buNone/>
            </a:pPr>
            <a:r>
              <a:rPr lang="en-US" sz="2400" b="1" dirty="0">
                <a:solidFill>
                  <a:srgbClr val="F08A8E"/>
                </a:solidFill>
                <a:latin typeface="Calibri" pitchFamily="34" charset="0"/>
                <a:ea typeface="Calibri" pitchFamily="34" charset="-122"/>
                <a:cs typeface="Calibri" pitchFamily="34" charset="-120"/>
              </a:rPr>
              <a:t>Which claim would you challenge?</a:t>
            </a:r>
            <a:endParaRPr lang="en-US" sz="2400" dirty="0"/>
          </a:p>
        </p:txBody>
      </p:sp>
      <p:sp>
        <p:nvSpPr>
          <p:cNvPr id="9" name="Text 6"/>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93A6BC"/>
                </a:solidFill>
                <a:latin typeface="Calibri" pitchFamily="34" charset="0"/>
                <a:ea typeface="Calibri" pitchFamily="34" charset="-122"/>
                <a:cs typeface="Calibri" pitchFamily="34" charset="-120"/>
              </a:rPr>
              <a:t>Source: Taylor (2008a, 2008b).</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SOURCES  ·  APA 7TH EDITION  ·  1 OF 4</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References</a:t>
            </a:r>
            <a:endParaRPr lang="en-US" sz="4000" dirty="0"/>
          </a:p>
        </p:txBody>
      </p:sp>
      <p:sp>
        <p:nvSpPr>
          <p:cNvPr id="5" name="apaRefs0_0"/>
          <p:cNvSpPr txBox="1"/>
          <p:nvPr/>
        </p:nvSpPr>
        <p:spPr>
          <a:xfrm>
            <a:off x="548640" y="1645920"/>
            <a:ext cx="5440680" cy="4572000"/>
          </a:xfrm>
          <a:prstGeom prst="rect">
            <a:avLst/>
          </a:prstGeom>
          <a:noFill/>
          <a:ln/>
        </p:spPr>
        <p:txBody>
          <a:bodyPr wrap="square" lIns="0" tIns="0" rIns="0" bIns="0" rtlCol="0" anchor="t"/>
          <a:lstStyle/>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AVERT Trial Collaboration Group.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(2015).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Efficacy and safety of very early mobilisation within 24 h of stroke onset (AVERT): A randomised controlled trial.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The Lancet</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386</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(9988), 46–55. https://doi.org/10.1016/S0140-6736(15)60690-0</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Balk, S., Siller, T., Sprügel, M. I., Haupenthal, D., Kölbl, K., Hock, S., Heinze, D., Engelhorn, T., Kallmünzer, B., Schwab, S., Huttner, H. B., Kuramatsu, J. B., &amp; Sembill, J. A.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(2026).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Functional outcome, five-year survival and burden of disease after size- and location-matched hemorrhagic versus ischemic stroke.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Neurological Research and Practice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8</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Article 6. https://doi.org/10.1186/s42466-026-00456-w</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Becker, K. J., Baxter, A. B., Cohen, W. A., Bybee, H. M., Tirschwell, D. L., Newell, D. W., Winn, H. R., &amp; Longstreth, W. T., Jr.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(2001).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Withdrawal of support in intracerebral hemorrhage may lead to self-fulfilling prophecies.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56</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(6), 766–772. https://doi.org/10.1212/WNL.56.6.766</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Bernhardt, J., Churilov, L., Ellery, F., Collier, J., Chamberlain, J., Langhorne, P., Lindley, R. I., Moodie, M., Dewey, H., Thrift, A. G., &amp; Donnan, G.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(2016).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Prespecified dose-response analysis for A Very Early Rehabilitation Trial (AVERT).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86</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(23), 2138–2145. https://doi.org/10.1212/WNL.0000000000002459</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Broderick, J. P., Brott, T. G., Duldner, J. E., Tomsick, T., &amp; Huster, G.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(1993).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Volume of intracerebral hemorrhage: A powerful and easy-to-use predictor of 30-day mortality.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Stroke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24</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(7), 987–993. https://doi.org/10.1161/01.STR.24.7.987</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Brott, T., Broderick, J., Kothari, R., Barsan, W., Tomsick, T., Sauerbeck, L., Spilker, J., Duldner, J., &amp; Khoury, J.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(1997).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Early hemorrhage growth in patients with intracerebral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Stroke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28</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 1–5. https://doi.org/10.1161/01.STR.28.1.1</a:t>
            </a:r>
            <a:endParaRPr lang="en-US" sz="1200" dirty="0"/>
          </a:p>
        </p:txBody>
      </p:sp>
      <p:sp>
        <p:nvSpPr>
          <p:cNvPr id="6" name="apaRefs0_1"/>
          <p:cNvSpPr txBox="1"/>
          <p:nvPr/>
        </p:nvSpPr>
        <p:spPr>
          <a:xfrm>
            <a:off x="6199632" y="1645920"/>
            <a:ext cx="5440680" cy="4572000"/>
          </a:xfrm>
          <a:prstGeom prst="rect">
            <a:avLst/>
          </a:prstGeom>
          <a:noFill/>
          <a:ln/>
        </p:spPr>
        <p:txBody>
          <a:bodyPr wrap="square" lIns="0" tIns="0" rIns="0" bIns="0" rtlCol="0" anchor="t"/>
          <a:lstStyle/>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Butcher, K. S., Jeerakathil, T., Hill, M., Demchuk, A. M., Dowlatshahi, D., Coutts, S. B., Gould, B., McCourt, R., Asdaghi, N., Findlay, J. M., Emery, D., &amp; Shuaib, A.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(2013).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The Intracerebral Hemorrhage Acutely Decreasing Arterial Pressure Trial.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Stroke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44</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(3), 620–626. https://doi.org/10.1161/STROKEAHA.111.000188</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Charidimou, A., Boulouis, G., Frosch, M. P., Baron, J.-C., Pasi, M., Albucher, J. F., Banerjee, G., Barbato, C., Bonneville, F., Brandner, S., Calviere, L., Caparros, F., Casolla, B., Cordonnier, C., Delisle, M.-B., Deramecourt, V., Dichgans, M., Gokcal, E., Herms, J., . . . Greenberg, S. M.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(2022).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The Boston criteria version 2.0 for cerebral amyloid angiopathy: A multicentre, retrospective, MRI–neuropathology diagnostic accuracy study.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The Lancet 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21</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(8), 714–725. https://doi.org/10.1016/S1474-4422(22)00208-3</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Connolly, S. J., Sharma, M., Cohen, A. T., Demchuk, A. M., Członkowska, A., Lindgren, A. G., Molina, C. A., Bereczki, D., Toni, D., Seiffge, D. J., Tanne, D., Sandset, E. C., Tsivgoulis, G., Christensen, H., Beyer-Westendorf, J., Coutinho, J. M., Crowther, M., Verhamme, P., Amarenco, P., . . . Shoamanesh, A.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(2024).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Andexanet for factor Xa inhibitor–associated acute intracerebral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The New England Journal of Medicine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390</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(19), 1745–1755. https://doi.org/10.1056/NEJMoa2313040</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Cordonnier, C., Al-Shahi Salman, R., &amp; Wardlaw, J.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(2007).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Spontaneous brain microbleeds: Systematic review, subgroup analyses and standards for study design and reporting.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Brain</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130</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(8), 1988–2003. https://doi.org/10.1093/brain/awl387</a:t>
            </a:r>
            <a:endParaRPr lang="en-US" sz="120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SOURCES  ·  APA 7TH EDITION  ·  2 OF 4</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References</a:t>
            </a:r>
            <a:endParaRPr lang="en-US" sz="4000" dirty="0"/>
          </a:p>
        </p:txBody>
      </p:sp>
      <p:sp>
        <p:nvSpPr>
          <p:cNvPr id="5" name="apaRefs1_0"/>
          <p:cNvSpPr txBox="1"/>
          <p:nvPr/>
        </p:nvSpPr>
        <p:spPr>
          <a:xfrm>
            <a:off x="548640" y="1645920"/>
            <a:ext cx="5440680" cy="4572000"/>
          </a:xfrm>
          <a:prstGeom prst="rect">
            <a:avLst/>
          </a:prstGeom>
          <a:noFill/>
          <a:ln/>
        </p:spPr>
        <p:txBody>
          <a:bodyPr wrap="square" lIns="0" tIns="0" rIns="0" bIns="0" rtlCol="0" anchor="t"/>
          <a:lstStyle/>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Davis, S. M., Broderick, J., Hennerici, M., Brun, N. C., Diringer, M. N., Mayer, S. A., Begtrup, K., &amp; Steiner, T.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(2006).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Hematoma growth is a determinant of mortality and poor outcome after intracerebral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66</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(8), 1175–1181. https://doi.org/10.1212/01.wnl.0000208408.98482.99</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Demchuk, A. M., Dowlatshahi, D., Rodriguez-Luna, D., Molina, C. A., Blas, Y. S., Dzialowski, I., Kobayashi, A., Boulanger, J.-M., Lum, C., Gubitz, G., Padma, V., Roy, J., Kase, C. S., Kosior, J., Bhatia, R., Tymchuk, S., Subramaniam, S., Gladstone, D. J., Hill, M. D., &amp; Aviv, R. I.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(2012).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Prediction of haematoma growth and outcome in patients with intracerebral haemorrhage using the CT-angiography spot sign (PREDICT): A prospective observational study.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The Lancet 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11</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(4), 307–314. https://doi.org/10.1016/S1474-4422(12)70038-8</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Fisher, C. M.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(1971).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Pathological observations in hypertensive cerebral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Journal of Neuropathology and Experimental 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30</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(3), 536–550. https://doi.org/10.1097/00005072-197107000-00015</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Gebel, J. M., Jr., Jauch, E. C., Brott, T. G., Khoury, J., Sauerbeck, L., Salisbury, S., Spilker, J., Tomsick, T. A., Duldner, J., &amp; Broderick, J. P.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(2002).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Natural history of perihematomal edema in patients with hyperacute spontaneous intracerebral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Stroke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33</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(11), 2631–2635. https://doi.org/10.1161/01.STR.0000035284.12699.84</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Gupta, S., Xiao, M., Liu, N., Zhao, Y., Zhao, X., Huang, Y., Wu, Y., Lin, Z., Ji, Z., Xu, H., Zhu, M., Pan, S., &amp; Huang, K.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(2025).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Involvement of the posterior limb of the internal capsule independently predicts the prognosis of patients with basal ganglia and thalamic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Frontiers in 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15</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Article 1475444. https://doi.org/10.3389/fneur.2024.1475444</a:t>
            </a:r>
            <a:endParaRPr lang="en-US" sz="1200" dirty="0"/>
          </a:p>
        </p:txBody>
      </p:sp>
      <p:sp>
        <p:nvSpPr>
          <p:cNvPr id="6" name="apaRefs1_1"/>
          <p:cNvSpPr txBox="1"/>
          <p:nvPr/>
        </p:nvSpPr>
        <p:spPr>
          <a:xfrm>
            <a:off x="6199632" y="1645920"/>
            <a:ext cx="5440680" cy="4572000"/>
          </a:xfrm>
          <a:prstGeom prst="rect">
            <a:avLst/>
          </a:prstGeom>
          <a:noFill/>
          <a:ln/>
        </p:spPr>
        <p:txBody>
          <a:bodyPr wrap="square" lIns="0" tIns="0" rIns="0" bIns="0" rtlCol="0" anchor="t"/>
          <a:lstStyle/>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Hanley, D. F.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(2009).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Intraventricular hemorrhage: Severity factor and treatment target in spontaneous intracerebral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Stroke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40</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(4), 1533–1538. https://doi.org/10.1161/STROKEAHA.108.535419</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Kan, T., Ding, L., Wang, S., Li, T., Li, Y., He, Z., Shi, C., Ma, C., Li, Z., &amp; Zhang, B.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(2026).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Very early versus early exercise rehabilitation after intracerebral hemorrhage: A systematic review and meta-analysis.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Medicine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105</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(34), Article e50253. https://doi.org/10.1097/MD.0000000000050253</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Kelly, P. J., Furie, K. L., Shafqat, S., Rallis, N., Chang, Y., &amp; Stein, J.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(2003).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Functional recovery following rehabilitation after hemorrhagic and ischemic stroke.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Archives of Physical Medicine and Rehabilitation</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84</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(7), 968–972. https://doi.org/10.1016/S0003-9993(03)00040-6</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Knudsen, K. A., Rosand, J., Karluk, D., &amp; Greenberg, S. M.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(2001).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Clinical diagnosis of cerebral amyloid angiopathy: Validation of the Boston criteria.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56</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(4), 537–539. https://doi.org/10.1212/WNL.56.4.537</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Levett-Jones, T., Hoffman, K., Dempsey, J., Jeong, S. Y.-S., Noble, D., Norton, C. A., Roche, J., &amp; Hickey, N.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(2010).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The "five rights" of clinical reasoning: An educational model to enhance nursing students' ability to identify and manage clinically "at risk" patients.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Nurse Education Today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30</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(6), 515–520. https://doi.org/10.1016/j.nedt.2009.10.020</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Linn, J., Halpin, A., Demaerel, P., Ruhland, J., Giese, A. D., Dichgans, M., van Buchem, M. A., Bruckmann, H., &amp; Greenberg, S. M.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(2010).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Prevalence of superficial siderosis in patients with cerebral amyloid angiopathy.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74</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(17), 1346–1350. https://doi.org/10.1212/WNL.0b013e3181dad605</a:t>
            </a:r>
            <a:endParaRPr lang="en-US" sz="120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SOURCES  ·  APA 7TH EDITION  ·  3 OF 4</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References</a:t>
            </a:r>
            <a:endParaRPr lang="en-US" sz="4000" dirty="0"/>
          </a:p>
        </p:txBody>
      </p:sp>
      <p:sp>
        <p:nvSpPr>
          <p:cNvPr id="5" name="apaRefs2_0"/>
          <p:cNvSpPr txBox="1"/>
          <p:nvPr/>
        </p:nvSpPr>
        <p:spPr>
          <a:xfrm>
            <a:off x="548640" y="1645920"/>
            <a:ext cx="5440680" cy="4572000"/>
          </a:xfrm>
          <a:prstGeom prst="rect">
            <a:avLst/>
          </a:prstGeom>
          <a:noFill/>
          <a:ln/>
        </p:spPr>
        <p:txBody>
          <a:bodyPr wrap="square" lIns="0" tIns="0" rIns="0" bIns="0" rtlCol="0" anchor="t"/>
          <a:lstStyle/>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Liu, N., Cadilhac, D. A., Andrew, N. E., Zeng, L., Li, Z., Li, J., Li, Y., Yu, X., Mi, B., Li, Z., Xu, H., Chen, Y., Wang, J., Yao, W., Li, K., Yan, F., &amp; Wang, J.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(2014).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Randomized controlled trial of early rehabilitation after intracerebral hemorrhage stroke: Difference in outcomes within 6 months of stroke.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Stroke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45</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(12), 3502–3507. https://doi.org/10.1161/STROKEAHA.114.005661</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Ma, L., Hu, X., Song, L., Chen, X., Ouyang, M., Billot, L., Li, Q., Malavera, A., Li, X., Muñoz-Venturelli, P., de Silva, A., Thang, N. H., Wahab, K. W., Pandian, J. D., Wasay, M., Pontes-Neto, O. M., Abanto, C., Arauz, A., Shi, H., . . . Anderson, C. S.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(2023).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The third Intensive Care Bundle with Blood Pressure Reduction in Acute Cerebral Haemorrhage Trial (INTERACT3): An international, stepped wedge cluster randomised controlled trial.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The Lancet</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402</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(10395), 27–40. https://doi.org/10.1016/S0140-6736(23)00806-1</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Macellari, F., Paciaroni, M., Agnelli, G., &amp; Caso, V.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(2014).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Neuroimaging in intracerebral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Stroke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45</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(3), 903–908. https://doi.org/10.1161/STROKEAHA.113.003701</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Meretoja, A., Strbian, D., Putaala, J., Curtze, S., Haapaniemi, E., Mustanoja, S., Sairanen, T., Satopää, J., Silvennoinen, H., Niemelä, M., Kaste, M., &amp; Tatlisumak, T.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(2012).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SMASH-U: A proposal for etiologic classification of intracerebral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Stroke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43</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(10), 2592–2597. https://doi.org/10.1161/STROKEAHA.112.661603</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Murray, O. N., Chiuta, S., Ryu, P., Hanley, D. F., Patel, H. C., Harston, G., Cootes, T., Hammerbeck, U., &amp; Parry-Jones, A. R.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(2025).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Corticospinal tract damage on baseline CT predicts motor recovery and functional outcome in intracerebral haemorrhage.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European Stroke Journal</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10</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(4), 1383–1391. https://doi.org/10.1177/23969873251332769</a:t>
            </a:r>
            <a:endParaRPr lang="en-US" sz="1200" dirty="0"/>
          </a:p>
        </p:txBody>
      </p:sp>
      <p:sp>
        <p:nvSpPr>
          <p:cNvPr id="6" name="apaRefs2_1"/>
          <p:cNvSpPr txBox="1"/>
          <p:nvPr/>
        </p:nvSpPr>
        <p:spPr>
          <a:xfrm>
            <a:off x="6199632" y="1645920"/>
            <a:ext cx="5440680" cy="4572000"/>
          </a:xfrm>
          <a:prstGeom prst="rect">
            <a:avLst/>
          </a:prstGeom>
          <a:noFill/>
          <a:ln/>
        </p:spPr>
        <p:txBody>
          <a:bodyPr wrap="square" lIns="0" tIns="0" rIns="0" bIns="0" rtlCol="0" anchor="t"/>
          <a:lstStyle/>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Oosterveer, D. M., Wermer, M. J. H., Volker, G., &amp; Vliet Vlieland, T. P. M.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(2022).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Are there differences in long-term functioning and recovery between hemorrhagic and ischemic stroke patients receiving rehabilitation?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Journal of Stroke and Cerebrovascular Diseases</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31</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(3), Article 106294. https://doi.org/10.1016/j.jstrokecerebrovasdis.2021.106294</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Paolucci, S., Antonucci, G., Grasso, M. G., Bragoni, M., Coiro, P., De Angelis, D., Fusco, F. R., Morelli, D., Venturiero, V., Troisi, E., &amp; Pratesi, L.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(2003).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Functional outcome of ischemic and hemorrhagic stroke patients after inpatient rehabilitation: A matched comparison.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Stroke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34</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(12), 2861–2865. https://doi.org/10.1161/01.STR.0000102902.39759.D3</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Pradilla, G., Ratcliff, J. J., Hall, A. J., Saville, B. R., Allen, J. W., Paulon, G., McGlothlin, A., Lewis, R. J., Fitzgerald, M., Caveney, A. F., Li, X. T., Bain, M., Gomes, J., Jankowitz, B., Zenonos, G., Molyneaux, B. J., Davies, J., Siddiqui, A., Chicoine, M. R., . . . Barrow, D. L.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(2024).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Trial of early minimally invasive removal of intracerebral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The New England Journal of Medicine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390</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(14), 1277–1289. https://doi.org/10.1056/NEJMoa2308440</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Puig, J., Blasco, G., Terceño, M., Daunis-i-Estadella, P., Schlaug, G., Hernandez-Perez, M., Cuba, V., Carbó, G., Serena, J., Essig, M., Figley, C. R., Nael, K., Leiva-Salinas, C., Pedraza, S., &amp; Silva, Y.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(2019).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Predicting motor outcome in acute intracerebral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American Journal of Neuroradiology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40</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(5), 769–775. https://doi.org/10.3174/ajnr.A6038</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Rossi, C., &amp; Cordonnier, C.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(2014).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Pathophysiology of non-traumatic intracerebral haemorrhage.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In B. Norrving (Ed.),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Oxford textbook of stroke and cerebrovascular disease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(pp. 51–60). Oxford University Press.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https://doi.org/10.1093/med/9780199641208.003.0005</a:t>
            </a:r>
            <a:endParaRPr lang="en-US" sz="120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SOURCES  ·  APA 7TH EDITION  ·  4 OF 4</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References</a:t>
            </a:r>
            <a:endParaRPr lang="en-US" sz="4000" dirty="0"/>
          </a:p>
        </p:txBody>
      </p:sp>
      <p:sp>
        <p:nvSpPr>
          <p:cNvPr id="5" name="apaRefs3_0"/>
          <p:cNvSpPr txBox="1"/>
          <p:nvPr/>
        </p:nvSpPr>
        <p:spPr>
          <a:xfrm>
            <a:off x="548640" y="1645920"/>
            <a:ext cx="5440680" cy="4572000"/>
          </a:xfrm>
          <a:prstGeom prst="rect">
            <a:avLst/>
          </a:prstGeom>
          <a:noFill/>
          <a:ln/>
        </p:spPr>
        <p:txBody>
          <a:bodyPr wrap="square" lIns="0" tIns="0" rIns="0" bIns="0" rtlCol="0" anchor="t"/>
          <a:lstStyle/>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Salvadori, E., Papi, G., Insalata, G., Rinnoci, V., Donnini, I., Martini, M., Falsini, C., Hakiki, B., Romoli, A., Barbato, C., Polcaro, P., Casamorata, F., Macchi, C., Cecchi, F., &amp; Poggesi, A.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(2021).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Comparison between ischemic and hemorrhagic strokes in functional outcome at discharge from an intensive rehabilitation hospital.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Diagnostics</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11</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 Article 38. https://doi.org/10.3390/diagnostics11010038</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Selim, M., Foster, L. D., Moy, C. S., Xi, G., Hill, M. D., Morgenstern, L. B., Greenberg, S. M., James, M. L., Singh, V., Clark, W. M., Norton, C., Palesch, Y. Y., &amp; Yeatts, S. D.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(2019).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Deferoxamine mesylate in patients with intracerebral haemorrhage (i-DEF): A multicentre, randomised, placebo-controlled, double-blind phase 2 trial.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The Lancet 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18</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(5), 428–438. https://doi.org/10.1016/S1474-4422(19)30069-9</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Taylor, J. B.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(2008a, February).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My stroke of insight</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[Video]. TED Conferences. https://www.ted.com/talks/jill_bolte_taylor_my_stroke_of_insight</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Taylor, J. B.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(2008b).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My stroke of insight: A brain scientist's personal journey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Viking.</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van Asch, C. J. J., Luitse, M. J. A., Rinkel, G. J. E., van der Tweel, I., Algra, A., &amp; Klijn, C. J. M.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(2010).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Incidence, case fatality, and functional outcome of intracerebral haemorrhage over time, according to age, sex, and ethnic origin: A systematic review and meta-analysis.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The Lancet 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9</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 167–176. https://doi.org/10.1016/S1474-4422(09)70340-0</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Xi, G., Keep, R. F., &amp; Hoff, J. T.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(2006).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Mechanisms of brain injury after intracerebral haemorrhage.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The Lancet Neurology</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5</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 53–63. https://doi.org/10.1016/S1474-4422(05)70283-0</a:t>
            </a:r>
            <a:endParaRPr lang="en-US" sz="1200" dirty="0"/>
          </a:p>
        </p:txBody>
      </p:sp>
      <p:sp>
        <p:nvSpPr>
          <p:cNvPr id="6" name="apaRefs3_1"/>
          <p:cNvSpPr txBox="1"/>
          <p:nvPr/>
        </p:nvSpPr>
        <p:spPr>
          <a:xfrm>
            <a:off x="6199632" y="1645920"/>
            <a:ext cx="5440680" cy="4572000"/>
          </a:xfrm>
          <a:prstGeom prst="rect">
            <a:avLst/>
          </a:prstGeom>
          <a:noFill/>
          <a:ln/>
        </p:spPr>
        <p:txBody>
          <a:bodyPr wrap="square" lIns="0" tIns="0" rIns="0" bIns="0" rtlCol="0" anchor="t"/>
          <a:lstStyle/>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Yen, H.-C., Jeng, J.-S., Chen, W.-S., Pan, G.-S., Chuang, W.-Y., Lee, Y.-Y., &amp; Teng, T.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(2020).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Early mobilization of mild-moderate intracerebral hemorrhage patients in a stroke center: A randomized controlled trial.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Neurorehabilitation and Neural Repair</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34</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 72–81. https://doi.org/10.1177/1545968319893294</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Yen, H.-C., Jeng, J.-S., Cheng, C.-H., Pan, G.-S., &amp; Chen, W.-S.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(2021).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Effects of early mobilization on short-term blood pressure variability in acute intracerebral hemorrhage patients: A protocol for randomized controlled non-inferiority trial.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Medicine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100</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(21), Article e26128. https://doi.org/10.1097/MD.0000000000026128</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Yoo, H. D., &amp; Chung, S. Y.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(2026).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Does severe early motor deficit define recovery ceiling after basal ganglia or thalamic hemorrhage? A systematic review of time-dependent motor outcomes and corticospinal tract-related predictors.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Cerebrovascular Diseases</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Advance online publication. https://doi.org/10.1159/ced/accag002</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Zazulia, A. R., Diringer, M. N., Videen, T. O., Adams, R. E., Yundt, K., Aiyagari, V., Grubb, R. L., Jr., &amp; Powers, W. J.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(2001).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Hypoperfusion without ischemia surrounding acute intracerebral hemorrhage.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Journal of Cerebral Blood Flow &amp; Metabolism</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21</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(7), 804–810. https://doi.org/10.1097/00004647-200107000-00005</a:t>
            </a:r>
            <a:endParaRPr lang="en-US" sz="1200" dirty="0"/>
          </a:p>
          <a:p>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Zhu, X. L., Chan, M. S., &amp; Poon, W. S.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(1997). </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Spontaneous intracranial hemorrhage: Which patients need diagnostic cerebral angiography? A prospective study of 206 cases and review of the literature.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Stroke</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 </a:t>
            </a:r>
            <a:pPr indent="-228600" marL="228600">
              <a:spcAft>
                <a:spcPts val="500"/>
              </a:spcAft>
              <a:buNone/>
            </a:pPr>
            <a:r>
              <a:rPr lang="en-US" sz="1200" i="1" dirty="0">
                <a:solidFill>
                  <a:srgbClr val="1B2230"/>
                </a:solidFill>
                <a:latin typeface="Calibri" pitchFamily="34" charset="0"/>
                <a:ea typeface="Calibri" pitchFamily="34" charset="-122"/>
                <a:cs typeface="Calibri" pitchFamily="34" charset="-120"/>
              </a:rPr>
              <a:t>28</a:t>
            </a:r>
            <a:pPr indent="-228600" marL="228600">
              <a:spcAft>
                <a:spcPts val="500"/>
              </a:spcAft>
              <a:buNone/>
            </a:pPr>
            <a:r>
              <a:rPr lang="en-US" sz="1200" dirty="0">
                <a:solidFill>
                  <a:srgbClr val="1B2230"/>
                </a:solidFill>
                <a:latin typeface="Calibri" pitchFamily="34" charset="0"/>
                <a:ea typeface="Calibri" pitchFamily="34" charset="-122"/>
                <a:cs typeface="Calibri" pitchFamily="34" charset="-120"/>
              </a:rPr>
              <a:t>(7), 1406–1409. https://doi.org/10.1161/01.STR.28.7.1406</a:t>
            </a:r>
            <a:endParaRPr lang="en-US" sz="120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show="0">
  <p:cSld name="Slide 3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3E5C76"/>
                </a:solidFill>
                <a:latin typeface="Calibri" pitchFamily="34" charset="0"/>
                <a:ea typeface="Calibri" pitchFamily="34" charset="-122"/>
                <a:cs typeface="Calibri" pitchFamily="34" charset="-120"/>
              </a:rPr>
              <a:t>BACKUP  ·  IF ASKED</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Other causes of a secondary bleed</a:t>
            </a:r>
            <a:endParaRPr lang="en-US" sz="4000" dirty="0"/>
          </a:p>
        </p:txBody>
      </p:sp>
      <p:sp>
        <p:nvSpPr>
          <p:cNvPr id="5" name="Shape 2"/>
          <p:cNvSpPr/>
          <p:nvPr/>
        </p:nvSpPr>
        <p:spPr>
          <a:xfrm>
            <a:off x="548640" y="1828800"/>
            <a:ext cx="3515258" cy="1828800"/>
          </a:xfrm>
          <a:prstGeom prst="roundRect">
            <a:avLst>
              <a:gd name="adj" fmla="val 5000"/>
            </a:avLst>
          </a:prstGeom>
          <a:solidFill>
            <a:srgbClr val="F3F5F8"/>
          </a:solidFill>
          <a:ln w="6350">
            <a:solidFill>
              <a:srgbClr val="F3F5F8"/>
            </a:solidFill>
            <a:prstDash val="solid"/>
          </a:ln>
        </p:spPr>
      </p:sp>
      <p:sp>
        <p:nvSpPr>
          <p:cNvPr id="6" name="Shape 3"/>
          <p:cNvSpPr/>
          <p:nvPr/>
        </p:nvSpPr>
        <p:spPr>
          <a:xfrm>
            <a:off x="822960" y="2103120"/>
            <a:ext cx="640080" cy="640080"/>
          </a:xfrm>
          <a:prstGeom prst="ellipse">
            <a:avLst/>
          </a:prstGeom>
          <a:solidFill>
            <a:srgbClr val="13233A"/>
          </a:solidFill>
          <a:ln w="6350">
            <a:solidFill>
              <a:srgbClr val="13233A"/>
            </a:solidFill>
            <a:prstDash val="solid"/>
          </a:ln>
        </p:spPr>
      </p:sp>
      <p:pic>
        <p:nvPicPr>
          <p:cNvPr id="7" name="Image 0" descr="preencoded.png">    </p:cNvPr>
          <p:cNvPicPr>
            <a:picLocks noChangeAspect="1"/>
          </p:cNvPicPr>
          <p:nvPr/>
        </p:nvPicPr>
        <p:blipFill>
          <a:blip r:embed="rId1"/>
          <a:stretch>
            <a:fillRect/>
          </a:stretch>
        </p:blipFill>
        <p:spPr>
          <a:xfrm>
            <a:off x="982980" y="2263140"/>
            <a:ext cx="320040" cy="320040"/>
          </a:xfrm>
          <a:prstGeom prst="rect">
            <a:avLst/>
          </a:prstGeom>
        </p:spPr>
      </p:pic>
      <p:sp>
        <p:nvSpPr>
          <p:cNvPr id="8" name="Text 4"/>
          <p:cNvSpPr txBox="1"/>
          <p:nvPr/>
        </p:nvSpPr>
        <p:spPr>
          <a:xfrm>
            <a:off x="822960" y="28346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Vascular malformations</a:t>
            </a:r>
            <a:endParaRPr lang="en-US" sz="2200" dirty="0"/>
          </a:p>
        </p:txBody>
      </p:sp>
      <p:sp>
        <p:nvSpPr>
          <p:cNvPr id="9" name="Shape 5"/>
          <p:cNvSpPr/>
          <p:nvPr/>
        </p:nvSpPr>
        <p:spPr>
          <a:xfrm>
            <a:off x="4338218" y="1828800"/>
            <a:ext cx="3515258" cy="1828800"/>
          </a:xfrm>
          <a:prstGeom prst="roundRect">
            <a:avLst>
              <a:gd name="adj" fmla="val 5000"/>
            </a:avLst>
          </a:prstGeom>
          <a:solidFill>
            <a:srgbClr val="F3F5F8"/>
          </a:solidFill>
          <a:ln w="6350">
            <a:solidFill>
              <a:srgbClr val="F3F5F8"/>
            </a:solidFill>
            <a:prstDash val="solid"/>
          </a:ln>
        </p:spPr>
      </p:sp>
      <p:sp>
        <p:nvSpPr>
          <p:cNvPr id="10" name="Shape 6"/>
          <p:cNvSpPr/>
          <p:nvPr/>
        </p:nvSpPr>
        <p:spPr>
          <a:xfrm>
            <a:off x="4612538" y="2103120"/>
            <a:ext cx="640080" cy="640080"/>
          </a:xfrm>
          <a:prstGeom prst="ellipse">
            <a:avLst/>
          </a:prstGeom>
          <a:solidFill>
            <a:srgbClr val="13233A"/>
          </a:solidFill>
          <a:ln w="6350">
            <a:solidFill>
              <a:srgbClr val="13233A"/>
            </a:solidFill>
            <a:prstDash val="solid"/>
          </a:ln>
        </p:spPr>
      </p:sp>
      <p:pic>
        <p:nvPicPr>
          <p:cNvPr id="11" name="Image 1" descr="preencoded.png">    </p:cNvPr>
          <p:cNvPicPr>
            <a:picLocks noChangeAspect="1"/>
          </p:cNvPicPr>
          <p:nvPr/>
        </p:nvPicPr>
        <p:blipFill>
          <a:blip r:embed="rId2"/>
          <a:stretch>
            <a:fillRect/>
          </a:stretch>
        </p:blipFill>
        <p:spPr>
          <a:xfrm>
            <a:off x="4772558" y="2263140"/>
            <a:ext cx="320040" cy="320040"/>
          </a:xfrm>
          <a:prstGeom prst="rect">
            <a:avLst/>
          </a:prstGeom>
        </p:spPr>
      </p:pic>
      <p:sp>
        <p:nvSpPr>
          <p:cNvPr id="12" name="Text 7"/>
          <p:cNvSpPr txBox="1"/>
          <p:nvPr/>
        </p:nvSpPr>
        <p:spPr>
          <a:xfrm>
            <a:off x="4612538" y="28346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Antithrombotic drugs</a:t>
            </a:r>
            <a:endParaRPr lang="en-US" sz="2200" dirty="0"/>
          </a:p>
        </p:txBody>
      </p:sp>
      <p:sp>
        <p:nvSpPr>
          <p:cNvPr id="13" name="Shape 8"/>
          <p:cNvSpPr/>
          <p:nvPr/>
        </p:nvSpPr>
        <p:spPr>
          <a:xfrm>
            <a:off x="8127797" y="1828800"/>
            <a:ext cx="3515258" cy="1828800"/>
          </a:xfrm>
          <a:prstGeom prst="roundRect">
            <a:avLst>
              <a:gd name="adj" fmla="val 5000"/>
            </a:avLst>
          </a:prstGeom>
          <a:solidFill>
            <a:srgbClr val="F3F5F8"/>
          </a:solidFill>
          <a:ln w="6350">
            <a:solidFill>
              <a:srgbClr val="F3F5F8"/>
            </a:solidFill>
            <a:prstDash val="solid"/>
          </a:ln>
        </p:spPr>
      </p:sp>
      <p:sp>
        <p:nvSpPr>
          <p:cNvPr id="14" name="Shape 9"/>
          <p:cNvSpPr/>
          <p:nvPr/>
        </p:nvSpPr>
        <p:spPr>
          <a:xfrm>
            <a:off x="8402117" y="2103120"/>
            <a:ext cx="640080" cy="640080"/>
          </a:xfrm>
          <a:prstGeom prst="ellipse">
            <a:avLst/>
          </a:prstGeom>
          <a:solidFill>
            <a:srgbClr val="13233A"/>
          </a:solidFill>
          <a:ln w="6350">
            <a:solidFill>
              <a:srgbClr val="13233A"/>
            </a:solidFill>
            <a:prstDash val="solid"/>
          </a:ln>
        </p:spPr>
      </p:sp>
      <p:pic>
        <p:nvPicPr>
          <p:cNvPr id="15" name="Image 2" descr="preencoded.png">    </p:cNvPr>
          <p:cNvPicPr>
            <a:picLocks noChangeAspect="1"/>
          </p:cNvPicPr>
          <p:nvPr/>
        </p:nvPicPr>
        <p:blipFill>
          <a:blip r:embed="rId3"/>
          <a:stretch>
            <a:fillRect/>
          </a:stretch>
        </p:blipFill>
        <p:spPr>
          <a:xfrm>
            <a:off x="8562137" y="2263140"/>
            <a:ext cx="320040" cy="320040"/>
          </a:xfrm>
          <a:prstGeom prst="rect">
            <a:avLst/>
          </a:prstGeom>
        </p:spPr>
      </p:pic>
      <p:sp>
        <p:nvSpPr>
          <p:cNvPr id="16" name="Text 10"/>
          <p:cNvSpPr txBox="1"/>
          <p:nvPr/>
        </p:nvSpPr>
        <p:spPr>
          <a:xfrm>
            <a:off x="8402117" y="28346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Tumours</a:t>
            </a:r>
            <a:endParaRPr lang="en-US" sz="2200" dirty="0"/>
          </a:p>
        </p:txBody>
      </p:sp>
      <p:sp>
        <p:nvSpPr>
          <p:cNvPr id="17" name="Shape 11"/>
          <p:cNvSpPr/>
          <p:nvPr/>
        </p:nvSpPr>
        <p:spPr>
          <a:xfrm>
            <a:off x="548640" y="3886200"/>
            <a:ext cx="3515258" cy="1828800"/>
          </a:xfrm>
          <a:prstGeom prst="roundRect">
            <a:avLst>
              <a:gd name="adj" fmla="val 5000"/>
            </a:avLst>
          </a:prstGeom>
          <a:solidFill>
            <a:srgbClr val="F3F5F8"/>
          </a:solidFill>
          <a:ln w="6350">
            <a:solidFill>
              <a:srgbClr val="F3F5F8"/>
            </a:solidFill>
            <a:prstDash val="solid"/>
          </a:ln>
        </p:spPr>
      </p:sp>
      <p:sp>
        <p:nvSpPr>
          <p:cNvPr id="18" name="Shape 12"/>
          <p:cNvSpPr/>
          <p:nvPr/>
        </p:nvSpPr>
        <p:spPr>
          <a:xfrm>
            <a:off x="822960" y="4160520"/>
            <a:ext cx="640080" cy="640080"/>
          </a:xfrm>
          <a:prstGeom prst="ellipse">
            <a:avLst/>
          </a:prstGeom>
          <a:solidFill>
            <a:srgbClr val="13233A"/>
          </a:solidFill>
          <a:ln w="6350">
            <a:solidFill>
              <a:srgbClr val="13233A"/>
            </a:solidFill>
            <a:prstDash val="solid"/>
          </a:ln>
        </p:spPr>
      </p:sp>
      <p:pic>
        <p:nvPicPr>
          <p:cNvPr id="19" name="Image 3" descr="preencoded.png">    </p:cNvPr>
          <p:cNvPicPr>
            <a:picLocks noChangeAspect="1"/>
          </p:cNvPicPr>
          <p:nvPr/>
        </p:nvPicPr>
        <p:blipFill>
          <a:blip r:embed="rId4"/>
          <a:stretch>
            <a:fillRect/>
          </a:stretch>
        </p:blipFill>
        <p:spPr>
          <a:xfrm>
            <a:off x="982980" y="4320540"/>
            <a:ext cx="320040" cy="320040"/>
          </a:xfrm>
          <a:prstGeom prst="rect">
            <a:avLst/>
          </a:prstGeom>
        </p:spPr>
      </p:pic>
      <p:sp>
        <p:nvSpPr>
          <p:cNvPr id="20" name="Text 13"/>
          <p:cNvSpPr txBox="1"/>
          <p:nvPr/>
        </p:nvSpPr>
        <p:spPr>
          <a:xfrm>
            <a:off x="822960" y="48920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Venous thrombosis</a:t>
            </a:r>
            <a:endParaRPr lang="en-US" sz="2200" dirty="0"/>
          </a:p>
        </p:txBody>
      </p:sp>
      <p:sp>
        <p:nvSpPr>
          <p:cNvPr id="21" name="Shape 14"/>
          <p:cNvSpPr/>
          <p:nvPr/>
        </p:nvSpPr>
        <p:spPr>
          <a:xfrm>
            <a:off x="4338218" y="3886200"/>
            <a:ext cx="3515258" cy="1828800"/>
          </a:xfrm>
          <a:prstGeom prst="roundRect">
            <a:avLst>
              <a:gd name="adj" fmla="val 5000"/>
            </a:avLst>
          </a:prstGeom>
          <a:solidFill>
            <a:srgbClr val="F3F5F8"/>
          </a:solidFill>
          <a:ln w="6350">
            <a:solidFill>
              <a:srgbClr val="F3F5F8"/>
            </a:solidFill>
            <a:prstDash val="solid"/>
          </a:ln>
        </p:spPr>
      </p:sp>
      <p:sp>
        <p:nvSpPr>
          <p:cNvPr id="22" name="Shape 15"/>
          <p:cNvSpPr/>
          <p:nvPr/>
        </p:nvSpPr>
        <p:spPr>
          <a:xfrm>
            <a:off x="4612538" y="4160520"/>
            <a:ext cx="640080" cy="640080"/>
          </a:xfrm>
          <a:prstGeom prst="ellipse">
            <a:avLst/>
          </a:prstGeom>
          <a:solidFill>
            <a:srgbClr val="13233A"/>
          </a:solidFill>
          <a:ln w="6350">
            <a:solidFill>
              <a:srgbClr val="13233A"/>
            </a:solidFill>
            <a:prstDash val="solid"/>
          </a:ln>
        </p:spPr>
      </p:sp>
      <p:pic>
        <p:nvPicPr>
          <p:cNvPr id="23" name="Image 4" descr="preencoded.png">    </p:cNvPr>
          <p:cNvPicPr>
            <a:picLocks noChangeAspect="1"/>
          </p:cNvPicPr>
          <p:nvPr/>
        </p:nvPicPr>
        <p:blipFill>
          <a:blip r:embed="rId5"/>
          <a:stretch>
            <a:fillRect/>
          </a:stretch>
        </p:blipFill>
        <p:spPr>
          <a:xfrm>
            <a:off x="4772558" y="4320540"/>
            <a:ext cx="320040" cy="320040"/>
          </a:xfrm>
          <a:prstGeom prst="rect">
            <a:avLst/>
          </a:prstGeom>
        </p:spPr>
      </p:pic>
      <p:sp>
        <p:nvSpPr>
          <p:cNvPr id="24" name="Text 16"/>
          <p:cNvSpPr txBox="1"/>
          <p:nvPr/>
        </p:nvSpPr>
        <p:spPr>
          <a:xfrm>
            <a:off x="4612538" y="48920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Haemorrhagic transformation</a:t>
            </a:r>
            <a:endParaRPr lang="en-US" sz="2200" dirty="0"/>
          </a:p>
        </p:txBody>
      </p:sp>
      <p:sp>
        <p:nvSpPr>
          <p:cNvPr id="25" name="Shape 17"/>
          <p:cNvSpPr/>
          <p:nvPr/>
        </p:nvSpPr>
        <p:spPr>
          <a:xfrm>
            <a:off x="8127797" y="3886200"/>
            <a:ext cx="3515258" cy="1828800"/>
          </a:xfrm>
          <a:prstGeom prst="roundRect">
            <a:avLst>
              <a:gd name="adj" fmla="val 5000"/>
            </a:avLst>
          </a:prstGeom>
          <a:solidFill>
            <a:srgbClr val="F3F5F8"/>
          </a:solidFill>
          <a:ln w="6350">
            <a:solidFill>
              <a:srgbClr val="F3F5F8"/>
            </a:solidFill>
            <a:prstDash val="solid"/>
          </a:ln>
        </p:spPr>
      </p:sp>
      <p:sp>
        <p:nvSpPr>
          <p:cNvPr id="26" name="Shape 18"/>
          <p:cNvSpPr/>
          <p:nvPr/>
        </p:nvSpPr>
        <p:spPr>
          <a:xfrm>
            <a:off x="8402117" y="4160520"/>
            <a:ext cx="640080" cy="640080"/>
          </a:xfrm>
          <a:prstGeom prst="ellipse">
            <a:avLst/>
          </a:prstGeom>
          <a:solidFill>
            <a:srgbClr val="13233A"/>
          </a:solidFill>
          <a:ln w="6350">
            <a:solidFill>
              <a:srgbClr val="13233A"/>
            </a:solidFill>
            <a:prstDash val="solid"/>
          </a:ln>
        </p:spPr>
      </p:sp>
      <p:pic>
        <p:nvPicPr>
          <p:cNvPr id="27" name="Image 5" descr="preencoded.png">    </p:cNvPr>
          <p:cNvPicPr>
            <a:picLocks noChangeAspect="1"/>
          </p:cNvPicPr>
          <p:nvPr/>
        </p:nvPicPr>
        <p:blipFill>
          <a:blip r:embed="rId6"/>
          <a:stretch>
            <a:fillRect/>
          </a:stretch>
        </p:blipFill>
        <p:spPr>
          <a:xfrm>
            <a:off x="8562137" y="4320540"/>
            <a:ext cx="320040" cy="320040"/>
          </a:xfrm>
          <a:prstGeom prst="rect">
            <a:avLst/>
          </a:prstGeom>
        </p:spPr>
      </p:pic>
      <p:sp>
        <p:nvSpPr>
          <p:cNvPr id="28" name="Text 19"/>
          <p:cNvSpPr txBox="1"/>
          <p:nvPr/>
        </p:nvSpPr>
        <p:spPr>
          <a:xfrm>
            <a:off x="8402117" y="48920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Drugs, vasculitis, RCVS, moyamoya</a:t>
            </a:r>
            <a:endParaRPr lang="en-US" sz="2200" dirty="0"/>
          </a:p>
        </p:txBody>
      </p:sp>
      <p:sp>
        <p:nvSpPr>
          <p:cNvPr id="29" name="Text 20"/>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Causes of secondary intracerebral haemorrhage (Macellari et al., 2014).</a:t>
            </a:r>
            <a:endParaRPr lang="en-US" sz="1200" dirty="0"/>
          </a:p>
        </p:txBody>
      </p:sp>
      <p:sp>
        <p:nvSpPr>
          <p:cNvPr id="30" name="Text 21"/>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1"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32"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33"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4"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5"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6"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7"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8"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9"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39</a:t>
            </a:r>
            <a:endParaRPr lang="en-US" sz="1100" dirty="0"/>
          </a:p>
        </p:txBody>
      </p:sp>
    </p:spTree>
  </p:cSld>
  <p:clrMapOvr>
    <a:masterClrMapping/>
  </p:clrMapOvr>
  <p:transition spd="med">
    <p:fade/>
  </p:transition>
</p:sld>
</file>

<file path=ppt/slides/slide40.xml><?xml version="1.0" encoding="utf-8"?>
<p:sld xmlns:a="http://schemas.openxmlformats.org/drawingml/2006/main" xmlns:r="http://schemas.openxmlformats.org/officeDocument/2006/relationships" xmlns:p="http://schemas.openxmlformats.org/presentationml/2006/main" show="0">
  <p:cSld name="Slide 4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3E5C76"/>
                </a:solidFill>
                <a:latin typeface="Calibri" pitchFamily="34" charset="0"/>
                <a:ea typeface="Calibri" pitchFamily="34" charset="-122"/>
                <a:cs typeface="Calibri" pitchFamily="34" charset="-120"/>
              </a:rPr>
              <a:t>BACKUP  ·  BEYOND THE 2014 CHAPTER</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What has changed since the book</a:t>
            </a:r>
            <a:endParaRPr lang="en-US" sz="4000" dirty="0"/>
          </a:p>
        </p:txBody>
      </p:sp>
      <p:sp>
        <p:nvSpPr>
          <p:cNvPr id="5" name="Shape 2"/>
          <p:cNvSpPr/>
          <p:nvPr/>
        </p:nvSpPr>
        <p:spPr>
          <a:xfrm>
            <a:off x="548640" y="1828800"/>
            <a:ext cx="5410048" cy="1828800"/>
          </a:xfrm>
          <a:prstGeom prst="roundRect">
            <a:avLst>
              <a:gd name="adj" fmla="val 5000"/>
            </a:avLst>
          </a:prstGeom>
          <a:solidFill>
            <a:srgbClr val="E8EDF3"/>
          </a:solidFill>
          <a:ln w="6350">
            <a:solidFill>
              <a:srgbClr val="E8EDF3"/>
            </a:solidFill>
            <a:prstDash val="solid"/>
          </a:ln>
        </p:spPr>
      </p:sp>
      <p:sp>
        <p:nvSpPr>
          <p:cNvPr id="6" name="Shape 3"/>
          <p:cNvSpPr/>
          <p:nvPr/>
        </p:nvSpPr>
        <p:spPr>
          <a:xfrm>
            <a:off x="822960" y="2148840"/>
            <a:ext cx="914400" cy="420624"/>
          </a:xfrm>
          <a:prstGeom prst="roundRect">
            <a:avLst>
              <a:gd name="adj" fmla="val 50000"/>
            </a:avLst>
          </a:prstGeom>
          <a:solidFill>
            <a:srgbClr val="13233A"/>
          </a:solidFill>
          <a:ln w="6350">
            <a:solidFill>
              <a:srgbClr val="13233A"/>
            </a:solidFill>
            <a:prstDash val="solid"/>
          </a:ln>
        </p:spPr>
      </p:sp>
      <p:sp>
        <p:nvSpPr>
          <p:cNvPr id="7" name="Text 4"/>
          <p:cNvSpPr txBox="1"/>
          <p:nvPr/>
        </p:nvSpPr>
        <p:spPr>
          <a:xfrm>
            <a:off x="822960" y="2148840"/>
            <a:ext cx="914400"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2022</a:t>
            </a:r>
            <a:endParaRPr lang="en-US" sz="1600" dirty="0"/>
          </a:p>
        </p:txBody>
      </p:sp>
      <p:sp>
        <p:nvSpPr>
          <p:cNvPr id="8" name="Text 5"/>
          <p:cNvSpPr txBox="1"/>
          <p:nvPr/>
        </p:nvSpPr>
        <p:spPr>
          <a:xfrm>
            <a:off x="1920240" y="2103120"/>
            <a:ext cx="3764128"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Boston criteria v2.0</a:t>
            </a:r>
            <a:endParaRPr lang="en-US" sz="2600" dirty="0"/>
          </a:p>
        </p:txBody>
      </p:sp>
      <p:sp>
        <p:nvSpPr>
          <p:cNvPr id="9" name="Text 6"/>
          <p:cNvSpPr txBox="1"/>
          <p:nvPr/>
        </p:nvSpPr>
        <p:spPr>
          <a:xfrm>
            <a:off x="822960" y="2788920"/>
            <a:ext cx="4861408" cy="73152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White-matter MRI markers added</a:t>
            </a:r>
            <a:endParaRPr lang="en-US" sz="2000" dirty="0"/>
          </a:p>
        </p:txBody>
      </p:sp>
      <p:sp>
        <p:nvSpPr>
          <p:cNvPr id="10" name="Shape 7"/>
          <p:cNvSpPr/>
          <p:nvPr/>
        </p:nvSpPr>
        <p:spPr>
          <a:xfrm>
            <a:off x="6233008" y="1828800"/>
            <a:ext cx="5410048" cy="1828800"/>
          </a:xfrm>
          <a:prstGeom prst="roundRect">
            <a:avLst>
              <a:gd name="adj" fmla="val 5000"/>
            </a:avLst>
          </a:prstGeom>
          <a:solidFill>
            <a:srgbClr val="F3F5F8"/>
          </a:solidFill>
          <a:ln w="6350">
            <a:solidFill>
              <a:srgbClr val="F3F5F8"/>
            </a:solidFill>
            <a:prstDash val="solid"/>
          </a:ln>
        </p:spPr>
      </p:sp>
      <p:sp>
        <p:nvSpPr>
          <p:cNvPr id="11" name="Shape 8"/>
          <p:cNvSpPr/>
          <p:nvPr/>
        </p:nvSpPr>
        <p:spPr>
          <a:xfrm>
            <a:off x="6507328" y="2148840"/>
            <a:ext cx="914400" cy="420624"/>
          </a:xfrm>
          <a:prstGeom prst="roundRect">
            <a:avLst>
              <a:gd name="adj" fmla="val 50000"/>
            </a:avLst>
          </a:prstGeom>
          <a:solidFill>
            <a:srgbClr val="13233A"/>
          </a:solidFill>
          <a:ln w="6350">
            <a:solidFill>
              <a:srgbClr val="13233A"/>
            </a:solidFill>
            <a:prstDash val="solid"/>
          </a:ln>
        </p:spPr>
      </p:sp>
      <p:sp>
        <p:nvSpPr>
          <p:cNvPr id="12" name="Text 9"/>
          <p:cNvSpPr txBox="1"/>
          <p:nvPr/>
        </p:nvSpPr>
        <p:spPr>
          <a:xfrm>
            <a:off x="6507328" y="2148840"/>
            <a:ext cx="914400"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2023</a:t>
            </a:r>
            <a:endParaRPr lang="en-US" sz="1600" dirty="0"/>
          </a:p>
        </p:txBody>
      </p:sp>
      <p:sp>
        <p:nvSpPr>
          <p:cNvPr id="13" name="Text 10"/>
          <p:cNvSpPr txBox="1"/>
          <p:nvPr/>
        </p:nvSpPr>
        <p:spPr>
          <a:xfrm>
            <a:off x="7604608" y="2103120"/>
            <a:ext cx="3764128"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INTERACT3</a:t>
            </a:r>
            <a:endParaRPr lang="en-US" sz="2600" dirty="0"/>
          </a:p>
        </p:txBody>
      </p:sp>
      <p:sp>
        <p:nvSpPr>
          <p:cNvPr id="14" name="Text 11"/>
          <p:cNvSpPr txBox="1"/>
          <p:nvPr/>
        </p:nvSpPr>
        <p:spPr>
          <a:xfrm>
            <a:off x="6507328" y="2788920"/>
            <a:ext cx="4861408" cy="73152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Care bundle improved 6-month function</a:t>
            </a:r>
            <a:endParaRPr lang="en-US" sz="2000" dirty="0"/>
          </a:p>
        </p:txBody>
      </p:sp>
      <p:sp>
        <p:nvSpPr>
          <p:cNvPr id="15" name="Shape 12"/>
          <p:cNvSpPr/>
          <p:nvPr/>
        </p:nvSpPr>
        <p:spPr>
          <a:xfrm>
            <a:off x="548640" y="3886200"/>
            <a:ext cx="5410048" cy="1828800"/>
          </a:xfrm>
          <a:prstGeom prst="roundRect">
            <a:avLst>
              <a:gd name="adj" fmla="val 5000"/>
            </a:avLst>
          </a:prstGeom>
          <a:solidFill>
            <a:srgbClr val="F3F5F8"/>
          </a:solidFill>
          <a:ln w="6350">
            <a:solidFill>
              <a:srgbClr val="F3F5F8"/>
            </a:solidFill>
            <a:prstDash val="solid"/>
          </a:ln>
        </p:spPr>
      </p:sp>
      <p:sp>
        <p:nvSpPr>
          <p:cNvPr id="16" name="Shape 13"/>
          <p:cNvSpPr/>
          <p:nvPr/>
        </p:nvSpPr>
        <p:spPr>
          <a:xfrm>
            <a:off x="822960" y="4206240"/>
            <a:ext cx="914400" cy="420624"/>
          </a:xfrm>
          <a:prstGeom prst="roundRect">
            <a:avLst>
              <a:gd name="adj" fmla="val 50000"/>
            </a:avLst>
          </a:prstGeom>
          <a:solidFill>
            <a:srgbClr val="13233A"/>
          </a:solidFill>
          <a:ln w="6350">
            <a:solidFill>
              <a:srgbClr val="13233A"/>
            </a:solidFill>
            <a:prstDash val="solid"/>
          </a:ln>
        </p:spPr>
      </p:sp>
      <p:sp>
        <p:nvSpPr>
          <p:cNvPr id="17" name="Text 14"/>
          <p:cNvSpPr txBox="1"/>
          <p:nvPr/>
        </p:nvSpPr>
        <p:spPr>
          <a:xfrm>
            <a:off x="822960" y="4206240"/>
            <a:ext cx="914400"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2024</a:t>
            </a:r>
            <a:endParaRPr lang="en-US" sz="1600" dirty="0"/>
          </a:p>
        </p:txBody>
      </p:sp>
      <p:sp>
        <p:nvSpPr>
          <p:cNvPr id="18" name="Text 15"/>
          <p:cNvSpPr txBox="1"/>
          <p:nvPr/>
        </p:nvSpPr>
        <p:spPr>
          <a:xfrm>
            <a:off x="1920240" y="4160520"/>
            <a:ext cx="3764128"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ENRICH</a:t>
            </a:r>
            <a:endParaRPr lang="en-US" sz="2600" dirty="0"/>
          </a:p>
        </p:txBody>
      </p:sp>
      <p:sp>
        <p:nvSpPr>
          <p:cNvPr id="19" name="Text 16"/>
          <p:cNvSpPr txBox="1"/>
          <p:nvPr/>
        </p:nvSpPr>
        <p:spPr>
          <a:xfrm>
            <a:off x="822960" y="4846320"/>
            <a:ext cx="4861408" cy="73152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Early minimally invasive surgery helped lobar bleeds</a:t>
            </a:r>
            <a:endParaRPr lang="en-US" sz="2000" dirty="0"/>
          </a:p>
        </p:txBody>
      </p:sp>
      <p:sp>
        <p:nvSpPr>
          <p:cNvPr id="20" name="Shape 17"/>
          <p:cNvSpPr/>
          <p:nvPr/>
        </p:nvSpPr>
        <p:spPr>
          <a:xfrm>
            <a:off x="6233008" y="3886200"/>
            <a:ext cx="5410048" cy="1828800"/>
          </a:xfrm>
          <a:prstGeom prst="roundRect">
            <a:avLst>
              <a:gd name="adj" fmla="val 5000"/>
            </a:avLst>
          </a:prstGeom>
          <a:solidFill>
            <a:srgbClr val="E8EDF3"/>
          </a:solidFill>
          <a:ln w="6350">
            <a:solidFill>
              <a:srgbClr val="E8EDF3"/>
            </a:solidFill>
            <a:prstDash val="solid"/>
          </a:ln>
        </p:spPr>
      </p:sp>
      <p:sp>
        <p:nvSpPr>
          <p:cNvPr id="21" name="Shape 18"/>
          <p:cNvSpPr/>
          <p:nvPr/>
        </p:nvSpPr>
        <p:spPr>
          <a:xfrm>
            <a:off x="6507328" y="4206240"/>
            <a:ext cx="914400" cy="420624"/>
          </a:xfrm>
          <a:prstGeom prst="roundRect">
            <a:avLst>
              <a:gd name="adj" fmla="val 50000"/>
            </a:avLst>
          </a:prstGeom>
          <a:solidFill>
            <a:srgbClr val="13233A"/>
          </a:solidFill>
          <a:ln w="6350">
            <a:solidFill>
              <a:srgbClr val="13233A"/>
            </a:solidFill>
            <a:prstDash val="solid"/>
          </a:ln>
        </p:spPr>
      </p:sp>
      <p:sp>
        <p:nvSpPr>
          <p:cNvPr id="22" name="Text 19"/>
          <p:cNvSpPr txBox="1"/>
          <p:nvPr/>
        </p:nvSpPr>
        <p:spPr>
          <a:xfrm>
            <a:off x="6507328" y="4206240"/>
            <a:ext cx="914400"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2024</a:t>
            </a:r>
            <a:endParaRPr lang="en-US" sz="1600" dirty="0"/>
          </a:p>
        </p:txBody>
      </p:sp>
      <p:sp>
        <p:nvSpPr>
          <p:cNvPr id="23" name="Text 20"/>
          <p:cNvSpPr txBox="1"/>
          <p:nvPr/>
        </p:nvSpPr>
        <p:spPr>
          <a:xfrm>
            <a:off x="7604608" y="4160520"/>
            <a:ext cx="3764128"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ANNEXA-I</a:t>
            </a:r>
            <a:endParaRPr lang="en-US" sz="2600" dirty="0"/>
          </a:p>
        </p:txBody>
      </p:sp>
      <p:sp>
        <p:nvSpPr>
          <p:cNvPr id="24" name="Text 21"/>
          <p:cNvSpPr txBox="1"/>
          <p:nvPr/>
        </p:nvSpPr>
        <p:spPr>
          <a:xfrm>
            <a:off x="6507328" y="4846320"/>
            <a:ext cx="4861408" cy="73152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Andexanet: better haemostasis, more thrombosis</a:t>
            </a:r>
            <a:endParaRPr lang="en-US" sz="2000" dirty="0"/>
          </a:p>
        </p:txBody>
      </p:sp>
      <p:sp>
        <p:nvSpPr>
          <p:cNvPr id="25" name="Text 22"/>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(Charidimou et al., 2022; Connolly et al., 2024; Ma et al., 2023; Pradilla et al., 2024)</a:t>
            </a:r>
            <a:endParaRPr lang="en-US" sz="1200" dirty="0"/>
          </a:p>
        </p:txBody>
      </p:sp>
      <p:sp>
        <p:nvSpPr>
          <p:cNvPr id="26" name="Text 23"/>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7"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28"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29"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0"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1"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2"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3"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4"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5"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40</a:t>
            </a:r>
            <a:endParaRPr lang="en-US" sz="11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the vessel breaks: pathophysiology of non-traumatic intracerebral haemorrhage</dc:title>
  <dc:subject>PptxGenJS Presentation</dc:subject>
  <dc:creator>PptxGenJS</dc:creator>
  <cp:lastModifiedBy>PptxGenJS</cp:lastModifiedBy>
  <cp:revision>1</cp:revision>
  <dcterms:created xsi:type="dcterms:W3CDTF">2026-10-03T11:59:14Z</dcterms:created>
  <dcterms:modified xsi:type="dcterms:W3CDTF">2026-10-03T11:59:14Z</dcterms:modified>
</cp:coreProperties>
</file>