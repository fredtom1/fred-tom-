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5f19285-a789-a2ba-adfc-971b6cf6ac0e}">
          <p14:sldIdLst>
            <p14:sldId id="256"/>
            <p14:sldId id="257"/>
            <p14:sldId id="258"/>
          </p14:sldIdLst>
        </p14:section>
        <p14:section name="01 · The broken vessel" id="{0bcee402-3fdd-76c1-9d28-2d9c4a7954f1}">
          <p14:sldIdLst>
            <p14:sldId id="259"/>
            <p14:sldId id="260"/>
            <p14:sldId id="261"/>
            <p14:sldId id="262"/>
            <p14:sldId id="263"/>
            <p14:sldId id="264"/>
            <p14:sldId id="265"/>
            <p14:sldId id="266"/>
          </p14:sldIdLst>
        </p14:section>
        <p14:section name="02 · The first hours" id="{8521bef5-4870-ea17-be6b-cf47e2bae5e0}">
          <p14:sldIdLst>
            <p14:sldId id="267"/>
            <p14:sldId id="268"/>
            <p14:sldId id="269"/>
            <p14:sldId id="270"/>
          </p14:sldIdLst>
        </p14:section>
        <p14:section name="03 · The days after" id="{10bdf560-1255-bafd-9452-65adfe0e9774}">
          <p14:sldIdLst>
            <p14:sldId id="271"/>
            <p14:sldId id="272"/>
            <p14:sldId id="273"/>
            <p14:sldId id="274"/>
          </p14:sldIdLst>
        </p14:section>
        <p14:section name="04 · At the bedside" id="{15430bec-dbed-2649-7e31-0a54d79497e9}">
          <p14:sldIdLst>
            <p14:sldId id="275"/>
            <p14:sldId id="276"/>
            <p14:sldId id="277"/>
          </p14:sldIdLst>
        </p14:section>
        <p14:section name="Close" id="{13519b9d-aaea-92de-0153-3b5a37e1a450}">
          <p14:sldIdLst>
            <p14:sldId id="278"/>
            <p14:sldId id="279"/>
          </p14:sldIdLst>
        </p14:section>
        <p14:section name="Backup" id="{314bdaef-ac59-8198-daa6-795b8dc9fbfe}">
          <p14:sldIdLst>
            <p14:sldId id="28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Small-vessel disease</c:v>
                </c:pt>
              </c:strCache>
            </c:strRef>
          </c:tx>
          <c:spPr>
            <a:solidFill>
              <a:srgbClr val="C1272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Hypertension (H)   35%</c:v>
                  </c:pt>
                  <c:pt idx="1">
                    <c:v>Undetermined (U)   21%</c:v>
                  </c:pt>
                  <c:pt idx="2">
                    <c:v>Amyloid angiopathy (A)   20%</c:v>
                  </c:pt>
                  <c:pt idx="3">
                    <c:v>Medication (M)   14%</c:v>
                  </c:pt>
                  <c:pt idx="4">
                    <c:v>Structural lesion (S)   5%</c:v>
                  </c:pt>
                  <c:pt idx="5">
                    <c:v>Systemic disease (S)   5%</c:v>
                  </c:pt>
                </c:lvl>
              </c:multiLvlStrCache>
            </c:multiLvlStrRef>
          </c:cat>
          <c:val>
            <c:numRef>
              <c:f>Sheet1!$B$2:$B$7</c:f>
              <c:numCache>
                <c:formatCode>General</c:formatCode>
                <c:ptCount val="6"/>
                <c:pt idx="0">
                  <c:v>35</c:v>
                </c:pt>
                <c:pt idx="1">
                  <c:v>0</c:v>
                </c:pt>
                <c:pt idx="2">
                  <c:v>20</c:v>
                </c:pt>
                <c:pt idx="3">
                  <c:v>0</c:v>
                </c:pt>
                <c:pt idx="4">
                  <c:v>0</c:v>
                </c:pt>
                <c:pt idx="5">
                  <c:v>0</c:v>
                </c:pt>
              </c:numCache>
            </c:numRef>
          </c:val>
        </c:ser>
        <c:ser>
          <c:idx val="1"/>
          <c:order val="1"/>
          <c:tx>
            <c:strRef>
              <c:f>Sheet1!$C$1</c:f>
              <c:strCache>
                <c:ptCount val="1"/>
                <c:pt idx="0">
                  <c:v>Other causes</c:v>
                </c:pt>
              </c:strCache>
            </c:strRef>
          </c:tx>
          <c:spPr>
            <a:solidFill>
              <a:srgbClr val="AEB9C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Sheet1!$A$2:$A$7</c:f>
              <c:multiLvlStrCache>
                <c:ptCount val="6"/>
                <c:lvl>
                  <c:pt idx="0">
                    <c:v>Hypertension (H)   35%</c:v>
                  </c:pt>
                  <c:pt idx="1">
                    <c:v>Undetermined (U)   21%</c:v>
                  </c:pt>
                  <c:pt idx="2">
                    <c:v>Amyloid angiopathy (A)   20%</c:v>
                  </c:pt>
                  <c:pt idx="3">
                    <c:v>Medication (M)   14%</c:v>
                  </c:pt>
                  <c:pt idx="4">
                    <c:v>Structural lesion (S)   5%</c:v>
                  </c:pt>
                  <c:pt idx="5">
                    <c:v>Systemic disease (S)   5%</c:v>
                  </c:pt>
                </c:lvl>
              </c:multiLvlStrCache>
            </c:multiLvlStrRef>
          </c:cat>
          <c:val>
            <c:numRef>
              <c:f>Sheet1!$C$2:$C$7</c:f>
              <c:numCache>
                <c:formatCode>General</c:formatCode>
                <c:ptCount val="6"/>
                <c:pt idx="0">
                  <c:v>0</c:v>
                </c:pt>
                <c:pt idx="1">
                  <c:v>21</c:v>
                </c:pt>
                <c:pt idx="2">
                  <c:v>0</c:v>
                </c:pt>
                <c:pt idx="3">
                  <c:v>14</c:v>
                </c:pt>
                <c:pt idx="4">
                  <c:v>5</c:v>
                </c:pt>
                <c:pt idx="5">
                  <c:v>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500" b="0" i="0" u="none" strike="noStrike">
                <a:solidFill>
                  <a:srgbClr val="1B2230"/>
                </a:solidFill>
                <a:latin typeface="Calibri"/>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Mirror region</c:v>
                </c:pt>
              </c:strCache>
            </c:strRef>
          </c:tx>
          <c:spPr>
            <a:solidFill>
              <a:srgbClr val="C3CEDB"/>
            </a:solidFill>
            <a:effectLst/>
          </c:spPr>
          <c:invertIfNegative val="0"/>
          <c:dLbls>
            <c:numFmt formatCode="0&quot;%&quot;" sourceLinked="0"/>
            <c:txPr>
              <a:bodyPr/>
              <a:lstStyle/>
              <a:p>
                <a:pPr>
                  <a:defRPr b="1" i="0" strike="noStrike" sz="1300" u="none">
                    <a:solidFill>
                      <a:srgbClr val="1B223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Blood flow</c:v>
                  </c:pt>
                  <c:pt idx="1">
                    <c:v>Oxygen use</c:v>
                  </c:pt>
                </c:lvl>
              </c:multiLvlStrCache>
            </c:multiLvlStrRef>
          </c:cat>
          <c:val>
            <c:numRef>
              <c:f>Sheet1!$B$2:$B$3</c:f>
              <c:numCache>
                <c:formatCode>General</c:formatCode>
                <c:ptCount val="2"/>
                <c:pt idx="0">
                  <c:v>100</c:v>
                </c:pt>
                <c:pt idx="1">
                  <c:v>100</c:v>
                </c:pt>
              </c:numCache>
            </c:numRef>
          </c:val>
        </c:ser>
        <c:ser>
          <c:idx val="1"/>
          <c:order val="1"/>
          <c:tx>
            <c:strRef>
              <c:f>Sheet1!$C$1</c:f>
              <c:strCache>
                <c:ptCount val="1"/>
                <c:pt idx="0">
                  <c:v>Rim around clot</c:v>
                </c:pt>
              </c:strCache>
            </c:strRef>
          </c:tx>
          <c:spPr>
            <a:solidFill>
              <a:srgbClr val="C1272D"/>
            </a:solidFill>
            <a:effectLst/>
          </c:spPr>
          <c:invertIfNegative val="0"/>
          <c:dLbls>
            <c:numFmt formatCode="0&quot;%&quot;" sourceLinked="0"/>
            <c:txPr>
              <a:bodyPr/>
              <a:lstStyle/>
              <a:p>
                <a:pPr>
                  <a:defRPr b="1" i="0" strike="noStrike" sz="1300" u="none">
                    <a:solidFill>
                      <a:srgbClr val="1B2230"/>
                    </a:solidFill>
                    <a:latin typeface="Calibri"/>
                  </a:defRPr>
                </a:pPr>
              </a:p>
            </c:txPr>
            <c:showLegendKey val="0"/>
            <c:showVal val="1"/>
            <c:showCatName val="0"/>
            <c:showSerName val="0"/>
            <c:showPercent val="0"/>
            <c:showBubbleSize val="0"/>
            <c:showLeaderLines val="0"/>
          </c:dLbls>
          <c:cat>
            <c:multiLvlStrRef>
              <c:f>Sheet1!$A$2:$A$3</c:f>
              <c:multiLvlStrCache>
                <c:ptCount val="2"/>
                <c:lvl>
                  <c:pt idx="0">
                    <c:v>Blood flow</c:v>
                  </c:pt>
                  <c:pt idx="1">
                    <c:v>Oxygen use</c:v>
                  </c:pt>
                </c:lvl>
              </c:multiLvlStrCache>
            </c:multiLvlStrRef>
          </c:cat>
          <c:val>
            <c:numRef>
              <c:f>Sheet1!$C$2:$C$3</c:f>
              <c:numCache>
                <c:formatCode>General</c:formatCode>
                <c:ptCount val="2"/>
                <c:pt idx="0">
                  <c:v>56</c:v>
                </c:pt>
                <c:pt idx="1">
                  <c:v>48</c:v>
                </c:pt>
              </c:numCache>
            </c:numRef>
          </c:val>
        </c:ser>
        <c:dLbls>
          <c:numFmt formatCode="0&quot;%&quot;" sourceLinked="0"/>
          <c:txPr>
            <a:bodyPr/>
            <a:lstStyle/>
            <a:p>
              <a:pPr>
                <a:defRPr b="1" i="0" strike="noStrike" sz="1300" u="none">
                  <a:solidFill>
                    <a:srgbClr val="1B2230"/>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9D2DE"/>
            </a:solidFill>
            <a:prstDash val="solid"/>
            <a:round/>
          </a:ln>
        </c:spPr>
        <c:txPr>
          <a:bodyPr/>
          <a:lstStyle/>
          <a:p>
            <a:pPr>
              <a:defRPr sz="1400" b="0" i="0" u="none" strike="noStrike">
                <a:solidFill>
                  <a:srgbClr val="1B2230"/>
                </a:solidFill>
                <a:latin typeface="Calibri"/>
              </a:defRPr>
            </a:pPr>
            <a:endParaRPr lang="en-US"/>
          </a:p>
        </c:txPr>
        <c:crossAx val="2094734552"/>
        <c:crosses val="autoZero"/>
        <c:auto val="1"/>
        <c:lblAlgn val="ctr"/>
        <c:noMultiLvlLbl val="1"/>
      </c:catAx>
      <c:valAx>
        <c:axId val="2094734552"/>
        <c:scaling>
          <c:orientation val="minMax"/>
          <c:max val="12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B223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Walk to the centre. Pause and make eye contact before you speak.]
Good evening, everyone.
Picture a 62-year-old man at dinner. He drops his fork. His right arm goes weak. Within an hour he is hard to rouse. His scan shows a bright white bleed deep in the left side of his brain.
Tonight I am presenting Chapter 5 of the Oxford Textbook of Stroke and Cerebrovascular Disease: the pathophysiology of non-traumatic intracerebral haemorrhage. The chapter authors are Constanza Rossi and Charlotte Cordonnier.
By the end, I want you to look at a scan like his and ask three questions. Why did this vessel break? What will this bleed do in the next few hours? And what will the blood do to his brain over the next few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Let me start with where we stand.
Intracerebral haemorrhage makes up about 10 to 20 percent of all strokes. It is the minority, yet it is the most lethal type.
About 4 in 10 patients die within a month. Among survivors, only 12 to 39 percent regain independence in the long term.
[Point to the red strip.] This is the part that bothers me most. A large review of population studies found that case fatality did not fall between 1980 and 2008. Over the same years, care for ischaemic stroke moved forward a great deal.
One reason is how we think about ICH. We often treat it as a single event. The vessel bursts, the damage is done, and we wait. This chapter points us to a different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Here is that view in one line. ICH is a process, not a moment.
[Pause.]
It unfolds on three timescales. First, years of small-vessel disease weaken an artery until it gives way. Second, in the first hours, the haematoma can keep growing and pressing on the brain. Third, over the following days, the blood itself becomes toxic to the tissue around it.
Notice the circles get bigger as we move along. That is the bleed growing.
Each stage has its own mechanism. Each one is also a window where we can act. That is the plan for tonight: the broken vessel, the first hours, the days after, and then the bedside.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seconds. Let the slide breathe.]
Let's start with the vessel. Why does a small artery give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First, a definition. Non-traumatic ICH means bleeding directly into brain tissue without an injury. The blood can then spread into the ventricles or the subarachnoid space.
We split it into two groups.
About 80 to 85 percent is primary. The culprit is a small vessel damaged by chronic disease. There are two main ones: hypertensive arteriopathy and cerebral amyloid angiopathy.
The other 15 to 20 percent is secondary. Something specific caused the bleed, such as a malformation, a tumour, a drug or a clotting problem.
This split matters at the bedside. A secondary cause often has a specific treatment. Missing it can mean a second bleed.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How often is each cause to blame? This chart comes from the SMASH-U classification, tested on just over 1,000 patients in Helsinki. The letters stand for the six groups.
[Point to the red bars.] Hypertensive angiopathy explained 35 percent. Amyloid angiopathy explained another 20. So two small-vessel diseases account for more than half of all bleeds.
Anticoagulant-related bleeds made up 14 percent. They were the largest bleeds, and they had the highest death rate. More than half of those patients had died by three months.
Look at the second bar too. Even after full work-up, 1 in 5 bleeds had no clear cause. We still have real gaps in our understanding.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Move left to right across the three drawings.]
So what do these two diseases do to a vessel?
On the left is a healthy small artery. It has a thin, flexible wall and a wide lumen.
In the middle is hypertensive arteriopathy. It hits the small perforating arteries that feed deep structures: the basal ganglia, thalamus, pons and cerebellum. Years of high pressure cause lipohyalinosis and fibrinoid necrosis. The wall becomes thick and glassy, but it is also brittle. In 1868, Charcot and Bouchard described tiny microaneurysms on these vessels. You can see one bulging at the top right. Whether they are the true point of rupture is still debated.
On the right is cerebral amyloid angiopathy. Beta-amyloid builds up in the walls of cortical and leptomeningeal arteries. It replaces the smooth muscle, so the vessel loses its strength. This is mostly a disease of older adults, and it causes lobar bleeds near the surface of the brain.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That gives us a practical rule. Location is the first clue to the cause.
Bleeds 1 and 2 sit deep, in the putamen and the thalamus. Add the pons and cerebellum, which are not on this slice. These are the territories of the perforating arteries.
Why do they suffer? These small vessels branch at right angles straight off large, high-pressure trunks like the middle cerebral artery. They take the full force of the blood pressure with little buffering. That is why hypertension targets them.
Bleed 3 is lobar. It sits in the cortex and the white matter just beneath it. In an older adult, think amyloid angiopathy. In a younger person, or when something looks unusual, think of a malformation, a tumour or venous thrombosis.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MRI lets us see the footprints of these diseases. Microbleeds are tiny old leaks of blood. They show up as small black dots on blood-sensitive sequences.
Their pattern mirrors the big bleeds. Strictly lobar microbleeds point to amyloid angiopathy. Deep microbleeds point to hypertensive disease.
They are common. A systematic review led by Charlotte Cordonnier, one of this chapter's authors, found them in 5 percent of healthy adults, 34 percent of people with ischaemic stroke and 60 percent of people with ICH.
[Move to the right-hand card.] The modified Boston criteria use these markers to diagnose probable CAA in a living patient. The patient is 55 or older, has multiple lobar or cortical bleeds, or one bleed plus cortical superficial siderosis, and has no other cause.
Genes play a part too. The APOE e2 and e4 alleles raise the risk of amyloid-related bleeding.
[If asked what is new: Boston criteria version 2.0, published in 2022, added white-matter markers. See the backup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Walk the grid from top left.]
Now the other 15 to 20 percent. With every bleed, ask one question: is something else causing this?
Vascular malformations come first, such as AVMs, cavernomas, dural fistulas and aneurysms. They matter most in younger patients.
Antithrombotic drugs rarely start a bleed on their own. They make it larger and keep it growing for longer.
Tumours can bleed, whether primary or metastatic, because their new vessels are fragile.
In cerebral venous thrombosis, blocked drainage raises venous pressure until the tissue bleeds.
In haemorrhagic transformation, an infarct turns into a bleed.
Finally, a mixed group: cocaine and amphetamines, vasculitis, reversible cerebral vasoconstriction, moyamoya and clotting disorders.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So who needs the hunt? These features should push us to look harder.
[Gesture down the list.] A younger patient. No history of hypertension. A lobar bleed, or blood only in the ventricles. Extra clues on CT, like subarachnoid blood, calcification or abnormal vessels. A bleed next to a venous sinus. Any patient on anticoagulants needs a clotting check straight away.
The numbers on the right come from a prospective study of 206 patients who all had angiography. In people aged 45 or under, with no hypertension and a lobar bleed, 65 percent had a vascular lesion. In people over 45, with hypertension and a deep bleed, the yield was zero.
Same test. Completely different yield. The patient's story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seconds.]
We know why the vessel broke. Now let's watch the first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Move left to right.]
Step one: a diseased vessel ruptures, with arterial pressure behind it.
Step two: blood splits along the tissue planes and a haematoma forms.
Step three is the one people forget. In 1971, Miller Fisher studied these bleeds under the microscope. He found bleeding points around the edge of the haematoma. His explanation was an avalanche. The growing clot stretches and tears the small vessels around it, and they bleed too.
Step four: the bleeding stops when pressure in the surrounding tissue and the clotting system finally win.
The key point is that this does not always happen quickly. That leads straight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Pause for two seconds after the slide appears.]
Each dot is one patient.
This is the classic study by Brott and colleagues. They scanned 103 patients within three hours of onset, then again one hour later and twenty hours later.
The dark red dots are 26 patients whose bleed grew by more than a third within that first hour. The lighter dots are 12 more who grew between one and twenty hours. That is 38 in every 100. The growth went hand in hand with neurological decline.
Growth also shapes the outcome. In a later analysis of trial patients, every 10 percent increase in volume raised the hazard of death by 5 percent.
Who is at highest risk? Patients scanned early, those with large bleeds, those on anticoagulants, and those with a spot sign on CT angiography. The spot sign is contrast leaking out of the vessel while the scan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Now scale that up. The brain sits in a closed box.
[Trace the rings from the centre outwards.] At the centre, the clot destroys and compresses tissue. As volume grows, intracranial pressure rises. If it keeps rising, the brain shifts across the midline and can herniate.
Volume is the strongest single predictor of early death. In a Cincinnati study, patients with a bleed of 60 mL or more and a Glasgow Coma Scale of 8 or less had a predicted 30-day mortality of 91 percent.
Then there are the ventricles. About 45 percent of bleeds extend into them. Blood there can block the flow of cerebrospinal fluid and cause hydrocephalus. Ventricular blood predicts a worse outcome in its own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seconds.]
The bleed has stopped growing. The injury has not stopped. Let's look at the days after.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Move along the timeline.]
Oedema around the clot builds in waves.
In the first hours, the clot retracts, a bit like a blood sample settling in a tube. It squeezes serum out into the tissue around it.
Over the first two days, the clotting cascade produces thrombin. Thrombin opens the blood-brain barrier and draws in water and inflammatory cells.
From about day three, red cells start to break down. They release haemoglobin, haem and iron, and these drive oxidative damage.
Over the following weeks, macrophages clear the clot. They leave a cavity and haemosiderin staining behind.
How fast is this? In one study, oedema volume grew by about 75 percent in the first 24 hours alone. It can keep building into the second week. So a patient can look worse on day five than on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Three toxic pathways drive this secondary injury. Most of what we know comes from animal models, summarised well by Xi, Keep and Hoff.
Thrombin works first. We need it to stop the bleed. At high levels, though, it damages the barrier, triggers inflammation and kills cells.
Haemoglobin and iron come later. Once the red cells burst, an enzyme called haem oxygenase breaks haem down and frees iron. Iron fuels free radicals and damages cell membranes.
Inflammation runs across the whole period. Microglia activate within hours. Neutrophils and then macrophages arrive and release cytokines and enzymes like MMP-9.
[Point to the dark box.] All three paths end in the same place: a leaky barrier, more oedema and more neuronal death. That is why patients can worsen days after the bleeding has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Here is a myth worth busting.
On a scan, the rim around the clot looks like the penumbra we see in ischaemic stroke. For years, many people assumed this rim was starving tissue. They worried that lowering blood pressure would make it worse.
Zazulia and colleagues tested this with PET in 19 patients, 5 to 22 hours after onset. [Point to the chart.] Blood flow in the rim was low, at about 56 percent of the mirror region. Oxygen use was even lower, at about 48 percent. The tissue was taking less oxygen from the blood, not more. That is hypoperfusion without ischaemia. The tissue is quiet, not starving.
The practical proof came later. In the ICH ADAPT trial, lowering systolic pressure below 150 did not reduce blood flow around the haematoma.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10 seconds.]
So what does all this mean at the bedside?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This is the heart of the talk. Slow down.]
Here is the whole talk on one slide. Each mechanism opens a window.
Small-vessel disease sits before and after the bleed. Blood pressure control is our strongest tool for preventing a first or a second bleed. Antithrombotics need careful review. In an older patient with a lobar bleed, think CAA.
Haematoma growth belongs to the first hours. That means fast imaging, early blood pressure lowering and urgent reversal of anticoagulants. For every one of us, it means close neuro observations. A falling GCS is not something to watch overnight.
Mass effect and ventricular blood belong to the first days. New drowsiness, headache, vomiting or a new deficit means stop and escalate.
Secondary injury runs from days to weeks. Expect fluctuation as oedema peaks. Reassess before each session, and pace therapy to what the brain can handle that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Read each one slowly, then stop.]
If you remember five things from tonight, let them be these.
One. ICH is a process, not a moment.
Two. Deep bleeds point to hypertension. Lobar bleeds in older adults point to CAA.
Three. Young, normotensive or atypical? Hunt for a secondary cause.
Four. About one in three haematomas grows in the first hours.
Five. The blood is toxic. Thrombin, iron and inflammation injure the brain for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then open the floor.]
Let's go back to the man at dinner.
His bleed is deep, on the left, and he has a history of hypertension. His vessel story is most likely hypertensive arteriopathy. In the next few hours his clot may grow, so every minute counts. Over the next few days, the blood itself will keep injuring his brain, so he may get worse before he gets better.
When the vessel breaks, the clock starts.
Thank you. I would welcome your questions.
[If the room is quiet, ask the question on the slide and wait a full five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if people want to note the sources.]
All figures in this talk come from these papers. The first reference is the chapter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Show only if someone asks what has changed since 2014.]
The book came out in 2014, so here are four updates worth knowing.
In 2022, the Boston criteria moved to version 2.0. They now include white-matter MRI markers, which helps diagnose CAA in life.
In 2023, INTERACT3 showed that a care bundle improved function at six months. The bundle combined early blood pressure lowering, glucose and fever control, and anticoagulant reversal.
In 2024, ENRICH showed that early minimally invasive clot removal improved outcomes. The benefit came mainly from lobar bleeds.
Also in 2024, ANNEXA-I found that andexanet improved haemostasis in factor Xa inhibitor bleeds. It came with more thrombotic events, including ischaemic strokes.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3" Type="http://schemas.openxmlformats.org/officeDocument/2006/relationships/chart" Target="/ppt/charts/chart2.xml"/><Relationship Id="rId1" Type="http://schemas.openxmlformats.org/officeDocument/2006/relationships/image" Target="../media/image-19-1.png"/><Relationship Id="rId2"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33A"/>
        </a:solidFill>
      </p:bgPr>
    </p:bg>
    <p:spTree>
      <p:nvGrpSpPr>
        <p:cNvPr id="1" name=""/>
        <p:cNvGrpSpPr/>
        <p:nvPr/>
      </p:nvGrpSpPr>
      <p:grpSpPr>
        <a:xfrm>
          <a:off x="0" y="0"/>
          <a:ext cx="0" cy="0"/>
          <a:chOff x="0" y="0"/>
          <a:chExt cx="0" cy="0"/>
        </a:xfrm>
      </p:grpSpPr>
      <p:sp>
        <p:nvSpPr>
          <p:cNvPr id="3" name="Shape 0"/>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Shape 1"/>
          <p:cNvSpPr/>
          <p:nvPr/>
        </p:nvSpPr>
        <p:spPr>
          <a:xfrm>
            <a:off x="6995160" y="1097280"/>
            <a:ext cx="4663440" cy="4663440"/>
          </a:xfrm>
          <a:prstGeom prst="ellipse">
            <a:avLst/>
          </a:prstGeom>
          <a:solidFill>
            <a:srgbClr val="C1272D">
              <a:alpha val="10000"/>
            </a:srgbClr>
          </a:solidFill>
          <a:ln w="6350">
            <a:solidFill>
              <a:srgbClr val="C1272D">
                <a:alpha val="0"/>
              </a:srgbClr>
            </a:solidFill>
            <a:prstDash val="solid"/>
          </a:ln>
        </p:spPr>
      </p:sp>
      <p:sp>
        <p:nvSpPr>
          <p:cNvPr id="5" name="Shape 2"/>
          <p:cNvSpPr/>
          <p:nvPr/>
        </p:nvSpPr>
        <p:spPr>
          <a:xfrm>
            <a:off x="7498080" y="1600200"/>
            <a:ext cx="3657600" cy="3657600"/>
          </a:xfrm>
          <a:prstGeom prst="ellipse">
            <a:avLst/>
          </a:prstGeom>
          <a:solidFill>
            <a:srgbClr val="C1272D">
              <a:alpha val="22000"/>
            </a:srgbClr>
          </a:solidFill>
          <a:ln w="6350">
            <a:solidFill>
              <a:srgbClr val="C1272D">
                <a:alpha val="0"/>
              </a:srgbClr>
            </a:solidFill>
            <a:prstDash val="solid"/>
          </a:ln>
        </p:spPr>
      </p:sp>
      <p:sp>
        <p:nvSpPr>
          <p:cNvPr id="6" name="!!bleed"/>
          <p:cNvSpPr/>
          <p:nvPr/>
        </p:nvSpPr>
        <p:spPr>
          <a:xfrm>
            <a:off x="8001000" y="2103120"/>
            <a:ext cx="2651760" cy="2651760"/>
          </a:xfrm>
          <a:prstGeom prst="ellipse">
            <a:avLst/>
          </a:prstGeom>
          <a:solidFill>
            <a:srgbClr val="C1272D"/>
          </a:solidFill>
          <a:ln w="6350">
            <a:solidFill>
              <a:srgbClr val="C1272D"/>
            </a:solidFill>
            <a:prstDash val="solid"/>
          </a:ln>
        </p:spPr>
      </p:sp>
      <p:sp>
        <p:nvSpPr>
          <p:cNvPr id="7" name="Text 4"/>
          <p:cNvSpPr txBox="1"/>
          <p:nvPr/>
        </p:nvSpPr>
        <p:spPr>
          <a:xfrm>
            <a:off x="731520" y="1325880"/>
            <a:ext cx="5486400" cy="320040"/>
          </a:xfrm>
          <a:prstGeom prst="rect">
            <a:avLst/>
          </a:prstGeom>
          <a:noFill/>
          <a:ln/>
        </p:spPr>
        <p:txBody>
          <a:bodyPr wrap="square" lIns="0" tIns="0" rIns="0" bIns="0" rtlCol="0" anchor="ctr"/>
          <a:lstStyle/>
          <a:p>
            <a:pPr indent="0" marL="0">
              <a:buNone/>
            </a:pPr>
            <a:r>
              <a:rPr lang="en-US" sz="1300" b="1" spc="400" kern="0" dirty="0">
                <a:solidFill>
                  <a:srgbClr val="F08A8E"/>
                </a:solidFill>
                <a:latin typeface="Calibri" pitchFamily="34" charset="0"/>
                <a:ea typeface="Calibri" pitchFamily="34" charset="-122"/>
                <a:cs typeface="Calibri" pitchFamily="34" charset="-120"/>
              </a:rPr>
              <a:t>CHAPTER 5 REVIEW</a:t>
            </a:r>
            <a:endParaRPr lang="en-US" sz="1300" dirty="0"/>
          </a:p>
        </p:txBody>
      </p:sp>
      <p:sp>
        <p:nvSpPr>
          <p:cNvPr id="8" name="Text 5"/>
          <p:cNvSpPr txBox="1"/>
          <p:nvPr/>
        </p:nvSpPr>
        <p:spPr>
          <a:xfrm>
            <a:off x="731520" y="1737360"/>
            <a:ext cx="5669280" cy="1737360"/>
          </a:xfrm>
          <a:prstGeom prst="rect">
            <a:avLst/>
          </a:prstGeom>
          <a:noFill/>
          <a:ln/>
        </p:spPr>
        <p:txBody>
          <a:bodyPr wrap="square" lIns="0" tIns="0" rIns="0" bIns="0" rtlCol="0" anchor="t"/>
          <a:lstStyle/>
          <a:p>
            <a:pPr indent="0" marL="0">
              <a:buNone/>
            </a:pPr>
            <a:r>
              <a:rPr lang="en-US" sz="5400" b="1" dirty="0">
                <a:solidFill>
                  <a:srgbClr val="FFFFFF"/>
                </a:solidFill>
                <a:latin typeface="Cambria" pitchFamily="34" charset="0"/>
                <a:ea typeface="Cambria" pitchFamily="34" charset="-122"/>
                <a:cs typeface="Cambria" pitchFamily="34" charset="-120"/>
              </a:rPr>
              <a:t>When the vessel breaks</a:t>
            </a:r>
            <a:endParaRPr lang="en-US" sz="5400" dirty="0"/>
          </a:p>
        </p:txBody>
      </p:sp>
      <p:sp>
        <p:nvSpPr>
          <p:cNvPr id="9" name="Text 6"/>
          <p:cNvSpPr txBox="1"/>
          <p:nvPr/>
        </p:nvSpPr>
        <p:spPr>
          <a:xfrm>
            <a:off x="731520" y="3520440"/>
            <a:ext cx="5486400" cy="822960"/>
          </a:xfrm>
          <a:prstGeom prst="rect">
            <a:avLst/>
          </a:prstGeom>
          <a:noFill/>
          <a:ln/>
        </p:spPr>
        <p:txBody>
          <a:bodyPr wrap="square" lIns="0" tIns="0" rIns="0" bIns="0" rtlCol="0" anchor="t"/>
          <a:lstStyle/>
          <a:p>
            <a:pPr indent="0" marL="0">
              <a:buNone/>
            </a:pPr>
            <a:r>
              <a:rPr lang="en-US" sz="2200" dirty="0">
                <a:solidFill>
                  <a:srgbClr val="C9D3E0"/>
                </a:solidFill>
                <a:latin typeface="Calibri" pitchFamily="34" charset="0"/>
                <a:ea typeface="Calibri" pitchFamily="34" charset="-122"/>
                <a:cs typeface="Calibri" pitchFamily="34" charset="-120"/>
              </a:rPr>
              <a:t>Pathophysiology of non-traumatic intracerebral haemorrhage</a:t>
            </a:r>
            <a:endParaRPr lang="en-US" sz="2200" dirty="0"/>
          </a:p>
        </p:txBody>
      </p:sp>
      <p:sp>
        <p:nvSpPr>
          <p:cNvPr id="10" name="Text 7"/>
          <p:cNvSpPr txBox="1"/>
          <p:nvPr/>
        </p:nvSpPr>
        <p:spPr>
          <a:xfrm>
            <a:off x="731520" y="4617720"/>
            <a:ext cx="5669280" cy="914400"/>
          </a:xfrm>
          <a:prstGeom prst="rect">
            <a:avLst/>
          </a:prstGeom>
          <a:noFill/>
          <a:ln/>
        </p:spPr>
        <p:txBody>
          <a:bodyPr wrap="square" lIns="0" tIns="0" rIns="0" bIns="0" rtlCol="0" anchor="t"/>
          <a:lstStyle/>
          <a:p>
            <a:pPr indent="0" marL="0">
              <a:spcAft>
                <a:spcPts val="300"/>
              </a:spcAft>
              <a:buNone/>
            </a:pPr>
            <a:r>
              <a:rPr lang="en-US" sz="1400" b="1" dirty="0">
                <a:solidFill>
                  <a:srgbClr val="FFFFFF"/>
                </a:solidFill>
                <a:latin typeface="Calibri" pitchFamily="34" charset="0"/>
                <a:ea typeface="Calibri" pitchFamily="34" charset="-122"/>
                <a:cs typeface="Calibri" pitchFamily="34" charset="-120"/>
              </a:rPr>
              <a:t>Oxford Textbook of Stroke and Cerebrovascular Disease</a:t>
            </a:r>
            <a:endParaRPr lang="en-US" sz="1400" dirty="0"/>
          </a:p>
          <a:p>
            <a:pPr indent="0" marL="0">
              <a:spcAft>
                <a:spcPts val="300"/>
              </a:spcAft>
              <a:buNone/>
            </a:pPr>
            <a:r>
              <a:rPr lang="en-US" sz="1400" dirty="0">
                <a:solidFill>
                  <a:srgbClr val="93A6BC"/>
                </a:solidFill>
                <a:latin typeface="Calibri" pitchFamily="34" charset="0"/>
                <a:ea typeface="Calibri" pitchFamily="34" charset="-122"/>
                <a:cs typeface="Calibri" pitchFamily="34" charset="-120"/>
              </a:rPr>
              <a:t>Edited by Bo Norrving  ·  Oxford University Press, 2014</a:t>
            </a:r>
            <a:endParaRPr lang="en-US" sz="1400" dirty="0"/>
          </a:p>
          <a:p>
            <a:pPr indent="0" marL="0">
              <a:spcAft>
                <a:spcPts val="300"/>
              </a:spcAft>
              <a:buNone/>
            </a:pPr>
            <a:r>
              <a:rPr lang="en-US" sz="1400" dirty="0">
                <a:solidFill>
                  <a:srgbClr val="93A6BC"/>
                </a:solidFill>
                <a:latin typeface="Calibri" pitchFamily="34" charset="0"/>
                <a:ea typeface="Calibri" pitchFamily="34" charset="-122"/>
                <a:cs typeface="Calibri" pitchFamily="34" charset="-120"/>
              </a:rPr>
              <a:t>Chapter authors: Constanza Rossi &amp; Charlotte Cordonnier</a:t>
            </a:r>
            <a:endParaRPr lang="en-US" sz="1400" dirty="0"/>
          </a:p>
        </p:txBody>
      </p:sp>
      <p:sp>
        <p:nvSpPr>
          <p:cNvPr id="11" name="Text 8"/>
          <p:cNvSpPr txBox="1"/>
          <p:nvPr/>
        </p:nvSpPr>
        <p:spPr>
          <a:xfrm>
            <a:off x="731520" y="5989320"/>
            <a:ext cx="5486400" cy="274320"/>
          </a:xfrm>
          <a:prstGeom prst="rect">
            <a:avLst/>
          </a:prstGeom>
          <a:noFill/>
          <a:ln/>
        </p:spPr>
        <p:txBody>
          <a:bodyPr wrap="square" lIns="0" tIns="0" rIns="0" bIns="0" rtlCol="0" anchor="ctr"/>
          <a:lstStyle/>
          <a:p>
            <a:pPr indent="0" marL="0">
              <a:buNone/>
            </a:pPr>
            <a:r>
              <a:rPr lang="en-US" sz="1200" dirty="0">
                <a:solidFill>
                  <a:srgbClr val="93A6BC"/>
                </a:solidFill>
                <a:latin typeface="Calibri" pitchFamily="34" charset="0"/>
                <a:ea typeface="Calibri" pitchFamily="34" charset="-122"/>
                <a:cs typeface="Calibri" pitchFamily="34" charset="-120"/>
              </a:rPr>
              <a:t>Chapter review  ·  Sunday 4 October 2026</a:t>
            </a:r>
            <a:endParaRPr lang="en-US" sz="12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WHY IT MATTERS</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The deadliest type of stroke, and outcomes have not improved</a:t>
            </a:r>
            <a:endParaRPr lang="en-US" sz="3600" dirty="0"/>
          </a:p>
        </p:txBody>
      </p:sp>
      <p:sp>
        <p:nvSpPr>
          <p:cNvPr id="5" name="Shape 2"/>
          <p:cNvSpPr/>
          <p:nvPr/>
        </p:nvSpPr>
        <p:spPr>
          <a:xfrm>
            <a:off x="548640" y="2103120"/>
            <a:ext cx="3515258" cy="2697480"/>
          </a:xfrm>
          <a:prstGeom prst="roundRect">
            <a:avLst>
              <a:gd name="adj" fmla="val 3390"/>
            </a:avLst>
          </a:prstGeom>
          <a:solidFill>
            <a:srgbClr val="F3F5F8"/>
          </a:solidFill>
          <a:ln w="6350">
            <a:solidFill>
              <a:srgbClr val="F3F5F8"/>
            </a:solidFill>
            <a:prstDash val="solid"/>
          </a:ln>
        </p:spPr>
      </p:sp>
      <p:sp>
        <p:nvSpPr>
          <p:cNvPr id="6" name="Shape 3"/>
          <p:cNvSpPr/>
          <p:nvPr/>
        </p:nvSpPr>
        <p:spPr>
          <a:xfrm>
            <a:off x="868680" y="2423160"/>
            <a:ext cx="566928" cy="566928"/>
          </a:xfrm>
          <a:prstGeom prst="ellipse">
            <a:avLst/>
          </a:prstGeom>
          <a:solidFill>
            <a:srgbClr val="13233A"/>
          </a:solidFill>
          <a:ln w="6350">
            <a:solidFill>
              <a:srgbClr val="13233A"/>
            </a:solidFill>
            <a:prstDash val="solid"/>
          </a:ln>
        </p:spPr>
      </p:sp>
      <p:pic>
        <p:nvPicPr>
          <p:cNvPr id="7" name="Image 0" descr="preencoded.png">    </p:cNvPr>
          <p:cNvPicPr>
            <a:picLocks noChangeAspect="1"/>
          </p:cNvPicPr>
          <p:nvPr/>
        </p:nvPicPr>
        <p:blipFill>
          <a:blip r:embed="rId1"/>
          <a:stretch>
            <a:fillRect/>
          </a:stretch>
        </p:blipFill>
        <p:spPr>
          <a:xfrm>
            <a:off x="1010412" y="2564892"/>
            <a:ext cx="283464" cy="283464"/>
          </a:xfrm>
          <a:prstGeom prst="rect">
            <a:avLst/>
          </a:prstGeom>
        </p:spPr>
      </p:pic>
      <p:sp>
        <p:nvSpPr>
          <p:cNvPr id="8" name="Text 4"/>
          <p:cNvSpPr txBox="1"/>
          <p:nvPr/>
        </p:nvSpPr>
        <p:spPr>
          <a:xfrm>
            <a:off x="868680" y="3108960"/>
            <a:ext cx="2875178" cy="914400"/>
          </a:xfrm>
          <a:prstGeom prst="rect">
            <a:avLst/>
          </a:prstGeom>
          <a:noFill/>
          <a:ln/>
        </p:spPr>
        <p:txBody>
          <a:bodyPr wrap="square" lIns="0" tIns="0" rIns="0" bIns="0" rtlCol="0" anchor="ctr"/>
          <a:lstStyle/>
          <a:p>
            <a:pPr indent="0" marL="0">
              <a:buNone/>
            </a:pPr>
            <a:r>
              <a:rPr lang="en-US" sz="6000" b="1" dirty="0">
                <a:solidFill>
                  <a:srgbClr val="13233A"/>
                </a:solidFill>
                <a:latin typeface="Calibri" pitchFamily="34" charset="0"/>
                <a:ea typeface="Calibri" pitchFamily="34" charset="-122"/>
                <a:cs typeface="Calibri" pitchFamily="34" charset="-120"/>
              </a:rPr>
              <a:t>10–20%</a:t>
            </a:r>
            <a:endParaRPr lang="en-US" sz="6000" dirty="0"/>
          </a:p>
        </p:txBody>
      </p:sp>
      <p:sp>
        <p:nvSpPr>
          <p:cNvPr id="9" name="Text 5"/>
          <p:cNvSpPr txBox="1"/>
          <p:nvPr/>
        </p:nvSpPr>
        <p:spPr>
          <a:xfrm>
            <a:off x="868680" y="4041648"/>
            <a:ext cx="2875178" cy="640080"/>
          </a:xfrm>
          <a:prstGeom prst="rect">
            <a:avLst/>
          </a:prstGeom>
          <a:noFill/>
          <a:ln/>
        </p:spPr>
        <p:txBody>
          <a:bodyPr wrap="square" lIns="0" tIns="0" rIns="0" bIns="0" rtlCol="0" anchor="t"/>
          <a:lstStyle/>
          <a:p>
            <a:pPr indent="0" marL="0">
              <a:buNone/>
            </a:pPr>
            <a:r>
              <a:rPr lang="en-US" sz="1600" dirty="0">
                <a:solidFill>
                  <a:srgbClr val="1B2230"/>
                </a:solidFill>
                <a:latin typeface="Calibri" pitchFamily="34" charset="0"/>
                <a:ea typeface="Calibri" pitchFamily="34" charset="-122"/>
                <a:cs typeface="Calibri" pitchFamily="34" charset="-120"/>
              </a:rPr>
              <a:t>of all strokes are intracerebral haemorrhages</a:t>
            </a:r>
            <a:endParaRPr lang="en-US" sz="1600" dirty="0"/>
          </a:p>
        </p:txBody>
      </p:sp>
      <p:sp>
        <p:nvSpPr>
          <p:cNvPr id="10" name="Shape 6"/>
          <p:cNvSpPr/>
          <p:nvPr/>
        </p:nvSpPr>
        <p:spPr>
          <a:xfrm>
            <a:off x="4338218" y="2103120"/>
            <a:ext cx="3515258" cy="2697480"/>
          </a:xfrm>
          <a:prstGeom prst="roundRect">
            <a:avLst>
              <a:gd name="adj" fmla="val 3390"/>
            </a:avLst>
          </a:prstGeom>
          <a:solidFill>
            <a:srgbClr val="F3F5F8"/>
          </a:solidFill>
          <a:ln w="6350">
            <a:solidFill>
              <a:srgbClr val="F3F5F8"/>
            </a:solidFill>
            <a:prstDash val="solid"/>
          </a:ln>
        </p:spPr>
      </p:sp>
      <p:sp>
        <p:nvSpPr>
          <p:cNvPr id="11" name="Shape 7"/>
          <p:cNvSpPr/>
          <p:nvPr/>
        </p:nvSpPr>
        <p:spPr>
          <a:xfrm>
            <a:off x="4658258" y="2423160"/>
            <a:ext cx="566928" cy="566928"/>
          </a:xfrm>
          <a:prstGeom prst="ellipse">
            <a:avLst/>
          </a:prstGeom>
          <a:solidFill>
            <a:srgbClr val="C1272D"/>
          </a:solidFill>
          <a:ln w="6350">
            <a:solidFill>
              <a:srgbClr val="C1272D"/>
            </a:solidFill>
            <a:prstDash val="solid"/>
          </a:ln>
        </p:spPr>
      </p:sp>
      <p:pic>
        <p:nvPicPr>
          <p:cNvPr id="12" name="Image 1" descr="preencoded.png">    </p:cNvPr>
          <p:cNvPicPr>
            <a:picLocks noChangeAspect="1"/>
          </p:cNvPicPr>
          <p:nvPr/>
        </p:nvPicPr>
        <p:blipFill>
          <a:blip r:embed="rId2"/>
          <a:stretch>
            <a:fillRect/>
          </a:stretch>
        </p:blipFill>
        <p:spPr>
          <a:xfrm>
            <a:off x="4799990" y="2564892"/>
            <a:ext cx="283464" cy="283464"/>
          </a:xfrm>
          <a:prstGeom prst="rect">
            <a:avLst/>
          </a:prstGeom>
        </p:spPr>
      </p:pic>
      <p:sp>
        <p:nvSpPr>
          <p:cNvPr id="13" name="Text 8"/>
          <p:cNvSpPr txBox="1"/>
          <p:nvPr/>
        </p:nvSpPr>
        <p:spPr>
          <a:xfrm>
            <a:off x="4658258" y="3108960"/>
            <a:ext cx="2875178" cy="914400"/>
          </a:xfrm>
          <a:prstGeom prst="rect">
            <a:avLst/>
          </a:prstGeom>
          <a:noFill/>
          <a:ln/>
        </p:spPr>
        <p:txBody>
          <a:bodyPr wrap="square" lIns="0" tIns="0" rIns="0" bIns="0" rtlCol="0" anchor="ctr"/>
          <a:lstStyle/>
          <a:p>
            <a:pPr indent="0" marL="0">
              <a:buNone/>
            </a:pPr>
            <a:r>
              <a:rPr lang="en-US" sz="6000" b="1" dirty="0">
                <a:solidFill>
                  <a:srgbClr val="C1272D"/>
                </a:solidFill>
                <a:latin typeface="Calibri" pitchFamily="34" charset="0"/>
                <a:ea typeface="Calibri" pitchFamily="34" charset="-122"/>
                <a:cs typeface="Calibri" pitchFamily="34" charset="-120"/>
              </a:rPr>
              <a:t>40%</a:t>
            </a:r>
            <a:endParaRPr lang="en-US" sz="6000" dirty="0"/>
          </a:p>
        </p:txBody>
      </p:sp>
      <p:sp>
        <p:nvSpPr>
          <p:cNvPr id="14" name="Text 9"/>
          <p:cNvSpPr txBox="1"/>
          <p:nvPr/>
        </p:nvSpPr>
        <p:spPr>
          <a:xfrm>
            <a:off x="4658258" y="4041648"/>
            <a:ext cx="2875178" cy="640080"/>
          </a:xfrm>
          <a:prstGeom prst="rect">
            <a:avLst/>
          </a:prstGeom>
          <a:noFill/>
          <a:ln/>
        </p:spPr>
        <p:txBody>
          <a:bodyPr wrap="square" lIns="0" tIns="0" rIns="0" bIns="0" rtlCol="0" anchor="t"/>
          <a:lstStyle/>
          <a:p>
            <a:pPr indent="0" marL="0">
              <a:buNone/>
            </a:pPr>
            <a:r>
              <a:rPr lang="en-US" sz="1600" dirty="0">
                <a:solidFill>
                  <a:srgbClr val="1B2230"/>
                </a:solidFill>
                <a:latin typeface="Calibri" pitchFamily="34" charset="0"/>
                <a:ea typeface="Calibri" pitchFamily="34" charset="-122"/>
                <a:cs typeface="Calibri" pitchFamily="34" charset="-120"/>
              </a:rPr>
              <a:t>die within one month (median case fatality)</a:t>
            </a:r>
            <a:endParaRPr lang="en-US" sz="1600" dirty="0"/>
          </a:p>
        </p:txBody>
      </p:sp>
      <p:sp>
        <p:nvSpPr>
          <p:cNvPr id="15" name="Shape 10"/>
          <p:cNvSpPr/>
          <p:nvPr/>
        </p:nvSpPr>
        <p:spPr>
          <a:xfrm>
            <a:off x="8127797" y="2103120"/>
            <a:ext cx="3515258" cy="2697480"/>
          </a:xfrm>
          <a:prstGeom prst="roundRect">
            <a:avLst>
              <a:gd name="adj" fmla="val 3390"/>
            </a:avLst>
          </a:prstGeom>
          <a:solidFill>
            <a:srgbClr val="F3F5F8"/>
          </a:solidFill>
          <a:ln w="6350">
            <a:solidFill>
              <a:srgbClr val="F3F5F8"/>
            </a:solidFill>
            <a:prstDash val="solid"/>
          </a:ln>
        </p:spPr>
      </p:sp>
      <p:sp>
        <p:nvSpPr>
          <p:cNvPr id="16" name="Shape 11"/>
          <p:cNvSpPr/>
          <p:nvPr/>
        </p:nvSpPr>
        <p:spPr>
          <a:xfrm>
            <a:off x="8447837" y="2423160"/>
            <a:ext cx="566928" cy="566928"/>
          </a:xfrm>
          <a:prstGeom prst="ellipse">
            <a:avLst/>
          </a:prstGeom>
          <a:solidFill>
            <a:srgbClr val="13233A"/>
          </a:solidFill>
          <a:ln w="6350">
            <a:solidFill>
              <a:srgbClr val="13233A"/>
            </a:solidFill>
            <a:prstDash val="solid"/>
          </a:ln>
        </p:spPr>
      </p:sp>
      <p:pic>
        <p:nvPicPr>
          <p:cNvPr id="17" name="Image 2" descr="preencoded.png">    </p:cNvPr>
          <p:cNvPicPr>
            <a:picLocks noChangeAspect="1"/>
          </p:cNvPicPr>
          <p:nvPr/>
        </p:nvPicPr>
        <p:blipFill>
          <a:blip r:embed="rId3"/>
          <a:stretch>
            <a:fillRect/>
          </a:stretch>
        </p:blipFill>
        <p:spPr>
          <a:xfrm>
            <a:off x="8589569" y="2564892"/>
            <a:ext cx="283464" cy="283464"/>
          </a:xfrm>
          <a:prstGeom prst="rect">
            <a:avLst/>
          </a:prstGeom>
        </p:spPr>
      </p:pic>
      <p:sp>
        <p:nvSpPr>
          <p:cNvPr id="18" name="Text 12"/>
          <p:cNvSpPr txBox="1"/>
          <p:nvPr/>
        </p:nvSpPr>
        <p:spPr>
          <a:xfrm>
            <a:off x="8447837" y="3108960"/>
            <a:ext cx="2875178" cy="914400"/>
          </a:xfrm>
          <a:prstGeom prst="rect">
            <a:avLst/>
          </a:prstGeom>
          <a:noFill/>
          <a:ln/>
        </p:spPr>
        <p:txBody>
          <a:bodyPr wrap="square" lIns="0" tIns="0" rIns="0" bIns="0" rtlCol="0" anchor="ctr"/>
          <a:lstStyle/>
          <a:p>
            <a:pPr indent="0" marL="0">
              <a:buNone/>
            </a:pPr>
            <a:r>
              <a:rPr lang="en-US" sz="6000" b="1" dirty="0">
                <a:solidFill>
                  <a:srgbClr val="13233A"/>
                </a:solidFill>
                <a:latin typeface="Calibri" pitchFamily="34" charset="0"/>
                <a:ea typeface="Calibri" pitchFamily="34" charset="-122"/>
                <a:cs typeface="Calibri" pitchFamily="34" charset="-120"/>
              </a:rPr>
              <a:t>12–39%</a:t>
            </a:r>
            <a:endParaRPr lang="en-US" sz="6000" dirty="0"/>
          </a:p>
        </p:txBody>
      </p:sp>
      <p:sp>
        <p:nvSpPr>
          <p:cNvPr id="19" name="Text 13"/>
          <p:cNvSpPr txBox="1"/>
          <p:nvPr/>
        </p:nvSpPr>
        <p:spPr>
          <a:xfrm>
            <a:off x="8447837" y="4041648"/>
            <a:ext cx="2875178" cy="640080"/>
          </a:xfrm>
          <a:prstGeom prst="rect">
            <a:avLst/>
          </a:prstGeom>
          <a:noFill/>
          <a:ln/>
        </p:spPr>
        <p:txBody>
          <a:bodyPr wrap="square" lIns="0" tIns="0" rIns="0" bIns="0" rtlCol="0" anchor="t"/>
          <a:lstStyle/>
          <a:p>
            <a:pPr indent="0" marL="0">
              <a:buNone/>
            </a:pPr>
            <a:r>
              <a:rPr lang="en-US" sz="1600" dirty="0">
                <a:solidFill>
                  <a:srgbClr val="1B2230"/>
                </a:solidFill>
                <a:latin typeface="Calibri" pitchFamily="34" charset="0"/>
                <a:ea typeface="Calibri" pitchFamily="34" charset="-122"/>
                <a:cs typeface="Calibri" pitchFamily="34" charset="-120"/>
              </a:rPr>
              <a:t>regain independence in the long term</a:t>
            </a:r>
            <a:endParaRPr lang="en-US" sz="1600" dirty="0"/>
          </a:p>
        </p:txBody>
      </p:sp>
      <p:sp>
        <p:nvSpPr>
          <p:cNvPr id="20" name="Shape 14"/>
          <p:cNvSpPr/>
          <p:nvPr/>
        </p:nvSpPr>
        <p:spPr>
          <a:xfrm>
            <a:off x="548640" y="5029200"/>
            <a:ext cx="11094415" cy="658368"/>
          </a:xfrm>
          <a:prstGeom prst="roundRect">
            <a:avLst>
              <a:gd name="adj" fmla="val 13889"/>
            </a:avLst>
          </a:prstGeom>
          <a:solidFill>
            <a:srgbClr val="F6DCDD"/>
          </a:solidFill>
          <a:ln w="6350">
            <a:solidFill>
              <a:srgbClr val="F6DCDD"/>
            </a:solidFill>
            <a:prstDash val="solid"/>
          </a:ln>
        </p:spPr>
      </p:sp>
      <p:sp>
        <p:nvSpPr>
          <p:cNvPr id="21" name="Text 15"/>
          <p:cNvSpPr txBox="1"/>
          <p:nvPr/>
        </p:nvSpPr>
        <p:spPr>
          <a:xfrm>
            <a:off x="868680" y="5029200"/>
            <a:ext cx="10454335" cy="658368"/>
          </a:xfrm>
          <a:prstGeom prst="rect">
            <a:avLst/>
          </a:prstGeom>
          <a:noFill/>
          <a:ln/>
        </p:spPr>
        <p:txBody>
          <a:bodyPr wrap="square" lIns="0" tIns="0" rIns="0" bIns="0" rtlCol="0" anchor="ctr"/>
          <a:lstStyle/>
          <a:p>
            <a:pPr indent="0" marL="0">
              <a:buNone/>
            </a:pPr>
            <a:r>
              <a:rPr lang="en-US" sz="1700" dirty="0">
                <a:solidFill>
                  <a:srgbClr val="8E1B1F"/>
                </a:solidFill>
                <a:latin typeface="Calibri" pitchFamily="34" charset="0"/>
                <a:ea typeface="Calibri" pitchFamily="34" charset="-122"/>
                <a:cs typeface="Calibri" pitchFamily="34" charset="-120"/>
              </a:rPr>
              <a:t>Case fatality did not fall between 1980 and 2008, </a:t>
            </a:r>
            <a:pPr indent="0" marL="0">
              <a:buNone/>
            </a:pPr>
            <a:r>
              <a:rPr lang="en-US" sz="1700" b="1" dirty="0">
                <a:solidFill>
                  <a:srgbClr val="8E1B1F"/>
                </a:solidFill>
                <a:latin typeface="Calibri" pitchFamily="34" charset="0"/>
                <a:ea typeface="Calibri" pitchFamily="34" charset="-122"/>
                <a:cs typeface="Calibri" pitchFamily="34" charset="-120"/>
              </a:rPr>
              <a:t>while care for ischaemic stroke moved forward.</a:t>
            </a:r>
            <a:endParaRPr lang="en-US" sz="1700" dirty="0"/>
          </a:p>
        </p:txBody>
      </p:sp>
      <p:sp>
        <p:nvSpPr>
          <p:cNvPr id="22" name="Text 16"/>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000" i="1" dirty="0">
                <a:solidFill>
                  <a:srgbClr val="667285"/>
                </a:solidFill>
                <a:latin typeface="Calibri" pitchFamily="34" charset="0"/>
                <a:ea typeface="Calibri" pitchFamily="34" charset="-122"/>
                <a:cs typeface="Calibri" pitchFamily="34" charset="-120"/>
              </a:rPr>
              <a:t>Sources: van Asch et al., Lancet Neurol 2010 (36 population-based studies, 8145 patients); Macellari et al., Stroke 2014.</a:t>
            </a:r>
            <a:endParaRPr lang="en-US" sz="1000" dirty="0"/>
          </a:p>
        </p:txBody>
      </p:sp>
      <p:sp>
        <p:nvSpPr>
          <p:cNvPr id="23" name="Text 17"/>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24" name="Shape 18"/>
          <p:cNvSpPr/>
          <p:nvPr/>
        </p:nvSpPr>
        <p:spPr>
          <a:xfrm>
            <a:off x="7360920" y="6460236"/>
            <a:ext cx="118872" cy="118872"/>
          </a:xfrm>
          <a:prstGeom prst="ellipse">
            <a:avLst/>
          </a:prstGeom>
          <a:solidFill>
            <a:srgbClr val="C9D2DE"/>
          </a:solidFill>
          <a:ln w="6350">
            <a:solidFill>
              <a:srgbClr val="C9D2DE"/>
            </a:solidFill>
            <a:prstDash val="solid"/>
          </a:ln>
        </p:spPr>
      </p:sp>
      <p:sp>
        <p:nvSpPr>
          <p:cNvPr id="25" name="Text 19"/>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Vessel</a:t>
            </a:r>
            <a:endParaRPr lang="en-US" sz="1000" dirty="0"/>
          </a:p>
        </p:txBody>
      </p:sp>
      <p:sp>
        <p:nvSpPr>
          <p:cNvPr id="26" name="Shape 20"/>
          <p:cNvSpPr/>
          <p:nvPr/>
        </p:nvSpPr>
        <p:spPr>
          <a:xfrm>
            <a:off x="8275320" y="6460236"/>
            <a:ext cx="118872" cy="118872"/>
          </a:xfrm>
          <a:prstGeom prst="ellipse">
            <a:avLst/>
          </a:prstGeom>
          <a:solidFill>
            <a:srgbClr val="C9D2DE"/>
          </a:solidFill>
          <a:ln w="6350">
            <a:solidFill>
              <a:srgbClr val="C9D2DE"/>
            </a:solidFill>
            <a:prstDash val="solid"/>
          </a:ln>
        </p:spPr>
      </p:sp>
      <p:sp>
        <p:nvSpPr>
          <p:cNvPr id="27" name="Text 21"/>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Hours</a:t>
            </a:r>
            <a:endParaRPr lang="en-US" sz="1000" dirty="0"/>
          </a:p>
        </p:txBody>
      </p:sp>
      <p:sp>
        <p:nvSpPr>
          <p:cNvPr id="28" name="Shape 22"/>
          <p:cNvSpPr/>
          <p:nvPr/>
        </p:nvSpPr>
        <p:spPr>
          <a:xfrm>
            <a:off x="9189720" y="6460236"/>
            <a:ext cx="118872" cy="118872"/>
          </a:xfrm>
          <a:prstGeom prst="ellipse">
            <a:avLst/>
          </a:prstGeom>
          <a:solidFill>
            <a:srgbClr val="C9D2DE"/>
          </a:solidFill>
          <a:ln w="6350">
            <a:solidFill>
              <a:srgbClr val="C9D2DE"/>
            </a:solidFill>
            <a:prstDash val="solid"/>
          </a:ln>
        </p:spPr>
      </p:sp>
      <p:sp>
        <p:nvSpPr>
          <p:cNvPr id="29" name="Text 23"/>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Days</a:t>
            </a:r>
            <a:endParaRPr lang="en-US" sz="1000" dirty="0"/>
          </a:p>
        </p:txBody>
      </p:sp>
      <p:sp>
        <p:nvSpPr>
          <p:cNvPr id="30" name="Shape 24"/>
          <p:cNvSpPr/>
          <p:nvPr/>
        </p:nvSpPr>
        <p:spPr>
          <a:xfrm>
            <a:off x="10104120" y="6460236"/>
            <a:ext cx="118872" cy="118872"/>
          </a:xfrm>
          <a:prstGeom prst="ellipse">
            <a:avLst/>
          </a:prstGeom>
          <a:solidFill>
            <a:srgbClr val="C9D2DE"/>
          </a:solidFill>
          <a:ln w="6350">
            <a:solidFill>
              <a:srgbClr val="C9D2DE"/>
            </a:solidFill>
            <a:prstDash val="solid"/>
          </a:ln>
        </p:spPr>
      </p:sp>
      <p:sp>
        <p:nvSpPr>
          <p:cNvPr id="31" name="Text 25"/>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32" name="Text 26"/>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2</a:t>
            </a:r>
            <a:endParaRPr lang="en-US" sz="10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THE BIG IDEA</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ICH is a process, not a moment</a:t>
            </a:r>
            <a:endParaRPr lang="en-US" sz="3600" dirty="0"/>
          </a:p>
        </p:txBody>
      </p:sp>
      <p:sp>
        <p:nvSpPr>
          <p:cNvPr id="5" name="Text 2"/>
          <p:cNvSpPr txBox="1"/>
          <p:nvPr/>
        </p:nvSpPr>
        <p:spPr>
          <a:xfrm>
            <a:off x="548640" y="1371600"/>
            <a:ext cx="11094415" cy="411480"/>
          </a:xfrm>
          <a:prstGeom prst="rect">
            <a:avLst/>
          </a:prstGeom>
          <a:noFill/>
          <a:ln/>
        </p:spPr>
        <p:txBody>
          <a:bodyPr wrap="square" lIns="0" tIns="0" rIns="0" bIns="0" rtlCol="0" anchor="t"/>
          <a:lstStyle/>
          <a:p>
            <a:pPr indent="0" marL="0">
              <a:buNone/>
            </a:pPr>
            <a:r>
              <a:rPr lang="en-US" sz="1900" dirty="0">
                <a:solidFill>
                  <a:srgbClr val="3E5C76"/>
                </a:solidFill>
                <a:latin typeface="Calibri" pitchFamily="34" charset="0"/>
                <a:ea typeface="Calibri" pitchFamily="34" charset="-122"/>
                <a:cs typeface="Calibri" pitchFamily="34" charset="-120"/>
              </a:rPr>
              <a:t>Three mechanisms unfold on three timescales, and each one gives us a chance to act.</a:t>
            </a:r>
            <a:endParaRPr lang="en-US" sz="1900" dirty="0"/>
          </a:p>
        </p:txBody>
      </p:sp>
      <p:sp>
        <p:nvSpPr>
          <p:cNvPr id="6" name="Shape 3"/>
          <p:cNvSpPr/>
          <p:nvPr/>
        </p:nvSpPr>
        <p:spPr>
          <a:xfrm>
            <a:off x="914400" y="3383280"/>
            <a:ext cx="8618220" cy="0"/>
          </a:xfrm>
          <a:prstGeom prst="line">
            <a:avLst/>
          </a:prstGeom>
          <a:noFill/>
          <a:ln w="31750">
            <a:solidFill>
              <a:srgbClr val="C9D2DE"/>
            </a:solidFill>
            <a:prstDash val="solid"/>
          </a:ln>
        </p:spPr>
      </p:sp>
      <p:sp>
        <p:nvSpPr>
          <p:cNvPr id="7" name="Shape 4"/>
          <p:cNvSpPr/>
          <p:nvPr/>
        </p:nvSpPr>
        <p:spPr>
          <a:xfrm>
            <a:off x="548640" y="3017520"/>
            <a:ext cx="731520" cy="731520"/>
          </a:xfrm>
          <a:prstGeom prst="ellipse">
            <a:avLst/>
          </a:prstGeom>
          <a:solidFill>
            <a:srgbClr val="C1272D"/>
          </a:solidFill>
          <a:ln w="6350">
            <a:solidFill>
              <a:srgbClr val="C1272D"/>
            </a:solidFill>
            <a:prstDash val="solid"/>
          </a:ln>
        </p:spPr>
      </p:sp>
      <p:sp>
        <p:nvSpPr>
          <p:cNvPr id="8" name="Text 5"/>
          <p:cNvSpPr txBox="1"/>
          <p:nvPr/>
        </p:nvSpPr>
        <p:spPr>
          <a:xfrm>
            <a:off x="548640" y="3017520"/>
            <a:ext cx="731520" cy="7315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01</a:t>
            </a:r>
            <a:endParaRPr lang="en-US" sz="1600" dirty="0"/>
          </a:p>
        </p:txBody>
      </p:sp>
      <p:sp>
        <p:nvSpPr>
          <p:cNvPr id="9" name="Text 6"/>
          <p:cNvSpPr txBox="1"/>
          <p:nvPr/>
        </p:nvSpPr>
        <p:spPr>
          <a:xfrm>
            <a:off x="548640" y="4389120"/>
            <a:ext cx="2587752" cy="411480"/>
          </a:xfrm>
          <a:prstGeom prst="rect">
            <a:avLst/>
          </a:prstGeom>
          <a:noFill/>
          <a:ln/>
        </p:spPr>
        <p:txBody>
          <a:bodyPr wrap="square" lIns="0" tIns="0" rIns="0" bIns="0" rtlCol="0" anchor="t"/>
          <a:lstStyle/>
          <a:p>
            <a:pPr indent="0" marL="0">
              <a:buNone/>
            </a:pPr>
            <a:r>
              <a:rPr lang="en-US" sz="2000" b="1" dirty="0">
                <a:solidFill>
                  <a:srgbClr val="13233A"/>
                </a:solidFill>
                <a:latin typeface="Calibri" pitchFamily="34" charset="0"/>
                <a:ea typeface="Calibri" pitchFamily="34" charset="-122"/>
                <a:cs typeface="Calibri" pitchFamily="34" charset="-120"/>
              </a:rPr>
              <a:t>The broken vessel</a:t>
            </a:r>
            <a:endParaRPr lang="en-US" sz="2000" dirty="0"/>
          </a:p>
        </p:txBody>
      </p:sp>
      <p:sp>
        <p:nvSpPr>
          <p:cNvPr id="10" name="Text 7"/>
          <p:cNvSpPr txBox="1"/>
          <p:nvPr/>
        </p:nvSpPr>
        <p:spPr>
          <a:xfrm>
            <a:off x="548640" y="4846320"/>
            <a:ext cx="2496312" cy="731520"/>
          </a:xfrm>
          <a:prstGeom prst="rect">
            <a:avLst/>
          </a:prstGeom>
          <a:noFill/>
          <a:ln/>
        </p:spPr>
        <p:txBody>
          <a:bodyPr wrap="square" lIns="0" tIns="0" rIns="0" bIns="0" rtlCol="0" anchor="t"/>
          <a:lstStyle/>
          <a:p>
            <a:pPr indent="0" marL="0">
              <a:buNone/>
            </a:pPr>
            <a:r>
              <a:rPr lang="en-US" sz="1500" dirty="0">
                <a:solidFill>
                  <a:srgbClr val="1B2230"/>
                </a:solidFill>
                <a:latin typeface="Calibri" pitchFamily="34" charset="0"/>
                <a:ea typeface="Calibri" pitchFamily="34" charset="-122"/>
                <a:cs typeface="Calibri" pitchFamily="34" charset="-120"/>
              </a:rPr>
              <a:t>Why a small artery gives way, and what else can bleed</a:t>
            </a:r>
            <a:endParaRPr lang="en-US" sz="1500" dirty="0"/>
          </a:p>
        </p:txBody>
      </p:sp>
      <p:sp>
        <p:nvSpPr>
          <p:cNvPr id="11" name="Shape 8"/>
          <p:cNvSpPr/>
          <p:nvPr/>
        </p:nvSpPr>
        <p:spPr>
          <a:xfrm>
            <a:off x="3383280" y="2903220"/>
            <a:ext cx="960120" cy="960120"/>
          </a:xfrm>
          <a:prstGeom prst="ellipse">
            <a:avLst/>
          </a:prstGeom>
          <a:solidFill>
            <a:srgbClr val="C1272D"/>
          </a:solidFill>
          <a:ln w="6350">
            <a:solidFill>
              <a:srgbClr val="C1272D"/>
            </a:solidFill>
            <a:prstDash val="solid"/>
          </a:ln>
        </p:spPr>
      </p:sp>
      <p:sp>
        <p:nvSpPr>
          <p:cNvPr id="12" name="Text 9"/>
          <p:cNvSpPr txBox="1"/>
          <p:nvPr/>
        </p:nvSpPr>
        <p:spPr>
          <a:xfrm>
            <a:off x="3383280" y="2903220"/>
            <a:ext cx="960120"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02</a:t>
            </a:r>
            <a:endParaRPr lang="en-US" sz="1900" dirty="0"/>
          </a:p>
        </p:txBody>
      </p:sp>
      <p:sp>
        <p:nvSpPr>
          <p:cNvPr id="13" name="Text 10"/>
          <p:cNvSpPr txBox="1"/>
          <p:nvPr/>
        </p:nvSpPr>
        <p:spPr>
          <a:xfrm>
            <a:off x="3383280" y="4389120"/>
            <a:ext cx="2587752" cy="411480"/>
          </a:xfrm>
          <a:prstGeom prst="rect">
            <a:avLst/>
          </a:prstGeom>
          <a:noFill/>
          <a:ln/>
        </p:spPr>
        <p:txBody>
          <a:bodyPr wrap="square" lIns="0" tIns="0" rIns="0" bIns="0" rtlCol="0" anchor="t"/>
          <a:lstStyle/>
          <a:p>
            <a:pPr indent="0" marL="0">
              <a:buNone/>
            </a:pPr>
            <a:r>
              <a:rPr lang="en-US" sz="2000" b="1" dirty="0">
                <a:solidFill>
                  <a:srgbClr val="13233A"/>
                </a:solidFill>
                <a:latin typeface="Calibri" pitchFamily="34" charset="0"/>
                <a:ea typeface="Calibri" pitchFamily="34" charset="-122"/>
                <a:cs typeface="Calibri" pitchFamily="34" charset="-120"/>
              </a:rPr>
              <a:t>The first hours</a:t>
            </a:r>
            <a:endParaRPr lang="en-US" sz="2000" dirty="0"/>
          </a:p>
        </p:txBody>
      </p:sp>
      <p:sp>
        <p:nvSpPr>
          <p:cNvPr id="14" name="Text 11"/>
          <p:cNvSpPr txBox="1"/>
          <p:nvPr/>
        </p:nvSpPr>
        <p:spPr>
          <a:xfrm>
            <a:off x="3383280" y="4846320"/>
            <a:ext cx="2496312" cy="731520"/>
          </a:xfrm>
          <a:prstGeom prst="rect">
            <a:avLst/>
          </a:prstGeom>
          <a:noFill/>
          <a:ln/>
        </p:spPr>
        <p:txBody>
          <a:bodyPr wrap="square" lIns="0" tIns="0" rIns="0" bIns="0" rtlCol="0" anchor="t"/>
          <a:lstStyle/>
          <a:p>
            <a:pPr indent="0" marL="0">
              <a:buNone/>
            </a:pPr>
            <a:r>
              <a:rPr lang="en-US" sz="1500" dirty="0">
                <a:solidFill>
                  <a:srgbClr val="1B2230"/>
                </a:solidFill>
                <a:latin typeface="Calibri" pitchFamily="34" charset="0"/>
                <a:ea typeface="Calibri" pitchFamily="34" charset="-122"/>
                <a:cs typeface="Calibri" pitchFamily="34" charset="-120"/>
              </a:rPr>
              <a:t>Rupture, growth and rising pressure</a:t>
            </a:r>
            <a:endParaRPr lang="en-US" sz="1500" dirty="0"/>
          </a:p>
        </p:txBody>
      </p:sp>
      <p:sp>
        <p:nvSpPr>
          <p:cNvPr id="15" name="Shape 12"/>
          <p:cNvSpPr/>
          <p:nvPr/>
        </p:nvSpPr>
        <p:spPr>
          <a:xfrm>
            <a:off x="5989320" y="2560320"/>
            <a:ext cx="1645920" cy="1645920"/>
          </a:xfrm>
          <a:prstGeom prst="ellipse">
            <a:avLst/>
          </a:prstGeom>
          <a:solidFill>
            <a:srgbClr val="C1272D">
              <a:alpha val="18000"/>
            </a:srgbClr>
          </a:solidFill>
          <a:ln w="6350">
            <a:solidFill>
              <a:srgbClr val="C1272D">
                <a:alpha val="0"/>
              </a:srgbClr>
            </a:solidFill>
            <a:prstDash val="solid"/>
          </a:ln>
        </p:spPr>
      </p:sp>
      <p:sp>
        <p:nvSpPr>
          <p:cNvPr id="16" name="Shape 13"/>
          <p:cNvSpPr/>
          <p:nvPr/>
        </p:nvSpPr>
        <p:spPr>
          <a:xfrm>
            <a:off x="6217920" y="2788920"/>
            <a:ext cx="1188720" cy="1188720"/>
          </a:xfrm>
          <a:prstGeom prst="ellipse">
            <a:avLst/>
          </a:prstGeom>
          <a:solidFill>
            <a:srgbClr val="C1272D"/>
          </a:solidFill>
          <a:ln w="6350">
            <a:solidFill>
              <a:srgbClr val="C1272D"/>
            </a:solidFill>
            <a:prstDash val="solid"/>
          </a:ln>
        </p:spPr>
      </p:sp>
      <p:sp>
        <p:nvSpPr>
          <p:cNvPr id="17" name="Text 14"/>
          <p:cNvSpPr txBox="1"/>
          <p:nvPr/>
        </p:nvSpPr>
        <p:spPr>
          <a:xfrm>
            <a:off x="6217920" y="2788920"/>
            <a:ext cx="1188720" cy="11887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03</a:t>
            </a:r>
            <a:endParaRPr lang="en-US" sz="2200" dirty="0"/>
          </a:p>
        </p:txBody>
      </p:sp>
      <p:sp>
        <p:nvSpPr>
          <p:cNvPr id="18" name="Text 15"/>
          <p:cNvSpPr txBox="1"/>
          <p:nvPr/>
        </p:nvSpPr>
        <p:spPr>
          <a:xfrm>
            <a:off x="6217920" y="4389120"/>
            <a:ext cx="2587752" cy="411480"/>
          </a:xfrm>
          <a:prstGeom prst="rect">
            <a:avLst/>
          </a:prstGeom>
          <a:noFill/>
          <a:ln/>
        </p:spPr>
        <p:txBody>
          <a:bodyPr wrap="square" lIns="0" tIns="0" rIns="0" bIns="0" rtlCol="0" anchor="t"/>
          <a:lstStyle/>
          <a:p>
            <a:pPr indent="0" marL="0">
              <a:buNone/>
            </a:pPr>
            <a:r>
              <a:rPr lang="en-US" sz="2000" b="1" dirty="0">
                <a:solidFill>
                  <a:srgbClr val="13233A"/>
                </a:solidFill>
                <a:latin typeface="Calibri" pitchFamily="34" charset="0"/>
                <a:ea typeface="Calibri" pitchFamily="34" charset="-122"/>
                <a:cs typeface="Calibri" pitchFamily="34" charset="-120"/>
              </a:rPr>
              <a:t>The days after</a:t>
            </a:r>
            <a:endParaRPr lang="en-US" sz="2000" dirty="0"/>
          </a:p>
        </p:txBody>
      </p:sp>
      <p:sp>
        <p:nvSpPr>
          <p:cNvPr id="19" name="Text 16"/>
          <p:cNvSpPr txBox="1"/>
          <p:nvPr/>
        </p:nvSpPr>
        <p:spPr>
          <a:xfrm>
            <a:off x="6217920" y="4846320"/>
            <a:ext cx="2496312" cy="731520"/>
          </a:xfrm>
          <a:prstGeom prst="rect">
            <a:avLst/>
          </a:prstGeom>
          <a:noFill/>
          <a:ln/>
        </p:spPr>
        <p:txBody>
          <a:bodyPr wrap="square" lIns="0" tIns="0" rIns="0" bIns="0" rtlCol="0" anchor="t"/>
          <a:lstStyle/>
          <a:p>
            <a:pPr indent="0" marL="0">
              <a:buNone/>
            </a:pPr>
            <a:r>
              <a:rPr lang="en-US" sz="1500" dirty="0">
                <a:solidFill>
                  <a:srgbClr val="1B2230"/>
                </a:solidFill>
                <a:latin typeface="Calibri" pitchFamily="34" charset="0"/>
                <a:ea typeface="Calibri" pitchFamily="34" charset="-122"/>
                <a:cs typeface="Calibri" pitchFamily="34" charset="-120"/>
              </a:rPr>
              <a:t>How the blood itself injures the brain</a:t>
            </a:r>
            <a:endParaRPr lang="en-US" sz="1500" dirty="0"/>
          </a:p>
        </p:txBody>
      </p:sp>
      <p:sp>
        <p:nvSpPr>
          <p:cNvPr id="20" name="Shape 17"/>
          <p:cNvSpPr/>
          <p:nvPr/>
        </p:nvSpPr>
        <p:spPr>
          <a:xfrm>
            <a:off x="9052560" y="2903220"/>
            <a:ext cx="960120" cy="960120"/>
          </a:xfrm>
          <a:prstGeom prst="ellipse">
            <a:avLst/>
          </a:prstGeom>
          <a:solidFill>
            <a:srgbClr val="13233A"/>
          </a:solidFill>
          <a:ln w="6350">
            <a:solidFill>
              <a:srgbClr val="13233A"/>
            </a:solidFill>
            <a:prstDash val="solid"/>
          </a:ln>
        </p:spPr>
      </p:sp>
      <p:pic>
        <p:nvPicPr>
          <p:cNvPr id="21" name="Image 0" descr="preencoded.png">    </p:cNvPr>
          <p:cNvPicPr>
            <a:picLocks noChangeAspect="1"/>
          </p:cNvPicPr>
          <p:nvPr/>
        </p:nvPicPr>
        <p:blipFill>
          <a:blip r:embed="rId1"/>
          <a:stretch>
            <a:fillRect/>
          </a:stretch>
        </p:blipFill>
        <p:spPr>
          <a:xfrm>
            <a:off x="9292590" y="3143250"/>
            <a:ext cx="480060" cy="480060"/>
          </a:xfrm>
          <a:prstGeom prst="rect">
            <a:avLst/>
          </a:prstGeom>
        </p:spPr>
      </p:pic>
      <p:sp>
        <p:nvSpPr>
          <p:cNvPr id="22" name="Text 18"/>
          <p:cNvSpPr txBox="1"/>
          <p:nvPr/>
        </p:nvSpPr>
        <p:spPr>
          <a:xfrm>
            <a:off x="9052560" y="4389120"/>
            <a:ext cx="2587752" cy="411480"/>
          </a:xfrm>
          <a:prstGeom prst="rect">
            <a:avLst/>
          </a:prstGeom>
          <a:noFill/>
          <a:ln/>
        </p:spPr>
        <p:txBody>
          <a:bodyPr wrap="square" lIns="0" tIns="0" rIns="0" bIns="0" rtlCol="0" anchor="t"/>
          <a:lstStyle/>
          <a:p>
            <a:pPr indent="0" marL="0">
              <a:buNone/>
            </a:pPr>
            <a:r>
              <a:rPr lang="en-US" sz="2000" b="1" dirty="0">
                <a:solidFill>
                  <a:srgbClr val="13233A"/>
                </a:solidFill>
                <a:latin typeface="Calibri" pitchFamily="34" charset="0"/>
                <a:ea typeface="Calibri" pitchFamily="34" charset="-122"/>
                <a:cs typeface="Calibri" pitchFamily="34" charset="-120"/>
              </a:rPr>
              <a:t>At the bedside</a:t>
            </a:r>
            <a:endParaRPr lang="en-US" sz="2000" dirty="0"/>
          </a:p>
        </p:txBody>
      </p:sp>
      <p:sp>
        <p:nvSpPr>
          <p:cNvPr id="23" name="Text 19"/>
          <p:cNvSpPr txBox="1"/>
          <p:nvPr/>
        </p:nvSpPr>
        <p:spPr>
          <a:xfrm>
            <a:off x="9052560" y="4846320"/>
            <a:ext cx="2496312" cy="731520"/>
          </a:xfrm>
          <a:prstGeom prst="rect">
            <a:avLst/>
          </a:prstGeom>
          <a:noFill/>
          <a:ln/>
        </p:spPr>
        <p:txBody>
          <a:bodyPr wrap="square" lIns="0" tIns="0" rIns="0" bIns="0" rtlCol="0" anchor="t"/>
          <a:lstStyle/>
          <a:p>
            <a:pPr indent="0" marL="0">
              <a:buNone/>
            </a:pPr>
            <a:r>
              <a:rPr lang="en-US" sz="1500" dirty="0">
                <a:solidFill>
                  <a:srgbClr val="1B2230"/>
                </a:solidFill>
                <a:latin typeface="Calibri" pitchFamily="34" charset="0"/>
                <a:ea typeface="Calibri" pitchFamily="34" charset="-122"/>
                <a:cs typeface="Calibri" pitchFamily="34" charset="-120"/>
              </a:rPr>
              <a:t>What this means for our patients</a:t>
            </a:r>
            <a:endParaRPr lang="en-US" sz="1500" dirty="0"/>
          </a:p>
        </p:txBody>
      </p:sp>
      <p:sp>
        <p:nvSpPr>
          <p:cNvPr id="24" name="Text 20"/>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25" name="Shape 21"/>
          <p:cNvSpPr/>
          <p:nvPr/>
        </p:nvSpPr>
        <p:spPr>
          <a:xfrm>
            <a:off x="7360920" y="6460236"/>
            <a:ext cx="118872" cy="118872"/>
          </a:xfrm>
          <a:prstGeom prst="ellipse">
            <a:avLst/>
          </a:prstGeom>
          <a:solidFill>
            <a:srgbClr val="C9D2DE"/>
          </a:solidFill>
          <a:ln w="6350">
            <a:solidFill>
              <a:srgbClr val="C9D2DE"/>
            </a:solidFill>
            <a:prstDash val="solid"/>
          </a:ln>
        </p:spPr>
      </p:sp>
      <p:sp>
        <p:nvSpPr>
          <p:cNvPr id="26" name="Text 22"/>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Vessel</a:t>
            </a:r>
            <a:endParaRPr lang="en-US" sz="1000" dirty="0"/>
          </a:p>
        </p:txBody>
      </p:sp>
      <p:sp>
        <p:nvSpPr>
          <p:cNvPr id="27" name="Shape 23"/>
          <p:cNvSpPr/>
          <p:nvPr/>
        </p:nvSpPr>
        <p:spPr>
          <a:xfrm>
            <a:off x="8275320" y="6460236"/>
            <a:ext cx="118872" cy="118872"/>
          </a:xfrm>
          <a:prstGeom prst="ellipse">
            <a:avLst/>
          </a:prstGeom>
          <a:solidFill>
            <a:srgbClr val="C9D2DE"/>
          </a:solidFill>
          <a:ln w="6350">
            <a:solidFill>
              <a:srgbClr val="C9D2DE"/>
            </a:solidFill>
            <a:prstDash val="solid"/>
          </a:ln>
        </p:spPr>
      </p:sp>
      <p:sp>
        <p:nvSpPr>
          <p:cNvPr id="28" name="Text 24"/>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Hours</a:t>
            </a:r>
            <a:endParaRPr lang="en-US" sz="1000" dirty="0"/>
          </a:p>
        </p:txBody>
      </p:sp>
      <p:sp>
        <p:nvSpPr>
          <p:cNvPr id="29" name="Shape 25"/>
          <p:cNvSpPr/>
          <p:nvPr/>
        </p:nvSpPr>
        <p:spPr>
          <a:xfrm>
            <a:off x="9189720" y="6460236"/>
            <a:ext cx="118872" cy="118872"/>
          </a:xfrm>
          <a:prstGeom prst="ellipse">
            <a:avLst/>
          </a:prstGeom>
          <a:solidFill>
            <a:srgbClr val="C9D2DE"/>
          </a:solidFill>
          <a:ln w="6350">
            <a:solidFill>
              <a:srgbClr val="C9D2DE"/>
            </a:solidFill>
            <a:prstDash val="solid"/>
          </a:ln>
        </p:spPr>
      </p:sp>
      <p:sp>
        <p:nvSpPr>
          <p:cNvPr id="30" name="Text 26"/>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Days</a:t>
            </a:r>
            <a:endParaRPr lang="en-US" sz="1000" dirty="0"/>
          </a:p>
        </p:txBody>
      </p:sp>
      <p:sp>
        <p:nvSpPr>
          <p:cNvPr id="31" name="Shape 27"/>
          <p:cNvSpPr/>
          <p:nvPr/>
        </p:nvSpPr>
        <p:spPr>
          <a:xfrm>
            <a:off x="10104120" y="6460236"/>
            <a:ext cx="118872" cy="118872"/>
          </a:xfrm>
          <a:prstGeom prst="ellipse">
            <a:avLst/>
          </a:prstGeom>
          <a:solidFill>
            <a:srgbClr val="C9D2DE"/>
          </a:solidFill>
          <a:ln w="6350">
            <a:solidFill>
              <a:srgbClr val="C9D2DE"/>
            </a:solidFill>
            <a:prstDash val="solid"/>
          </a:ln>
        </p:spPr>
      </p:sp>
      <p:sp>
        <p:nvSpPr>
          <p:cNvPr id="32" name="Text 28"/>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33" name="Text 29"/>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3</a:t>
            </a:r>
            <a:endParaRPr lang="en-US" sz="10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3233A"/>
        </a:solidFill>
      </p:bgPr>
    </p:bg>
    <p:spTree>
      <p:nvGrpSpPr>
        <p:cNvPr id="1" name=""/>
        <p:cNvGrpSpPr/>
        <p:nvPr/>
      </p:nvGrpSpPr>
      <p:grpSpPr>
        <a:xfrm>
          <a:off x="0" y="0"/>
          <a:ext cx="0" cy="0"/>
          <a:chOff x="0" y="0"/>
          <a:chExt cx="0" cy="0"/>
        </a:xfrm>
      </p:grpSpPr>
      <p:sp>
        <p:nvSpPr>
          <p:cNvPr id="3" name="Shape 0"/>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bleed"/>
          <p:cNvSpPr/>
          <p:nvPr/>
        </p:nvSpPr>
        <p:spPr>
          <a:xfrm>
            <a:off x="8641080" y="2743200"/>
            <a:ext cx="1371600" cy="1371600"/>
          </a:xfrm>
          <a:prstGeom prst="ellipse">
            <a:avLst/>
          </a:prstGeom>
          <a:solidFill>
            <a:srgbClr val="C1272D"/>
          </a:solidFill>
          <a:ln w="6350">
            <a:solidFill>
              <a:srgbClr val="C1272D"/>
            </a:solidFill>
            <a:prstDash val="solid"/>
          </a:ln>
        </p:spPr>
      </p:sp>
      <p:sp>
        <p:nvSpPr>
          <p:cNvPr id="5" name="Text 2"/>
          <p:cNvSpPr txBox="1"/>
          <p:nvPr/>
        </p:nvSpPr>
        <p:spPr>
          <a:xfrm>
            <a:off x="731520" y="1417320"/>
            <a:ext cx="2743200" cy="1371600"/>
          </a:xfrm>
          <a:prstGeom prst="rect">
            <a:avLst/>
          </a:prstGeom>
          <a:noFill/>
          <a:ln/>
        </p:spPr>
        <p:txBody>
          <a:bodyPr wrap="square" lIns="0" tIns="0" rIns="0" bIns="0" rtlCol="0" anchor="b"/>
          <a:lstStyle/>
          <a:p>
            <a:pPr indent="0" marL="0">
              <a:buNone/>
            </a:pPr>
            <a:r>
              <a:rPr lang="en-US" sz="9600" b="1" dirty="0">
                <a:solidFill>
                  <a:srgbClr val="E0474C"/>
                </a:solidFill>
                <a:latin typeface="Cambria" pitchFamily="34" charset="0"/>
                <a:ea typeface="Cambria" pitchFamily="34" charset="-122"/>
                <a:cs typeface="Cambria" pitchFamily="34" charset="-120"/>
              </a:rPr>
              <a:t>01</a:t>
            </a:r>
            <a:endParaRPr lang="en-US" sz="9600" dirty="0"/>
          </a:p>
        </p:txBody>
      </p:sp>
      <p:sp>
        <p:nvSpPr>
          <p:cNvPr id="6" name="Text 3"/>
          <p:cNvSpPr txBox="1"/>
          <p:nvPr/>
        </p:nvSpPr>
        <p:spPr>
          <a:xfrm>
            <a:off x="731520" y="2926080"/>
            <a:ext cx="5943600"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The broken vessel</a:t>
            </a:r>
            <a:endParaRPr lang="en-US" sz="4800" dirty="0"/>
          </a:p>
        </p:txBody>
      </p:sp>
      <p:sp>
        <p:nvSpPr>
          <p:cNvPr id="7" name="Text 4"/>
          <p:cNvSpPr txBox="1"/>
          <p:nvPr/>
        </p:nvSpPr>
        <p:spPr>
          <a:xfrm>
            <a:off x="731520" y="3886200"/>
            <a:ext cx="5486400" cy="822960"/>
          </a:xfrm>
          <a:prstGeom prst="rect">
            <a:avLst/>
          </a:prstGeom>
          <a:noFill/>
          <a:ln/>
        </p:spPr>
        <p:txBody>
          <a:bodyPr wrap="square" lIns="0" tIns="0" rIns="0" bIns="0" rtlCol="0" anchor="t"/>
          <a:lstStyle/>
          <a:p>
            <a:pPr indent="0" marL="0">
              <a:buNone/>
            </a:pPr>
            <a:r>
              <a:rPr lang="en-US" sz="2200" dirty="0">
                <a:solidFill>
                  <a:srgbClr val="C9D3E0"/>
                </a:solidFill>
                <a:latin typeface="Calibri" pitchFamily="34" charset="0"/>
                <a:ea typeface="Calibri" pitchFamily="34" charset="-122"/>
                <a:cs typeface="Calibri" pitchFamily="34" charset="-120"/>
              </a:rPr>
              <a:t>Why does a small artery give way, and what else can bleed?</a:t>
            </a:r>
            <a:endParaRPr lang="en-US" sz="2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01 · THE BROKEN VESSEL</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Non-traumatic ICH has two faces: primary and secondary</a:t>
            </a:r>
            <a:endParaRPr lang="en-US" sz="3600" dirty="0"/>
          </a:p>
        </p:txBody>
      </p:sp>
      <p:sp>
        <p:nvSpPr>
          <p:cNvPr id="5" name="Shape 2"/>
          <p:cNvSpPr/>
          <p:nvPr/>
        </p:nvSpPr>
        <p:spPr>
          <a:xfrm>
            <a:off x="548640" y="2103120"/>
            <a:ext cx="502920" cy="502920"/>
          </a:xfrm>
          <a:prstGeom prst="ellipse">
            <a:avLst/>
          </a:prstGeom>
          <a:solidFill>
            <a:srgbClr val="C1272D"/>
          </a:solidFill>
          <a:ln w="6350">
            <a:solidFill>
              <a:srgbClr val="C1272D"/>
            </a:solidFill>
            <a:prstDash val="solid"/>
          </a:ln>
        </p:spPr>
      </p:sp>
      <p:pic>
        <p:nvPicPr>
          <p:cNvPr id="6" name="Image 0" descr="preencoded.png">    </p:cNvPr>
          <p:cNvPicPr>
            <a:picLocks noChangeAspect="1"/>
          </p:cNvPicPr>
          <p:nvPr/>
        </p:nvPicPr>
        <p:blipFill>
          <a:blip r:embed="rId1"/>
          <a:stretch>
            <a:fillRect/>
          </a:stretch>
        </p:blipFill>
        <p:spPr>
          <a:xfrm>
            <a:off x="674370" y="2228850"/>
            <a:ext cx="251460" cy="251460"/>
          </a:xfrm>
          <a:prstGeom prst="rect">
            <a:avLst/>
          </a:prstGeom>
        </p:spPr>
      </p:pic>
      <p:sp>
        <p:nvSpPr>
          <p:cNvPr id="7" name="Text 3"/>
          <p:cNvSpPr txBox="1"/>
          <p:nvPr/>
        </p:nvSpPr>
        <p:spPr>
          <a:xfrm>
            <a:off x="1234440" y="2103120"/>
            <a:ext cx="10408615" cy="502920"/>
          </a:xfrm>
          <a:prstGeom prst="rect">
            <a:avLst/>
          </a:prstGeom>
          <a:noFill/>
          <a:ln/>
        </p:spPr>
        <p:txBody>
          <a:bodyPr wrap="square" lIns="0" tIns="0" rIns="0" bIns="0" rtlCol="0" anchor="ctr"/>
          <a:lstStyle/>
          <a:p>
            <a:pPr indent="0" marL="0">
              <a:buNone/>
            </a:pPr>
            <a:r>
              <a:rPr lang="en-US" sz="1600" b="1" dirty="0">
                <a:solidFill>
                  <a:srgbClr val="13233A"/>
                </a:solidFill>
                <a:latin typeface="Calibri" pitchFamily="34" charset="0"/>
                <a:ea typeface="Calibri" pitchFamily="34" charset="-122"/>
                <a:cs typeface="Calibri" pitchFamily="34" charset="-120"/>
              </a:rPr>
              <a:t>Definition: </a:t>
            </a:r>
            <a:pPr indent="0" marL="0">
              <a:buNone/>
            </a:pPr>
            <a:r>
              <a:rPr lang="en-US" sz="1600" dirty="0">
                <a:solidFill>
                  <a:srgbClr val="1B2230"/>
                </a:solidFill>
                <a:latin typeface="Calibri" pitchFamily="34" charset="0"/>
                <a:ea typeface="Calibri" pitchFamily="34" charset="-122"/>
                <a:cs typeface="Calibri" pitchFamily="34" charset="-120"/>
              </a:rPr>
              <a:t>bleeding directly into brain tissue without trauma. Blood may spread into the ventricles or subarachnoid space.</a:t>
            </a:r>
            <a:endParaRPr lang="en-US" sz="1600" dirty="0"/>
          </a:p>
        </p:txBody>
      </p:sp>
      <p:sp>
        <p:nvSpPr>
          <p:cNvPr id="8" name="Shape 4"/>
          <p:cNvSpPr/>
          <p:nvPr/>
        </p:nvSpPr>
        <p:spPr>
          <a:xfrm>
            <a:off x="548640" y="2880360"/>
            <a:ext cx="5410048" cy="2880360"/>
          </a:xfrm>
          <a:prstGeom prst="roundRect">
            <a:avLst>
              <a:gd name="adj" fmla="val 3175"/>
            </a:avLst>
          </a:prstGeom>
          <a:solidFill>
            <a:srgbClr val="E8EDF3"/>
          </a:solidFill>
          <a:ln w="6350">
            <a:solidFill>
              <a:srgbClr val="E8EDF3"/>
            </a:solidFill>
            <a:prstDash val="solid"/>
          </a:ln>
        </p:spPr>
      </p:sp>
      <p:sp>
        <p:nvSpPr>
          <p:cNvPr id="9" name="Text 5"/>
          <p:cNvSpPr txBox="1"/>
          <p:nvPr/>
        </p:nvSpPr>
        <p:spPr>
          <a:xfrm>
            <a:off x="868680" y="3108960"/>
            <a:ext cx="2377440" cy="640080"/>
          </a:xfrm>
          <a:prstGeom prst="rect">
            <a:avLst/>
          </a:prstGeom>
          <a:noFill/>
          <a:ln/>
        </p:spPr>
        <p:txBody>
          <a:bodyPr wrap="square" lIns="0" tIns="0" rIns="0" bIns="0" rtlCol="0" anchor="ctr"/>
          <a:lstStyle/>
          <a:p>
            <a:pPr indent="0" marL="0">
              <a:buNone/>
            </a:pPr>
            <a:r>
              <a:rPr lang="en-US" sz="4000" b="1" dirty="0">
                <a:solidFill>
                  <a:srgbClr val="13233A"/>
                </a:solidFill>
                <a:latin typeface="Calibri" pitchFamily="34" charset="0"/>
                <a:ea typeface="Calibri" pitchFamily="34" charset="-122"/>
                <a:cs typeface="Calibri" pitchFamily="34" charset="-120"/>
              </a:rPr>
              <a:t>≈80–85%</a:t>
            </a:r>
            <a:endParaRPr lang="en-US" sz="4000" dirty="0"/>
          </a:p>
        </p:txBody>
      </p:sp>
      <p:sp>
        <p:nvSpPr>
          <p:cNvPr id="10" name="Text 6"/>
          <p:cNvSpPr txBox="1"/>
          <p:nvPr/>
        </p:nvSpPr>
        <p:spPr>
          <a:xfrm>
            <a:off x="3291840" y="3154680"/>
            <a:ext cx="2392528" cy="320040"/>
          </a:xfrm>
          <a:prstGeom prst="rect">
            <a:avLst/>
          </a:prstGeom>
          <a:noFill/>
          <a:ln/>
        </p:spPr>
        <p:txBody>
          <a:bodyPr wrap="square" lIns="0" tIns="0" rIns="0" bIns="0" rtlCol="0" anchor="t"/>
          <a:lstStyle/>
          <a:p>
            <a:pPr indent="0" marL="0">
              <a:buNone/>
            </a:pPr>
            <a:r>
              <a:rPr lang="en-US" sz="2000" b="1" dirty="0">
                <a:solidFill>
                  <a:srgbClr val="13233A"/>
                </a:solidFill>
                <a:latin typeface="Calibri" pitchFamily="34" charset="0"/>
                <a:ea typeface="Calibri" pitchFamily="34" charset="-122"/>
                <a:cs typeface="Calibri" pitchFamily="34" charset="-120"/>
              </a:rPr>
              <a:t>Primary ICH</a:t>
            </a:r>
            <a:endParaRPr lang="en-US" sz="2000" dirty="0"/>
          </a:p>
        </p:txBody>
      </p:sp>
      <p:sp>
        <p:nvSpPr>
          <p:cNvPr id="11" name="Text 7"/>
          <p:cNvSpPr txBox="1"/>
          <p:nvPr/>
        </p:nvSpPr>
        <p:spPr>
          <a:xfrm>
            <a:off x="3291840" y="3483864"/>
            <a:ext cx="2392528" cy="548640"/>
          </a:xfrm>
          <a:prstGeom prst="rect">
            <a:avLst/>
          </a:prstGeom>
          <a:noFill/>
          <a:ln/>
        </p:spPr>
        <p:txBody>
          <a:bodyPr wrap="square" lIns="0" tIns="0" rIns="0" bIns="0" rtlCol="0" anchor="t"/>
          <a:lstStyle/>
          <a:p>
            <a:pPr indent="0" marL="0">
              <a:buNone/>
            </a:pPr>
            <a:r>
              <a:rPr lang="en-US" sz="1400" dirty="0">
                <a:solidFill>
                  <a:srgbClr val="3E5C76"/>
                </a:solidFill>
                <a:latin typeface="Calibri" pitchFamily="34" charset="0"/>
                <a:ea typeface="Calibri" pitchFamily="34" charset="-122"/>
                <a:cs typeface="Calibri" pitchFamily="34" charset="-120"/>
              </a:rPr>
              <a:t>A small vessel weakened by chronic disease ruptures</a:t>
            </a:r>
            <a:endParaRPr lang="en-US" sz="1400" dirty="0"/>
          </a:p>
        </p:txBody>
      </p:sp>
      <p:sp>
        <p:nvSpPr>
          <p:cNvPr id="12" name="Shape 8"/>
          <p:cNvSpPr/>
          <p:nvPr/>
        </p:nvSpPr>
        <p:spPr>
          <a:xfrm>
            <a:off x="868680" y="4151376"/>
            <a:ext cx="457200" cy="457200"/>
          </a:xfrm>
          <a:prstGeom prst="ellipse">
            <a:avLst/>
          </a:prstGeom>
          <a:solidFill>
            <a:srgbClr val="13233A"/>
          </a:solidFill>
          <a:ln w="6350">
            <a:solidFill>
              <a:srgbClr val="13233A"/>
            </a:solidFill>
            <a:prstDash val="solid"/>
          </a:ln>
        </p:spPr>
      </p:sp>
      <p:sp>
        <p:nvSpPr>
          <p:cNvPr id="13" name="Text 9"/>
          <p:cNvSpPr txBox="1"/>
          <p:nvPr/>
        </p:nvSpPr>
        <p:spPr>
          <a:xfrm>
            <a:off x="868680" y="415137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14" name="Text 10"/>
          <p:cNvSpPr txBox="1"/>
          <p:nvPr/>
        </p:nvSpPr>
        <p:spPr>
          <a:xfrm>
            <a:off x="1508760" y="4096512"/>
            <a:ext cx="4129888" cy="640080"/>
          </a:xfrm>
          <a:prstGeom prst="rect">
            <a:avLst/>
          </a:prstGeom>
          <a:noFill/>
          <a:ln/>
        </p:spPr>
        <p:txBody>
          <a:bodyPr wrap="square" lIns="0" tIns="0" rIns="0" bIns="0" rtlCol="0" anchor="t"/>
          <a:lstStyle/>
          <a:p>
            <a:pPr indent="0" marL="0">
              <a:buNone/>
            </a:pPr>
            <a:r>
              <a:rPr lang="en-US" sz="1600" b="1" dirty="0">
                <a:solidFill>
                  <a:srgbClr val="1B2230"/>
                </a:solidFill>
                <a:latin typeface="Calibri" pitchFamily="34" charset="0"/>
                <a:ea typeface="Calibri" pitchFamily="34" charset="-122"/>
                <a:cs typeface="Calibri" pitchFamily="34" charset="-120"/>
              </a:rPr>
              <a:t>Hypertensive arteriopathy</a:t>
            </a:r>
            <a:endParaRPr lang="en-US" sz="1600" dirty="0"/>
          </a:p>
          <a:p>
            <a:pPr indent="0" marL="0">
              <a:buNone/>
            </a:pPr>
            <a:r>
              <a:rPr lang="en-US" sz="1600" dirty="0">
                <a:solidFill>
                  <a:srgbClr val="3E5C76"/>
                </a:solidFill>
                <a:latin typeface="Calibri" pitchFamily="34" charset="0"/>
                <a:ea typeface="Calibri" pitchFamily="34" charset="-122"/>
                <a:cs typeface="Calibri" pitchFamily="34" charset="-120"/>
              </a:rPr>
              <a:t>deep perforating arteries</a:t>
            </a:r>
            <a:endParaRPr lang="en-US" sz="1600" dirty="0"/>
          </a:p>
        </p:txBody>
      </p:sp>
      <p:sp>
        <p:nvSpPr>
          <p:cNvPr id="15" name="Shape 11"/>
          <p:cNvSpPr/>
          <p:nvPr/>
        </p:nvSpPr>
        <p:spPr>
          <a:xfrm>
            <a:off x="868680" y="4928616"/>
            <a:ext cx="457200" cy="457200"/>
          </a:xfrm>
          <a:prstGeom prst="ellipse">
            <a:avLst/>
          </a:prstGeom>
          <a:solidFill>
            <a:srgbClr val="13233A"/>
          </a:solidFill>
          <a:ln w="6350">
            <a:solidFill>
              <a:srgbClr val="13233A"/>
            </a:solidFill>
            <a:prstDash val="solid"/>
          </a:ln>
        </p:spPr>
      </p:sp>
      <p:sp>
        <p:nvSpPr>
          <p:cNvPr id="16" name="Text 12"/>
          <p:cNvSpPr txBox="1"/>
          <p:nvPr/>
        </p:nvSpPr>
        <p:spPr>
          <a:xfrm>
            <a:off x="868680" y="4928616"/>
            <a:ext cx="45720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7" name="Text 13"/>
          <p:cNvSpPr txBox="1"/>
          <p:nvPr/>
        </p:nvSpPr>
        <p:spPr>
          <a:xfrm>
            <a:off x="1508760" y="4873752"/>
            <a:ext cx="4129888" cy="640080"/>
          </a:xfrm>
          <a:prstGeom prst="rect">
            <a:avLst/>
          </a:prstGeom>
          <a:noFill/>
          <a:ln/>
        </p:spPr>
        <p:txBody>
          <a:bodyPr wrap="square" lIns="0" tIns="0" rIns="0" bIns="0" rtlCol="0" anchor="t"/>
          <a:lstStyle/>
          <a:p>
            <a:pPr indent="0" marL="0">
              <a:buNone/>
            </a:pPr>
            <a:r>
              <a:rPr lang="en-US" sz="1600" b="1" dirty="0">
                <a:solidFill>
                  <a:srgbClr val="1B2230"/>
                </a:solidFill>
                <a:latin typeface="Calibri" pitchFamily="34" charset="0"/>
                <a:ea typeface="Calibri" pitchFamily="34" charset="-122"/>
                <a:cs typeface="Calibri" pitchFamily="34" charset="-120"/>
              </a:rPr>
              <a:t>Cerebral amyloid angiopathy</a:t>
            </a:r>
            <a:endParaRPr lang="en-US" sz="1600" dirty="0"/>
          </a:p>
          <a:p>
            <a:pPr indent="0" marL="0">
              <a:buNone/>
            </a:pPr>
            <a:r>
              <a:rPr lang="en-US" sz="1600" dirty="0">
                <a:solidFill>
                  <a:srgbClr val="3E5C76"/>
                </a:solidFill>
                <a:latin typeface="Calibri" pitchFamily="34" charset="0"/>
                <a:ea typeface="Calibri" pitchFamily="34" charset="-122"/>
                <a:cs typeface="Calibri" pitchFamily="34" charset="-120"/>
              </a:rPr>
              <a:t>cortical and leptomeningeal arteries</a:t>
            </a:r>
            <a:endParaRPr lang="en-US" sz="1600" dirty="0"/>
          </a:p>
        </p:txBody>
      </p:sp>
      <p:sp>
        <p:nvSpPr>
          <p:cNvPr id="18" name="Shape 14"/>
          <p:cNvSpPr/>
          <p:nvPr/>
        </p:nvSpPr>
        <p:spPr>
          <a:xfrm>
            <a:off x="6233008" y="2880360"/>
            <a:ext cx="5410048" cy="2880360"/>
          </a:xfrm>
          <a:prstGeom prst="roundRect">
            <a:avLst>
              <a:gd name="adj" fmla="val 3175"/>
            </a:avLst>
          </a:prstGeom>
          <a:solidFill>
            <a:srgbClr val="F3F5F8"/>
          </a:solidFill>
          <a:ln w="6350">
            <a:solidFill>
              <a:srgbClr val="F3F5F8"/>
            </a:solidFill>
            <a:prstDash val="solid"/>
          </a:ln>
        </p:spPr>
      </p:sp>
      <p:sp>
        <p:nvSpPr>
          <p:cNvPr id="19" name="Text 15"/>
          <p:cNvSpPr txBox="1"/>
          <p:nvPr/>
        </p:nvSpPr>
        <p:spPr>
          <a:xfrm>
            <a:off x="6553048" y="3108960"/>
            <a:ext cx="2377440" cy="640080"/>
          </a:xfrm>
          <a:prstGeom prst="rect">
            <a:avLst/>
          </a:prstGeom>
          <a:noFill/>
          <a:ln/>
        </p:spPr>
        <p:txBody>
          <a:bodyPr wrap="square" lIns="0" tIns="0" rIns="0" bIns="0" rtlCol="0" anchor="ctr"/>
          <a:lstStyle/>
          <a:p>
            <a:pPr indent="0" marL="0">
              <a:buNone/>
            </a:pPr>
            <a:r>
              <a:rPr lang="en-US" sz="4000" b="1" dirty="0">
                <a:solidFill>
                  <a:srgbClr val="C1272D"/>
                </a:solidFill>
                <a:latin typeface="Calibri" pitchFamily="34" charset="0"/>
                <a:ea typeface="Calibri" pitchFamily="34" charset="-122"/>
                <a:cs typeface="Calibri" pitchFamily="34" charset="-120"/>
              </a:rPr>
              <a:t>≈15–20%</a:t>
            </a:r>
            <a:endParaRPr lang="en-US" sz="4000" dirty="0"/>
          </a:p>
        </p:txBody>
      </p:sp>
      <p:sp>
        <p:nvSpPr>
          <p:cNvPr id="20" name="Text 16"/>
          <p:cNvSpPr txBox="1"/>
          <p:nvPr/>
        </p:nvSpPr>
        <p:spPr>
          <a:xfrm>
            <a:off x="8976208" y="3154680"/>
            <a:ext cx="2392528" cy="320040"/>
          </a:xfrm>
          <a:prstGeom prst="rect">
            <a:avLst/>
          </a:prstGeom>
          <a:noFill/>
          <a:ln/>
        </p:spPr>
        <p:txBody>
          <a:bodyPr wrap="square" lIns="0" tIns="0" rIns="0" bIns="0" rtlCol="0" anchor="t"/>
          <a:lstStyle/>
          <a:p>
            <a:pPr indent="0" marL="0">
              <a:buNone/>
            </a:pPr>
            <a:r>
              <a:rPr lang="en-US" sz="2000" b="1" dirty="0">
                <a:solidFill>
                  <a:srgbClr val="13233A"/>
                </a:solidFill>
                <a:latin typeface="Calibri" pitchFamily="34" charset="0"/>
                <a:ea typeface="Calibri" pitchFamily="34" charset="-122"/>
                <a:cs typeface="Calibri" pitchFamily="34" charset="-120"/>
              </a:rPr>
              <a:t>Secondary ICH</a:t>
            </a:r>
            <a:endParaRPr lang="en-US" sz="2000" dirty="0"/>
          </a:p>
        </p:txBody>
      </p:sp>
      <p:sp>
        <p:nvSpPr>
          <p:cNvPr id="21" name="Text 17"/>
          <p:cNvSpPr txBox="1"/>
          <p:nvPr/>
        </p:nvSpPr>
        <p:spPr>
          <a:xfrm>
            <a:off x="8976208" y="3483864"/>
            <a:ext cx="2392528" cy="548640"/>
          </a:xfrm>
          <a:prstGeom prst="rect">
            <a:avLst/>
          </a:prstGeom>
          <a:noFill/>
          <a:ln/>
        </p:spPr>
        <p:txBody>
          <a:bodyPr wrap="square" lIns="0" tIns="0" rIns="0" bIns="0" rtlCol="0" anchor="t"/>
          <a:lstStyle/>
          <a:p>
            <a:pPr indent="0" marL="0">
              <a:buNone/>
            </a:pPr>
            <a:r>
              <a:rPr lang="en-US" sz="1400" dirty="0">
                <a:solidFill>
                  <a:srgbClr val="3E5C76"/>
                </a:solidFill>
                <a:latin typeface="Calibri" pitchFamily="34" charset="0"/>
                <a:ea typeface="Calibri" pitchFamily="34" charset="-122"/>
                <a:cs typeface="Calibri" pitchFamily="34" charset="-120"/>
              </a:rPr>
              <a:t>An identifiable lesion or condition causes the bleed</a:t>
            </a:r>
            <a:endParaRPr lang="en-US" sz="1400" dirty="0"/>
          </a:p>
        </p:txBody>
      </p:sp>
      <p:sp>
        <p:nvSpPr>
          <p:cNvPr id="22" name="Shape 18"/>
          <p:cNvSpPr/>
          <p:nvPr/>
        </p:nvSpPr>
        <p:spPr>
          <a:xfrm>
            <a:off x="6553048" y="4160520"/>
            <a:ext cx="1944014" cy="365760"/>
          </a:xfrm>
          <a:prstGeom prst="roundRect">
            <a:avLst>
              <a:gd name="adj" fmla="val 50000"/>
            </a:avLst>
          </a:prstGeom>
          <a:solidFill>
            <a:srgbClr val="FFFFFF"/>
          </a:solidFill>
          <a:ln w="6350">
            <a:solidFill>
              <a:srgbClr val="FFFFFF"/>
            </a:solidFill>
            <a:prstDash val="solid"/>
          </a:ln>
        </p:spPr>
      </p:sp>
      <p:sp>
        <p:nvSpPr>
          <p:cNvPr id="23" name="Text 19"/>
          <p:cNvSpPr txBox="1"/>
          <p:nvPr/>
        </p:nvSpPr>
        <p:spPr>
          <a:xfrm>
            <a:off x="6553048" y="4160520"/>
            <a:ext cx="1944014" cy="365760"/>
          </a:xfrm>
          <a:prstGeom prst="rect">
            <a:avLst/>
          </a:prstGeom>
          <a:noFill/>
          <a:ln/>
        </p:spPr>
        <p:txBody>
          <a:bodyPr wrap="square" lIns="0" tIns="0" rIns="0" bIns="0" rtlCol="0" anchor="ctr"/>
          <a:lstStyle/>
          <a:p>
            <a:pPr algn="ctr" indent="0" marL="0">
              <a:buNone/>
            </a:pPr>
            <a:r>
              <a:rPr lang="en-US" sz="1300" b="1" dirty="0">
                <a:solidFill>
                  <a:srgbClr val="13233A"/>
                </a:solidFill>
                <a:latin typeface="Calibri" pitchFamily="34" charset="0"/>
                <a:ea typeface="Calibri" pitchFamily="34" charset="-122"/>
                <a:cs typeface="Calibri" pitchFamily="34" charset="-120"/>
              </a:rPr>
              <a:t>Vascular malformations</a:t>
            </a:r>
            <a:endParaRPr lang="en-US" sz="1300" dirty="0"/>
          </a:p>
        </p:txBody>
      </p:sp>
      <p:sp>
        <p:nvSpPr>
          <p:cNvPr id="24" name="Shape 20"/>
          <p:cNvSpPr/>
          <p:nvPr/>
        </p:nvSpPr>
        <p:spPr>
          <a:xfrm>
            <a:off x="8625078" y="4160520"/>
            <a:ext cx="957377" cy="365760"/>
          </a:xfrm>
          <a:prstGeom prst="roundRect">
            <a:avLst>
              <a:gd name="adj" fmla="val 50000"/>
            </a:avLst>
          </a:prstGeom>
          <a:solidFill>
            <a:srgbClr val="FFFFFF"/>
          </a:solidFill>
          <a:ln w="6350">
            <a:solidFill>
              <a:srgbClr val="FFFFFF"/>
            </a:solidFill>
            <a:prstDash val="solid"/>
          </a:ln>
        </p:spPr>
      </p:sp>
      <p:sp>
        <p:nvSpPr>
          <p:cNvPr id="25" name="Text 21"/>
          <p:cNvSpPr txBox="1"/>
          <p:nvPr/>
        </p:nvSpPr>
        <p:spPr>
          <a:xfrm>
            <a:off x="8625078" y="4160520"/>
            <a:ext cx="957377" cy="365760"/>
          </a:xfrm>
          <a:prstGeom prst="rect">
            <a:avLst/>
          </a:prstGeom>
          <a:noFill/>
          <a:ln/>
        </p:spPr>
        <p:txBody>
          <a:bodyPr wrap="square" lIns="0" tIns="0" rIns="0" bIns="0" rtlCol="0" anchor="ctr"/>
          <a:lstStyle/>
          <a:p>
            <a:pPr algn="ctr" indent="0" marL="0">
              <a:buNone/>
            </a:pPr>
            <a:r>
              <a:rPr lang="en-US" sz="1300" b="1" dirty="0">
                <a:solidFill>
                  <a:srgbClr val="13233A"/>
                </a:solidFill>
                <a:latin typeface="Calibri" pitchFamily="34" charset="0"/>
                <a:ea typeface="Calibri" pitchFamily="34" charset="-122"/>
                <a:cs typeface="Calibri" pitchFamily="34" charset="-120"/>
              </a:rPr>
              <a:t>Aneurysms</a:t>
            </a:r>
            <a:endParaRPr lang="en-US" sz="1300" dirty="0"/>
          </a:p>
        </p:txBody>
      </p:sp>
      <p:sp>
        <p:nvSpPr>
          <p:cNvPr id="26" name="Shape 22"/>
          <p:cNvSpPr/>
          <p:nvPr/>
        </p:nvSpPr>
        <p:spPr>
          <a:xfrm>
            <a:off x="9710471" y="4160520"/>
            <a:ext cx="805586" cy="365760"/>
          </a:xfrm>
          <a:prstGeom prst="roundRect">
            <a:avLst>
              <a:gd name="adj" fmla="val 50000"/>
            </a:avLst>
          </a:prstGeom>
          <a:solidFill>
            <a:srgbClr val="FFFFFF"/>
          </a:solidFill>
          <a:ln w="6350">
            <a:solidFill>
              <a:srgbClr val="FFFFFF"/>
            </a:solidFill>
            <a:prstDash val="solid"/>
          </a:ln>
        </p:spPr>
      </p:sp>
      <p:sp>
        <p:nvSpPr>
          <p:cNvPr id="27" name="Text 23"/>
          <p:cNvSpPr txBox="1"/>
          <p:nvPr/>
        </p:nvSpPr>
        <p:spPr>
          <a:xfrm>
            <a:off x="9710471" y="4160520"/>
            <a:ext cx="805586" cy="365760"/>
          </a:xfrm>
          <a:prstGeom prst="rect">
            <a:avLst/>
          </a:prstGeom>
          <a:noFill/>
          <a:ln/>
        </p:spPr>
        <p:txBody>
          <a:bodyPr wrap="square" lIns="0" tIns="0" rIns="0" bIns="0" rtlCol="0" anchor="ctr"/>
          <a:lstStyle/>
          <a:p>
            <a:pPr algn="ctr" indent="0" marL="0">
              <a:buNone/>
            </a:pPr>
            <a:r>
              <a:rPr lang="en-US" sz="1300" b="1" dirty="0">
                <a:solidFill>
                  <a:srgbClr val="13233A"/>
                </a:solidFill>
                <a:latin typeface="Calibri" pitchFamily="34" charset="0"/>
                <a:ea typeface="Calibri" pitchFamily="34" charset="-122"/>
                <a:cs typeface="Calibri" pitchFamily="34" charset="-120"/>
              </a:rPr>
              <a:t>Tumours</a:t>
            </a:r>
            <a:endParaRPr lang="en-US" sz="1300" dirty="0"/>
          </a:p>
        </p:txBody>
      </p:sp>
      <p:sp>
        <p:nvSpPr>
          <p:cNvPr id="28" name="Shape 24"/>
          <p:cNvSpPr/>
          <p:nvPr/>
        </p:nvSpPr>
        <p:spPr>
          <a:xfrm>
            <a:off x="6553048" y="4636008"/>
            <a:ext cx="1336853" cy="365760"/>
          </a:xfrm>
          <a:prstGeom prst="roundRect">
            <a:avLst>
              <a:gd name="adj" fmla="val 50000"/>
            </a:avLst>
          </a:prstGeom>
          <a:solidFill>
            <a:srgbClr val="FFFFFF"/>
          </a:solidFill>
          <a:ln w="6350">
            <a:solidFill>
              <a:srgbClr val="FFFFFF"/>
            </a:solidFill>
            <a:prstDash val="solid"/>
          </a:ln>
        </p:spPr>
      </p:sp>
      <p:sp>
        <p:nvSpPr>
          <p:cNvPr id="29" name="Text 25"/>
          <p:cNvSpPr txBox="1"/>
          <p:nvPr/>
        </p:nvSpPr>
        <p:spPr>
          <a:xfrm>
            <a:off x="6553048" y="4636008"/>
            <a:ext cx="1336853" cy="365760"/>
          </a:xfrm>
          <a:prstGeom prst="rect">
            <a:avLst/>
          </a:prstGeom>
          <a:noFill/>
          <a:ln/>
        </p:spPr>
        <p:txBody>
          <a:bodyPr wrap="square" lIns="0" tIns="0" rIns="0" bIns="0" rtlCol="0" anchor="ctr"/>
          <a:lstStyle/>
          <a:p>
            <a:pPr algn="ctr" indent="0" marL="0">
              <a:buNone/>
            </a:pPr>
            <a:r>
              <a:rPr lang="en-US" sz="1300" b="1" dirty="0">
                <a:solidFill>
                  <a:srgbClr val="13233A"/>
                </a:solidFill>
                <a:latin typeface="Calibri" pitchFamily="34" charset="0"/>
                <a:ea typeface="Calibri" pitchFamily="34" charset="-122"/>
                <a:cs typeface="Calibri" pitchFamily="34" charset="-120"/>
              </a:rPr>
              <a:t>Anticoagulants</a:t>
            </a:r>
            <a:endParaRPr lang="en-US" sz="1300" dirty="0"/>
          </a:p>
        </p:txBody>
      </p:sp>
      <p:sp>
        <p:nvSpPr>
          <p:cNvPr id="30" name="Shape 26"/>
          <p:cNvSpPr/>
          <p:nvPr/>
        </p:nvSpPr>
        <p:spPr>
          <a:xfrm>
            <a:off x="8017916" y="4636008"/>
            <a:ext cx="1185062" cy="365760"/>
          </a:xfrm>
          <a:prstGeom prst="roundRect">
            <a:avLst>
              <a:gd name="adj" fmla="val 50000"/>
            </a:avLst>
          </a:prstGeom>
          <a:solidFill>
            <a:srgbClr val="FFFFFF"/>
          </a:solidFill>
          <a:ln w="6350">
            <a:solidFill>
              <a:srgbClr val="FFFFFF"/>
            </a:solidFill>
            <a:prstDash val="solid"/>
          </a:ln>
        </p:spPr>
      </p:sp>
      <p:sp>
        <p:nvSpPr>
          <p:cNvPr id="31" name="Text 27"/>
          <p:cNvSpPr txBox="1"/>
          <p:nvPr/>
        </p:nvSpPr>
        <p:spPr>
          <a:xfrm>
            <a:off x="8017916" y="4636008"/>
            <a:ext cx="1185062" cy="365760"/>
          </a:xfrm>
          <a:prstGeom prst="rect">
            <a:avLst/>
          </a:prstGeom>
          <a:noFill/>
          <a:ln/>
        </p:spPr>
        <p:txBody>
          <a:bodyPr wrap="square" lIns="0" tIns="0" rIns="0" bIns="0" rtlCol="0" anchor="ctr"/>
          <a:lstStyle/>
          <a:p>
            <a:pPr algn="ctr" indent="0" marL="0">
              <a:buNone/>
            </a:pPr>
            <a:r>
              <a:rPr lang="en-US" sz="1300" b="1" dirty="0">
                <a:solidFill>
                  <a:srgbClr val="13233A"/>
                </a:solidFill>
                <a:latin typeface="Calibri" pitchFamily="34" charset="0"/>
                <a:ea typeface="Calibri" pitchFamily="34" charset="-122"/>
                <a:cs typeface="Calibri" pitchFamily="34" charset="-120"/>
              </a:rPr>
              <a:t>Coagulopathy</a:t>
            </a:r>
            <a:endParaRPr lang="en-US" sz="1300" dirty="0"/>
          </a:p>
        </p:txBody>
      </p:sp>
      <p:sp>
        <p:nvSpPr>
          <p:cNvPr id="32" name="Shape 28"/>
          <p:cNvSpPr/>
          <p:nvPr/>
        </p:nvSpPr>
        <p:spPr>
          <a:xfrm>
            <a:off x="9330995" y="4636008"/>
            <a:ext cx="1564538" cy="365760"/>
          </a:xfrm>
          <a:prstGeom prst="roundRect">
            <a:avLst>
              <a:gd name="adj" fmla="val 50000"/>
            </a:avLst>
          </a:prstGeom>
          <a:solidFill>
            <a:srgbClr val="FFFFFF"/>
          </a:solidFill>
          <a:ln w="6350">
            <a:solidFill>
              <a:srgbClr val="FFFFFF"/>
            </a:solidFill>
            <a:prstDash val="solid"/>
          </a:ln>
        </p:spPr>
      </p:sp>
      <p:sp>
        <p:nvSpPr>
          <p:cNvPr id="33" name="Text 29"/>
          <p:cNvSpPr txBox="1"/>
          <p:nvPr/>
        </p:nvSpPr>
        <p:spPr>
          <a:xfrm>
            <a:off x="9330995" y="4636008"/>
            <a:ext cx="1564538" cy="365760"/>
          </a:xfrm>
          <a:prstGeom prst="rect">
            <a:avLst/>
          </a:prstGeom>
          <a:noFill/>
          <a:ln/>
        </p:spPr>
        <p:txBody>
          <a:bodyPr wrap="square" lIns="0" tIns="0" rIns="0" bIns="0" rtlCol="0" anchor="ctr"/>
          <a:lstStyle/>
          <a:p>
            <a:pPr algn="ctr" indent="0" marL="0">
              <a:buNone/>
            </a:pPr>
            <a:r>
              <a:rPr lang="en-US" sz="1300" b="1" dirty="0">
                <a:solidFill>
                  <a:srgbClr val="13233A"/>
                </a:solidFill>
                <a:latin typeface="Calibri" pitchFamily="34" charset="0"/>
                <a:ea typeface="Calibri" pitchFamily="34" charset="-122"/>
                <a:cs typeface="Calibri" pitchFamily="34" charset="-120"/>
              </a:rPr>
              <a:t>Venous thrombosis</a:t>
            </a:r>
            <a:endParaRPr lang="en-US" sz="1300" dirty="0"/>
          </a:p>
        </p:txBody>
      </p:sp>
      <p:sp>
        <p:nvSpPr>
          <p:cNvPr id="34" name="Shape 30"/>
          <p:cNvSpPr/>
          <p:nvPr/>
        </p:nvSpPr>
        <p:spPr>
          <a:xfrm>
            <a:off x="6553048" y="5111496"/>
            <a:ext cx="2323490" cy="365760"/>
          </a:xfrm>
          <a:prstGeom prst="roundRect">
            <a:avLst>
              <a:gd name="adj" fmla="val 50000"/>
            </a:avLst>
          </a:prstGeom>
          <a:solidFill>
            <a:srgbClr val="FFFFFF"/>
          </a:solidFill>
          <a:ln w="6350">
            <a:solidFill>
              <a:srgbClr val="FFFFFF"/>
            </a:solidFill>
            <a:prstDash val="solid"/>
          </a:ln>
        </p:spPr>
      </p:sp>
      <p:sp>
        <p:nvSpPr>
          <p:cNvPr id="35" name="Text 31"/>
          <p:cNvSpPr txBox="1"/>
          <p:nvPr/>
        </p:nvSpPr>
        <p:spPr>
          <a:xfrm>
            <a:off x="6553048" y="5111496"/>
            <a:ext cx="2323490" cy="365760"/>
          </a:xfrm>
          <a:prstGeom prst="rect">
            <a:avLst/>
          </a:prstGeom>
          <a:noFill/>
          <a:ln/>
        </p:spPr>
        <p:txBody>
          <a:bodyPr wrap="square" lIns="0" tIns="0" rIns="0" bIns="0" rtlCol="0" anchor="ctr"/>
          <a:lstStyle/>
          <a:p>
            <a:pPr algn="ctr" indent="0" marL="0">
              <a:buNone/>
            </a:pPr>
            <a:r>
              <a:rPr lang="en-US" sz="1300" b="1" dirty="0">
                <a:solidFill>
                  <a:srgbClr val="13233A"/>
                </a:solidFill>
                <a:latin typeface="Calibri" pitchFamily="34" charset="0"/>
                <a:ea typeface="Calibri" pitchFamily="34" charset="-122"/>
                <a:cs typeface="Calibri" pitchFamily="34" charset="-120"/>
              </a:rPr>
              <a:t>Haemorrhagic transformation</a:t>
            </a:r>
            <a:endParaRPr lang="en-US" sz="1300" dirty="0"/>
          </a:p>
        </p:txBody>
      </p:sp>
      <p:sp>
        <p:nvSpPr>
          <p:cNvPr id="36" name="Shape 32"/>
          <p:cNvSpPr/>
          <p:nvPr/>
        </p:nvSpPr>
        <p:spPr>
          <a:xfrm>
            <a:off x="9004554" y="5111496"/>
            <a:ext cx="1944014" cy="365760"/>
          </a:xfrm>
          <a:prstGeom prst="roundRect">
            <a:avLst>
              <a:gd name="adj" fmla="val 50000"/>
            </a:avLst>
          </a:prstGeom>
          <a:solidFill>
            <a:srgbClr val="FFFFFF"/>
          </a:solidFill>
          <a:ln w="6350">
            <a:solidFill>
              <a:srgbClr val="FFFFFF"/>
            </a:solidFill>
            <a:prstDash val="solid"/>
          </a:ln>
        </p:spPr>
      </p:sp>
      <p:sp>
        <p:nvSpPr>
          <p:cNvPr id="37" name="Text 33"/>
          <p:cNvSpPr txBox="1"/>
          <p:nvPr/>
        </p:nvSpPr>
        <p:spPr>
          <a:xfrm>
            <a:off x="9004554" y="5111496"/>
            <a:ext cx="1944014" cy="365760"/>
          </a:xfrm>
          <a:prstGeom prst="rect">
            <a:avLst/>
          </a:prstGeom>
          <a:noFill/>
          <a:ln/>
        </p:spPr>
        <p:txBody>
          <a:bodyPr wrap="square" lIns="0" tIns="0" rIns="0" bIns="0" rtlCol="0" anchor="ctr"/>
          <a:lstStyle/>
          <a:p>
            <a:pPr algn="ctr" indent="0" marL="0">
              <a:buNone/>
            </a:pPr>
            <a:r>
              <a:rPr lang="en-US" sz="1300" b="1" dirty="0">
                <a:solidFill>
                  <a:srgbClr val="13233A"/>
                </a:solidFill>
                <a:latin typeface="Calibri" pitchFamily="34" charset="0"/>
                <a:ea typeface="Calibri" pitchFamily="34" charset="-122"/>
                <a:cs typeface="Calibri" pitchFamily="34" charset="-120"/>
              </a:rPr>
              <a:t>Cocaine &amp; amphetamines</a:t>
            </a:r>
            <a:endParaRPr lang="en-US" sz="1300" dirty="0"/>
          </a:p>
        </p:txBody>
      </p:sp>
      <p:sp>
        <p:nvSpPr>
          <p:cNvPr id="38" name="Text 34"/>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000" i="1" dirty="0">
                <a:solidFill>
                  <a:srgbClr val="667285"/>
                </a:solidFill>
                <a:latin typeface="Calibri" pitchFamily="34" charset="0"/>
                <a:ea typeface="Calibri" pitchFamily="34" charset="-122"/>
                <a:cs typeface="Calibri" pitchFamily="34" charset="-120"/>
              </a:rPr>
              <a:t>Proportions: Macellari et al., Stroke 2014.</a:t>
            </a:r>
            <a:endParaRPr lang="en-US" sz="1000" dirty="0"/>
          </a:p>
        </p:txBody>
      </p:sp>
      <p:sp>
        <p:nvSpPr>
          <p:cNvPr id="39" name="Text 35"/>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40" name="Shape 36"/>
          <p:cNvSpPr/>
          <p:nvPr/>
        </p:nvSpPr>
        <p:spPr>
          <a:xfrm>
            <a:off x="7360920" y="6460236"/>
            <a:ext cx="118872" cy="118872"/>
          </a:xfrm>
          <a:prstGeom prst="ellipse">
            <a:avLst/>
          </a:prstGeom>
          <a:solidFill>
            <a:srgbClr val="C1272D"/>
          </a:solidFill>
          <a:ln w="6350">
            <a:solidFill>
              <a:srgbClr val="C1272D"/>
            </a:solidFill>
            <a:prstDash val="solid"/>
          </a:ln>
        </p:spPr>
      </p:sp>
      <p:sp>
        <p:nvSpPr>
          <p:cNvPr id="41" name="Text 37"/>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b="1" dirty="0">
                <a:solidFill>
                  <a:srgbClr val="C1272D"/>
                </a:solidFill>
                <a:latin typeface="Calibri" pitchFamily="34" charset="0"/>
                <a:ea typeface="Calibri" pitchFamily="34" charset="-122"/>
                <a:cs typeface="Calibri" pitchFamily="34" charset="-120"/>
              </a:rPr>
              <a:t>Vessel</a:t>
            </a:r>
            <a:endParaRPr lang="en-US" sz="1000" dirty="0"/>
          </a:p>
        </p:txBody>
      </p:sp>
      <p:sp>
        <p:nvSpPr>
          <p:cNvPr id="42" name="Shape 38"/>
          <p:cNvSpPr/>
          <p:nvPr/>
        </p:nvSpPr>
        <p:spPr>
          <a:xfrm>
            <a:off x="8275320" y="6460236"/>
            <a:ext cx="118872" cy="118872"/>
          </a:xfrm>
          <a:prstGeom prst="ellipse">
            <a:avLst/>
          </a:prstGeom>
          <a:solidFill>
            <a:srgbClr val="C9D2DE"/>
          </a:solidFill>
          <a:ln w="6350">
            <a:solidFill>
              <a:srgbClr val="C9D2DE"/>
            </a:solidFill>
            <a:prstDash val="solid"/>
          </a:ln>
        </p:spPr>
      </p:sp>
      <p:sp>
        <p:nvSpPr>
          <p:cNvPr id="43" name="Text 39"/>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Hours</a:t>
            </a:r>
            <a:endParaRPr lang="en-US" sz="1000" dirty="0"/>
          </a:p>
        </p:txBody>
      </p:sp>
      <p:sp>
        <p:nvSpPr>
          <p:cNvPr id="44" name="Shape 40"/>
          <p:cNvSpPr/>
          <p:nvPr/>
        </p:nvSpPr>
        <p:spPr>
          <a:xfrm>
            <a:off x="9189720" y="6460236"/>
            <a:ext cx="118872" cy="118872"/>
          </a:xfrm>
          <a:prstGeom prst="ellipse">
            <a:avLst/>
          </a:prstGeom>
          <a:solidFill>
            <a:srgbClr val="C9D2DE"/>
          </a:solidFill>
          <a:ln w="6350">
            <a:solidFill>
              <a:srgbClr val="C9D2DE"/>
            </a:solidFill>
            <a:prstDash val="solid"/>
          </a:ln>
        </p:spPr>
      </p:sp>
      <p:sp>
        <p:nvSpPr>
          <p:cNvPr id="45" name="Text 41"/>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Days</a:t>
            </a:r>
            <a:endParaRPr lang="en-US" sz="1000" dirty="0"/>
          </a:p>
        </p:txBody>
      </p:sp>
      <p:sp>
        <p:nvSpPr>
          <p:cNvPr id="46" name="Shape 42"/>
          <p:cNvSpPr/>
          <p:nvPr/>
        </p:nvSpPr>
        <p:spPr>
          <a:xfrm>
            <a:off x="10104120" y="6460236"/>
            <a:ext cx="118872" cy="118872"/>
          </a:xfrm>
          <a:prstGeom prst="ellipse">
            <a:avLst/>
          </a:prstGeom>
          <a:solidFill>
            <a:srgbClr val="C9D2DE"/>
          </a:solidFill>
          <a:ln w="6350">
            <a:solidFill>
              <a:srgbClr val="C9D2DE"/>
            </a:solidFill>
            <a:prstDash val="solid"/>
          </a:ln>
        </p:spPr>
      </p:sp>
      <p:sp>
        <p:nvSpPr>
          <p:cNvPr id="47" name="Text 43"/>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48" name="Text 44"/>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5</a:t>
            </a:r>
            <a:endParaRPr lang="en-US" sz="10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01 · THE BROKEN VESSEL</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Two small-vessel diseases cause over half of all ICH</a:t>
            </a:r>
            <a:endParaRPr lang="en-US" sz="3600" dirty="0"/>
          </a:p>
        </p:txBody>
      </p:sp>
      <p:graphicFrame>
        <p:nvGraphicFramePr>
          <p:cNvPr id="5" name="Chart 0" descr=""/>
          <p:cNvGraphicFramePr/>
          <p:nvPr/>
        </p:nvGraphicFramePr>
        <p:xfrm>
          <a:off x="548640" y="2057400"/>
          <a:ext cx="7040880" cy="3749040"/>
        </p:xfrm>
        <a:graphic xmlns:a="http://schemas.openxmlformats.org/drawingml/2006/main">
          <a:graphicData uri="http://schemas.openxmlformats.org/drawingml/2006/chart">
            <c:chart xmlns:c="http://schemas.openxmlformats.org/drawingml/2006/chart" r:id="rId1"/>
          </a:graphicData>
        </a:graphic>
      </p:graphicFrame>
      <p:sp>
        <p:nvSpPr>
          <p:cNvPr id="6" name="Shape 2"/>
          <p:cNvSpPr/>
          <p:nvPr/>
        </p:nvSpPr>
        <p:spPr>
          <a:xfrm>
            <a:off x="8001000" y="2103120"/>
            <a:ext cx="3642055" cy="1737360"/>
          </a:xfrm>
          <a:prstGeom prst="roundRect">
            <a:avLst>
              <a:gd name="adj" fmla="val 5263"/>
            </a:avLst>
          </a:prstGeom>
          <a:solidFill>
            <a:srgbClr val="F6DCDD"/>
          </a:solidFill>
          <a:ln w="6350">
            <a:solidFill>
              <a:srgbClr val="F6DCDD"/>
            </a:solidFill>
            <a:prstDash val="solid"/>
          </a:ln>
        </p:spPr>
      </p:sp>
      <p:sp>
        <p:nvSpPr>
          <p:cNvPr id="7" name="Text 3"/>
          <p:cNvSpPr txBox="1"/>
          <p:nvPr/>
        </p:nvSpPr>
        <p:spPr>
          <a:xfrm>
            <a:off x="8321040" y="2212848"/>
            <a:ext cx="3001975" cy="777240"/>
          </a:xfrm>
          <a:prstGeom prst="rect">
            <a:avLst/>
          </a:prstGeom>
          <a:noFill/>
          <a:ln/>
        </p:spPr>
        <p:txBody>
          <a:bodyPr wrap="square" lIns="0" tIns="0" rIns="0" bIns="0" rtlCol="0" anchor="ctr"/>
          <a:lstStyle/>
          <a:p>
            <a:pPr indent="0" marL="0">
              <a:buNone/>
            </a:pPr>
            <a:r>
              <a:rPr lang="en-US" sz="4800" b="1" dirty="0">
                <a:solidFill>
                  <a:srgbClr val="C1272D"/>
                </a:solidFill>
                <a:latin typeface="Calibri" pitchFamily="34" charset="0"/>
                <a:ea typeface="Calibri" pitchFamily="34" charset="-122"/>
                <a:cs typeface="Calibri" pitchFamily="34" charset="-120"/>
              </a:rPr>
              <a:t>55%</a:t>
            </a:r>
            <a:endParaRPr lang="en-US" sz="4800" dirty="0"/>
          </a:p>
        </p:txBody>
      </p:sp>
      <p:sp>
        <p:nvSpPr>
          <p:cNvPr id="8" name="Text 4"/>
          <p:cNvSpPr txBox="1"/>
          <p:nvPr/>
        </p:nvSpPr>
        <p:spPr>
          <a:xfrm>
            <a:off x="8321040" y="2990088"/>
            <a:ext cx="3001975" cy="731520"/>
          </a:xfrm>
          <a:prstGeom prst="rect">
            <a:avLst/>
          </a:prstGeom>
          <a:noFill/>
          <a:ln/>
        </p:spPr>
        <p:txBody>
          <a:bodyPr wrap="square" lIns="0" tIns="0" rIns="0" bIns="0" rtlCol="0" anchor="t"/>
          <a:lstStyle/>
          <a:p>
            <a:pPr indent="0" marL="0">
              <a:buNone/>
            </a:pPr>
            <a:r>
              <a:rPr lang="en-US" sz="1500" dirty="0">
                <a:solidFill>
                  <a:srgbClr val="8E1B1F"/>
                </a:solidFill>
                <a:latin typeface="Calibri" pitchFamily="34" charset="0"/>
                <a:ea typeface="Calibri" pitchFamily="34" charset="-122"/>
                <a:cs typeface="Calibri" pitchFamily="34" charset="-120"/>
              </a:rPr>
              <a:t>hypertensive or amyloid angiopathy: the two small-vessel diseases</a:t>
            </a:r>
            <a:endParaRPr lang="en-US" sz="1500" dirty="0"/>
          </a:p>
        </p:txBody>
      </p:sp>
      <p:sp>
        <p:nvSpPr>
          <p:cNvPr id="9" name="Shape 5"/>
          <p:cNvSpPr/>
          <p:nvPr/>
        </p:nvSpPr>
        <p:spPr>
          <a:xfrm>
            <a:off x="8001000" y="4069080"/>
            <a:ext cx="3642055" cy="1737360"/>
          </a:xfrm>
          <a:prstGeom prst="roundRect">
            <a:avLst>
              <a:gd name="adj" fmla="val 5263"/>
            </a:avLst>
          </a:prstGeom>
          <a:solidFill>
            <a:srgbClr val="F3F5F8"/>
          </a:solidFill>
          <a:ln w="6350">
            <a:solidFill>
              <a:srgbClr val="F3F5F8"/>
            </a:solidFill>
            <a:prstDash val="solid"/>
          </a:ln>
        </p:spPr>
      </p:sp>
      <p:sp>
        <p:nvSpPr>
          <p:cNvPr id="10" name="Text 6"/>
          <p:cNvSpPr txBox="1"/>
          <p:nvPr/>
        </p:nvSpPr>
        <p:spPr>
          <a:xfrm>
            <a:off x="8321040" y="4178808"/>
            <a:ext cx="3001975" cy="777240"/>
          </a:xfrm>
          <a:prstGeom prst="rect">
            <a:avLst/>
          </a:prstGeom>
          <a:noFill/>
          <a:ln/>
        </p:spPr>
        <p:txBody>
          <a:bodyPr wrap="square" lIns="0" tIns="0" rIns="0" bIns="0" rtlCol="0" anchor="ctr"/>
          <a:lstStyle/>
          <a:p>
            <a:pPr indent="0" marL="0">
              <a:buNone/>
            </a:pPr>
            <a:r>
              <a:rPr lang="en-US" sz="4800" b="1" dirty="0">
                <a:solidFill>
                  <a:srgbClr val="13233A"/>
                </a:solidFill>
                <a:latin typeface="Calibri" pitchFamily="34" charset="0"/>
                <a:ea typeface="Calibri" pitchFamily="34" charset="-122"/>
                <a:cs typeface="Calibri" pitchFamily="34" charset="-120"/>
              </a:rPr>
              <a:t>54%</a:t>
            </a:r>
            <a:endParaRPr lang="en-US" sz="4800" dirty="0"/>
          </a:p>
        </p:txBody>
      </p:sp>
      <p:sp>
        <p:nvSpPr>
          <p:cNvPr id="11" name="Text 7"/>
          <p:cNvSpPr txBox="1"/>
          <p:nvPr/>
        </p:nvSpPr>
        <p:spPr>
          <a:xfrm>
            <a:off x="8321040" y="4956048"/>
            <a:ext cx="3001975" cy="731520"/>
          </a:xfrm>
          <a:prstGeom prst="rect">
            <a:avLst/>
          </a:prstGeom>
          <a:noFill/>
          <a:ln/>
        </p:spPr>
        <p:txBody>
          <a:bodyPr wrap="square" lIns="0" tIns="0" rIns="0" bIns="0" rtlCol="0" anchor="t"/>
          <a:lstStyle/>
          <a:p>
            <a:pPr indent="0" marL="0">
              <a:buNone/>
            </a:pPr>
            <a:r>
              <a:rPr lang="en-US" sz="1500" dirty="0">
                <a:solidFill>
                  <a:srgbClr val="1B2230"/>
                </a:solidFill>
                <a:latin typeface="Calibri" pitchFamily="34" charset="0"/>
                <a:ea typeface="Calibri" pitchFamily="34" charset="-122"/>
                <a:cs typeface="Calibri" pitchFamily="34" charset="-120"/>
              </a:rPr>
              <a:t>of anticoagulant-related bleeds were fatal by 3 months, the worst of any group</a:t>
            </a:r>
            <a:endParaRPr lang="en-US" sz="1500" dirty="0"/>
          </a:p>
        </p:txBody>
      </p:sp>
      <p:sp>
        <p:nvSpPr>
          <p:cNvPr id="12" name="Text 8"/>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000" i="1" dirty="0">
                <a:solidFill>
                  <a:srgbClr val="667285"/>
                </a:solidFill>
                <a:latin typeface="Calibri" pitchFamily="34" charset="0"/>
                <a:ea typeface="Calibri" pitchFamily="34" charset="-122"/>
                <a:cs typeface="Calibri" pitchFamily="34" charset="-120"/>
              </a:rPr>
              <a:t>SMASH-U classification: Meretoja et al., Stroke 2012 (n = 1013, Helsinki). S = structural, M = medication, A = amyloid, S = systemic, H = hypertension, U = undetermined.</a:t>
            </a:r>
            <a:endParaRPr lang="en-US" sz="1000" dirty="0"/>
          </a:p>
        </p:txBody>
      </p:sp>
      <p:sp>
        <p:nvSpPr>
          <p:cNvPr id="13" name="Text 9"/>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14" name="Shape 10"/>
          <p:cNvSpPr/>
          <p:nvPr/>
        </p:nvSpPr>
        <p:spPr>
          <a:xfrm>
            <a:off x="7360920" y="6460236"/>
            <a:ext cx="118872" cy="118872"/>
          </a:xfrm>
          <a:prstGeom prst="ellipse">
            <a:avLst/>
          </a:prstGeom>
          <a:solidFill>
            <a:srgbClr val="C1272D"/>
          </a:solidFill>
          <a:ln w="6350">
            <a:solidFill>
              <a:srgbClr val="C1272D"/>
            </a:solidFill>
            <a:prstDash val="solid"/>
          </a:ln>
        </p:spPr>
      </p:sp>
      <p:sp>
        <p:nvSpPr>
          <p:cNvPr id="15" name="Text 11"/>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b="1" dirty="0">
                <a:solidFill>
                  <a:srgbClr val="C1272D"/>
                </a:solidFill>
                <a:latin typeface="Calibri" pitchFamily="34" charset="0"/>
                <a:ea typeface="Calibri" pitchFamily="34" charset="-122"/>
                <a:cs typeface="Calibri" pitchFamily="34" charset="-120"/>
              </a:rPr>
              <a:t>Vessel</a:t>
            </a:r>
            <a:endParaRPr lang="en-US" sz="1000" dirty="0"/>
          </a:p>
        </p:txBody>
      </p:sp>
      <p:sp>
        <p:nvSpPr>
          <p:cNvPr id="16" name="Shape 12"/>
          <p:cNvSpPr/>
          <p:nvPr/>
        </p:nvSpPr>
        <p:spPr>
          <a:xfrm>
            <a:off x="8275320" y="6460236"/>
            <a:ext cx="118872" cy="118872"/>
          </a:xfrm>
          <a:prstGeom prst="ellipse">
            <a:avLst/>
          </a:prstGeom>
          <a:solidFill>
            <a:srgbClr val="C9D2DE"/>
          </a:solidFill>
          <a:ln w="6350">
            <a:solidFill>
              <a:srgbClr val="C9D2DE"/>
            </a:solidFill>
            <a:prstDash val="solid"/>
          </a:ln>
        </p:spPr>
      </p:sp>
      <p:sp>
        <p:nvSpPr>
          <p:cNvPr id="17" name="Text 13"/>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Hours</a:t>
            </a:r>
            <a:endParaRPr lang="en-US" sz="1000" dirty="0"/>
          </a:p>
        </p:txBody>
      </p:sp>
      <p:sp>
        <p:nvSpPr>
          <p:cNvPr id="18" name="Shape 14"/>
          <p:cNvSpPr/>
          <p:nvPr/>
        </p:nvSpPr>
        <p:spPr>
          <a:xfrm>
            <a:off x="9189720" y="6460236"/>
            <a:ext cx="118872" cy="118872"/>
          </a:xfrm>
          <a:prstGeom prst="ellipse">
            <a:avLst/>
          </a:prstGeom>
          <a:solidFill>
            <a:srgbClr val="C9D2DE"/>
          </a:solidFill>
          <a:ln w="6350">
            <a:solidFill>
              <a:srgbClr val="C9D2DE"/>
            </a:solidFill>
            <a:prstDash val="solid"/>
          </a:ln>
        </p:spPr>
      </p:sp>
      <p:sp>
        <p:nvSpPr>
          <p:cNvPr id="19" name="Text 15"/>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Days</a:t>
            </a:r>
            <a:endParaRPr lang="en-US" sz="1000" dirty="0"/>
          </a:p>
        </p:txBody>
      </p:sp>
      <p:sp>
        <p:nvSpPr>
          <p:cNvPr id="20" name="Shape 16"/>
          <p:cNvSpPr/>
          <p:nvPr/>
        </p:nvSpPr>
        <p:spPr>
          <a:xfrm>
            <a:off x="10104120" y="6460236"/>
            <a:ext cx="118872" cy="118872"/>
          </a:xfrm>
          <a:prstGeom prst="ellipse">
            <a:avLst/>
          </a:prstGeom>
          <a:solidFill>
            <a:srgbClr val="C9D2DE"/>
          </a:solidFill>
          <a:ln w="6350">
            <a:solidFill>
              <a:srgbClr val="C9D2DE"/>
            </a:solidFill>
            <a:prstDash val="solid"/>
          </a:ln>
        </p:spPr>
      </p:sp>
      <p:sp>
        <p:nvSpPr>
          <p:cNvPr id="21" name="Text 17"/>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22" name="Text 18"/>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6</a:t>
            </a:r>
            <a:endParaRPr lang="en-US" sz="1000" dirty="0"/>
          </a:p>
        </p:txBody>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01 · THE BROKEN VESSEL</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Two diseases weaken two different sets of vessels</a:t>
            </a:r>
            <a:endParaRPr lang="en-US" sz="3600" dirty="0"/>
          </a:p>
        </p:txBody>
      </p:sp>
      <p:sp>
        <p:nvSpPr>
          <p:cNvPr id="5" name="Shape 2"/>
          <p:cNvSpPr/>
          <p:nvPr/>
        </p:nvSpPr>
        <p:spPr>
          <a:xfrm>
            <a:off x="548640" y="2057400"/>
            <a:ext cx="3515258" cy="3749040"/>
          </a:xfrm>
          <a:prstGeom prst="roundRect">
            <a:avLst>
              <a:gd name="adj" fmla="val 2601"/>
            </a:avLst>
          </a:prstGeom>
          <a:solidFill>
            <a:srgbClr val="F3F5F8"/>
          </a:solidFill>
          <a:ln w="6350">
            <a:solidFill>
              <a:srgbClr val="F3F5F8"/>
            </a:solidFill>
            <a:prstDash val="solid"/>
          </a:ln>
        </p:spPr>
      </p:sp>
      <p:sp>
        <p:nvSpPr>
          <p:cNvPr id="6" name="Shape 3"/>
          <p:cNvSpPr/>
          <p:nvPr/>
        </p:nvSpPr>
        <p:spPr>
          <a:xfrm>
            <a:off x="1506169" y="2171700"/>
            <a:ext cx="1600200" cy="1600200"/>
          </a:xfrm>
          <a:prstGeom prst="ellipse">
            <a:avLst/>
          </a:prstGeom>
          <a:solidFill>
            <a:srgbClr val="C3CEDB"/>
          </a:solidFill>
          <a:ln w="6350">
            <a:solidFill>
              <a:srgbClr val="C3CEDB"/>
            </a:solidFill>
            <a:prstDash val="solid"/>
          </a:ln>
        </p:spPr>
      </p:sp>
      <p:sp>
        <p:nvSpPr>
          <p:cNvPr id="7" name="Shape 4"/>
          <p:cNvSpPr/>
          <p:nvPr/>
        </p:nvSpPr>
        <p:spPr>
          <a:xfrm>
            <a:off x="1684477" y="2350008"/>
            <a:ext cx="1243584" cy="1243584"/>
          </a:xfrm>
          <a:prstGeom prst="ellipse">
            <a:avLst/>
          </a:prstGeom>
          <a:solidFill>
            <a:srgbClr val="C1272D"/>
          </a:solidFill>
          <a:ln w="6350">
            <a:solidFill>
              <a:srgbClr val="C1272D"/>
            </a:solidFill>
            <a:prstDash val="solid"/>
          </a:ln>
        </p:spPr>
      </p:sp>
      <p:sp>
        <p:nvSpPr>
          <p:cNvPr id="8" name="Text 5"/>
          <p:cNvSpPr txBox="1"/>
          <p:nvPr/>
        </p:nvSpPr>
        <p:spPr>
          <a:xfrm>
            <a:off x="822960" y="3867912"/>
            <a:ext cx="2966618" cy="365760"/>
          </a:xfrm>
          <a:prstGeom prst="rect">
            <a:avLst/>
          </a:prstGeom>
          <a:noFill/>
          <a:ln/>
        </p:spPr>
        <p:txBody>
          <a:bodyPr wrap="square" lIns="0" tIns="0" rIns="0" bIns="0" rtlCol="0" anchor="t"/>
          <a:lstStyle/>
          <a:p>
            <a:pPr indent="0" marL="0">
              <a:buNone/>
            </a:pPr>
            <a:r>
              <a:rPr lang="en-US" sz="1800" b="1" dirty="0">
                <a:solidFill>
                  <a:srgbClr val="3E5C76"/>
                </a:solidFill>
                <a:latin typeface="Calibri" pitchFamily="34" charset="0"/>
                <a:ea typeface="Calibri" pitchFamily="34" charset="-122"/>
                <a:cs typeface="Calibri" pitchFamily="34" charset="-120"/>
              </a:rPr>
              <a:t>Healthy small artery</a:t>
            </a:r>
            <a:endParaRPr lang="en-US" sz="1800" dirty="0"/>
          </a:p>
        </p:txBody>
      </p:sp>
      <p:sp>
        <p:nvSpPr>
          <p:cNvPr id="9" name="Shape 6"/>
          <p:cNvSpPr/>
          <p:nvPr/>
        </p:nvSpPr>
        <p:spPr>
          <a:xfrm>
            <a:off x="841248" y="4407408"/>
            <a:ext cx="91440" cy="91440"/>
          </a:xfrm>
          <a:prstGeom prst="ellipse">
            <a:avLst/>
          </a:prstGeom>
          <a:solidFill>
            <a:srgbClr val="C9D2DE"/>
          </a:solidFill>
          <a:ln w="6350">
            <a:solidFill>
              <a:srgbClr val="C9D2DE"/>
            </a:solidFill>
            <a:prstDash val="solid"/>
          </a:ln>
        </p:spPr>
      </p:sp>
      <p:sp>
        <p:nvSpPr>
          <p:cNvPr id="10" name="Text 7"/>
          <p:cNvSpPr txBox="1"/>
          <p:nvPr/>
        </p:nvSpPr>
        <p:spPr>
          <a:xfrm>
            <a:off x="1051560" y="4325112"/>
            <a:ext cx="2783738" cy="246888"/>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Thin, elastic wall</a:t>
            </a:r>
            <a:endParaRPr lang="en-US" sz="1400" dirty="0"/>
          </a:p>
        </p:txBody>
      </p:sp>
      <p:sp>
        <p:nvSpPr>
          <p:cNvPr id="11" name="Shape 8"/>
          <p:cNvSpPr/>
          <p:nvPr/>
        </p:nvSpPr>
        <p:spPr>
          <a:xfrm>
            <a:off x="841248" y="4745736"/>
            <a:ext cx="91440" cy="91440"/>
          </a:xfrm>
          <a:prstGeom prst="ellipse">
            <a:avLst/>
          </a:prstGeom>
          <a:solidFill>
            <a:srgbClr val="C9D2DE"/>
          </a:solidFill>
          <a:ln w="6350">
            <a:solidFill>
              <a:srgbClr val="C9D2DE"/>
            </a:solidFill>
            <a:prstDash val="solid"/>
          </a:ln>
        </p:spPr>
      </p:sp>
      <p:sp>
        <p:nvSpPr>
          <p:cNvPr id="12" name="Text 9"/>
          <p:cNvSpPr txBox="1"/>
          <p:nvPr/>
        </p:nvSpPr>
        <p:spPr>
          <a:xfrm>
            <a:off x="1051560" y="4663440"/>
            <a:ext cx="2783738" cy="246888"/>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Wide lumen</a:t>
            </a:r>
            <a:endParaRPr lang="en-US" sz="1400" dirty="0"/>
          </a:p>
        </p:txBody>
      </p:sp>
      <p:sp>
        <p:nvSpPr>
          <p:cNvPr id="13" name="Shape 10"/>
          <p:cNvSpPr/>
          <p:nvPr/>
        </p:nvSpPr>
        <p:spPr>
          <a:xfrm>
            <a:off x="841248" y="5084064"/>
            <a:ext cx="91440" cy="91440"/>
          </a:xfrm>
          <a:prstGeom prst="ellipse">
            <a:avLst/>
          </a:prstGeom>
          <a:solidFill>
            <a:srgbClr val="C9D2DE"/>
          </a:solidFill>
          <a:ln w="6350">
            <a:solidFill>
              <a:srgbClr val="C9D2DE"/>
            </a:solidFill>
            <a:prstDash val="solid"/>
          </a:ln>
        </p:spPr>
      </p:sp>
      <p:sp>
        <p:nvSpPr>
          <p:cNvPr id="14" name="Text 11"/>
          <p:cNvSpPr txBox="1"/>
          <p:nvPr/>
        </p:nvSpPr>
        <p:spPr>
          <a:xfrm>
            <a:off x="1051560" y="5001768"/>
            <a:ext cx="2783738" cy="246888"/>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Smooth muscle buffers the pressure</a:t>
            </a:r>
            <a:endParaRPr lang="en-US" sz="1400" dirty="0"/>
          </a:p>
        </p:txBody>
      </p:sp>
      <p:sp>
        <p:nvSpPr>
          <p:cNvPr id="15" name="Shape 12"/>
          <p:cNvSpPr/>
          <p:nvPr/>
        </p:nvSpPr>
        <p:spPr>
          <a:xfrm>
            <a:off x="4338218" y="2057400"/>
            <a:ext cx="3515258" cy="3749040"/>
          </a:xfrm>
          <a:prstGeom prst="roundRect">
            <a:avLst>
              <a:gd name="adj" fmla="val 2601"/>
            </a:avLst>
          </a:prstGeom>
          <a:solidFill>
            <a:srgbClr val="E8EDF3"/>
          </a:solidFill>
          <a:ln w="6350">
            <a:solidFill>
              <a:srgbClr val="E8EDF3"/>
            </a:solidFill>
            <a:prstDash val="solid"/>
          </a:ln>
        </p:spPr>
      </p:sp>
      <p:sp>
        <p:nvSpPr>
          <p:cNvPr id="16" name="Shape 13"/>
          <p:cNvSpPr/>
          <p:nvPr/>
        </p:nvSpPr>
        <p:spPr>
          <a:xfrm>
            <a:off x="6410469" y="2090251"/>
            <a:ext cx="566928" cy="566928"/>
          </a:xfrm>
          <a:prstGeom prst="ellipse">
            <a:avLst/>
          </a:prstGeom>
          <a:solidFill>
            <a:srgbClr val="C3CEDB"/>
          </a:solidFill>
          <a:ln w="6350">
            <a:solidFill>
              <a:srgbClr val="C3CEDB"/>
            </a:solidFill>
            <a:prstDash val="solid"/>
          </a:ln>
        </p:spPr>
      </p:sp>
      <p:sp>
        <p:nvSpPr>
          <p:cNvPr id="17" name="Shape 14"/>
          <p:cNvSpPr/>
          <p:nvPr/>
        </p:nvSpPr>
        <p:spPr>
          <a:xfrm>
            <a:off x="6511053" y="2190835"/>
            <a:ext cx="365760" cy="365760"/>
          </a:xfrm>
          <a:prstGeom prst="ellipse">
            <a:avLst/>
          </a:prstGeom>
          <a:solidFill>
            <a:srgbClr val="C1272D"/>
          </a:solidFill>
          <a:ln w="6350">
            <a:solidFill>
              <a:srgbClr val="C1272D"/>
            </a:solidFill>
            <a:prstDash val="solid"/>
          </a:ln>
        </p:spPr>
      </p:sp>
      <p:sp>
        <p:nvSpPr>
          <p:cNvPr id="18" name="Shape 15"/>
          <p:cNvSpPr/>
          <p:nvPr/>
        </p:nvSpPr>
        <p:spPr>
          <a:xfrm>
            <a:off x="5295748" y="2171700"/>
            <a:ext cx="1600200" cy="1600200"/>
          </a:xfrm>
          <a:prstGeom prst="ellipse">
            <a:avLst/>
          </a:prstGeom>
          <a:solidFill>
            <a:srgbClr val="C3CEDB"/>
          </a:solidFill>
          <a:ln w="6350">
            <a:solidFill>
              <a:srgbClr val="C3CEDB"/>
            </a:solidFill>
            <a:prstDash val="solid"/>
          </a:ln>
        </p:spPr>
      </p:sp>
      <p:sp>
        <p:nvSpPr>
          <p:cNvPr id="19" name="Shape 16"/>
          <p:cNvSpPr/>
          <p:nvPr/>
        </p:nvSpPr>
        <p:spPr>
          <a:xfrm>
            <a:off x="5419192" y="2295144"/>
            <a:ext cx="1353312" cy="1353312"/>
          </a:xfrm>
          <a:prstGeom prst="ellipse">
            <a:avLst/>
          </a:prstGeom>
          <a:solidFill>
            <a:srgbClr val="F1F3F6"/>
          </a:solidFill>
          <a:ln w="12700">
            <a:solidFill>
              <a:srgbClr val="AEB9C7"/>
            </a:solidFill>
            <a:prstDash val="dash"/>
          </a:ln>
        </p:spPr>
      </p:sp>
      <p:sp>
        <p:nvSpPr>
          <p:cNvPr id="20" name="Shape 17"/>
          <p:cNvSpPr/>
          <p:nvPr/>
        </p:nvSpPr>
        <p:spPr>
          <a:xfrm>
            <a:off x="5848960" y="2724912"/>
            <a:ext cx="493776" cy="493776"/>
          </a:xfrm>
          <a:prstGeom prst="ellipse">
            <a:avLst/>
          </a:prstGeom>
          <a:solidFill>
            <a:srgbClr val="C1272D"/>
          </a:solidFill>
          <a:ln w="6350">
            <a:solidFill>
              <a:srgbClr val="C1272D"/>
            </a:solidFill>
            <a:prstDash val="solid"/>
          </a:ln>
        </p:spPr>
      </p:sp>
      <p:sp>
        <p:nvSpPr>
          <p:cNvPr id="21" name="Shape 18"/>
          <p:cNvSpPr/>
          <p:nvPr/>
        </p:nvSpPr>
        <p:spPr>
          <a:xfrm>
            <a:off x="6511053" y="2190835"/>
            <a:ext cx="365760" cy="365760"/>
          </a:xfrm>
          <a:prstGeom prst="ellipse">
            <a:avLst/>
          </a:prstGeom>
          <a:solidFill>
            <a:srgbClr val="C1272D"/>
          </a:solidFill>
          <a:ln w="6350">
            <a:solidFill>
              <a:srgbClr val="C1272D"/>
            </a:solidFill>
            <a:prstDash val="solid"/>
          </a:ln>
        </p:spPr>
      </p:sp>
      <p:sp>
        <p:nvSpPr>
          <p:cNvPr id="22" name="Text 19"/>
          <p:cNvSpPr txBox="1"/>
          <p:nvPr/>
        </p:nvSpPr>
        <p:spPr>
          <a:xfrm>
            <a:off x="4612538" y="3867912"/>
            <a:ext cx="2966618" cy="365760"/>
          </a:xfrm>
          <a:prstGeom prst="rect">
            <a:avLst/>
          </a:prstGeom>
          <a:noFill/>
          <a:ln/>
        </p:spPr>
        <p:txBody>
          <a:bodyPr wrap="square" lIns="0" tIns="0" rIns="0" bIns="0" rtlCol="0" anchor="t"/>
          <a:lstStyle/>
          <a:p>
            <a:pPr indent="0" marL="0">
              <a:buNone/>
            </a:pPr>
            <a:r>
              <a:rPr lang="en-US" sz="1800" b="1" dirty="0">
                <a:solidFill>
                  <a:srgbClr val="13233A"/>
                </a:solidFill>
                <a:latin typeface="Calibri" pitchFamily="34" charset="0"/>
                <a:ea typeface="Calibri" pitchFamily="34" charset="-122"/>
                <a:cs typeface="Calibri" pitchFamily="34" charset="-120"/>
              </a:rPr>
              <a:t>Hypertensive arteriopathy</a:t>
            </a:r>
            <a:endParaRPr lang="en-US" sz="1800" dirty="0"/>
          </a:p>
        </p:txBody>
      </p:sp>
      <p:sp>
        <p:nvSpPr>
          <p:cNvPr id="23" name="Shape 20"/>
          <p:cNvSpPr/>
          <p:nvPr/>
        </p:nvSpPr>
        <p:spPr>
          <a:xfrm>
            <a:off x="4630826" y="4407408"/>
            <a:ext cx="91440" cy="91440"/>
          </a:xfrm>
          <a:prstGeom prst="ellipse">
            <a:avLst/>
          </a:prstGeom>
          <a:solidFill>
            <a:srgbClr val="C1272D"/>
          </a:solidFill>
          <a:ln w="6350">
            <a:solidFill>
              <a:srgbClr val="C1272D"/>
            </a:solidFill>
            <a:prstDash val="solid"/>
          </a:ln>
        </p:spPr>
      </p:sp>
      <p:sp>
        <p:nvSpPr>
          <p:cNvPr id="24" name="Text 21"/>
          <p:cNvSpPr txBox="1"/>
          <p:nvPr/>
        </p:nvSpPr>
        <p:spPr>
          <a:xfrm>
            <a:off x="4841138" y="4325112"/>
            <a:ext cx="2783738" cy="246888"/>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Deep perforating arteries</a:t>
            </a:r>
            <a:endParaRPr lang="en-US" sz="1400" dirty="0"/>
          </a:p>
        </p:txBody>
      </p:sp>
      <p:sp>
        <p:nvSpPr>
          <p:cNvPr id="25" name="Shape 22"/>
          <p:cNvSpPr/>
          <p:nvPr/>
        </p:nvSpPr>
        <p:spPr>
          <a:xfrm>
            <a:off x="4630826" y="4745736"/>
            <a:ext cx="91440" cy="91440"/>
          </a:xfrm>
          <a:prstGeom prst="ellipse">
            <a:avLst/>
          </a:prstGeom>
          <a:solidFill>
            <a:srgbClr val="C1272D"/>
          </a:solidFill>
          <a:ln w="6350">
            <a:solidFill>
              <a:srgbClr val="C1272D"/>
            </a:solidFill>
            <a:prstDash val="solid"/>
          </a:ln>
        </p:spPr>
      </p:sp>
      <p:sp>
        <p:nvSpPr>
          <p:cNvPr id="26" name="Text 23"/>
          <p:cNvSpPr txBox="1"/>
          <p:nvPr/>
        </p:nvSpPr>
        <p:spPr>
          <a:xfrm>
            <a:off x="4841138" y="4663440"/>
            <a:ext cx="2783738" cy="475488"/>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Lipohyalinosis and fibrinoid necrosis: a thick, brittle wall</a:t>
            </a:r>
            <a:endParaRPr lang="en-US" sz="1400" dirty="0"/>
          </a:p>
        </p:txBody>
      </p:sp>
      <p:sp>
        <p:nvSpPr>
          <p:cNvPr id="27" name="Shape 24"/>
          <p:cNvSpPr/>
          <p:nvPr/>
        </p:nvSpPr>
        <p:spPr>
          <a:xfrm>
            <a:off x="4630826" y="5312664"/>
            <a:ext cx="91440" cy="91440"/>
          </a:xfrm>
          <a:prstGeom prst="ellipse">
            <a:avLst/>
          </a:prstGeom>
          <a:solidFill>
            <a:srgbClr val="C1272D"/>
          </a:solidFill>
          <a:ln w="6350">
            <a:solidFill>
              <a:srgbClr val="C1272D"/>
            </a:solidFill>
            <a:prstDash val="solid"/>
          </a:ln>
        </p:spPr>
      </p:sp>
      <p:sp>
        <p:nvSpPr>
          <p:cNvPr id="28" name="Text 25"/>
          <p:cNvSpPr txBox="1"/>
          <p:nvPr/>
        </p:nvSpPr>
        <p:spPr>
          <a:xfrm>
            <a:off x="4841138" y="5230368"/>
            <a:ext cx="2783738" cy="475488"/>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Charcot–Bouchard microaneurysms (role debated)</a:t>
            </a:r>
            <a:endParaRPr lang="en-US" sz="1400" dirty="0"/>
          </a:p>
        </p:txBody>
      </p:sp>
      <p:sp>
        <p:nvSpPr>
          <p:cNvPr id="29" name="Shape 26"/>
          <p:cNvSpPr/>
          <p:nvPr/>
        </p:nvSpPr>
        <p:spPr>
          <a:xfrm>
            <a:off x="8127797" y="2057400"/>
            <a:ext cx="3515258" cy="3749040"/>
          </a:xfrm>
          <a:prstGeom prst="roundRect">
            <a:avLst>
              <a:gd name="adj" fmla="val 2601"/>
            </a:avLst>
          </a:prstGeom>
          <a:solidFill>
            <a:srgbClr val="E8EDF3"/>
          </a:solidFill>
          <a:ln w="6350">
            <a:solidFill>
              <a:srgbClr val="E8EDF3"/>
            </a:solidFill>
            <a:prstDash val="solid"/>
          </a:ln>
        </p:spPr>
      </p:sp>
      <p:sp>
        <p:nvSpPr>
          <p:cNvPr id="30" name="Shape 27"/>
          <p:cNvSpPr/>
          <p:nvPr/>
        </p:nvSpPr>
        <p:spPr>
          <a:xfrm>
            <a:off x="9085326" y="2171700"/>
            <a:ext cx="1600200" cy="1600200"/>
          </a:xfrm>
          <a:prstGeom prst="ellipse">
            <a:avLst/>
          </a:prstGeom>
          <a:solidFill>
            <a:srgbClr val="C3CEDB"/>
          </a:solidFill>
          <a:ln w="6350">
            <a:solidFill>
              <a:srgbClr val="C3CEDB"/>
            </a:solidFill>
            <a:prstDash val="solid"/>
          </a:ln>
        </p:spPr>
      </p:sp>
      <p:sp>
        <p:nvSpPr>
          <p:cNvPr id="31" name="Shape 28"/>
          <p:cNvSpPr/>
          <p:nvPr/>
        </p:nvSpPr>
        <p:spPr>
          <a:xfrm>
            <a:off x="9336786" y="2423160"/>
            <a:ext cx="1097280" cy="1097280"/>
          </a:xfrm>
          <a:prstGeom prst="ellipse">
            <a:avLst/>
          </a:prstGeom>
          <a:solidFill>
            <a:srgbClr val="C1272D"/>
          </a:solidFill>
          <a:ln w="6350">
            <a:solidFill>
              <a:srgbClr val="C1272D"/>
            </a:solidFill>
            <a:prstDash val="solid"/>
          </a:ln>
        </p:spPr>
      </p:sp>
      <p:sp>
        <p:nvSpPr>
          <p:cNvPr id="32" name="Shape 29"/>
          <p:cNvSpPr/>
          <p:nvPr/>
        </p:nvSpPr>
        <p:spPr>
          <a:xfrm>
            <a:off x="10515861" y="3044917"/>
            <a:ext cx="137160" cy="137160"/>
          </a:xfrm>
          <a:prstGeom prst="ellipse">
            <a:avLst/>
          </a:prstGeom>
          <a:solidFill>
            <a:srgbClr val="13233A"/>
          </a:solidFill>
          <a:ln w="6350">
            <a:solidFill>
              <a:srgbClr val="13233A"/>
            </a:solidFill>
            <a:prstDash val="solid"/>
          </a:ln>
        </p:spPr>
      </p:sp>
      <p:sp>
        <p:nvSpPr>
          <p:cNvPr id="33" name="Shape 30"/>
          <p:cNvSpPr/>
          <p:nvPr/>
        </p:nvSpPr>
        <p:spPr>
          <a:xfrm>
            <a:off x="10376558" y="3250988"/>
            <a:ext cx="109728" cy="109728"/>
          </a:xfrm>
          <a:prstGeom prst="ellipse">
            <a:avLst/>
          </a:prstGeom>
          <a:solidFill>
            <a:srgbClr val="13233A"/>
          </a:solidFill>
          <a:ln w="6350">
            <a:solidFill>
              <a:srgbClr val="13233A"/>
            </a:solidFill>
            <a:prstDash val="solid"/>
          </a:ln>
        </p:spPr>
      </p:sp>
      <p:sp>
        <p:nvSpPr>
          <p:cNvPr id="34" name="Shape 31"/>
          <p:cNvSpPr/>
          <p:nvPr/>
        </p:nvSpPr>
        <p:spPr>
          <a:xfrm>
            <a:off x="10274957" y="3474801"/>
            <a:ext cx="109728" cy="109728"/>
          </a:xfrm>
          <a:prstGeom prst="ellipse">
            <a:avLst/>
          </a:prstGeom>
          <a:solidFill>
            <a:srgbClr val="13233A"/>
          </a:solidFill>
          <a:ln w="6350">
            <a:solidFill>
              <a:srgbClr val="13233A"/>
            </a:solidFill>
            <a:prstDash val="solid"/>
          </a:ln>
        </p:spPr>
      </p:sp>
      <p:sp>
        <p:nvSpPr>
          <p:cNvPr id="35" name="Shape 32"/>
          <p:cNvSpPr/>
          <p:nvPr/>
        </p:nvSpPr>
        <p:spPr>
          <a:xfrm>
            <a:off x="10020379" y="3510078"/>
            <a:ext cx="137160" cy="137160"/>
          </a:xfrm>
          <a:prstGeom prst="ellipse">
            <a:avLst/>
          </a:prstGeom>
          <a:solidFill>
            <a:srgbClr val="13233A"/>
          </a:solidFill>
          <a:ln w="6350">
            <a:solidFill>
              <a:srgbClr val="13233A"/>
            </a:solidFill>
            <a:prstDash val="solid"/>
          </a:ln>
        </p:spPr>
      </p:sp>
      <p:sp>
        <p:nvSpPr>
          <p:cNvPr id="36" name="Shape 33"/>
          <p:cNvSpPr/>
          <p:nvPr/>
        </p:nvSpPr>
        <p:spPr>
          <a:xfrm>
            <a:off x="9812400" y="3629937"/>
            <a:ext cx="109728" cy="109728"/>
          </a:xfrm>
          <a:prstGeom prst="ellipse">
            <a:avLst/>
          </a:prstGeom>
          <a:solidFill>
            <a:srgbClr val="13233A"/>
          </a:solidFill>
          <a:ln w="6350">
            <a:solidFill>
              <a:srgbClr val="13233A"/>
            </a:solidFill>
            <a:prstDash val="solid"/>
          </a:ln>
        </p:spPr>
      </p:sp>
      <p:sp>
        <p:nvSpPr>
          <p:cNvPr id="37" name="Shape 34"/>
          <p:cNvSpPr/>
          <p:nvPr/>
        </p:nvSpPr>
        <p:spPr>
          <a:xfrm>
            <a:off x="9596396" y="3512645"/>
            <a:ext cx="109728" cy="109728"/>
          </a:xfrm>
          <a:prstGeom prst="ellipse">
            <a:avLst/>
          </a:prstGeom>
          <a:solidFill>
            <a:srgbClr val="13233A"/>
          </a:solidFill>
          <a:ln w="6350">
            <a:solidFill>
              <a:srgbClr val="13233A"/>
            </a:solidFill>
            <a:prstDash val="solid"/>
          </a:ln>
        </p:spPr>
      </p:sp>
      <p:sp>
        <p:nvSpPr>
          <p:cNvPr id="38" name="Shape 35"/>
          <p:cNvSpPr/>
          <p:nvPr/>
        </p:nvSpPr>
        <p:spPr>
          <a:xfrm>
            <a:off x="9344625" y="3437736"/>
            <a:ext cx="137160" cy="137160"/>
          </a:xfrm>
          <a:prstGeom prst="ellipse">
            <a:avLst/>
          </a:prstGeom>
          <a:solidFill>
            <a:srgbClr val="13233A"/>
          </a:solidFill>
          <a:ln w="6350">
            <a:solidFill>
              <a:srgbClr val="13233A"/>
            </a:solidFill>
            <a:prstDash val="solid"/>
          </a:ln>
        </p:spPr>
      </p:sp>
      <p:sp>
        <p:nvSpPr>
          <p:cNvPr id="39" name="Shape 36"/>
          <p:cNvSpPr/>
          <p:nvPr/>
        </p:nvSpPr>
        <p:spPr>
          <a:xfrm>
            <a:off x="9268267" y="3222757"/>
            <a:ext cx="109728" cy="109728"/>
          </a:xfrm>
          <a:prstGeom prst="ellipse">
            <a:avLst/>
          </a:prstGeom>
          <a:solidFill>
            <a:srgbClr val="13233A"/>
          </a:solidFill>
          <a:ln w="6350">
            <a:solidFill>
              <a:srgbClr val="13233A"/>
            </a:solidFill>
            <a:prstDash val="solid"/>
          </a:ln>
        </p:spPr>
      </p:sp>
      <p:sp>
        <p:nvSpPr>
          <p:cNvPr id="40" name="Shape 37"/>
          <p:cNvSpPr/>
          <p:nvPr/>
        </p:nvSpPr>
        <p:spPr>
          <a:xfrm>
            <a:off x="9125240" y="3022861"/>
            <a:ext cx="109728" cy="109728"/>
          </a:xfrm>
          <a:prstGeom prst="ellipse">
            <a:avLst/>
          </a:prstGeom>
          <a:solidFill>
            <a:srgbClr val="13233A"/>
          </a:solidFill>
          <a:ln w="6350">
            <a:solidFill>
              <a:srgbClr val="13233A"/>
            </a:solidFill>
            <a:prstDash val="solid"/>
          </a:ln>
        </p:spPr>
      </p:sp>
      <p:sp>
        <p:nvSpPr>
          <p:cNvPr id="41" name="Shape 38"/>
          <p:cNvSpPr/>
          <p:nvPr/>
        </p:nvSpPr>
        <p:spPr>
          <a:xfrm>
            <a:off x="9189525" y="2776056"/>
            <a:ext cx="137160" cy="137160"/>
          </a:xfrm>
          <a:prstGeom prst="ellipse">
            <a:avLst/>
          </a:prstGeom>
          <a:solidFill>
            <a:srgbClr val="13233A"/>
          </a:solidFill>
          <a:ln w="6350">
            <a:solidFill>
              <a:srgbClr val="13233A"/>
            </a:solidFill>
            <a:prstDash val="solid"/>
          </a:ln>
        </p:spPr>
      </p:sp>
      <p:sp>
        <p:nvSpPr>
          <p:cNvPr id="42" name="Shape 39"/>
          <p:cNvSpPr/>
          <p:nvPr/>
        </p:nvSpPr>
        <p:spPr>
          <a:xfrm>
            <a:off x="9222166" y="2544707"/>
            <a:ext cx="109728" cy="109728"/>
          </a:xfrm>
          <a:prstGeom prst="ellipse">
            <a:avLst/>
          </a:prstGeom>
          <a:solidFill>
            <a:srgbClr val="13233A"/>
          </a:solidFill>
          <a:ln w="6350">
            <a:solidFill>
              <a:srgbClr val="13233A"/>
            </a:solidFill>
            <a:prstDash val="solid"/>
          </a:ln>
        </p:spPr>
      </p:sp>
      <p:sp>
        <p:nvSpPr>
          <p:cNvPr id="43" name="Shape 40"/>
          <p:cNvSpPr/>
          <p:nvPr/>
        </p:nvSpPr>
        <p:spPr>
          <a:xfrm>
            <a:off x="9431746" y="2416288"/>
            <a:ext cx="109728" cy="109728"/>
          </a:xfrm>
          <a:prstGeom prst="ellipse">
            <a:avLst/>
          </a:prstGeom>
          <a:solidFill>
            <a:srgbClr val="13233A"/>
          </a:solidFill>
          <a:ln w="6350">
            <a:solidFill>
              <a:srgbClr val="13233A"/>
            </a:solidFill>
            <a:prstDash val="solid"/>
          </a:ln>
        </p:spPr>
      </p:sp>
      <p:sp>
        <p:nvSpPr>
          <p:cNvPr id="44" name="Shape 41"/>
          <p:cNvSpPr/>
          <p:nvPr/>
        </p:nvSpPr>
        <p:spPr>
          <a:xfrm>
            <a:off x="9590052" y="2227007"/>
            <a:ext cx="137160" cy="137160"/>
          </a:xfrm>
          <a:prstGeom prst="ellipse">
            <a:avLst/>
          </a:prstGeom>
          <a:solidFill>
            <a:srgbClr val="13233A"/>
          </a:solidFill>
          <a:ln w="6350">
            <a:solidFill>
              <a:srgbClr val="13233A"/>
            </a:solidFill>
            <a:prstDash val="solid"/>
          </a:ln>
        </p:spPr>
      </p:sp>
      <p:sp>
        <p:nvSpPr>
          <p:cNvPr id="45" name="Shape 42"/>
          <p:cNvSpPr/>
          <p:nvPr/>
        </p:nvSpPr>
        <p:spPr>
          <a:xfrm>
            <a:off x="9846861" y="2277064"/>
            <a:ext cx="109728" cy="109728"/>
          </a:xfrm>
          <a:prstGeom prst="ellipse">
            <a:avLst/>
          </a:prstGeom>
          <a:solidFill>
            <a:srgbClr val="13233A"/>
          </a:solidFill>
          <a:ln w="6350">
            <a:solidFill>
              <a:srgbClr val="13233A"/>
            </a:solidFill>
            <a:prstDash val="solid"/>
          </a:ln>
        </p:spPr>
      </p:sp>
      <p:sp>
        <p:nvSpPr>
          <p:cNvPr id="46" name="Shape 43"/>
          <p:cNvSpPr/>
          <p:nvPr/>
        </p:nvSpPr>
        <p:spPr>
          <a:xfrm>
            <a:off x="10091489" y="2253146"/>
            <a:ext cx="109728" cy="109728"/>
          </a:xfrm>
          <a:prstGeom prst="ellipse">
            <a:avLst/>
          </a:prstGeom>
          <a:solidFill>
            <a:srgbClr val="13233A"/>
          </a:solidFill>
          <a:ln w="6350">
            <a:solidFill>
              <a:srgbClr val="13233A"/>
            </a:solidFill>
            <a:prstDash val="solid"/>
          </a:ln>
        </p:spPr>
      </p:sp>
      <p:sp>
        <p:nvSpPr>
          <p:cNvPr id="47" name="Shape 44"/>
          <p:cNvSpPr/>
          <p:nvPr/>
        </p:nvSpPr>
        <p:spPr>
          <a:xfrm>
            <a:off x="10240634" y="2423526"/>
            <a:ext cx="137160" cy="137160"/>
          </a:xfrm>
          <a:prstGeom prst="ellipse">
            <a:avLst/>
          </a:prstGeom>
          <a:solidFill>
            <a:srgbClr val="13233A"/>
          </a:solidFill>
          <a:ln w="6350">
            <a:solidFill>
              <a:srgbClr val="13233A"/>
            </a:solidFill>
            <a:prstDash val="solid"/>
          </a:ln>
        </p:spPr>
      </p:sp>
      <p:sp>
        <p:nvSpPr>
          <p:cNvPr id="48" name="Shape 45"/>
          <p:cNvSpPr/>
          <p:nvPr/>
        </p:nvSpPr>
        <p:spPr>
          <a:xfrm>
            <a:off x="10457120" y="2576164"/>
            <a:ext cx="109728" cy="109728"/>
          </a:xfrm>
          <a:prstGeom prst="ellipse">
            <a:avLst/>
          </a:prstGeom>
          <a:solidFill>
            <a:srgbClr val="13233A"/>
          </a:solidFill>
          <a:ln w="6350">
            <a:solidFill>
              <a:srgbClr val="13233A"/>
            </a:solidFill>
            <a:prstDash val="solid"/>
          </a:ln>
        </p:spPr>
      </p:sp>
      <p:sp>
        <p:nvSpPr>
          <p:cNvPr id="49" name="Shape 46"/>
          <p:cNvSpPr/>
          <p:nvPr/>
        </p:nvSpPr>
        <p:spPr>
          <a:xfrm>
            <a:off x="10463544" y="2821875"/>
            <a:ext cx="109728" cy="109728"/>
          </a:xfrm>
          <a:prstGeom prst="ellipse">
            <a:avLst/>
          </a:prstGeom>
          <a:solidFill>
            <a:srgbClr val="13233A"/>
          </a:solidFill>
          <a:ln w="6350">
            <a:solidFill>
              <a:srgbClr val="13233A"/>
            </a:solidFill>
            <a:prstDash val="solid"/>
          </a:ln>
        </p:spPr>
      </p:sp>
      <p:sp>
        <p:nvSpPr>
          <p:cNvPr id="50" name="Text 47"/>
          <p:cNvSpPr txBox="1"/>
          <p:nvPr/>
        </p:nvSpPr>
        <p:spPr>
          <a:xfrm>
            <a:off x="8402117" y="3867912"/>
            <a:ext cx="2966618" cy="365760"/>
          </a:xfrm>
          <a:prstGeom prst="rect">
            <a:avLst/>
          </a:prstGeom>
          <a:noFill/>
          <a:ln/>
        </p:spPr>
        <p:txBody>
          <a:bodyPr wrap="square" lIns="0" tIns="0" rIns="0" bIns="0" rtlCol="0" anchor="t"/>
          <a:lstStyle/>
          <a:p>
            <a:pPr indent="0" marL="0">
              <a:buNone/>
            </a:pPr>
            <a:r>
              <a:rPr lang="en-US" sz="1800" b="1" dirty="0">
                <a:solidFill>
                  <a:srgbClr val="13233A"/>
                </a:solidFill>
                <a:latin typeface="Calibri" pitchFamily="34" charset="0"/>
                <a:ea typeface="Calibri" pitchFamily="34" charset="-122"/>
                <a:cs typeface="Calibri" pitchFamily="34" charset="-120"/>
              </a:rPr>
              <a:t>Cerebral amyloid angiopathy</a:t>
            </a:r>
            <a:endParaRPr lang="en-US" sz="1800" dirty="0"/>
          </a:p>
        </p:txBody>
      </p:sp>
      <p:sp>
        <p:nvSpPr>
          <p:cNvPr id="51" name="Shape 48"/>
          <p:cNvSpPr/>
          <p:nvPr/>
        </p:nvSpPr>
        <p:spPr>
          <a:xfrm>
            <a:off x="8420405" y="4407408"/>
            <a:ext cx="91440" cy="91440"/>
          </a:xfrm>
          <a:prstGeom prst="ellipse">
            <a:avLst/>
          </a:prstGeom>
          <a:solidFill>
            <a:srgbClr val="C1272D"/>
          </a:solidFill>
          <a:ln w="6350">
            <a:solidFill>
              <a:srgbClr val="C1272D"/>
            </a:solidFill>
            <a:prstDash val="solid"/>
          </a:ln>
        </p:spPr>
      </p:sp>
      <p:sp>
        <p:nvSpPr>
          <p:cNvPr id="52" name="Text 49"/>
          <p:cNvSpPr txBox="1"/>
          <p:nvPr/>
        </p:nvSpPr>
        <p:spPr>
          <a:xfrm>
            <a:off x="8630717" y="4325112"/>
            <a:ext cx="2783738" cy="246888"/>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Cortical and leptomeningeal arteries</a:t>
            </a:r>
            <a:endParaRPr lang="en-US" sz="1400" dirty="0"/>
          </a:p>
        </p:txBody>
      </p:sp>
      <p:sp>
        <p:nvSpPr>
          <p:cNvPr id="53" name="Shape 50"/>
          <p:cNvSpPr/>
          <p:nvPr/>
        </p:nvSpPr>
        <p:spPr>
          <a:xfrm>
            <a:off x="8420405" y="4745736"/>
            <a:ext cx="91440" cy="91440"/>
          </a:xfrm>
          <a:prstGeom prst="ellipse">
            <a:avLst/>
          </a:prstGeom>
          <a:solidFill>
            <a:srgbClr val="C1272D"/>
          </a:solidFill>
          <a:ln w="6350">
            <a:solidFill>
              <a:srgbClr val="C1272D"/>
            </a:solidFill>
            <a:prstDash val="solid"/>
          </a:ln>
        </p:spPr>
      </p:sp>
      <p:sp>
        <p:nvSpPr>
          <p:cNvPr id="54" name="Text 51"/>
          <p:cNvSpPr txBox="1"/>
          <p:nvPr/>
        </p:nvSpPr>
        <p:spPr>
          <a:xfrm>
            <a:off x="8630717" y="4663440"/>
            <a:ext cx="2783738" cy="475488"/>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β-amyloid (dark dots) replaces smooth muscle</a:t>
            </a:r>
            <a:endParaRPr lang="en-US" sz="1400" dirty="0"/>
          </a:p>
        </p:txBody>
      </p:sp>
      <p:sp>
        <p:nvSpPr>
          <p:cNvPr id="55" name="Shape 52"/>
          <p:cNvSpPr/>
          <p:nvPr/>
        </p:nvSpPr>
        <p:spPr>
          <a:xfrm>
            <a:off x="8420405" y="5312664"/>
            <a:ext cx="91440" cy="91440"/>
          </a:xfrm>
          <a:prstGeom prst="ellipse">
            <a:avLst/>
          </a:prstGeom>
          <a:solidFill>
            <a:srgbClr val="C1272D"/>
          </a:solidFill>
          <a:ln w="6350">
            <a:solidFill>
              <a:srgbClr val="C1272D"/>
            </a:solidFill>
            <a:prstDash val="solid"/>
          </a:ln>
        </p:spPr>
      </p:sp>
      <p:sp>
        <p:nvSpPr>
          <p:cNvPr id="56" name="Text 53"/>
          <p:cNvSpPr txBox="1"/>
          <p:nvPr/>
        </p:nvSpPr>
        <p:spPr>
          <a:xfrm>
            <a:off x="8630717" y="5230368"/>
            <a:ext cx="2783738" cy="246888"/>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Mostly after 55; causes lobar bleeds</a:t>
            </a:r>
            <a:endParaRPr lang="en-US" sz="1400" dirty="0"/>
          </a:p>
        </p:txBody>
      </p:sp>
      <p:sp>
        <p:nvSpPr>
          <p:cNvPr id="57" name="Text 54"/>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58" name="Shape 55"/>
          <p:cNvSpPr/>
          <p:nvPr/>
        </p:nvSpPr>
        <p:spPr>
          <a:xfrm>
            <a:off x="7360920" y="6460236"/>
            <a:ext cx="118872" cy="118872"/>
          </a:xfrm>
          <a:prstGeom prst="ellipse">
            <a:avLst/>
          </a:prstGeom>
          <a:solidFill>
            <a:srgbClr val="C1272D"/>
          </a:solidFill>
          <a:ln w="6350">
            <a:solidFill>
              <a:srgbClr val="C1272D"/>
            </a:solidFill>
            <a:prstDash val="solid"/>
          </a:ln>
        </p:spPr>
      </p:sp>
      <p:sp>
        <p:nvSpPr>
          <p:cNvPr id="59" name="Text 56"/>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b="1" dirty="0">
                <a:solidFill>
                  <a:srgbClr val="C1272D"/>
                </a:solidFill>
                <a:latin typeface="Calibri" pitchFamily="34" charset="0"/>
                <a:ea typeface="Calibri" pitchFamily="34" charset="-122"/>
                <a:cs typeface="Calibri" pitchFamily="34" charset="-120"/>
              </a:rPr>
              <a:t>Vessel</a:t>
            </a:r>
            <a:endParaRPr lang="en-US" sz="1000" dirty="0"/>
          </a:p>
        </p:txBody>
      </p:sp>
      <p:sp>
        <p:nvSpPr>
          <p:cNvPr id="60" name="Shape 57"/>
          <p:cNvSpPr/>
          <p:nvPr/>
        </p:nvSpPr>
        <p:spPr>
          <a:xfrm>
            <a:off x="8275320" y="6460236"/>
            <a:ext cx="118872" cy="118872"/>
          </a:xfrm>
          <a:prstGeom prst="ellipse">
            <a:avLst/>
          </a:prstGeom>
          <a:solidFill>
            <a:srgbClr val="C9D2DE"/>
          </a:solidFill>
          <a:ln w="6350">
            <a:solidFill>
              <a:srgbClr val="C9D2DE"/>
            </a:solidFill>
            <a:prstDash val="solid"/>
          </a:ln>
        </p:spPr>
      </p:sp>
      <p:sp>
        <p:nvSpPr>
          <p:cNvPr id="61" name="Text 58"/>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Hours</a:t>
            </a:r>
            <a:endParaRPr lang="en-US" sz="1000" dirty="0"/>
          </a:p>
        </p:txBody>
      </p:sp>
      <p:sp>
        <p:nvSpPr>
          <p:cNvPr id="62" name="Shape 59"/>
          <p:cNvSpPr/>
          <p:nvPr/>
        </p:nvSpPr>
        <p:spPr>
          <a:xfrm>
            <a:off x="9189720" y="6460236"/>
            <a:ext cx="118872" cy="118872"/>
          </a:xfrm>
          <a:prstGeom prst="ellipse">
            <a:avLst/>
          </a:prstGeom>
          <a:solidFill>
            <a:srgbClr val="C9D2DE"/>
          </a:solidFill>
          <a:ln w="6350">
            <a:solidFill>
              <a:srgbClr val="C9D2DE"/>
            </a:solidFill>
            <a:prstDash val="solid"/>
          </a:ln>
        </p:spPr>
      </p:sp>
      <p:sp>
        <p:nvSpPr>
          <p:cNvPr id="63" name="Text 60"/>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Days</a:t>
            </a:r>
            <a:endParaRPr lang="en-US" sz="1000" dirty="0"/>
          </a:p>
        </p:txBody>
      </p:sp>
      <p:sp>
        <p:nvSpPr>
          <p:cNvPr id="64" name="Shape 61"/>
          <p:cNvSpPr/>
          <p:nvPr/>
        </p:nvSpPr>
        <p:spPr>
          <a:xfrm>
            <a:off x="10104120" y="6460236"/>
            <a:ext cx="118872" cy="118872"/>
          </a:xfrm>
          <a:prstGeom prst="ellipse">
            <a:avLst/>
          </a:prstGeom>
          <a:solidFill>
            <a:srgbClr val="C9D2DE"/>
          </a:solidFill>
          <a:ln w="6350">
            <a:solidFill>
              <a:srgbClr val="C9D2DE"/>
            </a:solidFill>
            <a:prstDash val="solid"/>
          </a:ln>
        </p:spPr>
      </p:sp>
      <p:sp>
        <p:nvSpPr>
          <p:cNvPr id="65" name="Text 62"/>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66" name="Text 63"/>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7</a:t>
            </a:r>
            <a:endParaRPr lang="en-US" sz="10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01 · THE BROKEN VESSEL</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Location is the first clue to the cause</a:t>
            </a:r>
            <a:endParaRPr lang="en-US" sz="3600" dirty="0"/>
          </a:p>
        </p:txBody>
      </p:sp>
      <p:pic>
        <p:nvPicPr>
          <p:cNvPr id="5" name="Image 0" descr="preencoded.png">    </p:cNvPr>
          <p:cNvPicPr>
            <a:picLocks noChangeAspect="1"/>
          </p:cNvPicPr>
          <p:nvPr/>
        </p:nvPicPr>
        <p:blipFill>
          <a:blip r:embed="rId1"/>
          <a:stretch>
            <a:fillRect/>
          </a:stretch>
        </p:blipFill>
        <p:spPr>
          <a:xfrm>
            <a:off x="685800" y="2011680"/>
            <a:ext cx="3331029" cy="3886200"/>
          </a:xfrm>
          <a:prstGeom prst="rect">
            <a:avLst/>
          </a:prstGeom>
        </p:spPr>
      </p:pic>
      <p:sp>
        <p:nvSpPr>
          <p:cNvPr id="6" name="Shape 2"/>
          <p:cNvSpPr/>
          <p:nvPr/>
        </p:nvSpPr>
        <p:spPr>
          <a:xfrm>
            <a:off x="1299101" y="3985151"/>
            <a:ext cx="438912" cy="438912"/>
          </a:xfrm>
          <a:prstGeom prst="ellipse">
            <a:avLst/>
          </a:prstGeom>
          <a:solidFill>
            <a:srgbClr val="FFFFFF"/>
          </a:solidFill>
          <a:ln w="6350">
            <a:solidFill>
              <a:srgbClr val="FFFFFF"/>
            </a:solidFill>
            <a:prstDash val="solid"/>
          </a:ln>
        </p:spPr>
      </p:sp>
      <p:sp>
        <p:nvSpPr>
          <p:cNvPr id="7" name="Shape 3"/>
          <p:cNvSpPr/>
          <p:nvPr/>
        </p:nvSpPr>
        <p:spPr>
          <a:xfrm>
            <a:off x="1335677" y="4021727"/>
            <a:ext cx="365760" cy="365760"/>
          </a:xfrm>
          <a:prstGeom prst="ellipse">
            <a:avLst/>
          </a:prstGeom>
          <a:solidFill>
            <a:srgbClr val="13233A"/>
          </a:solidFill>
          <a:ln w="6350">
            <a:solidFill>
              <a:srgbClr val="13233A"/>
            </a:solidFill>
            <a:prstDash val="solid"/>
          </a:ln>
        </p:spPr>
      </p:sp>
      <p:sp>
        <p:nvSpPr>
          <p:cNvPr id="8" name="Text 4"/>
          <p:cNvSpPr txBox="1"/>
          <p:nvPr/>
        </p:nvSpPr>
        <p:spPr>
          <a:xfrm>
            <a:off x="1335677" y="4021727"/>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9" name="Shape 5"/>
          <p:cNvSpPr/>
          <p:nvPr/>
        </p:nvSpPr>
        <p:spPr>
          <a:xfrm>
            <a:off x="2531582" y="4401530"/>
            <a:ext cx="438912" cy="438912"/>
          </a:xfrm>
          <a:prstGeom prst="ellipse">
            <a:avLst/>
          </a:prstGeom>
          <a:solidFill>
            <a:srgbClr val="FFFFFF"/>
          </a:solidFill>
          <a:ln w="6350">
            <a:solidFill>
              <a:srgbClr val="FFFFFF"/>
            </a:solidFill>
            <a:prstDash val="solid"/>
          </a:ln>
        </p:spPr>
      </p:sp>
      <p:sp>
        <p:nvSpPr>
          <p:cNvPr id="10" name="Shape 6"/>
          <p:cNvSpPr/>
          <p:nvPr/>
        </p:nvSpPr>
        <p:spPr>
          <a:xfrm>
            <a:off x="2568158" y="4438106"/>
            <a:ext cx="365760" cy="365760"/>
          </a:xfrm>
          <a:prstGeom prst="ellipse">
            <a:avLst/>
          </a:prstGeom>
          <a:solidFill>
            <a:srgbClr val="13233A"/>
          </a:solidFill>
          <a:ln w="6350">
            <a:solidFill>
              <a:srgbClr val="13233A"/>
            </a:solidFill>
            <a:prstDash val="solid"/>
          </a:ln>
        </p:spPr>
      </p:sp>
      <p:sp>
        <p:nvSpPr>
          <p:cNvPr id="11" name="Text 7"/>
          <p:cNvSpPr txBox="1"/>
          <p:nvPr/>
        </p:nvSpPr>
        <p:spPr>
          <a:xfrm>
            <a:off x="2568158" y="4438106"/>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Shape 8"/>
          <p:cNvSpPr/>
          <p:nvPr/>
        </p:nvSpPr>
        <p:spPr>
          <a:xfrm>
            <a:off x="3269960" y="2624981"/>
            <a:ext cx="438912" cy="438912"/>
          </a:xfrm>
          <a:prstGeom prst="ellipse">
            <a:avLst/>
          </a:prstGeom>
          <a:solidFill>
            <a:srgbClr val="FFFFFF"/>
          </a:solidFill>
          <a:ln w="6350">
            <a:solidFill>
              <a:srgbClr val="FFFFFF"/>
            </a:solidFill>
            <a:prstDash val="solid"/>
          </a:ln>
        </p:spPr>
      </p:sp>
      <p:sp>
        <p:nvSpPr>
          <p:cNvPr id="13" name="Shape 9"/>
          <p:cNvSpPr/>
          <p:nvPr/>
        </p:nvSpPr>
        <p:spPr>
          <a:xfrm>
            <a:off x="3306536" y="2661557"/>
            <a:ext cx="365760" cy="365760"/>
          </a:xfrm>
          <a:prstGeom prst="ellipse">
            <a:avLst/>
          </a:prstGeom>
          <a:solidFill>
            <a:srgbClr val="C1272D"/>
          </a:solidFill>
          <a:ln w="6350">
            <a:solidFill>
              <a:srgbClr val="C1272D"/>
            </a:solidFill>
            <a:prstDash val="solid"/>
          </a:ln>
        </p:spPr>
      </p:sp>
      <p:sp>
        <p:nvSpPr>
          <p:cNvPr id="14" name="Text 10"/>
          <p:cNvSpPr txBox="1"/>
          <p:nvPr/>
        </p:nvSpPr>
        <p:spPr>
          <a:xfrm>
            <a:off x="3306536" y="2661557"/>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5" name="Shape 11"/>
          <p:cNvSpPr/>
          <p:nvPr/>
        </p:nvSpPr>
        <p:spPr>
          <a:xfrm>
            <a:off x="4572000" y="2103120"/>
            <a:ext cx="7071055" cy="1783080"/>
          </a:xfrm>
          <a:prstGeom prst="roundRect">
            <a:avLst>
              <a:gd name="adj" fmla="val 5128"/>
            </a:avLst>
          </a:prstGeom>
          <a:solidFill>
            <a:srgbClr val="E8EDF3"/>
          </a:solidFill>
          <a:ln w="6350">
            <a:solidFill>
              <a:srgbClr val="E8EDF3"/>
            </a:solidFill>
            <a:prstDash val="solid"/>
          </a:ln>
        </p:spPr>
      </p:sp>
      <p:sp>
        <p:nvSpPr>
          <p:cNvPr id="16" name="Shape 12"/>
          <p:cNvSpPr/>
          <p:nvPr/>
        </p:nvSpPr>
        <p:spPr>
          <a:xfrm>
            <a:off x="4892040" y="2304288"/>
            <a:ext cx="384048" cy="384048"/>
          </a:xfrm>
          <a:prstGeom prst="ellipse">
            <a:avLst/>
          </a:prstGeom>
          <a:solidFill>
            <a:srgbClr val="13233A"/>
          </a:solidFill>
          <a:ln w="6350">
            <a:solidFill>
              <a:srgbClr val="13233A"/>
            </a:solidFill>
            <a:prstDash val="solid"/>
          </a:ln>
        </p:spPr>
      </p:sp>
      <p:sp>
        <p:nvSpPr>
          <p:cNvPr id="17" name="Text 13"/>
          <p:cNvSpPr txBox="1"/>
          <p:nvPr/>
        </p:nvSpPr>
        <p:spPr>
          <a:xfrm>
            <a:off x="4892040" y="23042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Shape 14"/>
          <p:cNvSpPr/>
          <p:nvPr/>
        </p:nvSpPr>
        <p:spPr>
          <a:xfrm>
            <a:off x="5349240" y="2304288"/>
            <a:ext cx="384048" cy="384048"/>
          </a:xfrm>
          <a:prstGeom prst="ellipse">
            <a:avLst/>
          </a:prstGeom>
          <a:solidFill>
            <a:srgbClr val="13233A"/>
          </a:solidFill>
          <a:ln w="6350">
            <a:solidFill>
              <a:srgbClr val="13233A"/>
            </a:solidFill>
            <a:prstDash val="solid"/>
          </a:ln>
        </p:spPr>
      </p:sp>
      <p:sp>
        <p:nvSpPr>
          <p:cNvPr id="19" name="Text 15"/>
          <p:cNvSpPr txBox="1"/>
          <p:nvPr/>
        </p:nvSpPr>
        <p:spPr>
          <a:xfrm>
            <a:off x="5349240" y="23042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0" name="Text 16"/>
          <p:cNvSpPr txBox="1"/>
          <p:nvPr/>
        </p:nvSpPr>
        <p:spPr>
          <a:xfrm>
            <a:off x="5897880" y="2258568"/>
            <a:ext cx="1097280" cy="457200"/>
          </a:xfrm>
          <a:prstGeom prst="rect">
            <a:avLst/>
          </a:prstGeom>
          <a:noFill/>
          <a:ln/>
        </p:spPr>
        <p:txBody>
          <a:bodyPr wrap="square" lIns="0" tIns="0" rIns="0" bIns="0" rtlCol="0" anchor="ctr"/>
          <a:lstStyle/>
          <a:p>
            <a:pPr indent="0" marL="0">
              <a:buNone/>
            </a:pPr>
            <a:r>
              <a:rPr lang="en-US" sz="2200" b="1" dirty="0">
                <a:solidFill>
                  <a:srgbClr val="13233A"/>
                </a:solidFill>
                <a:latin typeface="Calibri" pitchFamily="34" charset="0"/>
                <a:ea typeface="Calibri" pitchFamily="34" charset="-122"/>
                <a:cs typeface="Calibri" pitchFamily="34" charset="-120"/>
              </a:rPr>
              <a:t>Deep</a:t>
            </a:r>
            <a:endParaRPr lang="en-US" sz="2200" dirty="0"/>
          </a:p>
        </p:txBody>
      </p:sp>
      <p:sp>
        <p:nvSpPr>
          <p:cNvPr id="21" name="Shape 17"/>
          <p:cNvSpPr/>
          <p:nvPr/>
        </p:nvSpPr>
        <p:spPr>
          <a:xfrm>
            <a:off x="6949440" y="2313432"/>
            <a:ext cx="2926080" cy="365760"/>
          </a:xfrm>
          <a:prstGeom prst="roundRect">
            <a:avLst>
              <a:gd name="adj" fmla="val 50000"/>
            </a:avLst>
          </a:prstGeom>
          <a:solidFill>
            <a:srgbClr val="13233A"/>
          </a:solidFill>
          <a:ln w="6350">
            <a:solidFill>
              <a:srgbClr val="13233A"/>
            </a:solidFill>
            <a:prstDash val="solid"/>
          </a:ln>
        </p:spPr>
      </p:sp>
      <p:sp>
        <p:nvSpPr>
          <p:cNvPr id="22" name="Text 18"/>
          <p:cNvSpPr txBox="1"/>
          <p:nvPr/>
        </p:nvSpPr>
        <p:spPr>
          <a:xfrm>
            <a:off x="6949440" y="2313432"/>
            <a:ext cx="292608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Hypertensive arteriopathy</a:t>
            </a:r>
            <a:endParaRPr lang="en-US" sz="1300" dirty="0"/>
          </a:p>
        </p:txBody>
      </p:sp>
      <p:sp>
        <p:nvSpPr>
          <p:cNvPr id="23" name="Text 19"/>
          <p:cNvSpPr txBox="1"/>
          <p:nvPr/>
        </p:nvSpPr>
        <p:spPr>
          <a:xfrm>
            <a:off x="4892040" y="2834640"/>
            <a:ext cx="6430975" cy="960120"/>
          </a:xfrm>
          <a:prstGeom prst="rect">
            <a:avLst/>
          </a:prstGeom>
          <a:noFill/>
          <a:ln/>
        </p:spPr>
        <p:txBody>
          <a:bodyPr wrap="square" lIns="0" tIns="0" rIns="0" bIns="0" rtlCol="0" anchor="t"/>
          <a:lstStyle/>
          <a:p>
            <a:pPr indent="0" marL="0">
              <a:spcAft>
                <a:spcPts val="400"/>
              </a:spcAft>
              <a:buNone/>
            </a:pPr>
            <a:r>
              <a:rPr lang="en-US" sz="1500" b="1" dirty="0">
                <a:solidFill>
                  <a:srgbClr val="1B2230"/>
                </a:solidFill>
                <a:latin typeface="Calibri" pitchFamily="34" charset="0"/>
                <a:ea typeface="Calibri" pitchFamily="34" charset="-122"/>
                <a:cs typeface="Calibri" pitchFamily="34" charset="-120"/>
              </a:rPr>
              <a:t>Putamen (1), thalamus (2), pons and cerebellum.</a:t>
            </a:r>
            <a:endParaRPr lang="en-US" sz="1500" dirty="0"/>
          </a:p>
          <a:p>
            <a:pPr indent="0" marL="0">
              <a:spcAft>
                <a:spcPts val="400"/>
              </a:spcAft>
              <a:buNone/>
            </a:pPr>
            <a:r>
              <a:rPr lang="en-US" sz="1500" dirty="0">
                <a:solidFill>
                  <a:srgbClr val="1B2230"/>
                </a:solidFill>
                <a:latin typeface="Calibri" pitchFamily="34" charset="0"/>
                <a:ea typeface="Calibri" pitchFamily="34" charset="-122"/>
                <a:cs typeface="Calibri" pitchFamily="34" charset="-120"/>
              </a:rPr>
              <a:t>Perforating arteries leave large trunks at right angles, so they take the full force of arterial pressure.</a:t>
            </a:r>
            <a:endParaRPr lang="en-US" sz="1500" dirty="0"/>
          </a:p>
        </p:txBody>
      </p:sp>
      <p:sp>
        <p:nvSpPr>
          <p:cNvPr id="24" name="Shape 20"/>
          <p:cNvSpPr/>
          <p:nvPr/>
        </p:nvSpPr>
        <p:spPr>
          <a:xfrm>
            <a:off x="4572000" y="4069080"/>
            <a:ext cx="7071055" cy="1783080"/>
          </a:xfrm>
          <a:prstGeom prst="roundRect">
            <a:avLst>
              <a:gd name="adj" fmla="val 5128"/>
            </a:avLst>
          </a:prstGeom>
          <a:solidFill>
            <a:srgbClr val="F6DCDD"/>
          </a:solidFill>
          <a:ln w="6350">
            <a:solidFill>
              <a:srgbClr val="F6DCDD"/>
            </a:solidFill>
            <a:prstDash val="solid"/>
          </a:ln>
        </p:spPr>
      </p:sp>
      <p:sp>
        <p:nvSpPr>
          <p:cNvPr id="25" name="Shape 21"/>
          <p:cNvSpPr/>
          <p:nvPr/>
        </p:nvSpPr>
        <p:spPr>
          <a:xfrm>
            <a:off x="4892040" y="4270248"/>
            <a:ext cx="384048" cy="384048"/>
          </a:xfrm>
          <a:prstGeom prst="ellipse">
            <a:avLst/>
          </a:prstGeom>
          <a:solidFill>
            <a:srgbClr val="C1272D"/>
          </a:solidFill>
          <a:ln w="6350">
            <a:solidFill>
              <a:srgbClr val="C1272D"/>
            </a:solidFill>
            <a:prstDash val="solid"/>
          </a:ln>
        </p:spPr>
      </p:sp>
      <p:sp>
        <p:nvSpPr>
          <p:cNvPr id="26" name="Text 22"/>
          <p:cNvSpPr txBox="1"/>
          <p:nvPr/>
        </p:nvSpPr>
        <p:spPr>
          <a:xfrm>
            <a:off x="4892040" y="42702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7" name="Text 23"/>
          <p:cNvSpPr txBox="1"/>
          <p:nvPr/>
        </p:nvSpPr>
        <p:spPr>
          <a:xfrm>
            <a:off x="5440680" y="4224528"/>
            <a:ext cx="1188720" cy="457200"/>
          </a:xfrm>
          <a:prstGeom prst="rect">
            <a:avLst/>
          </a:prstGeom>
          <a:noFill/>
          <a:ln/>
        </p:spPr>
        <p:txBody>
          <a:bodyPr wrap="square" lIns="0" tIns="0" rIns="0" bIns="0" rtlCol="0" anchor="ctr"/>
          <a:lstStyle/>
          <a:p>
            <a:pPr indent="0" marL="0">
              <a:buNone/>
            </a:pPr>
            <a:r>
              <a:rPr lang="en-US" sz="2200" b="1" dirty="0">
                <a:solidFill>
                  <a:srgbClr val="8E1B1F"/>
                </a:solidFill>
                <a:latin typeface="Calibri" pitchFamily="34" charset="0"/>
                <a:ea typeface="Calibri" pitchFamily="34" charset="-122"/>
                <a:cs typeface="Calibri" pitchFamily="34" charset="-120"/>
              </a:rPr>
              <a:t>Lobar</a:t>
            </a:r>
            <a:endParaRPr lang="en-US" sz="2200" dirty="0"/>
          </a:p>
        </p:txBody>
      </p:sp>
      <p:sp>
        <p:nvSpPr>
          <p:cNvPr id="28" name="Shape 24"/>
          <p:cNvSpPr/>
          <p:nvPr/>
        </p:nvSpPr>
        <p:spPr>
          <a:xfrm>
            <a:off x="6583680" y="4279392"/>
            <a:ext cx="3429000" cy="365760"/>
          </a:xfrm>
          <a:prstGeom prst="roundRect">
            <a:avLst>
              <a:gd name="adj" fmla="val 50000"/>
            </a:avLst>
          </a:prstGeom>
          <a:solidFill>
            <a:srgbClr val="C1272D"/>
          </a:solidFill>
          <a:ln w="6350">
            <a:solidFill>
              <a:srgbClr val="C1272D"/>
            </a:solidFill>
            <a:prstDash val="solid"/>
          </a:ln>
        </p:spPr>
      </p:sp>
      <p:sp>
        <p:nvSpPr>
          <p:cNvPr id="29" name="Text 25"/>
          <p:cNvSpPr txBox="1"/>
          <p:nvPr/>
        </p:nvSpPr>
        <p:spPr>
          <a:xfrm>
            <a:off x="6583680" y="4279392"/>
            <a:ext cx="342900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Amyloid angiopathy (older adults)</a:t>
            </a:r>
            <a:endParaRPr lang="en-US" sz="1300" dirty="0"/>
          </a:p>
        </p:txBody>
      </p:sp>
      <p:sp>
        <p:nvSpPr>
          <p:cNvPr id="30" name="Text 26"/>
          <p:cNvSpPr txBox="1"/>
          <p:nvPr/>
        </p:nvSpPr>
        <p:spPr>
          <a:xfrm>
            <a:off x="4892040" y="4800600"/>
            <a:ext cx="6430975" cy="960120"/>
          </a:xfrm>
          <a:prstGeom prst="rect">
            <a:avLst/>
          </a:prstGeom>
          <a:noFill/>
          <a:ln/>
        </p:spPr>
        <p:txBody>
          <a:bodyPr wrap="square" lIns="0" tIns="0" rIns="0" bIns="0" rtlCol="0" anchor="t"/>
          <a:lstStyle/>
          <a:p>
            <a:pPr indent="0" marL="0">
              <a:spcAft>
                <a:spcPts val="400"/>
              </a:spcAft>
              <a:buNone/>
            </a:pPr>
            <a:r>
              <a:rPr lang="en-US" sz="1500" b="1" dirty="0">
                <a:solidFill>
                  <a:srgbClr val="1B2230"/>
                </a:solidFill>
                <a:latin typeface="Calibri" pitchFamily="34" charset="0"/>
                <a:ea typeface="Calibri" pitchFamily="34" charset="-122"/>
                <a:cs typeface="Calibri" pitchFamily="34" charset="-120"/>
              </a:rPr>
              <a:t>Cortex and the white matter just beneath it.</a:t>
            </a:r>
            <a:endParaRPr lang="en-US" sz="1500" dirty="0"/>
          </a:p>
          <a:p>
            <a:pPr indent="0" marL="0">
              <a:spcAft>
                <a:spcPts val="400"/>
              </a:spcAft>
              <a:buNone/>
            </a:pPr>
            <a:r>
              <a:rPr lang="en-US" sz="1500" dirty="0">
                <a:solidFill>
                  <a:srgbClr val="1B2230"/>
                </a:solidFill>
                <a:latin typeface="Calibri" pitchFamily="34" charset="0"/>
                <a:ea typeface="Calibri" pitchFamily="34" charset="-122"/>
                <a:cs typeface="Calibri" pitchFamily="34" charset="-120"/>
              </a:rPr>
              <a:t>Younger, normotensive or atypical? Look for an AVM, a tumour or venous thrombosis.</a:t>
            </a:r>
            <a:endParaRPr lang="en-US" sz="1500" dirty="0"/>
          </a:p>
        </p:txBody>
      </p:sp>
      <p:sp>
        <p:nvSpPr>
          <p:cNvPr id="31" name="Text 27"/>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000" i="1" dirty="0">
                <a:solidFill>
                  <a:srgbClr val="667285"/>
                </a:solidFill>
                <a:latin typeface="Calibri" pitchFamily="34" charset="0"/>
                <a:ea typeface="Calibri" pitchFamily="34" charset="-122"/>
                <a:cs typeface="Calibri" pitchFamily="34" charset="-120"/>
              </a:rPr>
              <a:t>Schematic axial section; the posterior fossa (pons, cerebellum) is not shown.</a:t>
            </a:r>
            <a:endParaRPr lang="en-US" sz="1000" dirty="0"/>
          </a:p>
        </p:txBody>
      </p:sp>
      <p:sp>
        <p:nvSpPr>
          <p:cNvPr id="32" name="Text 28"/>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33" name="Shape 29"/>
          <p:cNvSpPr/>
          <p:nvPr/>
        </p:nvSpPr>
        <p:spPr>
          <a:xfrm>
            <a:off x="7360920" y="6460236"/>
            <a:ext cx="118872" cy="118872"/>
          </a:xfrm>
          <a:prstGeom prst="ellipse">
            <a:avLst/>
          </a:prstGeom>
          <a:solidFill>
            <a:srgbClr val="C1272D"/>
          </a:solidFill>
          <a:ln w="6350">
            <a:solidFill>
              <a:srgbClr val="C1272D"/>
            </a:solidFill>
            <a:prstDash val="solid"/>
          </a:ln>
        </p:spPr>
      </p:sp>
      <p:sp>
        <p:nvSpPr>
          <p:cNvPr id="34" name="Text 30"/>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b="1" dirty="0">
                <a:solidFill>
                  <a:srgbClr val="C1272D"/>
                </a:solidFill>
                <a:latin typeface="Calibri" pitchFamily="34" charset="0"/>
                <a:ea typeface="Calibri" pitchFamily="34" charset="-122"/>
                <a:cs typeface="Calibri" pitchFamily="34" charset="-120"/>
              </a:rPr>
              <a:t>Vessel</a:t>
            </a:r>
            <a:endParaRPr lang="en-US" sz="1000" dirty="0"/>
          </a:p>
        </p:txBody>
      </p:sp>
      <p:sp>
        <p:nvSpPr>
          <p:cNvPr id="35" name="Shape 31"/>
          <p:cNvSpPr/>
          <p:nvPr/>
        </p:nvSpPr>
        <p:spPr>
          <a:xfrm>
            <a:off x="8275320" y="6460236"/>
            <a:ext cx="118872" cy="118872"/>
          </a:xfrm>
          <a:prstGeom prst="ellipse">
            <a:avLst/>
          </a:prstGeom>
          <a:solidFill>
            <a:srgbClr val="C9D2DE"/>
          </a:solidFill>
          <a:ln w="6350">
            <a:solidFill>
              <a:srgbClr val="C9D2DE"/>
            </a:solidFill>
            <a:prstDash val="solid"/>
          </a:ln>
        </p:spPr>
      </p:sp>
      <p:sp>
        <p:nvSpPr>
          <p:cNvPr id="36" name="Text 32"/>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Hours</a:t>
            </a:r>
            <a:endParaRPr lang="en-US" sz="1000" dirty="0"/>
          </a:p>
        </p:txBody>
      </p:sp>
      <p:sp>
        <p:nvSpPr>
          <p:cNvPr id="37" name="Shape 33"/>
          <p:cNvSpPr/>
          <p:nvPr/>
        </p:nvSpPr>
        <p:spPr>
          <a:xfrm>
            <a:off x="9189720" y="6460236"/>
            <a:ext cx="118872" cy="118872"/>
          </a:xfrm>
          <a:prstGeom prst="ellipse">
            <a:avLst/>
          </a:prstGeom>
          <a:solidFill>
            <a:srgbClr val="C9D2DE"/>
          </a:solidFill>
          <a:ln w="6350">
            <a:solidFill>
              <a:srgbClr val="C9D2DE"/>
            </a:solidFill>
            <a:prstDash val="solid"/>
          </a:ln>
        </p:spPr>
      </p:sp>
      <p:sp>
        <p:nvSpPr>
          <p:cNvPr id="38" name="Text 34"/>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Days</a:t>
            </a:r>
            <a:endParaRPr lang="en-US" sz="1000" dirty="0"/>
          </a:p>
        </p:txBody>
      </p:sp>
      <p:sp>
        <p:nvSpPr>
          <p:cNvPr id="39" name="Shape 35"/>
          <p:cNvSpPr/>
          <p:nvPr/>
        </p:nvSpPr>
        <p:spPr>
          <a:xfrm>
            <a:off x="10104120" y="6460236"/>
            <a:ext cx="118872" cy="118872"/>
          </a:xfrm>
          <a:prstGeom prst="ellipse">
            <a:avLst/>
          </a:prstGeom>
          <a:solidFill>
            <a:srgbClr val="C9D2DE"/>
          </a:solidFill>
          <a:ln w="6350">
            <a:solidFill>
              <a:srgbClr val="C9D2DE"/>
            </a:solidFill>
            <a:prstDash val="solid"/>
          </a:ln>
        </p:spPr>
      </p:sp>
      <p:sp>
        <p:nvSpPr>
          <p:cNvPr id="40" name="Text 36"/>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41" name="Text 37"/>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8</a:t>
            </a:r>
            <a:endParaRPr lang="en-US" sz="100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01 · THE BROKEN VESSEL</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Microbleeds map the disease behind the bleed</a:t>
            </a:r>
            <a:endParaRPr lang="en-US" sz="3600" dirty="0"/>
          </a:p>
        </p:txBody>
      </p:sp>
      <p:pic>
        <p:nvPicPr>
          <p:cNvPr id="5" name="Image 0" descr="preencoded.png">    </p:cNvPr>
          <p:cNvPicPr>
            <a:picLocks noChangeAspect="1"/>
          </p:cNvPicPr>
          <p:nvPr/>
        </p:nvPicPr>
        <p:blipFill>
          <a:blip r:embed="rId1"/>
          <a:stretch>
            <a:fillRect/>
          </a:stretch>
        </p:blipFill>
        <p:spPr>
          <a:xfrm>
            <a:off x="640080" y="2011680"/>
            <a:ext cx="2240280" cy="2613660"/>
          </a:xfrm>
          <a:prstGeom prst="rect">
            <a:avLst/>
          </a:prstGeom>
        </p:spPr>
      </p:pic>
      <p:pic>
        <p:nvPicPr>
          <p:cNvPr id="6" name="Image 1" descr="preencoded.png">    </p:cNvPr>
          <p:cNvPicPr>
            <a:picLocks noChangeAspect="1"/>
          </p:cNvPicPr>
          <p:nvPr/>
        </p:nvPicPr>
        <p:blipFill>
          <a:blip r:embed="rId2"/>
          <a:stretch>
            <a:fillRect/>
          </a:stretch>
        </p:blipFill>
        <p:spPr>
          <a:xfrm>
            <a:off x="3246120" y="2011680"/>
            <a:ext cx="2240280" cy="2613660"/>
          </a:xfrm>
          <a:prstGeom prst="rect">
            <a:avLst/>
          </a:prstGeom>
        </p:spPr>
      </p:pic>
      <p:sp>
        <p:nvSpPr>
          <p:cNvPr id="7" name="Text 2"/>
          <p:cNvSpPr txBox="1"/>
          <p:nvPr/>
        </p:nvSpPr>
        <p:spPr>
          <a:xfrm>
            <a:off x="731520" y="4663440"/>
            <a:ext cx="2286000" cy="548640"/>
          </a:xfrm>
          <a:prstGeom prst="rect">
            <a:avLst/>
          </a:prstGeom>
          <a:noFill/>
          <a:ln/>
        </p:spPr>
        <p:txBody>
          <a:bodyPr wrap="square" lIns="0" tIns="0" rIns="0" bIns="0" rtlCol="0" anchor="t"/>
          <a:lstStyle/>
          <a:p>
            <a:pPr indent="0" marL="0">
              <a:buNone/>
            </a:pPr>
            <a:r>
              <a:rPr lang="en-US" sz="1400" b="1" dirty="0">
                <a:solidFill>
                  <a:srgbClr val="13233A"/>
                </a:solidFill>
                <a:latin typeface="Calibri" pitchFamily="34" charset="0"/>
                <a:ea typeface="Calibri" pitchFamily="34" charset="-122"/>
                <a:cs typeface="Calibri" pitchFamily="34" charset="-120"/>
              </a:rPr>
              <a:t>Strictly lobar</a:t>
            </a:r>
            <a:endParaRPr lang="en-US" sz="1400" dirty="0"/>
          </a:p>
          <a:p>
            <a:pPr indent="0" marL="0">
              <a:buNone/>
            </a:pPr>
            <a:r>
              <a:rPr lang="en-US" sz="1400" dirty="0">
                <a:solidFill>
                  <a:srgbClr val="3E5C76"/>
                </a:solidFill>
                <a:latin typeface="Calibri" pitchFamily="34" charset="0"/>
                <a:ea typeface="Calibri" pitchFamily="34" charset="-122"/>
                <a:cs typeface="Calibri" pitchFamily="34" charset="-120"/>
              </a:rPr>
              <a:t>points to amyloid angiopathy</a:t>
            </a:r>
            <a:endParaRPr lang="en-US" sz="1400" dirty="0"/>
          </a:p>
        </p:txBody>
      </p:sp>
      <p:sp>
        <p:nvSpPr>
          <p:cNvPr id="8" name="Text 3"/>
          <p:cNvSpPr txBox="1"/>
          <p:nvPr/>
        </p:nvSpPr>
        <p:spPr>
          <a:xfrm>
            <a:off x="3337560" y="4663440"/>
            <a:ext cx="2286000" cy="548640"/>
          </a:xfrm>
          <a:prstGeom prst="rect">
            <a:avLst/>
          </a:prstGeom>
          <a:noFill/>
          <a:ln/>
        </p:spPr>
        <p:txBody>
          <a:bodyPr wrap="square" lIns="0" tIns="0" rIns="0" bIns="0" rtlCol="0" anchor="t"/>
          <a:lstStyle/>
          <a:p>
            <a:pPr indent="0" marL="0">
              <a:buNone/>
            </a:pPr>
            <a:r>
              <a:rPr lang="en-US" sz="1400" b="1" dirty="0">
                <a:solidFill>
                  <a:srgbClr val="13233A"/>
                </a:solidFill>
                <a:latin typeface="Calibri" pitchFamily="34" charset="0"/>
                <a:ea typeface="Calibri" pitchFamily="34" charset="-122"/>
                <a:cs typeface="Calibri" pitchFamily="34" charset="-120"/>
              </a:rPr>
              <a:t>Deep</a:t>
            </a:r>
            <a:endParaRPr lang="en-US" sz="1400" dirty="0"/>
          </a:p>
          <a:p>
            <a:pPr indent="0" marL="0">
              <a:buNone/>
            </a:pPr>
            <a:r>
              <a:rPr lang="en-US" sz="1400" dirty="0">
                <a:solidFill>
                  <a:srgbClr val="3E5C76"/>
                </a:solidFill>
                <a:latin typeface="Calibri" pitchFamily="34" charset="0"/>
                <a:ea typeface="Calibri" pitchFamily="34" charset="-122"/>
                <a:cs typeface="Calibri" pitchFamily="34" charset="-120"/>
              </a:rPr>
              <a:t>points to hypertensive disease</a:t>
            </a:r>
            <a:endParaRPr lang="en-US" sz="1400" dirty="0"/>
          </a:p>
        </p:txBody>
      </p:sp>
      <p:sp>
        <p:nvSpPr>
          <p:cNvPr id="9" name="Text 4"/>
          <p:cNvSpPr txBox="1"/>
          <p:nvPr/>
        </p:nvSpPr>
        <p:spPr>
          <a:xfrm>
            <a:off x="731520" y="5303520"/>
            <a:ext cx="4846320" cy="502920"/>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Seen in </a:t>
            </a:r>
            <a:pPr indent="0" marL="0">
              <a:buNone/>
            </a:pPr>
            <a:r>
              <a:rPr lang="en-US" sz="1400" b="1" dirty="0">
                <a:solidFill>
                  <a:srgbClr val="C1272D"/>
                </a:solidFill>
                <a:latin typeface="Calibri" pitchFamily="34" charset="0"/>
                <a:ea typeface="Calibri" pitchFamily="34" charset="-122"/>
                <a:cs typeface="Calibri" pitchFamily="34" charset="-120"/>
              </a:rPr>
              <a:t>5%</a:t>
            </a:r>
            <a:pPr indent="0" marL="0">
              <a:buNone/>
            </a:pPr>
            <a:r>
              <a:rPr lang="en-US" sz="1400" dirty="0">
                <a:solidFill>
                  <a:srgbClr val="1B2230"/>
                </a:solidFill>
                <a:latin typeface="Calibri" pitchFamily="34" charset="0"/>
                <a:ea typeface="Calibri" pitchFamily="34" charset="-122"/>
                <a:cs typeface="Calibri" pitchFamily="34" charset="-120"/>
              </a:rPr>
              <a:t> of healthy adults, </a:t>
            </a:r>
            <a:pPr indent="0" marL="0">
              <a:buNone/>
            </a:pPr>
            <a:r>
              <a:rPr lang="en-US" sz="1400" b="1" dirty="0">
                <a:solidFill>
                  <a:srgbClr val="C1272D"/>
                </a:solidFill>
                <a:latin typeface="Calibri" pitchFamily="34" charset="0"/>
                <a:ea typeface="Calibri" pitchFamily="34" charset="-122"/>
                <a:cs typeface="Calibri" pitchFamily="34" charset="-120"/>
              </a:rPr>
              <a:t>34%</a:t>
            </a:r>
            <a:pPr indent="0" marL="0">
              <a:buNone/>
            </a:pPr>
            <a:r>
              <a:rPr lang="en-US" sz="1400" dirty="0">
                <a:solidFill>
                  <a:srgbClr val="1B2230"/>
                </a:solidFill>
                <a:latin typeface="Calibri" pitchFamily="34" charset="0"/>
                <a:ea typeface="Calibri" pitchFamily="34" charset="-122"/>
                <a:cs typeface="Calibri" pitchFamily="34" charset="-120"/>
              </a:rPr>
              <a:t> after ischaemic stroke and </a:t>
            </a:r>
            <a:pPr indent="0" marL="0">
              <a:buNone/>
            </a:pPr>
            <a:r>
              <a:rPr lang="en-US" sz="1400" b="1" dirty="0">
                <a:solidFill>
                  <a:srgbClr val="C1272D"/>
                </a:solidFill>
                <a:latin typeface="Calibri" pitchFamily="34" charset="0"/>
                <a:ea typeface="Calibri" pitchFamily="34" charset="-122"/>
                <a:cs typeface="Calibri" pitchFamily="34" charset="-120"/>
              </a:rPr>
              <a:t>60%</a:t>
            </a:r>
            <a:pPr indent="0" marL="0">
              <a:buNone/>
            </a:pPr>
            <a:r>
              <a:rPr lang="en-US" sz="1400" dirty="0">
                <a:solidFill>
                  <a:srgbClr val="1B2230"/>
                </a:solidFill>
                <a:latin typeface="Calibri" pitchFamily="34" charset="0"/>
                <a:ea typeface="Calibri" pitchFamily="34" charset="-122"/>
                <a:cs typeface="Calibri" pitchFamily="34" charset="-120"/>
              </a:rPr>
              <a:t> after ICH.</a:t>
            </a:r>
            <a:endParaRPr lang="en-US" sz="1400" dirty="0"/>
          </a:p>
        </p:txBody>
      </p:sp>
      <p:sp>
        <p:nvSpPr>
          <p:cNvPr id="10" name="Shape 5"/>
          <p:cNvSpPr/>
          <p:nvPr/>
        </p:nvSpPr>
        <p:spPr>
          <a:xfrm>
            <a:off x="5943600" y="2057400"/>
            <a:ext cx="5699455" cy="3749040"/>
          </a:xfrm>
          <a:prstGeom prst="roundRect">
            <a:avLst>
              <a:gd name="adj" fmla="val 2439"/>
            </a:avLst>
          </a:prstGeom>
          <a:solidFill>
            <a:srgbClr val="E8EDF3"/>
          </a:solidFill>
          <a:ln w="6350">
            <a:solidFill>
              <a:srgbClr val="E8EDF3"/>
            </a:solidFill>
            <a:prstDash val="solid"/>
          </a:ln>
        </p:spPr>
      </p:sp>
      <p:sp>
        <p:nvSpPr>
          <p:cNvPr id="11" name="Text 6"/>
          <p:cNvSpPr txBox="1"/>
          <p:nvPr/>
        </p:nvSpPr>
        <p:spPr>
          <a:xfrm>
            <a:off x="6263640" y="2240280"/>
            <a:ext cx="5059375" cy="365760"/>
          </a:xfrm>
          <a:prstGeom prst="rect">
            <a:avLst/>
          </a:prstGeom>
          <a:noFill/>
          <a:ln/>
        </p:spPr>
        <p:txBody>
          <a:bodyPr wrap="square" lIns="0" tIns="0" rIns="0" bIns="0" rtlCol="0" anchor="t"/>
          <a:lstStyle/>
          <a:p>
            <a:pPr indent="0" marL="0">
              <a:buNone/>
            </a:pPr>
            <a:r>
              <a:rPr lang="en-US" sz="1800" b="1" dirty="0">
                <a:solidFill>
                  <a:srgbClr val="13233A"/>
                </a:solidFill>
                <a:latin typeface="Calibri" pitchFamily="34" charset="0"/>
                <a:ea typeface="Calibri" pitchFamily="34" charset="-122"/>
                <a:cs typeface="Calibri" pitchFamily="34" charset="-120"/>
              </a:rPr>
              <a:t>Modified Boston criteria: diagnosing CAA in life</a:t>
            </a:r>
            <a:endParaRPr lang="en-US" sz="1800" dirty="0"/>
          </a:p>
        </p:txBody>
      </p:sp>
      <p:sp>
        <p:nvSpPr>
          <p:cNvPr id="12" name="Shape 7"/>
          <p:cNvSpPr/>
          <p:nvPr/>
        </p:nvSpPr>
        <p:spPr>
          <a:xfrm>
            <a:off x="6263640" y="2788920"/>
            <a:ext cx="1234440" cy="347472"/>
          </a:xfrm>
          <a:prstGeom prst="roundRect">
            <a:avLst>
              <a:gd name="adj" fmla="val 50000"/>
            </a:avLst>
          </a:prstGeom>
          <a:solidFill>
            <a:srgbClr val="FFFFFF"/>
          </a:solidFill>
          <a:ln w="6350">
            <a:solidFill>
              <a:srgbClr val="FFFFFF"/>
            </a:solidFill>
            <a:prstDash val="solid"/>
          </a:ln>
        </p:spPr>
      </p:sp>
      <p:sp>
        <p:nvSpPr>
          <p:cNvPr id="13" name="Text 8"/>
          <p:cNvSpPr txBox="1"/>
          <p:nvPr/>
        </p:nvSpPr>
        <p:spPr>
          <a:xfrm>
            <a:off x="6263640" y="2788920"/>
            <a:ext cx="1234440" cy="347472"/>
          </a:xfrm>
          <a:prstGeom prst="rect">
            <a:avLst/>
          </a:prstGeom>
          <a:noFill/>
          <a:ln/>
        </p:spPr>
        <p:txBody>
          <a:bodyPr wrap="square" lIns="0" tIns="0" rIns="0" bIns="0" rtlCol="0" anchor="ctr"/>
          <a:lstStyle/>
          <a:p>
            <a:pPr algn="ctr" indent="0" marL="0">
              <a:buNone/>
            </a:pPr>
            <a:r>
              <a:rPr lang="en-US" sz="1300" b="1" dirty="0">
                <a:solidFill>
                  <a:srgbClr val="13233A"/>
                </a:solidFill>
                <a:latin typeface="Calibri" pitchFamily="34" charset="0"/>
                <a:ea typeface="Calibri" pitchFamily="34" charset="-122"/>
                <a:cs typeface="Calibri" pitchFamily="34" charset="-120"/>
              </a:rPr>
              <a:t>Definite</a:t>
            </a:r>
            <a:endParaRPr lang="en-US" sz="1300" dirty="0"/>
          </a:p>
        </p:txBody>
      </p:sp>
      <p:sp>
        <p:nvSpPr>
          <p:cNvPr id="14" name="Text 9"/>
          <p:cNvSpPr txBox="1"/>
          <p:nvPr/>
        </p:nvSpPr>
        <p:spPr>
          <a:xfrm>
            <a:off x="7680960" y="2770632"/>
            <a:ext cx="3642055" cy="777240"/>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Full post-mortem shows severe CAA with a lobar bleed.</a:t>
            </a:r>
            <a:endParaRPr lang="en-US" sz="1400" dirty="0"/>
          </a:p>
        </p:txBody>
      </p:sp>
      <p:sp>
        <p:nvSpPr>
          <p:cNvPr id="15" name="Shape 10"/>
          <p:cNvSpPr/>
          <p:nvPr/>
        </p:nvSpPr>
        <p:spPr>
          <a:xfrm>
            <a:off x="6263640" y="3657600"/>
            <a:ext cx="1234440" cy="347472"/>
          </a:xfrm>
          <a:prstGeom prst="roundRect">
            <a:avLst>
              <a:gd name="adj" fmla="val 50000"/>
            </a:avLst>
          </a:prstGeom>
          <a:solidFill>
            <a:srgbClr val="C1272D"/>
          </a:solidFill>
          <a:ln w="6350">
            <a:solidFill>
              <a:srgbClr val="C1272D"/>
            </a:solidFill>
            <a:prstDash val="solid"/>
          </a:ln>
        </p:spPr>
      </p:sp>
      <p:sp>
        <p:nvSpPr>
          <p:cNvPr id="16" name="Text 11"/>
          <p:cNvSpPr txBox="1"/>
          <p:nvPr/>
        </p:nvSpPr>
        <p:spPr>
          <a:xfrm>
            <a:off x="6263640" y="3657600"/>
            <a:ext cx="123444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Probable</a:t>
            </a:r>
            <a:endParaRPr lang="en-US" sz="1300" dirty="0"/>
          </a:p>
        </p:txBody>
      </p:sp>
      <p:sp>
        <p:nvSpPr>
          <p:cNvPr id="17" name="Text 12"/>
          <p:cNvSpPr txBox="1"/>
          <p:nvPr/>
        </p:nvSpPr>
        <p:spPr>
          <a:xfrm>
            <a:off x="7680960" y="3639312"/>
            <a:ext cx="3642055" cy="777240"/>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Age ≥ 55; multiple lobar or cortical bleeds, or one plus cortical superficial siderosis; no other cause.</a:t>
            </a:r>
            <a:endParaRPr lang="en-US" sz="1400" dirty="0"/>
          </a:p>
        </p:txBody>
      </p:sp>
      <p:sp>
        <p:nvSpPr>
          <p:cNvPr id="18" name="Shape 13"/>
          <p:cNvSpPr/>
          <p:nvPr/>
        </p:nvSpPr>
        <p:spPr>
          <a:xfrm>
            <a:off x="6263640" y="4526280"/>
            <a:ext cx="1234440" cy="347472"/>
          </a:xfrm>
          <a:prstGeom prst="roundRect">
            <a:avLst>
              <a:gd name="adj" fmla="val 50000"/>
            </a:avLst>
          </a:prstGeom>
          <a:solidFill>
            <a:srgbClr val="FFFFFF"/>
          </a:solidFill>
          <a:ln w="6350">
            <a:solidFill>
              <a:srgbClr val="FFFFFF"/>
            </a:solidFill>
            <a:prstDash val="solid"/>
          </a:ln>
        </p:spPr>
      </p:sp>
      <p:sp>
        <p:nvSpPr>
          <p:cNvPr id="19" name="Text 14"/>
          <p:cNvSpPr txBox="1"/>
          <p:nvPr/>
        </p:nvSpPr>
        <p:spPr>
          <a:xfrm>
            <a:off x="6263640" y="4526280"/>
            <a:ext cx="1234440" cy="347472"/>
          </a:xfrm>
          <a:prstGeom prst="rect">
            <a:avLst/>
          </a:prstGeom>
          <a:noFill/>
          <a:ln/>
        </p:spPr>
        <p:txBody>
          <a:bodyPr wrap="square" lIns="0" tIns="0" rIns="0" bIns="0" rtlCol="0" anchor="ctr"/>
          <a:lstStyle/>
          <a:p>
            <a:pPr algn="ctr" indent="0" marL="0">
              <a:buNone/>
            </a:pPr>
            <a:r>
              <a:rPr lang="en-US" sz="1300" b="1" dirty="0">
                <a:solidFill>
                  <a:srgbClr val="13233A"/>
                </a:solidFill>
                <a:latin typeface="Calibri" pitchFamily="34" charset="0"/>
                <a:ea typeface="Calibri" pitchFamily="34" charset="-122"/>
                <a:cs typeface="Calibri" pitchFamily="34" charset="-120"/>
              </a:rPr>
              <a:t>Possible</a:t>
            </a:r>
            <a:endParaRPr lang="en-US" sz="1300" dirty="0"/>
          </a:p>
        </p:txBody>
      </p:sp>
      <p:sp>
        <p:nvSpPr>
          <p:cNvPr id="20" name="Text 15"/>
          <p:cNvSpPr txBox="1"/>
          <p:nvPr/>
        </p:nvSpPr>
        <p:spPr>
          <a:xfrm>
            <a:off x="7680960" y="4507992"/>
            <a:ext cx="3642055" cy="777240"/>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Age ≥ 55; a single lobar bleed or siderosis; no other cause.</a:t>
            </a:r>
            <a:endParaRPr lang="en-US" sz="1400" dirty="0"/>
          </a:p>
        </p:txBody>
      </p:sp>
      <p:sp>
        <p:nvSpPr>
          <p:cNvPr id="21" name="Shape 16"/>
          <p:cNvSpPr/>
          <p:nvPr/>
        </p:nvSpPr>
        <p:spPr>
          <a:xfrm>
            <a:off x="6263640" y="5330952"/>
            <a:ext cx="384048" cy="384048"/>
          </a:xfrm>
          <a:prstGeom prst="ellipse">
            <a:avLst/>
          </a:prstGeom>
          <a:solidFill>
            <a:srgbClr val="3E5C76"/>
          </a:solidFill>
          <a:ln w="6350">
            <a:solidFill>
              <a:srgbClr val="3E5C76"/>
            </a:solidFill>
            <a:prstDash val="solid"/>
          </a:ln>
        </p:spPr>
      </p:sp>
      <p:pic>
        <p:nvPicPr>
          <p:cNvPr id="22" name="Image 2" descr="preencoded.png">    </p:cNvPr>
          <p:cNvPicPr>
            <a:picLocks noChangeAspect="1"/>
          </p:cNvPicPr>
          <p:nvPr/>
        </p:nvPicPr>
        <p:blipFill>
          <a:blip r:embed="rId3"/>
          <a:stretch>
            <a:fillRect/>
          </a:stretch>
        </p:blipFill>
        <p:spPr>
          <a:xfrm>
            <a:off x="6359652" y="5426964"/>
            <a:ext cx="192024" cy="192024"/>
          </a:xfrm>
          <a:prstGeom prst="rect">
            <a:avLst/>
          </a:prstGeom>
        </p:spPr>
      </p:pic>
      <p:sp>
        <p:nvSpPr>
          <p:cNvPr id="23" name="Text 17"/>
          <p:cNvSpPr txBox="1"/>
          <p:nvPr/>
        </p:nvSpPr>
        <p:spPr>
          <a:xfrm>
            <a:off x="6812280" y="5303520"/>
            <a:ext cx="4510735" cy="438912"/>
          </a:xfrm>
          <a:prstGeom prst="rect">
            <a:avLst/>
          </a:prstGeom>
          <a:noFill/>
          <a:ln/>
        </p:spPr>
        <p:txBody>
          <a:bodyPr wrap="square" lIns="0" tIns="0" rIns="0" bIns="0" rtlCol="0" anchor="ctr"/>
          <a:lstStyle/>
          <a:p>
            <a:pPr indent="0" marL="0">
              <a:buNone/>
            </a:pPr>
            <a:r>
              <a:rPr lang="en-US" sz="1400" dirty="0">
                <a:solidFill>
                  <a:srgbClr val="3E5C76"/>
                </a:solidFill>
                <a:latin typeface="Calibri" pitchFamily="34" charset="0"/>
                <a:ea typeface="Calibri" pitchFamily="34" charset="-122"/>
                <a:cs typeface="Calibri" pitchFamily="34" charset="-120"/>
              </a:rPr>
              <a:t>APOE ε2 and ε4 raise the risk of amyloid-related bleeding.</a:t>
            </a:r>
            <a:endParaRPr lang="en-US" sz="1400" dirty="0"/>
          </a:p>
        </p:txBody>
      </p:sp>
      <p:sp>
        <p:nvSpPr>
          <p:cNvPr id="24" name="Text 18"/>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000" i="1" dirty="0">
                <a:solidFill>
                  <a:srgbClr val="667285"/>
                </a:solidFill>
                <a:latin typeface="Calibri" pitchFamily="34" charset="0"/>
                <a:ea typeface="Calibri" pitchFamily="34" charset="-122"/>
                <a:cs typeface="Calibri" pitchFamily="34" charset="-120"/>
              </a:rPr>
              <a:t>Cordonnier et al., Brain 2007 (systematic review); Knudsen et al., Neurology 2001; Linn et al., Neurology 2010.</a:t>
            </a:r>
            <a:endParaRPr lang="en-US" sz="1000" dirty="0"/>
          </a:p>
        </p:txBody>
      </p:sp>
      <p:sp>
        <p:nvSpPr>
          <p:cNvPr id="25" name="Text 19"/>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26" name="Shape 20"/>
          <p:cNvSpPr/>
          <p:nvPr/>
        </p:nvSpPr>
        <p:spPr>
          <a:xfrm>
            <a:off x="7360920" y="6460236"/>
            <a:ext cx="118872" cy="118872"/>
          </a:xfrm>
          <a:prstGeom prst="ellipse">
            <a:avLst/>
          </a:prstGeom>
          <a:solidFill>
            <a:srgbClr val="C1272D"/>
          </a:solidFill>
          <a:ln w="6350">
            <a:solidFill>
              <a:srgbClr val="C1272D"/>
            </a:solidFill>
            <a:prstDash val="solid"/>
          </a:ln>
        </p:spPr>
      </p:sp>
      <p:sp>
        <p:nvSpPr>
          <p:cNvPr id="27" name="Text 21"/>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b="1" dirty="0">
                <a:solidFill>
                  <a:srgbClr val="C1272D"/>
                </a:solidFill>
                <a:latin typeface="Calibri" pitchFamily="34" charset="0"/>
                <a:ea typeface="Calibri" pitchFamily="34" charset="-122"/>
                <a:cs typeface="Calibri" pitchFamily="34" charset="-120"/>
              </a:rPr>
              <a:t>Vessel</a:t>
            </a:r>
            <a:endParaRPr lang="en-US" sz="1000" dirty="0"/>
          </a:p>
        </p:txBody>
      </p:sp>
      <p:sp>
        <p:nvSpPr>
          <p:cNvPr id="28" name="Shape 22"/>
          <p:cNvSpPr/>
          <p:nvPr/>
        </p:nvSpPr>
        <p:spPr>
          <a:xfrm>
            <a:off x="8275320" y="6460236"/>
            <a:ext cx="118872" cy="118872"/>
          </a:xfrm>
          <a:prstGeom prst="ellipse">
            <a:avLst/>
          </a:prstGeom>
          <a:solidFill>
            <a:srgbClr val="C9D2DE"/>
          </a:solidFill>
          <a:ln w="6350">
            <a:solidFill>
              <a:srgbClr val="C9D2DE"/>
            </a:solidFill>
            <a:prstDash val="solid"/>
          </a:ln>
        </p:spPr>
      </p:sp>
      <p:sp>
        <p:nvSpPr>
          <p:cNvPr id="29" name="Text 23"/>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Hours</a:t>
            </a:r>
            <a:endParaRPr lang="en-US" sz="1000" dirty="0"/>
          </a:p>
        </p:txBody>
      </p:sp>
      <p:sp>
        <p:nvSpPr>
          <p:cNvPr id="30" name="Shape 24"/>
          <p:cNvSpPr/>
          <p:nvPr/>
        </p:nvSpPr>
        <p:spPr>
          <a:xfrm>
            <a:off x="9189720" y="6460236"/>
            <a:ext cx="118872" cy="118872"/>
          </a:xfrm>
          <a:prstGeom prst="ellipse">
            <a:avLst/>
          </a:prstGeom>
          <a:solidFill>
            <a:srgbClr val="C9D2DE"/>
          </a:solidFill>
          <a:ln w="6350">
            <a:solidFill>
              <a:srgbClr val="C9D2DE"/>
            </a:solidFill>
            <a:prstDash val="solid"/>
          </a:ln>
        </p:spPr>
      </p:sp>
      <p:sp>
        <p:nvSpPr>
          <p:cNvPr id="31" name="Text 25"/>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Days</a:t>
            </a:r>
            <a:endParaRPr lang="en-US" sz="1000" dirty="0"/>
          </a:p>
        </p:txBody>
      </p:sp>
      <p:sp>
        <p:nvSpPr>
          <p:cNvPr id="32" name="Shape 26"/>
          <p:cNvSpPr/>
          <p:nvPr/>
        </p:nvSpPr>
        <p:spPr>
          <a:xfrm>
            <a:off x="10104120" y="6460236"/>
            <a:ext cx="118872" cy="118872"/>
          </a:xfrm>
          <a:prstGeom prst="ellipse">
            <a:avLst/>
          </a:prstGeom>
          <a:solidFill>
            <a:srgbClr val="C9D2DE"/>
          </a:solidFill>
          <a:ln w="6350">
            <a:solidFill>
              <a:srgbClr val="C9D2DE"/>
            </a:solidFill>
            <a:prstDash val="solid"/>
          </a:ln>
        </p:spPr>
      </p:sp>
      <p:sp>
        <p:nvSpPr>
          <p:cNvPr id="33" name="Text 27"/>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34" name="Text 28"/>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9</a:t>
            </a:r>
            <a:endParaRPr lang="en-US" sz="10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01 · THE BROKEN VESSEL</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Always ask: is something else causing this bleed?</a:t>
            </a:r>
            <a:endParaRPr lang="en-US" sz="3600" dirty="0"/>
          </a:p>
        </p:txBody>
      </p:sp>
      <p:sp>
        <p:nvSpPr>
          <p:cNvPr id="5" name="Shape 2"/>
          <p:cNvSpPr/>
          <p:nvPr/>
        </p:nvSpPr>
        <p:spPr>
          <a:xfrm>
            <a:off x="548640" y="2103120"/>
            <a:ext cx="3515258" cy="1783080"/>
          </a:xfrm>
          <a:prstGeom prst="roundRect">
            <a:avLst>
              <a:gd name="adj" fmla="val 5128"/>
            </a:avLst>
          </a:prstGeom>
          <a:solidFill>
            <a:srgbClr val="F3F5F8"/>
          </a:solidFill>
          <a:ln w="6350">
            <a:solidFill>
              <a:srgbClr val="F3F5F8"/>
            </a:solidFill>
            <a:prstDash val="solid"/>
          </a:ln>
        </p:spPr>
      </p:sp>
      <p:sp>
        <p:nvSpPr>
          <p:cNvPr id="6" name="Shape 3"/>
          <p:cNvSpPr/>
          <p:nvPr/>
        </p:nvSpPr>
        <p:spPr>
          <a:xfrm>
            <a:off x="822960" y="2359152"/>
            <a:ext cx="502920" cy="502920"/>
          </a:xfrm>
          <a:prstGeom prst="ellipse">
            <a:avLst/>
          </a:prstGeom>
          <a:solidFill>
            <a:srgbClr val="13233A"/>
          </a:solidFill>
          <a:ln w="6350">
            <a:solidFill>
              <a:srgbClr val="13233A"/>
            </a:solidFill>
            <a:prstDash val="solid"/>
          </a:ln>
        </p:spPr>
      </p:sp>
      <p:pic>
        <p:nvPicPr>
          <p:cNvPr id="7" name="Image 0" descr="preencoded.png">    </p:cNvPr>
          <p:cNvPicPr>
            <a:picLocks noChangeAspect="1"/>
          </p:cNvPicPr>
          <p:nvPr/>
        </p:nvPicPr>
        <p:blipFill>
          <a:blip r:embed="rId1"/>
          <a:stretch>
            <a:fillRect/>
          </a:stretch>
        </p:blipFill>
        <p:spPr>
          <a:xfrm>
            <a:off x="948690" y="2484882"/>
            <a:ext cx="251460" cy="251460"/>
          </a:xfrm>
          <a:prstGeom prst="rect">
            <a:avLst/>
          </a:prstGeom>
        </p:spPr>
      </p:pic>
      <p:sp>
        <p:nvSpPr>
          <p:cNvPr id="8" name="Text 4"/>
          <p:cNvSpPr txBox="1"/>
          <p:nvPr/>
        </p:nvSpPr>
        <p:spPr>
          <a:xfrm>
            <a:off x="822960" y="2953512"/>
            <a:ext cx="2966618" cy="347472"/>
          </a:xfrm>
          <a:prstGeom prst="rect">
            <a:avLst/>
          </a:prstGeom>
          <a:noFill/>
          <a:ln/>
        </p:spPr>
        <p:txBody>
          <a:bodyPr wrap="square" lIns="0" tIns="0" rIns="0" bIns="0" rtlCol="0" anchor="t"/>
          <a:lstStyle/>
          <a:p>
            <a:pPr indent="0" marL="0">
              <a:buNone/>
            </a:pPr>
            <a:r>
              <a:rPr lang="en-US" sz="1700" b="1" dirty="0">
                <a:solidFill>
                  <a:srgbClr val="13233A"/>
                </a:solidFill>
                <a:latin typeface="Calibri" pitchFamily="34" charset="0"/>
                <a:ea typeface="Calibri" pitchFamily="34" charset="-122"/>
                <a:cs typeface="Calibri" pitchFamily="34" charset="-120"/>
              </a:rPr>
              <a:t>Vascular malformations</a:t>
            </a:r>
            <a:endParaRPr lang="en-US" sz="1700" dirty="0"/>
          </a:p>
        </p:txBody>
      </p:sp>
      <p:sp>
        <p:nvSpPr>
          <p:cNvPr id="9" name="Text 5"/>
          <p:cNvSpPr txBox="1"/>
          <p:nvPr/>
        </p:nvSpPr>
        <p:spPr>
          <a:xfrm>
            <a:off x="822960" y="3310128"/>
            <a:ext cx="3058058" cy="530352"/>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AVM, cavernoma, dural fistula or aneurysm. Commonest in the young.</a:t>
            </a:r>
            <a:endParaRPr lang="en-US" sz="1400" dirty="0"/>
          </a:p>
        </p:txBody>
      </p:sp>
      <p:sp>
        <p:nvSpPr>
          <p:cNvPr id="10" name="Shape 6"/>
          <p:cNvSpPr/>
          <p:nvPr/>
        </p:nvSpPr>
        <p:spPr>
          <a:xfrm>
            <a:off x="4338218" y="2103120"/>
            <a:ext cx="3515258" cy="1783080"/>
          </a:xfrm>
          <a:prstGeom prst="roundRect">
            <a:avLst>
              <a:gd name="adj" fmla="val 5128"/>
            </a:avLst>
          </a:prstGeom>
          <a:solidFill>
            <a:srgbClr val="F3F5F8"/>
          </a:solidFill>
          <a:ln w="6350">
            <a:solidFill>
              <a:srgbClr val="F3F5F8"/>
            </a:solidFill>
            <a:prstDash val="solid"/>
          </a:ln>
        </p:spPr>
      </p:sp>
      <p:sp>
        <p:nvSpPr>
          <p:cNvPr id="11" name="Shape 7"/>
          <p:cNvSpPr/>
          <p:nvPr/>
        </p:nvSpPr>
        <p:spPr>
          <a:xfrm>
            <a:off x="4612538" y="2359152"/>
            <a:ext cx="502920" cy="502920"/>
          </a:xfrm>
          <a:prstGeom prst="ellipse">
            <a:avLst/>
          </a:prstGeom>
          <a:solidFill>
            <a:srgbClr val="C1272D"/>
          </a:solidFill>
          <a:ln w="6350">
            <a:solidFill>
              <a:srgbClr val="C1272D"/>
            </a:solidFill>
            <a:prstDash val="solid"/>
          </a:ln>
        </p:spPr>
      </p:sp>
      <p:pic>
        <p:nvPicPr>
          <p:cNvPr id="12" name="Image 1" descr="preencoded.png">    </p:cNvPr>
          <p:cNvPicPr>
            <a:picLocks noChangeAspect="1"/>
          </p:cNvPicPr>
          <p:nvPr/>
        </p:nvPicPr>
        <p:blipFill>
          <a:blip r:embed="rId2"/>
          <a:stretch>
            <a:fillRect/>
          </a:stretch>
        </p:blipFill>
        <p:spPr>
          <a:xfrm>
            <a:off x="4738268" y="2484882"/>
            <a:ext cx="251460" cy="251460"/>
          </a:xfrm>
          <a:prstGeom prst="rect">
            <a:avLst/>
          </a:prstGeom>
        </p:spPr>
      </p:pic>
      <p:sp>
        <p:nvSpPr>
          <p:cNvPr id="13" name="Text 8"/>
          <p:cNvSpPr txBox="1"/>
          <p:nvPr/>
        </p:nvSpPr>
        <p:spPr>
          <a:xfrm>
            <a:off x="4612538" y="2953512"/>
            <a:ext cx="2966618" cy="347472"/>
          </a:xfrm>
          <a:prstGeom prst="rect">
            <a:avLst/>
          </a:prstGeom>
          <a:noFill/>
          <a:ln/>
        </p:spPr>
        <p:txBody>
          <a:bodyPr wrap="square" lIns="0" tIns="0" rIns="0" bIns="0" rtlCol="0" anchor="t"/>
          <a:lstStyle/>
          <a:p>
            <a:pPr indent="0" marL="0">
              <a:buNone/>
            </a:pPr>
            <a:r>
              <a:rPr lang="en-US" sz="1700" b="1" dirty="0">
                <a:solidFill>
                  <a:srgbClr val="13233A"/>
                </a:solidFill>
                <a:latin typeface="Calibri" pitchFamily="34" charset="0"/>
                <a:ea typeface="Calibri" pitchFamily="34" charset="-122"/>
                <a:cs typeface="Calibri" pitchFamily="34" charset="-120"/>
              </a:rPr>
              <a:t>Antithrombotic drugs</a:t>
            </a:r>
            <a:endParaRPr lang="en-US" sz="1700" dirty="0"/>
          </a:p>
        </p:txBody>
      </p:sp>
      <p:sp>
        <p:nvSpPr>
          <p:cNvPr id="14" name="Text 9"/>
          <p:cNvSpPr txBox="1"/>
          <p:nvPr/>
        </p:nvSpPr>
        <p:spPr>
          <a:xfrm>
            <a:off x="4612538" y="3310128"/>
            <a:ext cx="3058058" cy="530352"/>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Anticoagulants make bleeds larger and keep them growing for longer.</a:t>
            </a:r>
            <a:endParaRPr lang="en-US" sz="1400" dirty="0"/>
          </a:p>
        </p:txBody>
      </p:sp>
      <p:sp>
        <p:nvSpPr>
          <p:cNvPr id="15" name="Shape 10"/>
          <p:cNvSpPr/>
          <p:nvPr/>
        </p:nvSpPr>
        <p:spPr>
          <a:xfrm>
            <a:off x="8127797" y="2103120"/>
            <a:ext cx="3515258" cy="1783080"/>
          </a:xfrm>
          <a:prstGeom prst="roundRect">
            <a:avLst>
              <a:gd name="adj" fmla="val 5128"/>
            </a:avLst>
          </a:prstGeom>
          <a:solidFill>
            <a:srgbClr val="F3F5F8"/>
          </a:solidFill>
          <a:ln w="6350">
            <a:solidFill>
              <a:srgbClr val="F3F5F8"/>
            </a:solidFill>
            <a:prstDash val="solid"/>
          </a:ln>
        </p:spPr>
      </p:sp>
      <p:sp>
        <p:nvSpPr>
          <p:cNvPr id="16" name="Shape 11"/>
          <p:cNvSpPr/>
          <p:nvPr/>
        </p:nvSpPr>
        <p:spPr>
          <a:xfrm>
            <a:off x="8402117" y="2359152"/>
            <a:ext cx="502920" cy="502920"/>
          </a:xfrm>
          <a:prstGeom prst="ellipse">
            <a:avLst/>
          </a:prstGeom>
          <a:solidFill>
            <a:srgbClr val="13233A"/>
          </a:solidFill>
          <a:ln w="6350">
            <a:solidFill>
              <a:srgbClr val="13233A"/>
            </a:solidFill>
            <a:prstDash val="solid"/>
          </a:ln>
        </p:spPr>
      </p:sp>
      <p:pic>
        <p:nvPicPr>
          <p:cNvPr id="17" name="Image 2" descr="preencoded.png">    </p:cNvPr>
          <p:cNvPicPr>
            <a:picLocks noChangeAspect="1"/>
          </p:cNvPicPr>
          <p:nvPr/>
        </p:nvPicPr>
        <p:blipFill>
          <a:blip r:embed="rId3"/>
          <a:stretch>
            <a:fillRect/>
          </a:stretch>
        </p:blipFill>
        <p:spPr>
          <a:xfrm>
            <a:off x="8527847" y="2484882"/>
            <a:ext cx="251460" cy="251460"/>
          </a:xfrm>
          <a:prstGeom prst="rect">
            <a:avLst/>
          </a:prstGeom>
        </p:spPr>
      </p:pic>
      <p:sp>
        <p:nvSpPr>
          <p:cNvPr id="18" name="Text 12"/>
          <p:cNvSpPr txBox="1"/>
          <p:nvPr/>
        </p:nvSpPr>
        <p:spPr>
          <a:xfrm>
            <a:off x="8402117" y="2953512"/>
            <a:ext cx="2966618" cy="347472"/>
          </a:xfrm>
          <a:prstGeom prst="rect">
            <a:avLst/>
          </a:prstGeom>
          <a:noFill/>
          <a:ln/>
        </p:spPr>
        <p:txBody>
          <a:bodyPr wrap="square" lIns="0" tIns="0" rIns="0" bIns="0" rtlCol="0" anchor="t"/>
          <a:lstStyle/>
          <a:p>
            <a:pPr indent="0" marL="0">
              <a:buNone/>
            </a:pPr>
            <a:r>
              <a:rPr lang="en-US" sz="1700" b="1" dirty="0">
                <a:solidFill>
                  <a:srgbClr val="13233A"/>
                </a:solidFill>
                <a:latin typeface="Calibri" pitchFamily="34" charset="0"/>
                <a:ea typeface="Calibri" pitchFamily="34" charset="-122"/>
                <a:cs typeface="Calibri" pitchFamily="34" charset="-120"/>
              </a:rPr>
              <a:t>Tumours</a:t>
            </a:r>
            <a:endParaRPr lang="en-US" sz="1700" dirty="0"/>
          </a:p>
        </p:txBody>
      </p:sp>
      <p:sp>
        <p:nvSpPr>
          <p:cNvPr id="19" name="Text 13"/>
          <p:cNvSpPr txBox="1"/>
          <p:nvPr/>
        </p:nvSpPr>
        <p:spPr>
          <a:xfrm>
            <a:off x="8402117" y="3310128"/>
            <a:ext cx="3058058" cy="530352"/>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Primary or metastatic. Fragile new tumour vessels bleed easily.</a:t>
            </a:r>
            <a:endParaRPr lang="en-US" sz="1400" dirty="0"/>
          </a:p>
        </p:txBody>
      </p:sp>
      <p:sp>
        <p:nvSpPr>
          <p:cNvPr id="20" name="Shape 14"/>
          <p:cNvSpPr/>
          <p:nvPr/>
        </p:nvSpPr>
        <p:spPr>
          <a:xfrm>
            <a:off x="548640" y="4069080"/>
            <a:ext cx="3515258" cy="1783080"/>
          </a:xfrm>
          <a:prstGeom prst="roundRect">
            <a:avLst>
              <a:gd name="adj" fmla="val 5128"/>
            </a:avLst>
          </a:prstGeom>
          <a:solidFill>
            <a:srgbClr val="F3F5F8"/>
          </a:solidFill>
          <a:ln w="6350">
            <a:solidFill>
              <a:srgbClr val="F3F5F8"/>
            </a:solidFill>
            <a:prstDash val="solid"/>
          </a:ln>
        </p:spPr>
      </p:sp>
      <p:sp>
        <p:nvSpPr>
          <p:cNvPr id="21" name="Shape 15"/>
          <p:cNvSpPr/>
          <p:nvPr/>
        </p:nvSpPr>
        <p:spPr>
          <a:xfrm>
            <a:off x="822960" y="4325112"/>
            <a:ext cx="502920" cy="502920"/>
          </a:xfrm>
          <a:prstGeom prst="ellipse">
            <a:avLst/>
          </a:prstGeom>
          <a:solidFill>
            <a:srgbClr val="13233A"/>
          </a:solidFill>
          <a:ln w="6350">
            <a:solidFill>
              <a:srgbClr val="13233A"/>
            </a:solidFill>
            <a:prstDash val="solid"/>
          </a:ln>
        </p:spPr>
      </p:sp>
      <p:pic>
        <p:nvPicPr>
          <p:cNvPr id="22" name="Image 3" descr="preencoded.png">    </p:cNvPr>
          <p:cNvPicPr>
            <a:picLocks noChangeAspect="1"/>
          </p:cNvPicPr>
          <p:nvPr/>
        </p:nvPicPr>
        <p:blipFill>
          <a:blip r:embed="rId4"/>
          <a:stretch>
            <a:fillRect/>
          </a:stretch>
        </p:blipFill>
        <p:spPr>
          <a:xfrm>
            <a:off x="948690" y="4450842"/>
            <a:ext cx="251460" cy="251460"/>
          </a:xfrm>
          <a:prstGeom prst="rect">
            <a:avLst/>
          </a:prstGeom>
        </p:spPr>
      </p:pic>
      <p:sp>
        <p:nvSpPr>
          <p:cNvPr id="23" name="Text 16"/>
          <p:cNvSpPr txBox="1"/>
          <p:nvPr/>
        </p:nvSpPr>
        <p:spPr>
          <a:xfrm>
            <a:off x="822960" y="4919472"/>
            <a:ext cx="2966618" cy="347472"/>
          </a:xfrm>
          <a:prstGeom prst="rect">
            <a:avLst/>
          </a:prstGeom>
          <a:noFill/>
          <a:ln/>
        </p:spPr>
        <p:txBody>
          <a:bodyPr wrap="square" lIns="0" tIns="0" rIns="0" bIns="0" rtlCol="0" anchor="t"/>
          <a:lstStyle/>
          <a:p>
            <a:pPr indent="0" marL="0">
              <a:buNone/>
            </a:pPr>
            <a:r>
              <a:rPr lang="en-US" sz="1700" b="1" dirty="0">
                <a:solidFill>
                  <a:srgbClr val="13233A"/>
                </a:solidFill>
                <a:latin typeface="Calibri" pitchFamily="34" charset="0"/>
                <a:ea typeface="Calibri" pitchFamily="34" charset="-122"/>
                <a:cs typeface="Calibri" pitchFamily="34" charset="-120"/>
              </a:rPr>
              <a:t>Venous thrombosis</a:t>
            </a:r>
            <a:endParaRPr lang="en-US" sz="1700" dirty="0"/>
          </a:p>
        </p:txBody>
      </p:sp>
      <p:sp>
        <p:nvSpPr>
          <p:cNvPr id="24" name="Text 17"/>
          <p:cNvSpPr txBox="1"/>
          <p:nvPr/>
        </p:nvSpPr>
        <p:spPr>
          <a:xfrm>
            <a:off x="822960" y="5276088"/>
            <a:ext cx="3058058" cy="530352"/>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Blocked drainage raises venous pressure until the tissue bleeds.</a:t>
            </a:r>
            <a:endParaRPr lang="en-US" sz="1400" dirty="0"/>
          </a:p>
        </p:txBody>
      </p:sp>
      <p:sp>
        <p:nvSpPr>
          <p:cNvPr id="25" name="Shape 18"/>
          <p:cNvSpPr/>
          <p:nvPr/>
        </p:nvSpPr>
        <p:spPr>
          <a:xfrm>
            <a:off x="4338218" y="4069080"/>
            <a:ext cx="3515258" cy="1783080"/>
          </a:xfrm>
          <a:prstGeom prst="roundRect">
            <a:avLst>
              <a:gd name="adj" fmla="val 5128"/>
            </a:avLst>
          </a:prstGeom>
          <a:solidFill>
            <a:srgbClr val="F3F5F8"/>
          </a:solidFill>
          <a:ln w="6350">
            <a:solidFill>
              <a:srgbClr val="F3F5F8"/>
            </a:solidFill>
            <a:prstDash val="solid"/>
          </a:ln>
        </p:spPr>
      </p:sp>
      <p:sp>
        <p:nvSpPr>
          <p:cNvPr id="26" name="Shape 19"/>
          <p:cNvSpPr/>
          <p:nvPr/>
        </p:nvSpPr>
        <p:spPr>
          <a:xfrm>
            <a:off x="4612538" y="4325112"/>
            <a:ext cx="502920" cy="502920"/>
          </a:xfrm>
          <a:prstGeom prst="ellipse">
            <a:avLst/>
          </a:prstGeom>
          <a:solidFill>
            <a:srgbClr val="13233A"/>
          </a:solidFill>
          <a:ln w="6350">
            <a:solidFill>
              <a:srgbClr val="13233A"/>
            </a:solidFill>
            <a:prstDash val="solid"/>
          </a:ln>
        </p:spPr>
      </p:sp>
      <p:pic>
        <p:nvPicPr>
          <p:cNvPr id="27" name="Image 4" descr="preencoded.png">    </p:cNvPr>
          <p:cNvPicPr>
            <a:picLocks noChangeAspect="1"/>
          </p:cNvPicPr>
          <p:nvPr/>
        </p:nvPicPr>
        <p:blipFill>
          <a:blip r:embed="rId5"/>
          <a:stretch>
            <a:fillRect/>
          </a:stretch>
        </p:blipFill>
        <p:spPr>
          <a:xfrm>
            <a:off x="4738268" y="4450842"/>
            <a:ext cx="251460" cy="251460"/>
          </a:xfrm>
          <a:prstGeom prst="rect">
            <a:avLst/>
          </a:prstGeom>
        </p:spPr>
      </p:pic>
      <p:sp>
        <p:nvSpPr>
          <p:cNvPr id="28" name="Text 20"/>
          <p:cNvSpPr txBox="1"/>
          <p:nvPr/>
        </p:nvSpPr>
        <p:spPr>
          <a:xfrm>
            <a:off x="4612538" y="4919472"/>
            <a:ext cx="2966618" cy="347472"/>
          </a:xfrm>
          <a:prstGeom prst="rect">
            <a:avLst/>
          </a:prstGeom>
          <a:noFill/>
          <a:ln/>
        </p:spPr>
        <p:txBody>
          <a:bodyPr wrap="square" lIns="0" tIns="0" rIns="0" bIns="0" rtlCol="0" anchor="t"/>
          <a:lstStyle/>
          <a:p>
            <a:pPr indent="0" marL="0">
              <a:buNone/>
            </a:pPr>
            <a:r>
              <a:rPr lang="en-US" sz="1700" b="1" dirty="0">
                <a:solidFill>
                  <a:srgbClr val="13233A"/>
                </a:solidFill>
                <a:latin typeface="Calibri" pitchFamily="34" charset="0"/>
                <a:ea typeface="Calibri" pitchFamily="34" charset="-122"/>
                <a:cs typeface="Calibri" pitchFamily="34" charset="-120"/>
              </a:rPr>
              <a:t>Haemorrhagic transformation</a:t>
            </a:r>
            <a:endParaRPr lang="en-US" sz="1700" dirty="0"/>
          </a:p>
        </p:txBody>
      </p:sp>
      <p:sp>
        <p:nvSpPr>
          <p:cNvPr id="29" name="Text 21"/>
          <p:cNvSpPr txBox="1"/>
          <p:nvPr/>
        </p:nvSpPr>
        <p:spPr>
          <a:xfrm>
            <a:off x="4612538" y="5276088"/>
            <a:ext cx="3058058" cy="530352"/>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An infarct turns into a bleed, sometimes after reperfusion.</a:t>
            </a:r>
            <a:endParaRPr lang="en-US" sz="1400" dirty="0"/>
          </a:p>
        </p:txBody>
      </p:sp>
      <p:sp>
        <p:nvSpPr>
          <p:cNvPr id="30" name="Shape 22"/>
          <p:cNvSpPr/>
          <p:nvPr/>
        </p:nvSpPr>
        <p:spPr>
          <a:xfrm>
            <a:off x="8127797" y="4069080"/>
            <a:ext cx="3515258" cy="1783080"/>
          </a:xfrm>
          <a:prstGeom prst="roundRect">
            <a:avLst>
              <a:gd name="adj" fmla="val 5128"/>
            </a:avLst>
          </a:prstGeom>
          <a:solidFill>
            <a:srgbClr val="F3F5F8"/>
          </a:solidFill>
          <a:ln w="6350">
            <a:solidFill>
              <a:srgbClr val="F3F5F8"/>
            </a:solidFill>
            <a:prstDash val="solid"/>
          </a:ln>
        </p:spPr>
      </p:sp>
      <p:sp>
        <p:nvSpPr>
          <p:cNvPr id="31" name="Shape 23"/>
          <p:cNvSpPr/>
          <p:nvPr/>
        </p:nvSpPr>
        <p:spPr>
          <a:xfrm>
            <a:off x="8402117" y="4325112"/>
            <a:ext cx="502920" cy="502920"/>
          </a:xfrm>
          <a:prstGeom prst="ellipse">
            <a:avLst/>
          </a:prstGeom>
          <a:solidFill>
            <a:srgbClr val="13233A"/>
          </a:solidFill>
          <a:ln w="6350">
            <a:solidFill>
              <a:srgbClr val="13233A"/>
            </a:solidFill>
            <a:prstDash val="solid"/>
          </a:ln>
        </p:spPr>
      </p:sp>
      <p:pic>
        <p:nvPicPr>
          <p:cNvPr id="32" name="Image 5" descr="preencoded.png">    </p:cNvPr>
          <p:cNvPicPr>
            <a:picLocks noChangeAspect="1"/>
          </p:cNvPicPr>
          <p:nvPr/>
        </p:nvPicPr>
        <p:blipFill>
          <a:blip r:embed="rId6"/>
          <a:stretch>
            <a:fillRect/>
          </a:stretch>
        </p:blipFill>
        <p:spPr>
          <a:xfrm>
            <a:off x="8527847" y="4450842"/>
            <a:ext cx="251460" cy="251460"/>
          </a:xfrm>
          <a:prstGeom prst="rect">
            <a:avLst/>
          </a:prstGeom>
        </p:spPr>
      </p:pic>
      <p:sp>
        <p:nvSpPr>
          <p:cNvPr id="33" name="Text 24"/>
          <p:cNvSpPr txBox="1"/>
          <p:nvPr/>
        </p:nvSpPr>
        <p:spPr>
          <a:xfrm>
            <a:off x="8402117" y="4919472"/>
            <a:ext cx="2966618" cy="347472"/>
          </a:xfrm>
          <a:prstGeom prst="rect">
            <a:avLst/>
          </a:prstGeom>
          <a:noFill/>
          <a:ln/>
        </p:spPr>
        <p:txBody>
          <a:bodyPr wrap="square" lIns="0" tIns="0" rIns="0" bIns="0" rtlCol="0" anchor="t"/>
          <a:lstStyle/>
          <a:p>
            <a:pPr indent="0" marL="0">
              <a:buNone/>
            </a:pPr>
            <a:r>
              <a:rPr lang="en-US" sz="1700" b="1" dirty="0">
                <a:solidFill>
                  <a:srgbClr val="13233A"/>
                </a:solidFill>
                <a:latin typeface="Calibri" pitchFamily="34" charset="0"/>
                <a:ea typeface="Calibri" pitchFamily="34" charset="-122"/>
                <a:cs typeface="Calibri" pitchFamily="34" charset="-120"/>
              </a:rPr>
              <a:t>Other causes</a:t>
            </a:r>
            <a:endParaRPr lang="en-US" sz="1700" dirty="0"/>
          </a:p>
        </p:txBody>
      </p:sp>
      <p:sp>
        <p:nvSpPr>
          <p:cNvPr id="34" name="Text 25"/>
          <p:cNvSpPr txBox="1"/>
          <p:nvPr/>
        </p:nvSpPr>
        <p:spPr>
          <a:xfrm>
            <a:off x="8402117" y="5276088"/>
            <a:ext cx="3058058" cy="530352"/>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Cocaine, amphetamines, vasculitis, RCVS, moyamoya, coagulopathy.</a:t>
            </a:r>
            <a:endParaRPr lang="en-US" sz="1400" dirty="0"/>
          </a:p>
        </p:txBody>
      </p:sp>
      <p:sp>
        <p:nvSpPr>
          <p:cNvPr id="35" name="Text 26"/>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36" name="Shape 27"/>
          <p:cNvSpPr/>
          <p:nvPr/>
        </p:nvSpPr>
        <p:spPr>
          <a:xfrm>
            <a:off x="7360920" y="6460236"/>
            <a:ext cx="118872" cy="118872"/>
          </a:xfrm>
          <a:prstGeom prst="ellipse">
            <a:avLst/>
          </a:prstGeom>
          <a:solidFill>
            <a:srgbClr val="C1272D"/>
          </a:solidFill>
          <a:ln w="6350">
            <a:solidFill>
              <a:srgbClr val="C1272D"/>
            </a:solidFill>
            <a:prstDash val="solid"/>
          </a:ln>
        </p:spPr>
      </p:sp>
      <p:sp>
        <p:nvSpPr>
          <p:cNvPr id="37" name="Text 28"/>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b="1" dirty="0">
                <a:solidFill>
                  <a:srgbClr val="C1272D"/>
                </a:solidFill>
                <a:latin typeface="Calibri" pitchFamily="34" charset="0"/>
                <a:ea typeface="Calibri" pitchFamily="34" charset="-122"/>
                <a:cs typeface="Calibri" pitchFamily="34" charset="-120"/>
              </a:rPr>
              <a:t>Vessel</a:t>
            </a:r>
            <a:endParaRPr lang="en-US" sz="1000" dirty="0"/>
          </a:p>
        </p:txBody>
      </p:sp>
      <p:sp>
        <p:nvSpPr>
          <p:cNvPr id="38" name="Shape 29"/>
          <p:cNvSpPr/>
          <p:nvPr/>
        </p:nvSpPr>
        <p:spPr>
          <a:xfrm>
            <a:off x="8275320" y="6460236"/>
            <a:ext cx="118872" cy="118872"/>
          </a:xfrm>
          <a:prstGeom prst="ellipse">
            <a:avLst/>
          </a:prstGeom>
          <a:solidFill>
            <a:srgbClr val="C9D2DE"/>
          </a:solidFill>
          <a:ln w="6350">
            <a:solidFill>
              <a:srgbClr val="C9D2DE"/>
            </a:solidFill>
            <a:prstDash val="solid"/>
          </a:ln>
        </p:spPr>
      </p:sp>
      <p:sp>
        <p:nvSpPr>
          <p:cNvPr id="39" name="Text 30"/>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Hours</a:t>
            </a:r>
            <a:endParaRPr lang="en-US" sz="1000" dirty="0"/>
          </a:p>
        </p:txBody>
      </p:sp>
      <p:sp>
        <p:nvSpPr>
          <p:cNvPr id="40" name="Shape 31"/>
          <p:cNvSpPr/>
          <p:nvPr/>
        </p:nvSpPr>
        <p:spPr>
          <a:xfrm>
            <a:off x="9189720" y="6460236"/>
            <a:ext cx="118872" cy="118872"/>
          </a:xfrm>
          <a:prstGeom prst="ellipse">
            <a:avLst/>
          </a:prstGeom>
          <a:solidFill>
            <a:srgbClr val="C9D2DE"/>
          </a:solidFill>
          <a:ln w="6350">
            <a:solidFill>
              <a:srgbClr val="C9D2DE"/>
            </a:solidFill>
            <a:prstDash val="solid"/>
          </a:ln>
        </p:spPr>
      </p:sp>
      <p:sp>
        <p:nvSpPr>
          <p:cNvPr id="41" name="Text 32"/>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Days</a:t>
            </a:r>
            <a:endParaRPr lang="en-US" sz="1000" dirty="0"/>
          </a:p>
        </p:txBody>
      </p:sp>
      <p:sp>
        <p:nvSpPr>
          <p:cNvPr id="42" name="Shape 33"/>
          <p:cNvSpPr/>
          <p:nvPr/>
        </p:nvSpPr>
        <p:spPr>
          <a:xfrm>
            <a:off x="10104120" y="6460236"/>
            <a:ext cx="118872" cy="118872"/>
          </a:xfrm>
          <a:prstGeom prst="ellipse">
            <a:avLst/>
          </a:prstGeom>
          <a:solidFill>
            <a:srgbClr val="C9D2DE"/>
          </a:solidFill>
          <a:ln w="6350">
            <a:solidFill>
              <a:srgbClr val="C9D2DE"/>
            </a:solidFill>
            <a:prstDash val="solid"/>
          </a:ln>
        </p:spPr>
      </p:sp>
      <p:sp>
        <p:nvSpPr>
          <p:cNvPr id="43" name="Text 34"/>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44" name="Text 35"/>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10</a:t>
            </a:r>
            <a:endParaRPr lang="en-US" sz="1000" dirty="0"/>
          </a:p>
        </p:txBody>
      </p:sp>
    </p:spTree>
  </p:cSld>
  <p:clrMapOvr>
    <a:masterClrMapping/>
  </p:clrMapOvr>
  <p:transition spd="med">
    <p:fade/>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01 · THE BROKEN VESSEL</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Some features demand a hunt for a hidden lesion</a:t>
            </a:r>
            <a:endParaRPr lang="en-US" sz="3600" dirty="0"/>
          </a:p>
        </p:txBody>
      </p:sp>
      <p:sp>
        <p:nvSpPr>
          <p:cNvPr id="5" name="Shape 2"/>
          <p:cNvSpPr/>
          <p:nvPr/>
        </p:nvSpPr>
        <p:spPr>
          <a:xfrm>
            <a:off x="548640" y="2103120"/>
            <a:ext cx="457200" cy="457200"/>
          </a:xfrm>
          <a:prstGeom prst="ellipse">
            <a:avLst/>
          </a:prstGeom>
          <a:solidFill>
            <a:srgbClr val="13233A"/>
          </a:solidFill>
          <a:ln w="6350">
            <a:solidFill>
              <a:srgbClr val="13233A"/>
            </a:solidFill>
            <a:prstDash val="solid"/>
          </a:ln>
        </p:spPr>
      </p:sp>
      <p:pic>
        <p:nvPicPr>
          <p:cNvPr id="6" name="Image 0" descr="preencoded.png">    </p:cNvPr>
          <p:cNvPicPr>
            <a:picLocks noChangeAspect="1"/>
          </p:cNvPicPr>
          <p:nvPr/>
        </p:nvPicPr>
        <p:blipFill>
          <a:blip r:embed="rId1"/>
          <a:stretch>
            <a:fillRect/>
          </a:stretch>
        </p:blipFill>
        <p:spPr>
          <a:xfrm>
            <a:off x="662940" y="2217420"/>
            <a:ext cx="228600" cy="228600"/>
          </a:xfrm>
          <a:prstGeom prst="rect">
            <a:avLst/>
          </a:prstGeom>
        </p:spPr>
      </p:pic>
      <p:sp>
        <p:nvSpPr>
          <p:cNvPr id="7" name="Text 3"/>
          <p:cNvSpPr txBox="1"/>
          <p:nvPr/>
        </p:nvSpPr>
        <p:spPr>
          <a:xfrm>
            <a:off x="1188720" y="2103120"/>
            <a:ext cx="5852160" cy="457200"/>
          </a:xfrm>
          <a:prstGeom prst="rect">
            <a:avLst/>
          </a:prstGeom>
          <a:noFill/>
          <a:ln/>
        </p:spPr>
        <p:txBody>
          <a:bodyPr wrap="square" lIns="0" tIns="0" rIns="0" bIns="0" rtlCol="0" anchor="ctr"/>
          <a:lstStyle/>
          <a:p>
            <a:pPr indent="0" marL="0">
              <a:buNone/>
            </a:pPr>
            <a:r>
              <a:rPr lang="en-US" sz="1600" dirty="0">
                <a:solidFill>
                  <a:srgbClr val="1B2230"/>
                </a:solidFill>
                <a:latin typeface="Calibri" pitchFamily="34" charset="0"/>
                <a:ea typeface="Calibri" pitchFamily="34" charset="-122"/>
                <a:cs typeface="Calibri" pitchFamily="34" charset="-120"/>
              </a:rPr>
              <a:t>Younger patient (45 or under)</a:t>
            </a:r>
            <a:endParaRPr lang="en-US" sz="1600" dirty="0"/>
          </a:p>
        </p:txBody>
      </p:sp>
      <p:sp>
        <p:nvSpPr>
          <p:cNvPr id="8" name="Shape 4"/>
          <p:cNvSpPr/>
          <p:nvPr/>
        </p:nvSpPr>
        <p:spPr>
          <a:xfrm>
            <a:off x="548640" y="2724912"/>
            <a:ext cx="457200" cy="457200"/>
          </a:xfrm>
          <a:prstGeom prst="ellipse">
            <a:avLst/>
          </a:prstGeom>
          <a:solidFill>
            <a:srgbClr val="13233A"/>
          </a:solidFill>
          <a:ln w="6350">
            <a:solidFill>
              <a:srgbClr val="13233A"/>
            </a:solidFill>
            <a:prstDash val="solid"/>
          </a:ln>
        </p:spPr>
      </p:sp>
      <p:pic>
        <p:nvPicPr>
          <p:cNvPr id="9" name="Image 1" descr="preencoded.png">    </p:cNvPr>
          <p:cNvPicPr>
            <a:picLocks noChangeAspect="1"/>
          </p:cNvPicPr>
          <p:nvPr/>
        </p:nvPicPr>
        <p:blipFill>
          <a:blip r:embed="rId2"/>
          <a:stretch>
            <a:fillRect/>
          </a:stretch>
        </p:blipFill>
        <p:spPr>
          <a:xfrm>
            <a:off x="662940" y="2839212"/>
            <a:ext cx="228600" cy="228600"/>
          </a:xfrm>
          <a:prstGeom prst="rect">
            <a:avLst/>
          </a:prstGeom>
        </p:spPr>
      </p:pic>
      <p:sp>
        <p:nvSpPr>
          <p:cNvPr id="10" name="Text 5"/>
          <p:cNvSpPr txBox="1"/>
          <p:nvPr/>
        </p:nvSpPr>
        <p:spPr>
          <a:xfrm>
            <a:off x="1188720" y="2724912"/>
            <a:ext cx="5852160" cy="457200"/>
          </a:xfrm>
          <a:prstGeom prst="rect">
            <a:avLst/>
          </a:prstGeom>
          <a:noFill/>
          <a:ln/>
        </p:spPr>
        <p:txBody>
          <a:bodyPr wrap="square" lIns="0" tIns="0" rIns="0" bIns="0" rtlCol="0" anchor="ctr"/>
          <a:lstStyle/>
          <a:p>
            <a:pPr indent="0" marL="0">
              <a:buNone/>
            </a:pPr>
            <a:r>
              <a:rPr lang="en-US" sz="1600" dirty="0">
                <a:solidFill>
                  <a:srgbClr val="1B2230"/>
                </a:solidFill>
                <a:latin typeface="Calibri" pitchFamily="34" charset="0"/>
                <a:ea typeface="Calibri" pitchFamily="34" charset="-122"/>
                <a:cs typeface="Calibri" pitchFamily="34" charset="-120"/>
              </a:rPr>
              <a:t>No history of hypertension</a:t>
            </a:r>
            <a:endParaRPr lang="en-US" sz="1600" dirty="0"/>
          </a:p>
        </p:txBody>
      </p:sp>
      <p:sp>
        <p:nvSpPr>
          <p:cNvPr id="11" name="Shape 6"/>
          <p:cNvSpPr/>
          <p:nvPr/>
        </p:nvSpPr>
        <p:spPr>
          <a:xfrm>
            <a:off x="548640" y="3346704"/>
            <a:ext cx="457200" cy="457200"/>
          </a:xfrm>
          <a:prstGeom prst="ellipse">
            <a:avLst/>
          </a:prstGeom>
          <a:solidFill>
            <a:srgbClr val="13233A"/>
          </a:solidFill>
          <a:ln w="6350">
            <a:solidFill>
              <a:srgbClr val="13233A"/>
            </a:solidFill>
            <a:prstDash val="solid"/>
          </a:ln>
        </p:spPr>
      </p:sp>
      <p:pic>
        <p:nvPicPr>
          <p:cNvPr id="12" name="Image 2" descr="preencoded.png">    </p:cNvPr>
          <p:cNvPicPr>
            <a:picLocks noChangeAspect="1"/>
          </p:cNvPicPr>
          <p:nvPr/>
        </p:nvPicPr>
        <p:blipFill>
          <a:blip r:embed="rId3"/>
          <a:stretch>
            <a:fillRect/>
          </a:stretch>
        </p:blipFill>
        <p:spPr>
          <a:xfrm>
            <a:off x="662940" y="3461004"/>
            <a:ext cx="228600" cy="228600"/>
          </a:xfrm>
          <a:prstGeom prst="rect">
            <a:avLst/>
          </a:prstGeom>
        </p:spPr>
      </p:pic>
      <p:sp>
        <p:nvSpPr>
          <p:cNvPr id="13" name="Text 7"/>
          <p:cNvSpPr txBox="1"/>
          <p:nvPr/>
        </p:nvSpPr>
        <p:spPr>
          <a:xfrm>
            <a:off x="1188720" y="3346704"/>
            <a:ext cx="5852160" cy="457200"/>
          </a:xfrm>
          <a:prstGeom prst="rect">
            <a:avLst/>
          </a:prstGeom>
          <a:noFill/>
          <a:ln/>
        </p:spPr>
        <p:txBody>
          <a:bodyPr wrap="square" lIns="0" tIns="0" rIns="0" bIns="0" rtlCol="0" anchor="ctr"/>
          <a:lstStyle/>
          <a:p>
            <a:pPr indent="0" marL="0">
              <a:buNone/>
            </a:pPr>
            <a:r>
              <a:rPr lang="en-US" sz="1600" dirty="0">
                <a:solidFill>
                  <a:srgbClr val="1B2230"/>
                </a:solidFill>
                <a:latin typeface="Calibri" pitchFamily="34" charset="0"/>
                <a:ea typeface="Calibri" pitchFamily="34" charset="-122"/>
                <a:cs typeface="Calibri" pitchFamily="34" charset="-120"/>
              </a:rPr>
              <a:t>Lobar bleed, or blood only in the ventricles</a:t>
            </a:r>
            <a:endParaRPr lang="en-US" sz="1600" dirty="0"/>
          </a:p>
        </p:txBody>
      </p:sp>
      <p:sp>
        <p:nvSpPr>
          <p:cNvPr id="14" name="Shape 8"/>
          <p:cNvSpPr/>
          <p:nvPr/>
        </p:nvSpPr>
        <p:spPr>
          <a:xfrm>
            <a:off x="548640" y="3968496"/>
            <a:ext cx="457200" cy="457200"/>
          </a:xfrm>
          <a:prstGeom prst="ellipse">
            <a:avLst/>
          </a:prstGeom>
          <a:solidFill>
            <a:srgbClr val="13233A"/>
          </a:solidFill>
          <a:ln w="6350">
            <a:solidFill>
              <a:srgbClr val="13233A"/>
            </a:solidFill>
            <a:prstDash val="solid"/>
          </a:ln>
        </p:spPr>
      </p:sp>
      <p:pic>
        <p:nvPicPr>
          <p:cNvPr id="15" name="Image 3" descr="preencoded.png">    </p:cNvPr>
          <p:cNvPicPr>
            <a:picLocks noChangeAspect="1"/>
          </p:cNvPicPr>
          <p:nvPr/>
        </p:nvPicPr>
        <p:blipFill>
          <a:blip r:embed="rId4"/>
          <a:stretch>
            <a:fillRect/>
          </a:stretch>
        </p:blipFill>
        <p:spPr>
          <a:xfrm>
            <a:off x="662940" y="4082796"/>
            <a:ext cx="228600" cy="228600"/>
          </a:xfrm>
          <a:prstGeom prst="rect">
            <a:avLst/>
          </a:prstGeom>
        </p:spPr>
      </p:pic>
      <p:sp>
        <p:nvSpPr>
          <p:cNvPr id="16" name="Text 9"/>
          <p:cNvSpPr txBox="1"/>
          <p:nvPr/>
        </p:nvSpPr>
        <p:spPr>
          <a:xfrm>
            <a:off x="1188720" y="3968496"/>
            <a:ext cx="5852160" cy="457200"/>
          </a:xfrm>
          <a:prstGeom prst="rect">
            <a:avLst/>
          </a:prstGeom>
          <a:noFill/>
          <a:ln/>
        </p:spPr>
        <p:txBody>
          <a:bodyPr wrap="square" lIns="0" tIns="0" rIns="0" bIns="0" rtlCol="0" anchor="ctr"/>
          <a:lstStyle/>
          <a:p>
            <a:pPr indent="0" marL="0">
              <a:buNone/>
            </a:pPr>
            <a:r>
              <a:rPr lang="en-US" sz="1600" dirty="0">
                <a:solidFill>
                  <a:srgbClr val="1B2230"/>
                </a:solidFill>
                <a:latin typeface="Calibri" pitchFamily="34" charset="0"/>
                <a:ea typeface="Calibri" pitchFamily="34" charset="-122"/>
                <a:cs typeface="Calibri" pitchFamily="34" charset="-120"/>
              </a:rPr>
              <a:t>CT clues: subarachnoid blood, calcification, abnormal vessels</a:t>
            </a:r>
            <a:endParaRPr lang="en-US" sz="1600" dirty="0"/>
          </a:p>
        </p:txBody>
      </p:sp>
      <p:sp>
        <p:nvSpPr>
          <p:cNvPr id="17" name="Shape 10"/>
          <p:cNvSpPr/>
          <p:nvPr/>
        </p:nvSpPr>
        <p:spPr>
          <a:xfrm>
            <a:off x="548640" y="4590288"/>
            <a:ext cx="457200" cy="457200"/>
          </a:xfrm>
          <a:prstGeom prst="ellipse">
            <a:avLst/>
          </a:prstGeom>
          <a:solidFill>
            <a:srgbClr val="13233A"/>
          </a:solidFill>
          <a:ln w="6350">
            <a:solidFill>
              <a:srgbClr val="13233A"/>
            </a:solidFill>
            <a:prstDash val="solid"/>
          </a:ln>
        </p:spPr>
      </p:sp>
      <p:pic>
        <p:nvPicPr>
          <p:cNvPr id="18" name="Image 4" descr="preencoded.png">    </p:cNvPr>
          <p:cNvPicPr>
            <a:picLocks noChangeAspect="1"/>
          </p:cNvPicPr>
          <p:nvPr/>
        </p:nvPicPr>
        <p:blipFill>
          <a:blip r:embed="rId5"/>
          <a:stretch>
            <a:fillRect/>
          </a:stretch>
        </p:blipFill>
        <p:spPr>
          <a:xfrm>
            <a:off x="662940" y="4704588"/>
            <a:ext cx="228600" cy="228600"/>
          </a:xfrm>
          <a:prstGeom prst="rect">
            <a:avLst/>
          </a:prstGeom>
        </p:spPr>
      </p:pic>
      <p:sp>
        <p:nvSpPr>
          <p:cNvPr id="19" name="Text 11"/>
          <p:cNvSpPr txBox="1"/>
          <p:nvPr/>
        </p:nvSpPr>
        <p:spPr>
          <a:xfrm>
            <a:off x="1188720" y="4590288"/>
            <a:ext cx="5852160" cy="457200"/>
          </a:xfrm>
          <a:prstGeom prst="rect">
            <a:avLst/>
          </a:prstGeom>
          <a:noFill/>
          <a:ln/>
        </p:spPr>
        <p:txBody>
          <a:bodyPr wrap="square" lIns="0" tIns="0" rIns="0" bIns="0" rtlCol="0" anchor="ctr"/>
          <a:lstStyle/>
          <a:p>
            <a:pPr indent="0" marL="0">
              <a:buNone/>
            </a:pPr>
            <a:r>
              <a:rPr lang="en-US" sz="1600" dirty="0">
                <a:solidFill>
                  <a:srgbClr val="1B2230"/>
                </a:solidFill>
                <a:latin typeface="Calibri" pitchFamily="34" charset="0"/>
                <a:ea typeface="Calibri" pitchFamily="34" charset="-122"/>
                <a:cs typeface="Calibri" pitchFamily="34" charset="-120"/>
              </a:rPr>
              <a:t>Bleed next to a venous sinus, or a dense sinus</a:t>
            </a:r>
            <a:endParaRPr lang="en-US" sz="1600" dirty="0"/>
          </a:p>
        </p:txBody>
      </p:sp>
      <p:sp>
        <p:nvSpPr>
          <p:cNvPr id="20" name="Shape 12"/>
          <p:cNvSpPr/>
          <p:nvPr/>
        </p:nvSpPr>
        <p:spPr>
          <a:xfrm>
            <a:off x="548640" y="5212080"/>
            <a:ext cx="457200" cy="457200"/>
          </a:xfrm>
          <a:prstGeom prst="ellipse">
            <a:avLst/>
          </a:prstGeom>
          <a:solidFill>
            <a:srgbClr val="13233A"/>
          </a:solidFill>
          <a:ln w="6350">
            <a:solidFill>
              <a:srgbClr val="13233A"/>
            </a:solidFill>
            <a:prstDash val="solid"/>
          </a:ln>
        </p:spPr>
      </p:sp>
      <p:pic>
        <p:nvPicPr>
          <p:cNvPr id="21" name="Image 5" descr="preencoded.png">    </p:cNvPr>
          <p:cNvPicPr>
            <a:picLocks noChangeAspect="1"/>
          </p:cNvPicPr>
          <p:nvPr/>
        </p:nvPicPr>
        <p:blipFill>
          <a:blip r:embed="rId6"/>
          <a:stretch>
            <a:fillRect/>
          </a:stretch>
        </p:blipFill>
        <p:spPr>
          <a:xfrm>
            <a:off x="662940" y="5326380"/>
            <a:ext cx="228600" cy="228600"/>
          </a:xfrm>
          <a:prstGeom prst="rect">
            <a:avLst/>
          </a:prstGeom>
        </p:spPr>
      </p:pic>
      <p:sp>
        <p:nvSpPr>
          <p:cNvPr id="22" name="Text 13"/>
          <p:cNvSpPr txBox="1"/>
          <p:nvPr/>
        </p:nvSpPr>
        <p:spPr>
          <a:xfrm>
            <a:off x="1188720" y="5212080"/>
            <a:ext cx="5852160" cy="457200"/>
          </a:xfrm>
          <a:prstGeom prst="rect">
            <a:avLst/>
          </a:prstGeom>
          <a:noFill/>
          <a:ln/>
        </p:spPr>
        <p:txBody>
          <a:bodyPr wrap="square" lIns="0" tIns="0" rIns="0" bIns="0" rtlCol="0" anchor="ctr"/>
          <a:lstStyle/>
          <a:p>
            <a:pPr indent="0" marL="0">
              <a:buNone/>
            </a:pPr>
            <a:r>
              <a:rPr lang="en-US" sz="1600" dirty="0">
                <a:solidFill>
                  <a:srgbClr val="1B2230"/>
                </a:solidFill>
                <a:latin typeface="Calibri" pitchFamily="34" charset="0"/>
                <a:ea typeface="Calibri" pitchFamily="34" charset="-122"/>
                <a:cs typeface="Calibri" pitchFamily="34" charset="-120"/>
              </a:rPr>
              <a:t>On anticoagulants: check clotting straight away</a:t>
            </a:r>
            <a:endParaRPr lang="en-US" sz="1600" dirty="0"/>
          </a:p>
        </p:txBody>
      </p:sp>
      <p:sp>
        <p:nvSpPr>
          <p:cNvPr id="23" name="Shape 14"/>
          <p:cNvSpPr/>
          <p:nvPr/>
        </p:nvSpPr>
        <p:spPr>
          <a:xfrm>
            <a:off x="7269480" y="2103120"/>
            <a:ext cx="4373575" cy="1783080"/>
          </a:xfrm>
          <a:prstGeom prst="roundRect">
            <a:avLst>
              <a:gd name="adj" fmla="val 5128"/>
            </a:avLst>
          </a:prstGeom>
          <a:solidFill>
            <a:srgbClr val="F6DCDD"/>
          </a:solidFill>
          <a:ln w="6350">
            <a:solidFill>
              <a:srgbClr val="F6DCDD"/>
            </a:solidFill>
            <a:prstDash val="solid"/>
          </a:ln>
        </p:spPr>
      </p:sp>
      <p:sp>
        <p:nvSpPr>
          <p:cNvPr id="24" name="Text 15"/>
          <p:cNvSpPr txBox="1"/>
          <p:nvPr/>
        </p:nvSpPr>
        <p:spPr>
          <a:xfrm>
            <a:off x="7589520" y="2194560"/>
            <a:ext cx="2011680" cy="868680"/>
          </a:xfrm>
          <a:prstGeom prst="rect">
            <a:avLst/>
          </a:prstGeom>
          <a:noFill/>
          <a:ln/>
        </p:spPr>
        <p:txBody>
          <a:bodyPr wrap="square" lIns="0" tIns="0" rIns="0" bIns="0" rtlCol="0" anchor="ctr"/>
          <a:lstStyle/>
          <a:p>
            <a:pPr indent="0" marL="0">
              <a:buNone/>
            </a:pPr>
            <a:r>
              <a:rPr lang="en-US" sz="5400" b="1" dirty="0">
                <a:solidFill>
                  <a:srgbClr val="C1272D"/>
                </a:solidFill>
                <a:latin typeface="Calibri" pitchFamily="34" charset="0"/>
                <a:ea typeface="Calibri" pitchFamily="34" charset="-122"/>
                <a:cs typeface="Calibri" pitchFamily="34" charset="-120"/>
              </a:rPr>
              <a:t>65%</a:t>
            </a:r>
            <a:endParaRPr lang="en-US" sz="5400" dirty="0"/>
          </a:p>
        </p:txBody>
      </p:sp>
      <p:sp>
        <p:nvSpPr>
          <p:cNvPr id="25" name="Text 16"/>
          <p:cNvSpPr txBox="1"/>
          <p:nvPr/>
        </p:nvSpPr>
        <p:spPr>
          <a:xfrm>
            <a:off x="7589520" y="3063240"/>
            <a:ext cx="3733495" cy="731520"/>
          </a:xfrm>
          <a:prstGeom prst="rect">
            <a:avLst/>
          </a:prstGeom>
          <a:noFill/>
          <a:ln/>
        </p:spPr>
        <p:txBody>
          <a:bodyPr wrap="square" lIns="0" tIns="0" rIns="0" bIns="0" rtlCol="0" anchor="t"/>
          <a:lstStyle/>
          <a:p>
            <a:pPr indent="0" marL="0">
              <a:buNone/>
            </a:pPr>
            <a:r>
              <a:rPr lang="en-US" sz="1400" dirty="0">
                <a:solidFill>
                  <a:srgbClr val="8E1B1F"/>
                </a:solidFill>
                <a:latin typeface="Calibri" pitchFamily="34" charset="0"/>
                <a:ea typeface="Calibri" pitchFamily="34" charset="-122"/>
                <a:cs typeface="Calibri" pitchFamily="34" charset="-120"/>
              </a:rPr>
              <a:t>had a vascular lesion on angiography: aged 45 or under, no hypertension, lobar bleed</a:t>
            </a:r>
            <a:endParaRPr lang="en-US" sz="1400" dirty="0"/>
          </a:p>
        </p:txBody>
      </p:sp>
      <p:sp>
        <p:nvSpPr>
          <p:cNvPr id="26" name="Shape 17"/>
          <p:cNvSpPr/>
          <p:nvPr/>
        </p:nvSpPr>
        <p:spPr>
          <a:xfrm>
            <a:off x="7269480" y="4069080"/>
            <a:ext cx="4373575" cy="1783080"/>
          </a:xfrm>
          <a:prstGeom prst="roundRect">
            <a:avLst>
              <a:gd name="adj" fmla="val 5128"/>
            </a:avLst>
          </a:prstGeom>
          <a:solidFill>
            <a:srgbClr val="F3F5F8"/>
          </a:solidFill>
          <a:ln w="6350">
            <a:solidFill>
              <a:srgbClr val="F3F5F8"/>
            </a:solidFill>
            <a:prstDash val="solid"/>
          </a:ln>
        </p:spPr>
      </p:sp>
      <p:sp>
        <p:nvSpPr>
          <p:cNvPr id="27" name="Text 18"/>
          <p:cNvSpPr txBox="1"/>
          <p:nvPr/>
        </p:nvSpPr>
        <p:spPr>
          <a:xfrm>
            <a:off x="7589520" y="4160520"/>
            <a:ext cx="2011680" cy="868680"/>
          </a:xfrm>
          <a:prstGeom prst="rect">
            <a:avLst/>
          </a:prstGeom>
          <a:noFill/>
          <a:ln/>
        </p:spPr>
        <p:txBody>
          <a:bodyPr wrap="square" lIns="0" tIns="0" rIns="0" bIns="0" rtlCol="0" anchor="ctr"/>
          <a:lstStyle/>
          <a:p>
            <a:pPr indent="0" marL="0">
              <a:buNone/>
            </a:pPr>
            <a:r>
              <a:rPr lang="en-US" sz="5400" b="1" dirty="0">
                <a:solidFill>
                  <a:srgbClr val="13233A"/>
                </a:solidFill>
                <a:latin typeface="Calibri" pitchFamily="34" charset="0"/>
                <a:ea typeface="Calibri" pitchFamily="34" charset="-122"/>
                <a:cs typeface="Calibri" pitchFamily="34" charset="-120"/>
              </a:rPr>
              <a:t>0%</a:t>
            </a:r>
            <a:endParaRPr lang="en-US" sz="5400" dirty="0"/>
          </a:p>
        </p:txBody>
      </p:sp>
      <p:sp>
        <p:nvSpPr>
          <p:cNvPr id="28" name="Text 19"/>
          <p:cNvSpPr txBox="1"/>
          <p:nvPr/>
        </p:nvSpPr>
        <p:spPr>
          <a:xfrm>
            <a:off x="7589520" y="5029200"/>
            <a:ext cx="3733495" cy="731520"/>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had one: over 45, hypertensive, with a putaminal, thalamic or posterior fossa bleed</a:t>
            </a:r>
            <a:endParaRPr lang="en-US" sz="1400" dirty="0"/>
          </a:p>
        </p:txBody>
      </p:sp>
      <p:sp>
        <p:nvSpPr>
          <p:cNvPr id="29" name="Text 20"/>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000" i="1" dirty="0">
                <a:solidFill>
                  <a:srgbClr val="667285"/>
                </a:solidFill>
                <a:latin typeface="Calibri" pitchFamily="34" charset="0"/>
                <a:ea typeface="Calibri" pitchFamily="34" charset="-122"/>
                <a:cs typeface="Calibri" pitchFamily="34" charset="-120"/>
              </a:rPr>
              <a:t>Zhu et al., Stroke 1997 (prospective; 206 patients, all had catheter angiography).</a:t>
            </a:r>
            <a:endParaRPr lang="en-US" sz="1000" dirty="0"/>
          </a:p>
        </p:txBody>
      </p:sp>
      <p:sp>
        <p:nvSpPr>
          <p:cNvPr id="30" name="Text 21"/>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31" name="Shape 22"/>
          <p:cNvSpPr/>
          <p:nvPr/>
        </p:nvSpPr>
        <p:spPr>
          <a:xfrm>
            <a:off x="7360920" y="6460236"/>
            <a:ext cx="118872" cy="118872"/>
          </a:xfrm>
          <a:prstGeom prst="ellipse">
            <a:avLst/>
          </a:prstGeom>
          <a:solidFill>
            <a:srgbClr val="C1272D"/>
          </a:solidFill>
          <a:ln w="6350">
            <a:solidFill>
              <a:srgbClr val="C1272D"/>
            </a:solidFill>
            <a:prstDash val="solid"/>
          </a:ln>
        </p:spPr>
      </p:sp>
      <p:sp>
        <p:nvSpPr>
          <p:cNvPr id="32" name="Text 23"/>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b="1" dirty="0">
                <a:solidFill>
                  <a:srgbClr val="C1272D"/>
                </a:solidFill>
                <a:latin typeface="Calibri" pitchFamily="34" charset="0"/>
                <a:ea typeface="Calibri" pitchFamily="34" charset="-122"/>
                <a:cs typeface="Calibri" pitchFamily="34" charset="-120"/>
              </a:rPr>
              <a:t>Vessel</a:t>
            </a:r>
            <a:endParaRPr lang="en-US" sz="1000" dirty="0"/>
          </a:p>
        </p:txBody>
      </p:sp>
      <p:sp>
        <p:nvSpPr>
          <p:cNvPr id="33" name="Shape 24"/>
          <p:cNvSpPr/>
          <p:nvPr/>
        </p:nvSpPr>
        <p:spPr>
          <a:xfrm>
            <a:off x="8275320" y="6460236"/>
            <a:ext cx="118872" cy="118872"/>
          </a:xfrm>
          <a:prstGeom prst="ellipse">
            <a:avLst/>
          </a:prstGeom>
          <a:solidFill>
            <a:srgbClr val="C9D2DE"/>
          </a:solidFill>
          <a:ln w="6350">
            <a:solidFill>
              <a:srgbClr val="C9D2DE"/>
            </a:solidFill>
            <a:prstDash val="solid"/>
          </a:ln>
        </p:spPr>
      </p:sp>
      <p:sp>
        <p:nvSpPr>
          <p:cNvPr id="34" name="Text 25"/>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Hours</a:t>
            </a:r>
            <a:endParaRPr lang="en-US" sz="1000" dirty="0"/>
          </a:p>
        </p:txBody>
      </p:sp>
      <p:sp>
        <p:nvSpPr>
          <p:cNvPr id="35" name="Shape 26"/>
          <p:cNvSpPr/>
          <p:nvPr/>
        </p:nvSpPr>
        <p:spPr>
          <a:xfrm>
            <a:off x="9189720" y="6460236"/>
            <a:ext cx="118872" cy="118872"/>
          </a:xfrm>
          <a:prstGeom prst="ellipse">
            <a:avLst/>
          </a:prstGeom>
          <a:solidFill>
            <a:srgbClr val="C9D2DE"/>
          </a:solidFill>
          <a:ln w="6350">
            <a:solidFill>
              <a:srgbClr val="C9D2DE"/>
            </a:solidFill>
            <a:prstDash val="solid"/>
          </a:ln>
        </p:spPr>
      </p:sp>
      <p:sp>
        <p:nvSpPr>
          <p:cNvPr id="36" name="Text 27"/>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Days</a:t>
            </a:r>
            <a:endParaRPr lang="en-US" sz="1000" dirty="0"/>
          </a:p>
        </p:txBody>
      </p:sp>
      <p:sp>
        <p:nvSpPr>
          <p:cNvPr id="37" name="Shape 28"/>
          <p:cNvSpPr/>
          <p:nvPr/>
        </p:nvSpPr>
        <p:spPr>
          <a:xfrm>
            <a:off x="10104120" y="6460236"/>
            <a:ext cx="118872" cy="118872"/>
          </a:xfrm>
          <a:prstGeom prst="ellipse">
            <a:avLst/>
          </a:prstGeom>
          <a:solidFill>
            <a:srgbClr val="C9D2DE"/>
          </a:solidFill>
          <a:ln w="6350">
            <a:solidFill>
              <a:srgbClr val="C9D2DE"/>
            </a:solidFill>
            <a:prstDash val="solid"/>
          </a:ln>
        </p:spPr>
      </p:sp>
      <p:sp>
        <p:nvSpPr>
          <p:cNvPr id="38" name="Text 29"/>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39" name="Text 30"/>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11</a:t>
            </a:r>
            <a:endParaRPr lang="en-US" sz="10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3233A"/>
        </a:solidFill>
      </p:bgPr>
    </p:bg>
    <p:spTree>
      <p:nvGrpSpPr>
        <p:cNvPr id="1" name=""/>
        <p:cNvGrpSpPr/>
        <p:nvPr/>
      </p:nvGrpSpPr>
      <p:grpSpPr>
        <a:xfrm>
          <a:off x="0" y="0"/>
          <a:ext cx="0" cy="0"/>
          <a:chOff x="0" y="0"/>
          <a:chExt cx="0" cy="0"/>
        </a:xfrm>
      </p:grpSpPr>
      <p:sp>
        <p:nvSpPr>
          <p:cNvPr id="3" name="Shape 0"/>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Shape 1"/>
          <p:cNvSpPr/>
          <p:nvPr/>
        </p:nvSpPr>
        <p:spPr>
          <a:xfrm>
            <a:off x="8001000" y="2103120"/>
            <a:ext cx="2651760" cy="2651760"/>
          </a:xfrm>
          <a:prstGeom prst="ellipse">
            <a:avLst/>
          </a:prstGeom>
          <a:solidFill>
            <a:srgbClr val="C1272D">
              <a:alpha val="15000"/>
            </a:srgbClr>
          </a:solidFill>
          <a:ln w="6350">
            <a:solidFill>
              <a:srgbClr val="C1272D">
                <a:alpha val="0"/>
              </a:srgbClr>
            </a:solidFill>
            <a:prstDash val="solid"/>
          </a:ln>
        </p:spPr>
      </p:sp>
      <p:sp>
        <p:nvSpPr>
          <p:cNvPr id="5" name="!!bleed"/>
          <p:cNvSpPr/>
          <p:nvPr/>
        </p:nvSpPr>
        <p:spPr>
          <a:xfrm>
            <a:off x="8321040" y="2423160"/>
            <a:ext cx="2011680" cy="2011680"/>
          </a:xfrm>
          <a:prstGeom prst="ellipse">
            <a:avLst/>
          </a:prstGeom>
          <a:solidFill>
            <a:srgbClr val="C1272D"/>
          </a:solidFill>
          <a:ln w="6350">
            <a:solidFill>
              <a:srgbClr val="C1272D"/>
            </a:solidFill>
            <a:prstDash val="solid"/>
          </a:ln>
        </p:spPr>
      </p:sp>
      <p:sp>
        <p:nvSpPr>
          <p:cNvPr id="6" name="Text 3"/>
          <p:cNvSpPr txBox="1"/>
          <p:nvPr/>
        </p:nvSpPr>
        <p:spPr>
          <a:xfrm>
            <a:off x="731520" y="1417320"/>
            <a:ext cx="2743200" cy="1371600"/>
          </a:xfrm>
          <a:prstGeom prst="rect">
            <a:avLst/>
          </a:prstGeom>
          <a:noFill/>
          <a:ln/>
        </p:spPr>
        <p:txBody>
          <a:bodyPr wrap="square" lIns="0" tIns="0" rIns="0" bIns="0" rtlCol="0" anchor="b"/>
          <a:lstStyle/>
          <a:p>
            <a:pPr indent="0" marL="0">
              <a:buNone/>
            </a:pPr>
            <a:r>
              <a:rPr lang="en-US" sz="9600" b="1" dirty="0">
                <a:solidFill>
                  <a:srgbClr val="E0474C"/>
                </a:solidFill>
                <a:latin typeface="Cambria" pitchFamily="34" charset="0"/>
                <a:ea typeface="Cambria" pitchFamily="34" charset="-122"/>
                <a:cs typeface="Cambria" pitchFamily="34" charset="-120"/>
              </a:rPr>
              <a:t>02</a:t>
            </a:r>
            <a:endParaRPr lang="en-US" sz="9600" dirty="0"/>
          </a:p>
        </p:txBody>
      </p:sp>
      <p:sp>
        <p:nvSpPr>
          <p:cNvPr id="7" name="Text 4"/>
          <p:cNvSpPr txBox="1"/>
          <p:nvPr/>
        </p:nvSpPr>
        <p:spPr>
          <a:xfrm>
            <a:off x="731520" y="2926080"/>
            <a:ext cx="5943600"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The first hours</a:t>
            </a:r>
            <a:endParaRPr lang="en-US" sz="4800" dirty="0"/>
          </a:p>
        </p:txBody>
      </p:sp>
      <p:sp>
        <p:nvSpPr>
          <p:cNvPr id="8" name="Text 5"/>
          <p:cNvSpPr txBox="1"/>
          <p:nvPr/>
        </p:nvSpPr>
        <p:spPr>
          <a:xfrm>
            <a:off x="731520" y="3886200"/>
            <a:ext cx="5486400" cy="822960"/>
          </a:xfrm>
          <a:prstGeom prst="rect">
            <a:avLst/>
          </a:prstGeom>
          <a:noFill/>
          <a:ln/>
        </p:spPr>
        <p:txBody>
          <a:bodyPr wrap="square" lIns="0" tIns="0" rIns="0" bIns="0" rtlCol="0" anchor="t"/>
          <a:lstStyle/>
          <a:p>
            <a:pPr indent="0" marL="0">
              <a:buNone/>
            </a:pPr>
            <a:r>
              <a:rPr lang="en-US" sz="2200" dirty="0">
                <a:solidFill>
                  <a:srgbClr val="C9D3E0"/>
                </a:solidFill>
                <a:latin typeface="Calibri" pitchFamily="34" charset="0"/>
                <a:ea typeface="Calibri" pitchFamily="34" charset="-122"/>
                <a:cs typeface="Calibri" pitchFamily="34" charset="-120"/>
              </a:rPr>
              <a:t>Rupture, growth and rising pressure</a:t>
            </a:r>
            <a:endParaRPr lang="en-US" sz="2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02 · THE FIRST HOURS</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One rupture can trigger more ruptures around it</a:t>
            </a:r>
            <a:endParaRPr lang="en-US" sz="3600" dirty="0"/>
          </a:p>
        </p:txBody>
      </p:sp>
      <p:sp>
        <p:nvSpPr>
          <p:cNvPr id="5" name="Shape 2"/>
          <p:cNvSpPr/>
          <p:nvPr/>
        </p:nvSpPr>
        <p:spPr>
          <a:xfrm>
            <a:off x="548640" y="2057400"/>
            <a:ext cx="2567864" cy="1645920"/>
          </a:xfrm>
          <a:prstGeom prst="roundRect">
            <a:avLst>
              <a:gd name="adj" fmla="val 5556"/>
            </a:avLst>
          </a:prstGeom>
          <a:solidFill>
            <a:srgbClr val="F3F5F8"/>
          </a:solidFill>
          <a:ln w="6350">
            <a:solidFill>
              <a:srgbClr val="F3F5F8"/>
            </a:solidFill>
            <a:prstDash val="solid"/>
          </a:ln>
        </p:spPr>
      </p:sp>
      <p:sp>
        <p:nvSpPr>
          <p:cNvPr id="6" name="Shape 3"/>
          <p:cNvSpPr/>
          <p:nvPr/>
        </p:nvSpPr>
        <p:spPr>
          <a:xfrm>
            <a:off x="868680" y="2724912"/>
            <a:ext cx="1927784" cy="310896"/>
          </a:xfrm>
          <a:prstGeom prst="rect">
            <a:avLst/>
          </a:prstGeom>
          <a:solidFill>
            <a:srgbClr val="C1272D"/>
          </a:solidFill>
          <a:ln w="38100">
            <a:solidFill>
              <a:srgbClr val="C3CEDB"/>
            </a:solidFill>
            <a:prstDash val="solid"/>
          </a:ln>
        </p:spPr>
      </p:sp>
      <p:sp>
        <p:nvSpPr>
          <p:cNvPr id="7" name="Shape 4"/>
          <p:cNvSpPr/>
          <p:nvPr/>
        </p:nvSpPr>
        <p:spPr>
          <a:xfrm>
            <a:off x="1594828" y="2313432"/>
            <a:ext cx="475488" cy="475488"/>
          </a:xfrm>
          <a:prstGeom prst="ellipse">
            <a:avLst/>
          </a:prstGeom>
          <a:solidFill>
            <a:srgbClr val="C1272D"/>
          </a:solidFill>
          <a:ln w="6350">
            <a:solidFill>
              <a:srgbClr val="C1272D"/>
            </a:solidFill>
            <a:prstDash val="solid"/>
          </a:ln>
        </p:spPr>
      </p:sp>
      <p:sp>
        <p:nvSpPr>
          <p:cNvPr id="8" name="Shape 5"/>
          <p:cNvSpPr/>
          <p:nvPr/>
        </p:nvSpPr>
        <p:spPr>
          <a:xfrm>
            <a:off x="2015452" y="2167128"/>
            <a:ext cx="182880" cy="182880"/>
          </a:xfrm>
          <a:prstGeom prst="ellipse">
            <a:avLst/>
          </a:prstGeom>
          <a:solidFill>
            <a:srgbClr val="C1272D"/>
          </a:solidFill>
          <a:ln w="6350">
            <a:solidFill>
              <a:srgbClr val="C1272D"/>
            </a:solidFill>
            <a:prstDash val="solid"/>
          </a:ln>
        </p:spPr>
      </p:sp>
      <p:sp>
        <p:nvSpPr>
          <p:cNvPr id="9" name="Shape 6"/>
          <p:cNvSpPr/>
          <p:nvPr/>
        </p:nvSpPr>
        <p:spPr>
          <a:xfrm>
            <a:off x="1448524" y="2203704"/>
            <a:ext cx="128016" cy="128016"/>
          </a:xfrm>
          <a:prstGeom prst="ellipse">
            <a:avLst/>
          </a:prstGeom>
          <a:solidFill>
            <a:srgbClr val="C1272D"/>
          </a:solidFill>
          <a:ln w="6350">
            <a:solidFill>
              <a:srgbClr val="C1272D"/>
            </a:solidFill>
            <a:prstDash val="solid"/>
          </a:ln>
        </p:spPr>
      </p:sp>
      <p:sp>
        <p:nvSpPr>
          <p:cNvPr id="10" name="Text 7"/>
          <p:cNvSpPr txBox="1"/>
          <p:nvPr/>
        </p:nvSpPr>
        <p:spPr>
          <a:xfrm>
            <a:off x="3134792" y="2560320"/>
            <a:ext cx="237744" cy="548640"/>
          </a:xfrm>
          <a:prstGeom prst="rect">
            <a:avLst/>
          </a:prstGeom>
          <a:noFill/>
          <a:ln/>
        </p:spPr>
        <p:txBody>
          <a:bodyPr wrap="square" lIns="0" tIns="0" rIns="0" bIns="0" rtlCol="0" anchor="ctr"/>
          <a:lstStyle/>
          <a:p>
            <a:pPr algn="ctr" indent="0" marL="0">
              <a:buNone/>
            </a:pPr>
            <a:r>
              <a:rPr lang="en-US" sz="3600" b="1" dirty="0">
                <a:solidFill>
                  <a:srgbClr val="C9D2DE"/>
                </a:solidFill>
                <a:latin typeface="Calibri" pitchFamily="34" charset="0"/>
                <a:ea typeface="Calibri" pitchFamily="34" charset="-122"/>
                <a:cs typeface="Calibri" pitchFamily="34" charset="-120"/>
              </a:rPr>
              <a:t>›</a:t>
            </a:r>
            <a:endParaRPr lang="en-US" sz="3600" dirty="0"/>
          </a:p>
        </p:txBody>
      </p:sp>
      <p:sp>
        <p:nvSpPr>
          <p:cNvPr id="11" name="Shape 8"/>
          <p:cNvSpPr/>
          <p:nvPr/>
        </p:nvSpPr>
        <p:spPr>
          <a:xfrm>
            <a:off x="548640" y="3931920"/>
            <a:ext cx="402336" cy="402336"/>
          </a:xfrm>
          <a:prstGeom prst="ellipse">
            <a:avLst/>
          </a:prstGeom>
          <a:solidFill>
            <a:srgbClr val="C1272D"/>
          </a:solidFill>
          <a:ln w="6350">
            <a:solidFill>
              <a:srgbClr val="C1272D"/>
            </a:solidFill>
            <a:prstDash val="solid"/>
          </a:ln>
        </p:spPr>
      </p:sp>
      <p:sp>
        <p:nvSpPr>
          <p:cNvPr id="12" name="Text 9"/>
          <p:cNvSpPr txBox="1"/>
          <p:nvPr/>
        </p:nvSpPr>
        <p:spPr>
          <a:xfrm>
            <a:off x="548640" y="39319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3" name="Text 10"/>
          <p:cNvSpPr txBox="1"/>
          <p:nvPr/>
        </p:nvSpPr>
        <p:spPr>
          <a:xfrm>
            <a:off x="1078992" y="3931920"/>
            <a:ext cx="2019224" cy="402336"/>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Rupture</a:t>
            </a:r>
            <a:endParaRPr lang="en-US" sz="1800" dirty="0"/>
          </a:p>
        </p:txBody>
      </p:sp>
      <p:sp>
        <p:nvSpPr>
          <p:cNvPr id="14" name="Text 11"/>
          <p:cNvSpPr txBox="1"/>
          <p:nvPr/>
        </p:nvSpPr>
        <p:spPr>
          <a:xfrm>
            <a:off x="548640" y="4480560"/>
            <a:ext cx="2522144" cy="1188720"/>
          </a:xfrm>
          <a:prstGeom prst="rect">
            <a:avLst/>
          </a:prstGeom>
          <a:noFill/>
          <a:ln/>
        </p:spPr>
        <p:txBody>
          <a:bodyPr wrap="square" lIns="0" tIns="0" rIns="0" bIns="0" rtlCol="0" anchor="t"/>
          <a:lstStyle/>
          <a:p>
            <a:pPr indent="0" marL="0">
              <a:buNone/>
            </a:pPr>
            <a:r>
              <a:rPr lang="en-US" sz="1500" dirty="0">
                <a:solidFill>
                  <a:srgbClr val="1B2230"/>
                </a:solidFill>
                <a:latin typeface="Calibri" pitchFamily="34" charset="0"/>
                <a:ea typeface="Calibri" pitchFamily="34" charset="-122"/>
                <a:cs typeface="Calibri" pitchFamily="34" charset="-120"/>
              </a:rPr>
              <a:t>A diseased small artery gives way under arterial pressure.</a:t>
            </a:r>
            <a:endParaRPr lang="en-US" sz="1500" dirty="0"/>
          </a:p>
        </p:txBody>
      </p:sp>
      <p:sp>
        <p:nvSpPr>
          <p:cNvPr id="15" name="Shape 12"/>
          <p:cNvSpPr/>
          <p:nvPr/>
        </p:nvSpPr>
        <p:spPr>
          <a:xfrm>
            <a:off x="3390824" y="2057400"/>
            <a:ext cx="2567864" cy="1645920"/>
          </a:xfrm>
          <a:prstGeom prst="roundRect">
            <a:avLst>
              <a:gd name="adj" fmla="val 5556"/>
            </a:avLst>
          </a:prstGeom>
          <a:solidFill>
            <a:srgbClr val="F3F5F8"/>
          </a:solidFill>
          <a:ln w="6350">
            <a:solidFill>
              <a:srgbClr val="F3F5F8"/>
            </a:solidFill>
            <a:prstDash val="solid"/>
          </a:ln>
        </p:spPr>
      </p:sp>
      <p:sp>
        <p:nvSpPr>
          <p:cNvPr id="16" name="Shape 13"/>
          <p:cNvSpPr/>
          <p:nvPr/>
        </p:nvSpPr>
        <p:spPr>
          <a:xfrm>
            <a:off x="3665144" y="2880360"/>
            <a:ext cx="529552" cy="0"/>
          </a:xfrm>
          <a:prstGeom prst="line">
            <a:avLst/>
          </a:prstGeom>
          <a:noFill/>
          <a:ln w="50800">
            <a:solidFill>
              <a:srgbClr val="C3CEDB"/>
            </a:solidFill>
            <a:prstDash val="solid"/>
          </a:ln>
        </p:spPr>
      </p:sp>
      <p:sp>
        <p:nvSpPr>
          <p:cNvPr id="17" name="Shape 14"/>
          <p:cNvSpPr/>
          <p:nvPr/>
        </p:nvSpPr>
        <p:spPr>
          <a:xfrm>
            <a:off x="4194696" y="2400300"/>
            <a:ext cx="960120" cy="960120"/>
          </a:xfrm>
          <a:prstGeom prst="ellipse">
            <a:avLst/>
          </a:prstGeom>
          <a:solidFill>
            <a:srgbClr val="C1272D"/>
          </a:solidFill>
          <a:ln w="6350">
            <a:solidFill>
              <a:srgbClr val="C1272D"/>
            </a:solidFill>
            <a:prstDash val="solid"/>
          </a:ln>
        </p:spPr>
      </p:sp>
      <p:sp>
        <p:nvSpPr>
          <p:cNvPr id="18" name="Text 15"/>
          <p:cNvSpPr txBox="1"/>
          <p:nvPr/>
        </p:nvSpPr>
        <p:spPr>
          <a:xfrm>
            <a:off x="5976976" y="2560320"/>
            <a:ext cx="237744" cy="548640"/>
          </a:xfrm>
          <a:prstGeom prst="rect">
            <a:avLst/>
          </a:prstGeom>
          <a:noFill/>
          <a:ln/>
        </p:spPr>
        <p:txBody>
          <a:bodyPr wrap="square" lIns="0" tIns="0" rIns="0" bIns="0" rtlCol="0" anchor="ctr"/>
          <a:lstStyle/>
          <a:p>
            <a:pPr algn="ctr" indent="0" marL="0">
              <a:buNone/>
            </a:pPr>
            <a:r>
              <a:rPr lang="en-US" sz="3600" b="1" dirty="0">
                <a:solidFill>
                  <a:srgbClr val="C9D2DE"/>
                </a:solidFill>
                <a:latin typeface="Calibri" pitchFamily="34" charset="0"/>
                <a:ea typeface="Calibri" pitchFamily="34" charset="-122"/>
                <a:cs typeface="Calibri" pitchFamily="34" charset="-120"/>
              </a:rPr>
              <a:t>›</a:t>
            </a:r>
            <a:endParaRPr lang="en-US" sz="3600" dirty="0"/>
          </a:p>
        </p:txBody>
      </p:sp>
      <p:sp>
        <p:nvSpPr>
          <p:cNvPr id="19" name="Shape 16"/>
          <p:cNvSpPr/>
          <p:nvPr/>
        </p:nvSpPr>
        <p:spPr>
          <a:xfrm>
            <a:off x="3390824" y="3931920"/>
            <a:ext cx="402336" cy="402336"/>
          </a:xfrm>
          <a:prstGeom prst="ellipse">
            <a:avLst/>
          </a:prstGeom>
          <a:solidFill>
            <a:srgbClr val="C1272D"/>
          </a:solidFill>
          <a:ln w="6350">
            <a:solidFill>
              <a:srgbClr val="C1272D"/>
            </a:solidFill>
            <a:prstDash val="solid"/>
          </a:ln>
        </p:spPr>
      </p:sp>
      <p:sp>
        <p:nvSpPr>
          <p:cNvPr id="20" name="Text 17"/>
          <p:cNvSpPr txBox="1"/>
          <p:nvPr/>
        </p:nvSpPr>
        <p:spPr>
          <a:xfrm>
            <a:off x="3390824" y="39319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21" name="Text 18"/>
          <p:cNvSpPr txBox="1"/>
          <p:nvPr/>
        </p:nvSpPr>
        <p:spPr>
          <a:xfrm>
            <a:off x="3921176" y="3931920"/>
            <a:ext cx="2019224" cy="402336"/>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Dissection</a:t>
            </a:r>
            <a:endParaRPr lang="en-US" sz="1800" dirty="0"/>
          </a:p>
        </p:txBody>
      </p:sp>
      <p:sp>
        <p:nvSpPr>
          <p:cNvPr id="22" name="Text 19"/>
          <p:cNvSpPr txBox="1"/>
          <p:nvPr/>
        </p:nvSpPr>
        <p:spPr>
          <a:xfrm>
            <a:off x="3390824" y="4480560"/>
            <a:ext cx="2522144" cy="1188720"/>
          </a:xfrm>
          <a:prstGeom prst="rect">
            <a:avLst/>
          </a:prstGeom>
          <a:noFill/>
          <a:ln/>
        </p:spPr>
        <p:txBody>
          <a:bodyPr wrap="square" lIns="0" tIns="0" rIns="0" bIns="0" rtlCol="0" anchor="t"/>
          <a:lstStyle/>
          <a:p>
            <a:pPr indent="0" marL="0">
              <a:buNone/>
            </a:pPr>
            <a:r>
              <a:rPr lang="en-US" sz="1500" dirty="0">
                <a:solidFill>
                  <a:srgbClr val="1B2230"/>
                </a:solidFill>
                <a:latin typeface="Calibri" pitchFamily="34" charset="0"/>
                <a:ea typeface="Calibri" pitchFamily="34" charset="-122"/>
                <a:cs typeface="Calibri" pitchFamily="34" charset="-120"/>
              </a:rPr>
              <a:t>Blood splits along tissue planes and a haematoma forms.</a:t>
            </a:r>
            <a:endParaRPr lang="en-US" sz="1500" dirty="0"/>
          </a:p>
        </p:txBody>
      </p:sp>
      <p:sp>
        <p:nvSpPr>
          <p:cNvPr id="23" name="Shape 20"/>
          <p:cNvSpPr/>
          <p:nvPr/>
        </p:nvSpPr>
        <p:spPr>
          <a:xfrm>
            <a:off x="6233008" y="2057400"/>
            <a:ext cx="2567864" cy="1645920"/>
          </a:xfrm>
          <a:prstGeom prst="roundRect">
            <a:avLst>
              <a:gd name="adj" fmla="val 5556"/>
            </a:avLst>
          </a:prstGeom>
          <a:solidFill>
            <a:srgbClr val="F3F5F8"/>
          </a:solidFill>
          <a:ln w="6350">
            <a:solidFill>
              <a:srgbClr val="F3F5F8"/>
            </a:solidFill>
            <a:prstDash val="solid"/>
          </a:ln>
        </p:spPr>
      </p:sp>
      <p:sp>
        <p:nvSpPr>
          <p:cNvPr id="24" name="Shape 21"/>
          <p:cNvSpPr/>
          <p:nvPr/>
        </p:nvSpPr>
        <p:spPr>
          <a:xfrm>
            <a:off x="7980159" y="3066414"/>
            <a:ext cx="336887" cy="67656"/>
          </a:xfrm>
          <a:prstGeom prst="line">
            <a:avLst/>
          </a:prstGeom>
          <a:noFill/>
          <a:ln w="31750">
            <a:solidFill>
              <a:srgbClr val="C3CEDB"/>
            </a:solidFill>
            <a:prstDash val="solid"/>
          </a:ln>
        </p:spPr>
      </p:sp>
      <p:sp>
        <p:nvSpPr>
          <p:cNvPr id="25" name="Shape 22"/>
          <p:cNvSpPr/>
          <p:nvPr/>
        </p:nvSpPr>
        <p:spPr>
          <a:xfrm>
            <a:off x="8234751" y="3051774"/>
            <a:ext cx="164592" cy="164592"/>
          </a:xfrm>
          <a:prstGeom prst="ellipse">
            <a:avLst/>
          </a:prstGeom>
          <a:solidFill>
            <a:srgbClr val="C1272D"/>
          </a:solidFill>
          <a:ln w="6350">
            <a:solidFill>
              <a:srgbClr val="C1272D"/>
            </a:solidFill>
            <a:prstDash val="solid"/>
          </a:ln>
        </p:spPr>
      </p:sp>
      <p:sp>
        <p:nvSpPr>
          <p:cNvPr id="26" name="Shape 23"/>
          <p:cNvSpPr/>
          <p:nvPr/>
        </p:nvSpPr>
        <p:spPr>
          <a:xfrm>
            <a:off x="7652634" y="3340415"/>
            <a:ext cx="98687" cy="167293"/>
          </a:xfrm>
          <a:prstGeom prst="line">
            <a:avLst/>
          </a:prstGeom>
          <a:noFill/>
          <a:ln w="31750">
            <a:solidFill>
              <a:srgbClr val="C3CEDB"/>
            </a:solidFill>
            <a:prstDash val="solid"/>
          </a:ln>
        </p:spPr>
      </p:sp>
      <p:sp>
        <p:nvSpPr>
          <p:cNvPr id="27" name="Shape 24"/>
          <p:cNvSpPr/>
          <p:nvPr/>
        </p:nvSpPr>
        <p:spPr>
          <a:xfrm>
            <a:off x="7669024" y="3425411"/>
            <a:ext cx="164592" cy="164592"/>
          </a:xfrm>
          <a:prstGeom prst="ellipse">
            <a:avLst/>
          </a:prstGeom>
          <a:solidFill>
            <a:srgbClr val="C1272D"/>
          </a:solidFill>
          <a:ln w="6350">
            <a:solidFill>
              <a:srgbClr val="C1272D"/>
            </a:solidFill>
            <a:prstDash val="solid"/>
          </a:ln>
        </p:spPr>
      </p:sp>
      <p:sp>
        <p:nvSpPr>
          <p:cNvPr id="28" name="Shape 25"/>
          <p:cNvSpPr/>
          <p:nvPr/>
        </p:nvSpPr>
        <p:spPr>
          <a:xfrm flipH="1">
            <a:off x="7009100" y="3267985"/>
            <a:ext cx="213827" cy="140955"/>
          </a:xfrm>
          <a:prstGeom prst="line">
            <a:avLst/>
          </a:prstGeom>
          <a:noFill/>
          <a:ln w="31750">
            <a:solidFill>
              <a:srgbClr val="C3CEDB"/>
            </a:solidFill>
            <a:prstDash val="solid"/>
          </a:ln>
        </p:spPr>
      </p:sp>
      <p:sp>
        <p:nvSpPr>
          <p:cNvPr id="29" name="Shape 26"/>
          <p:cNvSpPr/>
          <p:nvPr/>
        </p:nvSpPr>
        <p:spPr>
          <a:xfrm>
            <a:off x="6926804" y="3326643"/>
            <a:ext cx="164592" cy="164592"/>
          </a:xfrm>
          <a:prstGeom prst="ellipse">
            <a:avLst/>
          </a:prstGeom>
          <a:solidFill>
            <a:srgbClr val="C1272D"/>
          </a:solidFill>
          <a:ln w="6350">
            <a:solidFill>
              <a:srgbClr val="C1272D"/>
            </a:solidFill>
            <a:prstDash val="solid"/>
          </a:ln>
        </p:spPr>
      </p:sp>
      <p:sp>
        <p:nvSpPr>
          <p:cNvPr id="30" name="Shape 27"/>
          <p:cNvSpPr/>
          <p:nvPr/>
        </p:nvSpPr>
        <p:spPr>
          <a:xfrm flipH="1">
            <a:off x="6649294" y="2903666"/>
            <a:ext cx="365325" cy="8475"/>
          </a:xfrm>
          <a:prstGeom prst="line">
            <a:avLst/>
          </a:prstGeom>
          <a:noFill/>
          <a:ln w="31750">
            <a:solidFill>
              <a:srgbClr val="C3CEDB"/>
            </a:solidFill>
            <a:prstDash val="solid"/>
          </a:ln>
        </p:spPr>
      </p:sp>
      <p:sp>
        <p:nvSpPr>
          <p:cNvPr id="31" name="Shape 28"/>
          <p:cNvSpPr/>
          <p:nvPr/>
        </p:nvSpPr>
        <p:spPr>
          <a:xfrm>
            <a:off x="6566998" y="2829844"/>
            <a:ext cx="164592" cy="164592"/>
          </a:xfrm>
          <a:prstGeom prst="ellipse">
            <a:avLst/>
          </a:prstGeom>
          <a:solidFill>
            <a:srgbClr val="C1272D"/>
          </a:solidFill>
          <a:ln w="6350">
            <a:solidFill>
              <a:srgbClr val="C1272D"/>
            </a:solidFill>
            <a:prstDash val="solid"/>
          </a:ln>
        </p:spPr>
      </p:sp>
      <p:sp>
        <p:nvSpPr>
          <p:cNvPr id="32" name="Shape 29"/>
          <p:cNvSpPr/>
          <p:nvPr/>
        </p:nvSpPr>
        <p:spPr>
          <a:xfrm flipH="1" flipV="1">
            <a:off x="6942842" y="2391410"/>
            <a:ext cx="241725" cy="130387"/>
          </a:xfrm>
          <a:prstGeom prst="line">
            <a:avLst/>
          </a:prstGeom>
          <a:noFill/>
          <a:ln w="31750">
            <a:solidFill>
              <a:srgbClr val="C3CEDB"/>
            </a:solidFill>
            <a:prstDash val="solid"/>
          </a:ln>
        </p:spPr>
      </p:sp>
      <p:sp>
        <p:nvSpPr>
          <p:cNvPr id="33" name="Shape 30"/>
          <p:cNvSpPr/>
          <p:nvPr/>
        </p:nvSpPr>
        <p:spPr>
          <a:xfrm>
            <a:off x="6860546" y="2309114"/>
            <a:ext cx="164592" cy="164592"/>
          </a:xfrm>
          <a:prstGeom prst="ellipse">
            <a:avLst/>
          </a:prstGeom>
          <a:solidFill>
            <a:srgbClr val="C1272D"/>
          </a:solidFill>
          <a:ln w="6350">
            <a:solidFill>
              <a:srgbClr val="C1272D"/>
            </a:solidFill>
            <a:prstDash val="solid"/>
          </a:ln>
        </p:spPr>
      </p:sp>
      <p:sp>
        <p:nvSpPr>
          <p:cNvPr id="34" name="Shape 31"/>
          <p:cNvSpPr/>
          <p:nvPr/>
        </p:nvSpPr>
        <p:spPr>
          <a:xfrm flipV="1">
            <a:off x="7604799" y="2238869"/>
            <a:ext cx="63898" cy="171064"/>
          </a:xfrm>
          <a:prstGeom prst="line">
            <a:avLst/>
          </a:prstGeom>
          <a:noFill/>
          <a:ln w="31750">
            <a:solidFill>
              <a:srgbClr val="C3CEDB"/>
            </a:solidFill>
            <a:prstDash val="solid"/>
          </a:ln>
        </p:spPr>
      </p:sp>
      <p:sp>
        <p:nvSpPr>
          <p:cNvPr id="35" name="Shape 32"/>
          <p:cNvSpPr/>
          <p:nvPr/>
        </p:nvSpPr>
        <p:spPr>
          <a:xfrm>
            <a:off x="7586401" y="2156573"/>
            <a:ext cx="164592" cy="164592"/>
          </a:xfrm>
          <a:prstGeom prst="ellipse">
            <a:avLst/>
          </a:prstGeom>
          <a:solidFill>
            <a:srgbClr val="C1272D"/>
          </a:solidFill>
          <a:ln w="6350">
            <a:solidFill>
              <a:srgbClr val="C1272D"/>
            </a:solidFill>
            <a:prstDash val="solid"/>
          </a:ln>
        </p:spPr>
      </p:sp>
      <p:sp>
        <p:nvSpPr>
          <p:cNvPr id="36" name="Shape 33"/>
          <p:cNvSpPr/>
          <p:nvPr/>
        </p:nvSpPr>
        <p:spPr>
          <a:xfrm flipV="1">
            <a:off x="7958871" y="2569384"/>
            <a:ext cx="321405" cy="82927"/>
          </a:xfrm>
          <a:prstGeom prst="line">
            <a:avLst/>
          </a:prstGeom>
          <a:noFill/>
          <a:ln w="31750">
            <a:solidFill>
              <a:srgbClr val="C3CEDB"/>
            </a:solidFill>
            <a:prstDash val="solid"/>
          </a:ln>
        </p:spPr>
      </p:sp>
      <p:sp>
        <p:nvSpPr>
          <p:cNvPr id="37" name="Shape 34"/>
          <p:cNvSpPr/>
          <p:nvPr/>
        </p:nvSpPr>
        <p:spPr>
          <a:xfrm>
            <a:off x="8197980" y="2487088"/>
            <a:ext cx="164592" cy="164592"/>
          </a:xfrm>
          <a:prstGeom prst="ellipse">
            <a:avLst/>
          </a:prstGeom>
          <a:solidFill>
            <a:srgbClr val="C1272D"/>
          </a:solidFill>
          <a:ln w="6350">
            <a:solidFill>
              <a:srgbClr val="C1272D"/>
            </a:solidFill>
            <a:prstDash val="solid"/>
          </a:ln>
        </p:spPr>
      </p:sp>
      <p:sp>
        <p:nvSpPr>
          <p:cNvPr id="38" name="Shape 35"/>
          <p:cNvSpPr/>
          <p:nvPr/>
        </p:nvSpPr>
        <p:spPr>
          <a:xfrm>
            <a:off x="6968300" y="2331720"/>
            <a:ext cx="1097280" cy="1097280"/>
          </a:xfrm>
          <a:prstGeom prst="ellipse">
            <a:avLst/>
          </a:prstGeom>
          <a:solidFill>
            <a:srgbClr val="C1272D"/>
          </a:solidFill>
          <a:ln w="6350">
            <a:solidFill>
              <a:srgbClr val="C1272D"/>
            </a:solidFill>
            <a:prstDash val="solid"/>
          </a:ln>
        </p:spPr>
      </p:sp>
      <p:sp>
        <p:nvSpPr>
          <p:cNvPr id="39" name="Text 36"/>
          <p:cNvSpPr txBox="1"/>
          <p:nvPr/>
        </p:nvSpPr>
        <p:spPr>
          <a:xfrm>
            <a:off x="8819159" y="2560320"/>
            <a:ext cx="237744" cy="548640"/>
          </a:xfrm>
          <a:prstGeom prst="rect">
            <a:avLst/>
          </a:prstGeom>
          <a:noFill/>
          <a:ln/>
        </p:spPr>
        <p:txBody>
          <a:bodyPr wrap="square" lIns="0" tIns="0" rIns="0" bIns="0" rtlCol="0" anchor="ctr"/>
          <a:lstStyle/>
          <a:p>
            <a:pPr algn="ctr" indent="0" marL="0">
              <a:buNone/>
            </a:pPr>
            <a:r>
              <a:rPr lang="en-US" sz="3600" b="1" dirty="0">
                <a:solidFill>
                  <a:srgbClr val="C9D2DE"/>
                </a:solidFill>
                <a:latin typeface="Calibri" pitchFamily="34" charset="0"/>
                <a:ea typeface="Calibri" pitchFamily="34" charset="-122"/>
                <a:cs typeface="Calibri" pitchFamily="34" charset="-120"/>
              </a:rPr>
              <a:t>›</a:t>
            </a:r>
            <a:endParaRPr lang="en-US" sz="3600" dirty="0"/>
          </a:p>
        </p:txBody>
      </p:sp>
      <p:sp>
        <p:nvSpPr>
          <p:cNvPr id="40" name="Shape 37"/>
          <p:cNvSpPr/>
          <p:nvPr/>
        </p:nvSpPr>
        <p:spPr>
          <a:xfrm>
            <a:off x="6233008" y="3931920"/>
            <a:ext cx="402336" cy="402336"/>
          </a:xfrm>
          <a:prstGeom prst="ellipse">
            <a:avLst/>
          </a:prstGeom>
          <a:solidFill>
            <a:srgbClr val="C1272D"/>
          </a:solidFill>
          <a:ln w="6350">
            <a:solidFill>
              <a:srgbClr val="C1272D"/>
            </a:solidFill>
            <a:prstDash val="solid"/>
          </a:ln>
        </p:spPr>
      </p:sp>
      <p:sp>
        <p:nvSpPr>
          <p:cNvPr id="41" name="Text 38"/>
          <p:cNvSpPr txBox="1"/>
          <p:nvPr/>
        </p:nvSpPr>
        <p:spPr>
          <a:xfrm>
            <a:off x="6233008" y="39319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42" name="Text 39"/>
          <p:cNvSpPr txBox="1"/>
          <p:nvPr/>
        </p:nvSpPr>
        <p:spPr>
          <a:xfrm>
            <a:off x="6763360" y="3931920"/>
            <a:ext cx="2019224" cy="402336"/>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Avalanche</a:t>
            </a:r>
            <a:endParaRPr lang="en-US" sz="1800" dirty="0"/>
          </a:p>
        </p:txBody>
      </p:sp>
      <p:sp>
        <p:nvSpPr>
          <p:cNvPr id="43" name="Text 40"/>
          <p:cNvSpPr txBox="1"/>
          <p:nvPr/>
        </p:nvSpPr>
        <p:spPr>
          <a:xfrm>
            <a:off x="6233008" y="4480560"/>
            <a:ext cx="2522144" cy="1188720"/>
          </a:xfrm>
          <a:prstGeom prst="rect">
            <a:avLst/>
          </a:prstGeom>
          <a:noFill/>
          <a:ln/>
        </p:spPr>
        <p:txBody>
          <a:bodyPr wrap="square" lIns="0" tIns="0" rIns="0" bIns="0" rtlCol="0" anchor="t"/>
          <a:lstStyle/>
          <a:p>
            <a:pPr indent="0" marL="0">
              <a:buNone/>
            </a:pPr>
            <a:r>
              <a:rPr lang="en-US" sz="1500" dirty="0">
                <a:solidFill>
                  <a:srgbClr val="1B2230"/>
                </a:solidFill>
                <a:latin typeface="Calibri" pitchFamily="34" charset="0"/>
                <a:ea typeface="Calibri" pitchFamily="34" charset="-122"/>
                <a:cs typeface="Calibri" pitchFamily="34" charset="-120"/>
              </a:rPr>
              <a:t>The growing clot stretches and tears neighbouring vessels at its edge (Fisher, 1971).</a:t>
            </a:r>
            <a:endParaRPr lang="en-US" sz="1500" dirty="0"/>
          </a:p>
        </p:txBody>
      </p:sp>
      <p:sp>
        <p:nvSpPr>
          <p:cNvPr id="44" name="Shape 41"/>
          <p:cNvSpPr/>
          <p:nvPr/>
        </p:nvSpPr>
        <p:spPr>
          <a:xfrm>
            <a:off x="9075191" y="2057400"/>
            <a:ext cx="2567864" cy="1645920"/>
          </a:xfrm>
          <a:prstGeom prst="roundRect">
            <a:avLst>
              <a:gd name="adj" fmla="val 5556"/>
            </a:avLst>
          </a:prstGeom>
          <a:solidFill>
            <a:srgbClr val="F3F5F8"/>
          </a:solidFill>
          <a:ln w="6350">
            <a:solidFill>
              <a:srgbClr val="F3F5F8"/>
            </a:solidFill>
            <a:prstDash val="solid"/>
          </a:ln>
        </p:spPr>
      </p:sp>
      <p:sp>
        <p:nvSpPr>
          <p:cNvPr id="45" name="Shape 42"/>
          <p:cNvSpPr/>
          <p:nvPr/>
        </p:nvSpPr>
        <p:spPr>
          <a:xfrm>
            <a:off x="9645891" y="2167128"/>
            <a:ext cx="1426464" cy="1426464"/>
          </a:xfrm>
          <a:prstGeom prst="ellipse">
            <a:avLst/>
          </a:prstGeom>
          <a:solidFill>
            <a:srgbClr val="FFFFFF">
              <a:alpha val="0"/>
            </a:srgbClr>
          </a:solidFill>
          <a:ln w="28575">
            <a:solidFill>
              <a:srgbClr val="13233A"/>
            </a:solidFill>
            <a:prstDash val="dash"/>
          </a:ln>
        </p:spPr>
      </p:sp>
      <p:sp>
        <p:nvSpPr>
          <p:cNvPr id="46" name="Shape 43"/>
          <p:cNvSpPr/>
          <p:nvPr/>
        </p:nvSpPr>
        <p:spPr>
          <a:xfrm>
            <a:off x="9810483" y="2331720"/>
            <a:ext cx="1097280" cy="1097280"/>
          </a:xfrm>
          <a:prstGeom prst="ellipse">
            <a:avLst/>
          </a:prstGeom>
          <a:solidFill>
            <a:srgbClr val="C1272D"/>
          </a:solidFill>
          <a:ln w="6350">
            <a:solidFill>
              <a:srgbClr val="C1272D"/>
            </a:solidFill>
            <a:prstDash val="solid"/>
          </a:ln>
        </p:spPr>
      </p:sp>
      <p:sp>
        <p:nvSpPr>
          <p:cNvPr id="47" name="Shape 44"/>
          <p:cNvSpPr/>
          <p:nvPr/>
        </p:nvSpPr>
        <p:spPr>
          <a:xfrm>
            <a:off x="9075191" y="3931920"/>
            <a:ext cx="402336" cy="402336"/>
          </a:xfrm>
          <a:prstGeom prst="ellipse">
            <a:avLst/>
          </a:prstGeom>
          <a:solidFill>
            <a:srgbClr val="C1272D"/>
          </a:solidFill>
          <a:ln w="6350">
            <a:solidFill>
              <a:srgbClr val="C1272D"/>
            </a:solidFill>
            <a:prstDash val="solid"/>
          </a:ln>
        </p:spPr>
      </p:sp>
      <p:sp>
        <p:nvSpPr>
          <p:cNvPr id="48" name="Text 45"/>
          <p:cNvSpPr txBox="1"/>
          <p:nvPr/>
        </p:nvSpPr>
        <p:spPr>
          <a:xfrm>
            <a:off x="9075191" y="393192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49" name="Text 46"/>
          <p:cNvSpPr txBox="1"/>
          <p:nvPr/>
        </p:nvSpPr>
        <p:spPr>
          <a:xfrm>
            <a:off x="9605543" y="3931920"/>
            <a:ext cx="2019224" cy="402336"/>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Tamponade</a:t>
            </a:r>
            <a:endParaRPr lang="en-US" sz="1800" dirty="0"/>
          </a:p>
        </p:txBody>
      </p:sp>
      <p:sp>
        <p:nvSpPr>
          <p:cNvPr id="50" name="Text 47"/>
          <p:cNvSpPr txBox="1"/>
          <p:nvPr/>
        </p:nvSpPr>
        <p:spPr>
          <a:xfrm>
            <a:off x="9075191" y="4480560"/>
            <a:ext cx="2522144" cy="1188720"/>
          </a:xfrm>
          <a:prstGeom prst="rect">
            <a:avLst/>
          </a:prstGeom>
          <a:noFill/>
          <a:ln/>
        </p:spPr>
        <p:txBody>
          <a:bodyPr wrap="square" lIns="0" tIns="0" rIns="0" bIns="0" rtlCol="0" anchor="t"/>
          <a:lstStyle/>
          <a:p>
            <a:pPr indent="0" marL="0">
              <a:buNone/>
            </a:pPr>
            <a:r>
              <a:rPr lang="en-US" sz="1500" dirty="0">
                <a:solidFill>
                  <a:srgbClr val="1B2230"/>
                </a:solidFill>
                <a:latin typeface="Calibri" pitchFamily="34" charset="0"/>
                <a:ea typeface="Calibri" pitchFamily="34" charset="-122"/>
                <a:cs typeface="Calibri" pitchFamily="34" charset="-120"/>
              </a:rPr>
              <a:t>Bleeding stops when tissue pressure and clotting finally win.</a:t>
            </a:r>
            <a:endParaRPr lang="en-US" sz="1500" dirty="0"/>
          </a:p>
        </p:txBody>
      </p:sp>
      <p:sp>
        <p:nvSpPr>
          <p:cNvPr id="51" name="Text 48"/>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000" i="1" dirty="0">
                <a:solidFill>
                  <a:srgbClr val="667285"/>
                </a:solidFill>
                <a:latin typeface="Calibri" pitchFamily="34" charset="0"/>
                <a:ea typeface="Calibri" pitchFamily="34" charset="-122"/>
                <a:cs typeface="Calibri" pitchFamily="34" charset="-120"/>
              </a:rPr>
              <a:t>Fisher CM, J Neuropathol Exp Neurol 1971: secondary bleeding points at the edge of hypertensive haematomas.</a:t>
            </a:r>
            <a:endParaRPr lang="en-US" sz="1000" dirty="0"/>
          </a:p>
        </p:txBody>
      </p:sp>
      <p:sp>
        <p:nvSpPr>
          <p:cNvPr id="52" name="Text 49"/>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53" name="Shape 50"/>
          <p:cNvSpPr/>
          <p:nvPr/>
        </p:nvSpPr>
        <p:spPr>
          <a:xfrm>
            <a:off x="7360920" y="6460236"/>
            <a:ext cx="118872" cy="118872"/>
          </a:xfrm>
          <a:prstGeom prst="ellipse">
            <a:avLst/>
          </a:prstGeom>
          <a:solidFill>
            <a:srgbClr val="C9D2DE"/>
          </a:solidFill>
          <a:ln w="6350">
            <a:solidFill>
              <a:srgbClr val="C9D2DE"/>
            </a:solidFill>
            <a:prstDash val="solid"/>
          </a:ln>
        </p:spPr>
      </p:sp>
      <p:sp>
        <p:nvSpPr>
          <p:cNvPr id="54" name="Text 51"/>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Vessel</a:t>
            </a:r>
            <a:endParaRPr lang="en-US" sz="1000" dirty="0"/>
          </a:p>
        </p:txBody>
      </p:sp>
      <p:sp>
        <p:nvSpPr>
          <p:cNvPr id="55" name="Shape 52"/>
          <p:cNvSpPr/>
          <p:nvPr/>
        </p:nvSpPr>
        <p:spPr>
          <a:xfrm>
            <a:off x="8275320" y="6460236"/>
            <a:ext cx="118872" cy="118872"/>
          </a:xfrm>
          <a:prstGeom prst="ellipse">
            <a:avLst/>
          </a:prstGeom>
          <a:solidFill>
            <a:srgbClr val="C1272D"/>
          </a:solidFill>
          <a:ln w="6350">
            <a:solidFill>
              <a:srgbClr val="C1272D"/>
            </a:solidFill>
            <a:prstDash val="solid"/>
          </a:ln>
        </p:spPr>
      </p:sp>
      <p:sp>
        <p:nvSpPr>
          <p:cNvPr id="56" name="Text 53"/>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b="1" dirty="0">
                <a:solidFill>
                  <a:srgbClr val="C1272D"/>
                </a:solidFill>
                <a:latin typeface="Calibri" pitchFamily="34" charset="0"/>
                <a:ea typeface="Calibri" pitchFamily="34" charset="-122"/>
                <a:cs typeface="Calibri" pitchFamily="34" charset="-120"/>
              </a:rPr>
              <a:t>Hours</a:t>
            </a:r>
            <a:endParaRPr lang="en-US" sz="1000" dirty="0"/>
          </a:p>
        </p:txBody>
      </p:sp>
      <p:sp>
        <p:nvSpPr>
          <p:cNvPr id="57" name="Shape 54"/>
          <p:cNvSpPr/>
          <p:nvPr/>
        </p:nvSpPr>
        <p:spPr>
          <a:xfrm>
            <a:off x="9189720" y="6460236"/>
            <a:ext cx="118872" cy="118872"/>
          </a:xfrm>
          <a:prstGeom prst="ellipse">
            <a:avLst/>
          </a:prstGeom>
          <a:solidFill>
            <a:srgbClr val="C9D2DE"/>
          </a:solidFill>
          <a:ln w="6350">
            <a:solidFill>
              <a:srgbClr val="C9D2DE"/>
            </a:solidFill>
            <a:prstDash val="solid"/>
          </a:ln>
        </p:spPr>
      </p:sp>
      <p:sp>
        <p:nvSpPr>
          <p:cNvPr id="58" name="Text 55"/>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Days</a:t>
            </a:r>
            <a:endParaRPr lang="en-US" sz="1000" dirty="0"/>
          </a:p>
        </p:txBody>
      </p:sp>
      <p:sp>
        <p:nvSpPr>
          <p:cNvPr id="59" name="Shape 56"/>
          <p:cNvSpPr/>
          <p:nvPr/>
        </p:nvSpPr>
        <p:spPr>
          <a:xfrm>
            <a:off x="10104120" y="6460236"/>
            <a:ext cx="118872" cy="118872"/>
          </a:xfrm>
          <a:prstGeom prst="ellipse">
            <a:avLst/>
          </a:prstGeom>
          <a:solidFill>
            <a:srgbClr val="C9D2DE"/>
          </a:solidFill>
          <a:ln w="6350">
            <a:solidFill>
              <a:srgbClr val="C9D2DE"/>
            </a:solidFill>
            <a:prstDash val="solid"/>
          </a:ln>
        </p:spPr>
      </p:sp>
      <p:sp>
        <p:nvSpPr>
          <p:cNvPr id="60" name="Text 57"/>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61" name="Text 58"/>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13</a:t>
            </a:r>
            <a:endParaRPr lang="en-US" sz="10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02 · THE FIRST HOURS</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More than a third of haematomas keep growing</a:t>
            </a:r>
            <a:endParaRPr lang="en-US" sz="3600" dirty="0"/>
          </a:p>
        </p:txBody>
      </p:sp>
      <p:sp>
        <p:nvSpPr>
          <p:cNvPr id="5" name="Shape 2"/>
          <p:cNvSpPr/>
          <p:nvPr/>
        </p:nvSpPr>
        <p:spPr>
          <a:xfrm>
            <a:off x="685800" y="2103120"/>
            <a:ext cx="274320" cy="274320"/>
          </a:xfrm>
          <a:prstGeom prst="ellipse">
            <a:avLst/>
          </a:prstGeom>
          <a:solidFill>
            <a:srgbClr val="8E1B1F"/>
          </a:solidFill>
          <a:ln w="6350">
            <a:solidFill>
              <a:srgbClr val="8E1B1F"/>
            </a:solidFill>
            <a:prstDash val="solid"/>
          </a:ln>
        </p:spPr>
      </p:sp>
      <p:sp>
        <p:nvSpPr>
          <p:cNvPr id="6" name="Shape 3"/>
          <p:cNvSpPr/>
          <p:nvPr/>
        </p:nvSpPr>
        <p:spPr>
          <a:xfrm>
            <a:off x="1033272" y="2103120"/>
            <a:ext cx="274320" cy="274320"/>
          </a:xfrm>
          <a:prstGeom prst="ellipse">
            <a:avLst/>
          </a:prstGeom>
          <a:solidFill>
            <a:srgbClr val="8E1B1F"/>
          </a:solidFill>
          <a:ln w="6350">
            <a:solidFill>
              <a:srgbClr val="8E1B1F"/>
            </a:solidFill>
            <a:prstDash val="solid"/>
          </a:ln>
        </p:spPr>
      </p:sp>
      <p:sp>
        <p:nvSpPr>
          <p:cNvPr id="7" name="Shape 4"/>
          <p:cNvSpPr/>
          <p:nvPr/>
        </p:nvSpPr>
        <p:spPr>
          <a:xfrm>
            <a:off x="1380744" y="2103120"/>
            <a:ext cx="274320" cy="274320"/>
          </a:xfrm>
          <a:prstGeom prst="ellipse">
            <a:avLst/>
          </a:prstGeom>
          <a:solidFill>
            <a:srgbClr val="8E1B1F"/>
          </a:solidFill>
          <a:ln w="6350">
            <a:solidFill>
              <a:srgbClr val="8E1B1F"/>
            </a:solidFill>
            <a:prstDash val="solid"/>
          </a:ln>
        </p:spPr>
      </p:sp>
      <p:sp>
        <p:nvSpPr>
          <p:cNvPr id="8" name="Shape 5"/>
          <p:cNvSpPr/>
          <p:nvPr/>
        </p:nvSpPr>
        <p:spPr>
          <a:xfrm>
            <a:off x="1728216" y="2103120"/>
            <a:ext cx="274320" cy="274320"/>
          </a:xfrm>
          <a:prstGeom prst="ellipse">
            <a:avLst/>
          </a:prstGeom>
          <a:solidFill>
            <a:srgbClr val="8E1B1F"/>
          </a:solidFill>
          <a:ln w="6350">
            <a:solidFill>
              <a:srgbClr val="8E1B1F"/>
            </a:solidFill>
            <a:prstDash val="solid"/>
          </a:ln>
        </p:spPr>
      </p:sp>
      <p:sp>
        <p:nvSpPr>
          <p:cNvPr id="9" name="Shape 6"/>
          <p:cNvSpPr/>
          <p:nvPr/>
        </p:nvSpPr>
        <p:spPr>
          <a:xfrm>
            <a:off x="2075688" y="2103120"/>
            <a:ext cx="274320" cy="274320"/>
          </a:xfrm>
          <a:prstGeom prst="ellipse">
            <a:avLst/>
          </a:prstGeom>
          <a:solidFill>
            <a:srgbClr val="8E1B1F"/>
          </a:solidFill>
          <a:ln w="6350">
            <a:solidFill>
              <a:srgbClr val="8E1B1F"/>
            </a:solidFill>
            <a:prstDash val="solid"/>
          </a:ln>
        </p:spPr>
      </p:sp>
      <p:sp>
        <p:nvSpPr>
          <p:cNvPr id="10" name="Shape 7"/>
          <p:cNvSpPr/>
          <p:nvPr/>
        </p:nvSpPr>
        <p:spPr>
          <a:xfrm>
            <a:off x="2423160" y="2103120"/>
            <a:ext cx="274320" cy="274320"/>
          </a:xfrm>
          <a:prstGeom prst="ellipse">
            <a:avLst/>
          </a:prstGeom>
          <a:solidFill>
            <a:srgbClr val="8E1B1F"/>
          </a:solidFill>
          <a:ln w="6350">
            <a:solidFill>
              <a:srgbClr val="8E1B1F"/>
            </a:solidFill>
            <a:prstDash val="solid"/>
          </a:ln>
        </p:spPr>
      </p:sp>
      <p:sp>
        <p:nvSpPr>
          <p:cNvPr id="11" name="Shape 8"/>
          <p:cNvSpPr/>
          <p:nvPr/>
        </p:nvSpPr>
        <p:spPr>
          <a:xfrm>
            <a:off x="2770632" y="2103120"/>
            <a:ext cx="274320" cy="274320"/>
          </a:xfrm>
          <a:prstGeom prst="ellipse">
            <a:avLst/>
          </a:prstGeom>
          <a:solidFill>
            <a:srgbClr val="8E1B1F"/>
          </a:solidFill>
          <a:ln w="6350">
            <a:solidFill>
              <a:srgbClr val="8E1B1F"/>
            </a:solidFill>
            <a:prstDash val="solid"/>
          </a:ln>
        </p:spPr>
      </p:sp>
      <p:sp>
        <p:nvSpPr>
          <p:cNvPr id="12" name="Shape 9"/>
          <p:cNvSpPr/>
          <p:nvPr/>
        </p:nvSpPr>
        <p:spPr>
          <a:xfrm>
            <a:off x="3118104" y="2103120"/>
            <a:ext cx="274320" cy="274320"/>
          </a:xfrm>
          <a:prstGeom prst="ellipse">
            <a:avLst/>
          </a:prstGeom>
          <a:solidFill>
            <a:srgbClr val="8E1B1F"/>
          </a:solidFill>
          <a:ln w="6350">
            <a:solidFill>
              <a:srgbClr val="8E1B1F"/>
            </a:solidFill>
            <a:prstDash val="solid"/>
          </a:ln>
        </p:spPr>
      </p:sp>
      <p:sp>
        <p:nvSpPr>
          <p:cNvPr id="13" name="Shape 10"/>
          <p:cNvSpPr/>
          <p:nvPr/>
        </p:nvSpPr>
        <p:spPr>
          <a:xfrm>
            <a:off x="3465576" y="2103120"/>
            <a:ext cx="274320" cy="274320"/>
          </a:xfrm>
          <a:prstGeom prst="ellipse">
            <a:avLst/>
          </a:prstGeom>
          <a:solidFill>
            <a:srgbClr val="8E1B1F"/>
          </a:solidFill>
          <a:ln w="6350">
            <a:solidFill>
              <a:srgbClr val="8E1B1F"/>
            </a:solidFill>
            <a:prstDash val="solid"/>
          </a:ln>
        </p:spPr>
      </p:sp>
      <p:sp>
        <p:nvSpPr>
          <p:cNvPr id="14" name="Shape 11"/>
          <p:cNvSpPr/>
          <p:nvPr/>
        </p:nvSpPr>
        <p:spPr>
          <a:xfrm>
            <a:off x="3813048" y="2103120"/>
            <a:ext cx="274320" cy="274320"/>
          </a:xfrm>
          <a:prstGeom prst="ellipse">
            <a:avLst/>
          </a:prstGeom>
          <a:solidFill>
            <a:srgbClr val="8E1B1F"/>
          </a:solidFill>
          <a:ln w="6350">
            <a:solidFill>
              <a:srgbClr val="8E1B1F"/>
            </a:solidFill>
            <a:prstDash val="solid"/>
          </a:ln>
        </p:spPr>
      </p:sp>
      <p:sp>
        <p:nvSpPr>
          <p:cNvPr id="15" name="Shape 12"/>
          <p:cNvSpPr/>
          <p:nvPr/>
        </p:nvSpPr>
        <p:spPr>
          <a:xfrm>
            <a:off x="685800" y="2450592"/>
            <a:ext cx="274320" cy="274320"/>
          </a:xfrm>
          <a:prstGeom prst="ellipse">
            <a:avLst/>
          </a:prstGeom>
          <a:solidFill>
            <a:srgbClr val="8E1B1F"/>
          </a:solidFill>
          <a:ln w="6350">
            <a:solidFill>
              <a:srgbClr val="8E1B1F"/>
            </a:solidFill>
            <a:prstDash val="solid"/>
          </a:ln>
        </p:spPr>
      </p:sp>
      <p:sp>
        <p:nvSpPr>
          <p:cNvPr id="16" name="Shape 13"/>
          <p:cNvSpPr/>
          <p:nvPr/>
        </p:nvSpPr>
        <p:spPr>
          <a:xfrm>
            <a:off x="1033272" y="2450592"/>
            <a:ext cx="274320" cy="274320"/>
          </a:xfrm>
          <a:prstGeom prst="ellipse">
            <a:avLst/>
          </a:prstGeom>
          <a:solidFill>
            <a:srgbClr val="8E1B1F"/>
          </a:solidFill>
          <a:ln w="6350">
            <a:solidFill>
              <a:srgbClr val="8E1B1F"/>
            </a:solidFill>
            <a:prstDash val="solid"/>
          </a:ln>
        </p:spPr>
      </p:sp>
      <p:sp>
        <p:nvSpPr>
          <p:cNvPr id="17" name="Shape 14"/>
          <p:cNvSpPr/>
          <p:nvPr/>
        </p:nvSpPr>
        <p:spPr>
          <a:xfrm>
            <a:off x="1380744" y="2450592"/>
            <a:ext cx="274320" cy="274320"/>
          </a:xfrm>
          <a:prstGeom prst="ellipse">
            <a:avLst/>
          </a:prstGeom>
          <a:solidFill>
            <a:srgbClr val="8E1B1F"/>
          </a:solidFill>
          <a:ln w="6350">
            <a:solidFill>
              <a:srgbClr val="8E1B1F"/>
            </a:solidFill>
            <a:prstDash val="solid"/>
          </a:ln>
        </p:spPr>
      </p:sp>
      <p:sp>
        <p:nvSpPr>
          <p:cNvPr id="18" name="Shape 15"/>
          <p:cNvSpPr/>
          <p:nvPr/>
        </p:nvSpPr>
        <p:spPr>
          <a:xfrm>
            <a:off x="1728216" y="2450592"/>
            <a:ext cx="274320" cy="274320"/>
          </a:xfrm>
          <a:prstGeom prst="ellipse">
            <a:avLst/>
          </a:prstGeom>
          <a:solidFill>
            <a:srgbClr val="8E1B1F"/>
          </a:solidFill>
          <a:ln w="6350">
            <a:solidFill>
              <a:srgbClr val="8E1B1F"/>
            </a:solidFill>
            <a:prstDash val="solid"/>
          </a:ln>
        </p:spPr>
      </p:sp>
      <p:sp>
        <p:nvSpPr>
          <p:cNvPr id="19" name="Shape 16"/>
          <p:cNvSpPr/>
          <p:nvPr/>
        </p:nvSpPr>
        <p:spPr>
          <a:xfrm>
            <a:off x="2075688" y="2450592"/>
            <a:ext cx="274320" cy="274320"/>
          </a:xfrm>
          <a:prstGeom prst="ellipse">
            <a:avLst/>
          </a:prstGeom>
          <a:solidFill>
            <a:srgbClr val="8E1B1F"/>
          </a:solidFill>
          <a:ln w="6350">
            <a:solidFill>
              <a:srgbClr val="8E1B1F"/>
            </a:solidFill>
            <a:prstDash val="solid"/>
          </a:ln>
        </p:spPr>
      </p:sp>
      <p:sp>
        <p:nvSpPr>
          <p:cNvPr id="20" name="Shape 17"/>
          <p:cNvSpPr/>
          <p:nvPr/>
        </p:nvSpPr>
        <p:spPr>
          <a:xfrm>
            <a:off x="2423160" y="2450592"/>
            <a:ext cx="274320" cy="274320"/>
          </a:xfrm>
          <a:prstGeom prst="ellipse">
            <a:avLst/>
          </a:prstGeom>
          <a:solidFill>
            <a:srgbClr val="8E1B1F"/>
          </a:solidFill>
          <a:ln w="6350">
            <a:solidFill>
              <a:srgbClr val="8E1B1F"/>
            </a:solidFill>
            <a:prstDash val="solid"/>
          </a:ln>
        </p:spPr>
      </p:sp>
      <p:sp>
        <p:nvSpPr>
          <p:cNvPr id="21" name="Shape 18"/>
          <p:cNvSpPr/>
          <p:nvPr/>
        </p:nvSpPr>
        <p:spPr>
          <a:xfrm>
            <a:off x="2770632" y="2450592"/>
            <a:ext cx="274320" cy="274320"/>
          </a:xfrm>
          <a:prstGeom prst="ellipse">
            <a:avLst/>
          </a:prstGeom>
          <a:solidFill>
            <a:srgbClr val="8E1B1F"/>
          </a:solidFill>
          <a:ln w="6350">
            <a:solidFill>
              <a:srgbClr val="8E1B1F"/>
            </a:solidFill>
            <a:prstDash val="solid"/>
          </a:ln>
        </p:spPr>
      </p:sp>
      <p:sp>
        <p:nvSpPr>
          <p:cNvPr id="22" name="Shape 19"/>
          <p:cNvSpPr/>
          <p:nvPr/>
        </p:nvSpPr>
        <p:spPr>
          <a:xfrm>
            <a:off x="3118104" y="2450592"/>
            <a:ext cx="274320" cy="274320"/>
          </a:xfrm>
          <a:prstGeom prst="ellipse">
            <a:avLst/>
          </a:prstGeom>
          <a:solidFill>
            <a:srgbClr val="8E1B1F"/>
          </a:solidFill>
          <a:ln w="6350">
            <a:solidFill>
              <a:srgbClr val="8E1B1F"/>
            </a:solidFill>
            <a:prstDash val="solid"/>
          </a:ln>
        </p:spPr>
      </p:sp>
      <p:sp>
        <p:nvSpPr>
          <p:cNvPr id="23" name="Shape 20"/>
          <p:cNvSpPr/>
          <p:nvPr/>
        </p:nvSpPr>
        <p:spPr>
          <a:xfrm>
            <a:off x="3465576" y="2450592"/>
            <a:ext cx="274320" cy="274320"/>
          </a:xfrm>
          <a:prstGeom prst="ellipse">
            <a:avLst/>
          </a:prstGeom>
          <a:solidFill>
            <a:srgbClr val="8E1B1F"/>
          </a:solidFill>
          <a:ln w="6350">
            <a:solidFill>
              <a:srgbClr val="8E1B1F"/>
            </a:solidFill>
            <a:prstDash val="solid"/>
          </a:ln>
        </p:spPr>
      </p:sp>
      <p:sp>
        <p:nvSpPr>
          <p:cNvPr id="24" name="Shape 21"/>
          <p:cNvSpPr/>
          <p:nvPr/>
        </p:nvSpPr>
        <p:spPr>
          <a:xfrm>
            <a:off x="3813048" y="2450592"/>
            <a:ext cx="274320" cy="274320"/>
          </a:xfrm>
          <a:prstGeom prst="ellipse">
            <a:avLst/>
          </a:prstGeom>
          <a:solidFill>
            <a:srgbClr val="8E1B1F"/>
          </a:solidFill>
          <a:ln w="6350">
            <a:solidFill>
              <a:srgbClr val="8E1B1F"/>
            </a:solidFill>
            <a:prstDash val="solid"/>
          </a:ln>
        </p:spPr>
      </p:sp>
      <p:sp>
        <p:nvSpPr>
          <p:cNvPr id="25" name="Shape 22"/>
          <p:cNvSpPr/>
          <p:nvPr/>
        </p:nvSpPr>
        <p:spPr>
          <a:xfrm>
            <a:off x="685800" y="2798064"/>
            <a:ext cx="274320" cy="274320"/>
          </a:xfrm>
          <a:prstGeom prst="ellipse">
            <a:avLst/>
          </a:prstGeom>
          <a:solidFill>
            <a:srgbClr val="8E1B1F"/>
          </a:solidFill>
          <a:ln w="6350">
            <a:solidFill>
              <a:srgbClr val="8E1B1F"/>
            </a:solidFill>
            <a:prstDash val="solid"/>
          </a:ln>
        </p:spPr>
      </p:sp>
      <p:sp>
        <p:nvSpPr>
          <p:cNvPr id="26" name="Shape 23"/>
          <p:cNvSpPr/>
          <p:nvPr/>
        </p:nvSpPr>
        <p:spPr>
          <a:xfrm>
            <a:off x="1033272" y="2798064"/>
            <a:ext cx="274320" cy="274320"/>
          </a:xfrm>
          <a:prstGeom prst="ellipse">
            <a:avLst/>
          </a:prstGeom>
          <a:solidFill>
            <a:srgbClr val="8E1B1F"/>
          </a:solidFill>
          <a:ln w="6350">
            <a:solidFill>
              <a:srgbClr val="8E1B1F"/>
            </a:solidFill>
            <a:prstDash val="solid"/>
          </a:ln>
        </p:spPr>
      </p:sp>
      <p:sp>
        <p:nvSpPr>
          <p:cNvPr id="27" name="Shape 24"/>
          <p:cNvSpPr/>
          <p:nvPr/>
        </p:nvSpPr>
        <p:spPr>
          <a:xfrm>
            <a:off x="1380744" y="2798064"/>
            <a:ext cx="274320" cy="274320"/>
          </a:xfrm>
          <a:prstGeom prst="ellipse">
            <a:avLst/>
          </a:prstGeom>
          <a:solidFill>
            <a:srgbClr val="8E1B1F"/>
          </a:solidFill>
          <a:ln w="6350">
            <a:solidFill>
              <a:srgbClr val="8E1B1F"/>
            </a:solidFill>
            <a:prstDash val="solid"/>
          </a:ln>
        </p:spPr>
      </p:sp>
      <p:sp>
        <p:nvSpPr>
          <p:cNvPr id="28" name="Shape 25"/>
          <p:cNvSpPr/>
          <p:nvPr/>
        </p:nvSpPr>
        <p:spPr>
          <a:xfrm>
            <a:off x="1728216" y="2798064"/>
            <a:ext cx="274320" cy="274320"/>
          </a:xfrm>
          <a:prstGeom prst="ellipse">
            <a:avLst/>
          </a:prstGeom>
          <a:solidFill>
            <a:srgbClr val="8E1B1F"/>
          </a:solidFill>
          <a:ln w="6350">
            <a:solidFill>
              <a:srgbClr val="8E1B1F"/>
            </a:solidFill>
            <a:prstDash val="solid"/>
          </a:ln>
        </p:spPr>
      </p:sp>
      <p:sp>
        <p:nvSpPr>
          <p:cNvPr id="29" name="Shape 26"/>
          <p:cNvSpPr/>
          <p:nvPr/>
        </p:nvSpPr>
        <p:spPr>
          <a:xfrm>
            <a:off x="2075688" y="2798064"/>
            <a:ext cx="274320" cy="274320"/>
          </a:xfrm>
          <a:prstGeom prst="ellipse">
            <a:avLst/>
          </a:prstGeom>
          <a:solidFill>
            <a:srgbClr val="8E1B1F"/>
          </a:solidFill>
          <a:ln w="6350">
            <a:solidFill>
              <a:srgbClr val="8E1B1F"/>
            </a:solidFill>
            <a:prstDash val="solid"/>
          </a:ln>
        </p:spPr>
      </p:sp>
      <p:sp>
        <p:nvSpPr>
          <p:cNvPr id="30" name="Shape 27"/>
          <p:cNvSpPr/>
          <p:nvPr/>
        </p:nvSpPr>
        <p:spPr>
          <a:xfrm>
            <a:off x="2423160" y="2798064"/>
            <a:ext cx="274320" cy="274320"/>
          </a:xfrm>
          <a:prstGeom prst="ellipse">
            <a:avLst/>
          </a:prstGeom>
          <a:solidFill>
            <a:srgbClr val="8E1B1F"/>
          </a:solidFill>
          <a:ln w="6350">
            <a:solidFill>
              <a:srgbClr val="8E1B1F"/>
            </a:solidFill>
            <a:prstDash val="solid"/>
          </a:ln>
        </p:spPr>
      </p:sp>
      <p:sp>
        <p:nvSpPr>
          <p:cNvPr id="31" name="Shape 28"/>
          <p:cNvSpPr/>
          <p:nvPr/>
        </p:nvSpPr>
        <p:spPr>
          <a:xfrm>
            <a:off x="2770632" y="2798064"/>
            <a:ext cx="274320" cy="274320"/>
          </a:xfrm>
          <a:prstGeom prst="ellipse">
            <a:avLst/>
          </a:prstGeom>
          <a:solidFill>
            <a:srgbClr val="E88A8E"/>
          </a:solidFill>
          <a:ln w="6350">
            <a:solidFill>
              <a:srgbClr val="E88A8E"/>
            </a:solidFill>
            <a:prstDash val="solid"/>
          </a:ln>
        </p:spPr>
      </p:sp>
      <p:sp>
        <p:nvSpPr>
          <p:cNvPr id="32" name="Shape 29"/>
          <p:cNvSpPr/>
          <p:nvPr/>
        </p:nvSpPr>
        <p:spPr>
          <a:xfrm>
            <a:off x="3118104" y="2798064"/>
            <a:ext cx="274320" cy="274320"/>
          </a:xfrm>
          <a:prstGeom prst="ellipse">
            <a:avLst/>
          </a:prstGeom>
          <a:solidFill>
            <a:srgbClr val="E88A8E"/>
          </a:solidFill>
          <a:ln w="6350">
            <a:solidFill>
              <a:srgbClr val="E88A8E"/>
            </a:solidFill>
            <a:prstDash val="solid"/>
          </a:ln>
        </p:spPr>
      </p:sp>
      <p:sp>
        <p:nvSpPr>
          <p:cNvPr id="33" name="Shape 30"/>
          <p:cNvSpPr/>
          <p:nvPr/>
        </p:nvSpPr>
        <p:spPr>
          <a:xfrm>
            <a:off x="3465576" y="2798064"/>
            <a:ext cx="274320" cy="274320"/>
          </a:xfrm>
          <a:prstGeom prst="ellipse">
            <a:avLst/>
          </a:prstGeom>
          <a:solidFill>
            <a:srgbClr val="E88A8E"/>
          </a:solidFill>
          <a:ln w="6350">
            <a:solidFill>
              <a:srgbClr val="E88A8E"/>
            </a:solidFill>
            <a:prstDash val="solid"/>
          </a:ln>
        </p:spPr>
      </p:sp>
      <p:sp>
        <p:nvSpPr>
          <p:cNvPr id="34" name="Shape 31"/>
          <p:cNvSpPr/>
          <p:nvPr/>
        </p:nvSpPr>
        <p:spPr>
          <a:xfrm>
            <a:off x="3813048" y="2798064"/>
            <a:ext cx="274320" cy="274320"/>
          </a:xfrm>
          <a:prstGeom prst="ellipse">
            <a:avLst/>
          </a:prstGeom>
          <a:solidFill>
            <a:srgbClr val="E88A8E"/>
          </a:solidFill>
          <a:ln w="6350">
            <a:solidFill>
              <a:srgbClr val="E88A8E"/>
            </a:solidFill>
            <a:prstDash val="solid"/>
          </a:ln>
        </p:spPr>
      </p:sp>
      <p:sp>
        <p:nvSpPr>
          <p:cNvPr id="35" name="Shape 32"/>
          <p:cNvSpPr/>
          <p:nvPr/>
        </p:nvSpPr>
        <p:spPr>
          <a:xfrm>
            <a:off x="685800" y="3145536"/>
            <a:ext cx="274320" cy="274320"/>
          </a:xfrm>
          <a:prstGeom prst="ellipse">
            <a:avLst/>
          </a:prstGeom>
          <a:solidFill>
            <a:srgbClr val="E88A8E"/>
          </a:solidFill>
          <a:ln w="6350">
            <a:solidFill>
              <a:srgbClr val="E88A8E"/>
            </a:solidFill>
            <a:prstDash val="solid"/>
          </a:ln>
        </p:spPr>
      </p:sp>
      <p:sp>
        <p:nvSpPr>
          <p:cNvPr id="36" name="Shape 33"/>
          <p:cNvSpPr/>
          <p:nvPr/>
        </p:nvSpPr>
        <p:spPr>
          <a:xfrm>
            <a:off x="1033272" y="3145536"/>
            <a:ext cx="274320" cy="274320"/>
          </a:xfrm>
          <a:prstGeom prst="ellipse">
            <a:avLst/>
          </a:prstGeom>
          <a:solidFill>
            <a:srgbClr val="E88A8E"/>
          </a:solidFill>
          <a:ln w="6350">
            <a:solidFill>
              <a:srgbClr val="E88A8E"/>
            </a:solidFill>
            <a:prstDash val="solid"/>
          </a:ln>
        </p:spPr>
      </p:sp>
      <p:sp>
        <p:nvSpPr>
          <p:cNvPr id="37" name="Shape 34"/>
          <p:cNvSpPr/>
          <p:nvPr/>
        </p:nvSpPr>
        <p:spPr>
          <a:xfrm>
            <a:off x="1380744" y="3145536"/>
            <a:ext cx="274320" cy="274320"/>
          </a:xfrm>
          <a:prstGeom prst="ellipse">
            <a:avLst/>
          </a:prstGeom>
          <a:solidFill>
            <a:srgbClr val="E88A8E"/>
          </a:solidFill>
          <a:ln w="6350">
            <a:solidFill>
              <a:srgbClr val="E88A8E"/>
            </a:solidFill>
            <a:prstDash val="solid"/>
          </a:ln>
        </p:spPr>
      </p:sp>
      <p:sp>
        <p:nvSpPr>
          <p:cNvPr id="38" name="Shape 35"/>
          <p:cNvSpPr/>
          <p:nvPr/>
        </p:nvSpPr>
        <p:spPr>
          <a:xfrm>
            <a:off x="1728216" y="3145536"/>
            <a:ext cx="274320" cy="274320"/>
          </a:xfrm>
          <a:prstGeom prst="ellipse">
            <a:avLst/>
          </a:prstGeom>
          <a:solidFill>
            <a:srgbClr val="E88A8E"/>
          </a:solidFill>
          <a:ln w="6350">
            <a:solidFill>
              <a:srgbClr val="E88A8E"/>
            </a:solidFill>
            <a:prstDash val="solid"/>
          </a:ln>
        </p:spPr>
      </p:sp>
      <p:sp>
        <p:nvSpPr>
          <p:cNvPr id="39" name="Shape 36"/>
          <p:cNvSpPr/>
          <p:nvPr/>
        </p:nvSpPr>
        <p:spPr>
          <a:xfrm>
            <a:off x="2075688" y="3145536"/>
            <a:ext cx="274320" cy="274320"/>
          </a:xfrm>
          <a:prstGeom prst="ellipse">
            <a:avLst/>
          </a:prstGeom>
          <a:solidFill>
            <a:srgbClr val="E88A8E"/>
          </a:solidFill>
          <a:ln w="6350">
            <a:solidFill>
              <a:srgbClr val="E88A8E"/>
            </a:solidFill>
            <a:prstDash val="solid"/>
          </a:ln>
        </p:spPr>
      </p:sp>
      <p:sp>
        <p:nvSpPr>
          <p:cNvPr id="40" name="Shape 37"/>
          <p:cNvSpPr/>
          <p:nvPr/>
        </p:nvSpPr>
        <p:spPr>
          <a:xfrm>
            <a:off x="2423160" y="3145536"/>
            <a:ext cx="274320" cy="274320"/>
          </a:xfrm>
          <a:prstGeom prst="ellipse">
            <a:avLst/>
          </a:prstGeom>
          <a:solidFill>
            <a:srgbClr val="E88A8E"/>
          </a:solidFill>
          <a:ln w="6350">
            <a:solidFill>
              <a:srgbClr val="E88A8E"/>
            </a:solidFill>
            <a:prstDash val="solid"/>
          </a:ln>
        </p:spPr>
      </p:sp>
      <p:sp>
        <p:nvSpPr>
          <p:cNvPr id="41" name="Shape 38"/>
          <p:cNvSpPr/>
          <p:nvPr/>
        </p:nvSpPr>
        <p:spPr>
          <a:xfrm>
            <a:off x="2770632" y="3145536"/>
            <a:ext cx="274320" cy="274320"/>
          </a:xfrm>
          <a:prstGeom prst="ellipse">
            <a:avLst/>
          </a:prstGeom>
          <a:solidFill>
            <a:srgbClr val="E88A8E"/>
          </a:solidFill>
          <a:ln w="6350">
            <a:solidFill>
              <a:srgbClr val="E88A8E"/>
            </a:solidFill>
            <a:prstDash val="solid"/>
          </a:ln>
        </p:spPr>
      </p:sp>
      <p:sp>
        <p:nvSpPr>
          <p:cNvPr id="42" name="Shape 39"/>
          <p:cNvSpPr/>
          <p:nvPr/>
        </p:nvSpPr>
        <p:spPr>
          <a:xfrm>
            <a:off x="3118104" y="3145536"/>
            <a:ext cx="274320" cy="274320"/>
          </a:xfrm>
          <a:prstGeom prst="ellipse">
            <a:avLst/>
          </a:prstGeom>
          <a:solidFill>
            <a:srgbClr val="E88A8E"/>
          </a:solidFill>
          <a:ln w="6350">
            <a:solidFill>
              <a:srgbClr val="E88A8E"/>
            </a:solidFill>
            <a:prstDash val="solid"/>
          </a:ln>
        </p:spPr>
      </p:sp>
      <p:sp>
        <p:nvSpPr>
          <p:cNvPr id="43" name="Shape 40"/>
          <p:cNvSpPr/>
          <p:nvPr/>
        </p:nvSpPr>
        <p:spPr>
          <a:xfrm>
            <a:off x="3465576" y="3145536"/>
            <a:ext cx="274320" cy="274320"/>
          </a:xfrm>
          <a:prstGeom prst="ellipse">
            <a:avLst/>
          </a:prstGeom>
          <a:solidFill>
            <a:srgbClr val="D5DCE5"/>
          </a:solidFill>
          <a:ln w="6350">
            <a:solidFill>
              <a:srgbClr val="D5DCE5"/>
            </a:solidFill>
            <a:prstDash val="solid"/>
          </a:ln>
        </p:spPr>
      </p:sp>
      <p:sp>
        <p:nvSpPr>
          <p:cNvPr id="44" name="Shape 41"/>
          <p:cNvSpPr/>
          <p:nvPr/>
        </p:nvSpPr>
        <p:spPr>
          <a:xfrm>
            <a:off x="3813048" y="3145536"/>
            <a:ext cx="274320" cy="274320"/>
          </a:xfrm>
          <a:prstGeom prst="ellipse">
            <a:avLst/>
          </a:prstGeom>
          <a:solidFill>
            <a:srgbClr val="D5DCE5"/>
          </a:solidFill>
          <a:ln w="6350">
            <a:solidFill>
              <a:srgbClr val="D5DCE5"/>
            </a:solidFill>
            <a:prstDash val="solid"/>
          </a:ln>
        </p:spPr>
      </p:sp>
      <p:sp>
        <p:nvSpPr>
          <p:cNvPr id="45" name="Shape 42"/>
          <p:cNvSpPr/>
          <p:nvPr/>
        </p:nvSpPr>
        <p:spPr>
          <a:xfrm>
            <a:off x="685800" y="3493008"/>
            <a:ext cx="274320" cy="274320"/>
          </a:xfrm>
          <a:prstGeom prst="ellipse">
            <a:avLst/>
          </a:prstGeom>
          <a:solidFill>
            <a:srgbClr val="D5DCE5"/>
          </a:solidFill>
          <a:ln w="6350">
            <a:solidFill>
              <a:srgbClr val="D5DCE5"/>
            </a:solidFill>
            <a:prstDash val="solid"/>
          </a:ln>
        </p:spPr>
      </p:sp>
      <p:sp>
        <p:nvSpPr>
          <p:cNvPr id="46" name="Shape 43"/>
          <p:cNvSpPr/>
          <p:nvPr/>
        </p:nvSpPr>
        <p:spPr>
          <a:xfrm>
            <a:off x="1033272" y="3493008"/>
            <a:ext cx="274320" cy="274320"/>
          </a:xfrm>
          <a:prstGeom prst="ellipse">
            <a:avLst/>
          </a:prstGeom>
          <a:solidFill>
            <a:srgbClr val="D5DCE5"/>
          </a:solidFill>
          <a:ln w="6350">
            <a:solidFill>
              <a:srgbClr val="D5DCE5"/>
            </a:solidFill>
            <a:prstDash val="solid"/>
          </a:ln>
        </p:spPr>
      </p:sp>
      <p:sp>
        <p:nvSpPr>
          <p:cNvPr id="47" name="Shape 44"/>
          <p:cNvSpPr/>
          <p:nvPr/>
        </p:nvSpPr>
        <p:spPr>
          <a:xfrm>
            <a:off x="1380744" y="3493008"/>
            <a:ext cx="274320" cy="274320"/>
          </a:xfrm>
          <a:prstGeom prst="ellipse">
            <a:avLst/>
          </a:prstGeom>
          <a:solidFill>
            <a:srgbClr val="D5DCE5"/>
          </a:solidFill>
          <a:ln w="6350">
            <a:solidFill>
              <a:srgbClr val="D5DCE5"/>
            </a:solidFill>
            <a:prstDash val="solid"/>
          </a:ln>
        </p:spPr>
      </p:sp>
      <p:sp>
        <p:nvSpPr>
          <p:cNvPr id="48" name="Shape 45"/>
          <p:cNvSpPr/>
          <p:nvPr/>
        </p:nvSpPr>
        <p:spPr>
          <a:xfrm>
            <a:off x="1728216" y="3493008"/>
            <a:ext cx="274320" cy="274320"/>
          </a:xfrm>
          <a:prstGeom prst="ellipse">
            <a:avLst/>
          </a:prstGeom>
          <a:solidFill>
            <a:srgbClr val="D5DCE5"/>
          </a:solidFill>
          <a:ln w="6350">
            <a:solidFill>
              <a:srgbClr val="D5DCE5"/>
            </a:solidFill>
            <a:prstDash val="solid"/>
          </a:ln>
        </p:spPr>
      </p:sp>
      <p:sp>
        <p:nvSpPr>
          <p:cNvPr id="49" name="Shape 46"/>
          <p:cNvSpPr/>
          <p:nvPr/>
        </p:nvSpPr>
        <p:spPr>
          <a:xfrm>
            <a:off x="2075688" y="3493008"/>
            <a:ext cx="274320" cy="274320"/>
          </a:xfrm>
          <a:prstGeom prst="ellipse">
            <a:avLst/>
          </a:prstGeom>
          <a:solidFill>
            <a:srgbClr val="D5DCE5"/>
          </a:solidFill>
          <a:ln w="6350">
            <a:solidFill>
              <a:srgbClr val="D5DCE5"/>
            </a:solidFill>
            <a:prstDash val="solid"/>
          </a:ln>
        </p:spPr>
      </p:sp>
      <p:sp>
        <p:nvSpPr>
          <p:cNvPr id="50" name="Shape 47"/>
          <p:cNvSpPr/>
          <p:nvPr/>
        </p:nvSpPr>
        <p:spPr>
          <a:xfrm>
            <a:off x="2423160" y="3493008"/>
            <a:ext cx="274320" cy="274320"/>
          </a:xfrm>
          <a:prstGeom prst="ellipse">
            <a:avLst/>
          </a:prstGeom>
          <a:solidFill>
            <a:srgbClr val="D5DCE5"/>
          </a:solidFill>
          <a:ln w="6350">
            <a:solidFill>
              <a:srgbClr val="D5DCE5"/>
            </a:solidFill>
            <a:prstDash val="solid"/>
          </a:ln>
        </p:spPr>
      </p:sp>
      <p:sp>
        <p:nvSpPr>
          <p:cNvPr id="51" name="Shape 48"/>
          <p:cNvSpPr/>
          <p:nvPr/>
        </p:nvSpPr>
        <p:spPr>
          <a:xfrm>
            <a:off x="2770632" y="3493008"/>
            <a:ext cx="274320" cy="274320"/>
          </a:xfrm>
          <a:prstGeom prst="ellipse">
            <a:avLst/>
          </a:prstGeom>
          <a:solidFill>
            <a:srgbClr val="D5DCE5"/>
          </a:solidFill>
          <a:ln w="6350">
            <a:solidFill>
              <a:srgbClr val="D5DCE5"/>
            </a:solidFill>
            <a:prstDash val="solid"/>
          </a:ln>
        </p:spPr>
      </p:sp>
      <p:sp>
        <p:nvSpPr>
          <p:cNvPr id="52" name="Shape 49"/>
          <p:cNvSpPr/>
          <p:nvPr/>
        </p:nvSpPr>
        <p:spPr>
          <a:xfrm>
            <a:off x="3118104" y="3493008"/>
            <a:ext cx="274320" cy="274320"/>
          </a:xfrm>
          <a:prstGeom prst="ellipse">
            <a:avLst/>
          </a:prstGeom>
          <a:solidFill>
            <a:srgbClr val="D5DCE5"/>
          </a:solidFill>
          <a:ln w="6350">
            <a:solidFill>
              <a:srgbClr val="D5DCE5"/>
            </a:solidFill>
            <a:prstDash val="solid"/>
          </a:ln>
        </p:spPr>
      </p:sp>
      <p:sp>
        <p:nvSpPr>
          <p:cNvPr id="53" name="Shape 50"/>
          <p:cNvSpPr/>
          <p:nvPr/>
        </p:nvSpPr>
        <p:spPr>
          <a:xfrm>
            <a:off x="3465576" y="3493008"/>
            <a:ext cx="274320" cy="274320"/>
          </a:xfrm>
          <a:prstGeom prst="ellipse">
            <a:avLst/>
          </a:prstGeom>
          <a:solidFill>
            <a:srgbClr val="D5DCE5"/>
          </a:solidFill>
          <a:ln w="6350">
            <a:solidFill>
              <a:srgbClr val="D5DCE5"/>
            </a:solidFill>
            <a:prstDash val="solid"/>
          </a:ln>
        </p:spPr>
      </p:sp>
      <p:sp>
        <p:nvSpPr>
          <p:cNvPr id="54" name="Shape 51"/>
          <p:cNvSpPr/>
          <p:nvPr/>
        </p:nvSpPr>
        <p:spPr>
          <a:xfrm>
            <a:off x="3813048" y="3493008"/>
            <a:ext cx="274320" cy="274320"/>
          </a:xfrm>
          <a:prstGeom prst="ellipse">
            <a:avLst/>
          </a:prstGeom>
          <a:solidFill>
            <a:srgbClr val="D5DCE5"/>
          </a:solidFill>
          <a:ln w="6350">
            <a:solidFill>
              <a:srgbClr val="D5DCE5"/>
            </a:solidFill>
            <a:prstDash val="solid"/>
          </a:ln>
        </p:spPr>
      </p:sp>
      <p:sp>
        <p:nvSpPr>
          <p:cNvPr id="55" name="Shape 52"/>
          <p:cNvSpPr/>
          <p:nvPr/>
        </p:nvSpPr>
        <p:spPr>
          <a:xfrm>
            <a:off x="685800" y="3840480"/>
            <a:ext cx="274320" cy="274320"/>
          </a:xfrm>
          <a:prstGeom prst="ellipse">
            <a:avLst/>
          </a:prstGeom>
          <a:solidFill>
            <a:srgbClr val="D5DCE5"/>
          </a:solidFill>
          <a:ln w="6350">
            <a:solidFill>
              <a:srgbClr val="D5DCE5"/>
            </a:solidFill>
            <a:prstDash val="solid"/>
          </a:ln>
        </p:spPr>
      </p:sp>
      <p:sp>
        <p:nvSpPr>
          <p:cNvPr id="56" name="Shape 53"/>
          <p:cNvSpPr/>
          <p:nvPr/>
        </p:nvSpPr>
        <p:spPr>
          <a:xfrm>
            <a:off x="1033272" y="3840480"/>
            <a:ext cx="274320" cy="274320"/>
          </a:xfrm>
          <a:prstGeom prst="ellipse">
            <a:avLst/>
          </a:prstGeom>
          <a:solidFill>
            <a:srgbClr val="D5DCE5"/>
          </a:solidFill>
          <a:ln w="6350">
            <a:solidFill>
              <a:srgbClr val="D5DCE5"/>
            </a:solidFill>
            <a:prstDash val="solid"/>
          </a:ln>
        </p:spPr>
      </p:sp>
      <p:sp>
        <p:nvSpPr>
          <p:cNvPr id="57" name="Shape 54"/>
          <p:cNvSpPr/>
          <p:nvPr/>
        </p:nvSpPr>
        <p:spPr>
          <a:xfrm>
            <a:off x="1380744" y="3840480"/>
            <a:ext cx="274320" cy="274320"/>
          </a:xfrm>
          <a:prstGeom prst="ellipse">
            <a:avLst/>
          </a:prstGeom>
          <a:solidFill>
            <a:srgbClr val="D5DCE5"/>
          </a:solidFill>
          <a:ln w="6350">
            <a:solidFill>
              <a:srgbClr val="D5DCE5"/>
            </a:solidFill>
            <a:prstDash val="solid"/>
          </a:ln>
        </p:spPr>
      </p:sp>
      <p:sp>
        <p:nvSpPr>
          <p:cNvPr id="58" name="Shape 55"/>
          <p:cNvSpPr/>
          <p:nvPr/>
        </p:nvSpPr>
        <p:spPr>
          <a:xfrm>
            <a:off x="1728216" y="3840480"/>
            <a:ext cx="274320" cy="274320"/>
          </a:xfrm>
          <a:prstGeom prst="ellipse">
            <a:avLst/>
          </a:prstGeom>
          <a:solidFill>
            <a:srgbClr val="D5DCE5"/>
          </a:solidFill>
          <a:ln w="6350">
            <a:solidFill>
              <a:srgbClr val="D5DCE5"/>
            </a:solidFill>
            <a:prstDash val="solid"/>
          </a:ln>
        </p:spPr>
      </p:sp>
      <p:sp>
        <p:nvSpPr>
          <p:cNvPr id="59" name="Shape 56"/>
          <p:cNvSpPr/>
          <p:nvPr/>
        </p:nvSpPr>
        <p:spPr>
          <a:xfrm>
            <a:off x="2075688" y="3840480"/>
            <a:ext cx="274320" cy="274320"/>
          </a:xfrm>
          <a:prstGeom prst="ellipse">
            <a:avLst/>
          </a:prstGeom>
          <a:solidFill>
            <a:srgbClr val="D5DCE5"/>
          </a:solidFill>
          <a:ln w="6350">
            <a:solidFill>
              <a:srgbClr val="D5DCE5"/>
            </a:solidFill>
            <a:prstDash val="solid"/>
          </a:ln>
        </p:spPr>
      </p:sp>
      <p:sp>
        <p:nvSpPr>
          <p:cNvPr id="60" name="Shape 57"/>
          <p:cNvSpPr/>
          <p:nvPr/>
        </p:nvSpPr>
        <p:spPr>
          <a:xfrm>
            <a:off x="2423160" y="3840480"/>
            <a:ext cx="274320" cy="274320"/>
          </a:xfrm>
          <a:prstGeom prst="ellipse">
            <a:avLst/>
          </a:prstGeom>
          <a:solidFill>
            <a:srgbClr val="D5DCE5"/>
          </a:solidFill>
          <a:ln w="6350">
            <a:solidFill>
              <a:srgbClr val="D5DCE5"/>
            </a:solidFill>
            <a:prstDash val="solid"/>
          </a:ln>
        </p:spPr>
      </p:sp>
      <p:sp>
        <p:nvSpPr>
          <p:cNvPr id="61" name="Shape 58"/>
          <p:cNvSpPr/>
          <p:nvPr/>
        </p:nvSpPr>
        <p:spPr>
          <a:xfrm>
            <a:off x="2770632" y="3840480"/>
            <a:ext cx="274320" cy="274320"/>
          </a:xfrm>
          <a:prstGeom prst="ellipse">
            <a:avLst/>
          </a:prstGeom>
          <a:solidFill>
            <a:srgbClr val="D5DCE5"/>
          </a:solidFill>
          <a:ln w="6350">
            <a:solidFill>
              <a:srgbClr val="D5DCE5"/>
            </a:solidFill>
            <a:prstDash val="solid"/>
          </a:ln>
        </p:spPr>
      </p:sp>
      <p:sp>
        <p:nvSpPr>
          <p:cNvPr id="62" name="Shape 59"/>
          <p:cNvSpPr/>
          <p:nvPr/>
        </p:nvSpPr>
        <p:spPr>
          <a:xfrm>
            <a:off x="3118104" y="3840480"/>
            <a:ext cx="274320" cy="274320"/>
          </a:xfrm>
          <a:prstGeom prst="ellipse">
            <a:avLst/>
          </a:prstGeom>
          <a:solidFill>
            <a:srgbClr val="D5DCE5"/>
          </a:solidFill>
          <a:ln w="6350">
            <a:solidFill>
              <a:srgbClr val="D5DCE5"/>
            </a:solidFill>
            <a:prstDash val="solid"/>
          </a:ln>
        </p:spPr>
      </p:sp>
      <p:sp>
        <p:nvSpPr>
          <p:cNvPr id="63" name="Shape 60"/>
          <p:cNvSpPr/>
          <p:nvPr/>
        </p:nvSpPr>
        <p:spPr>
          <a:xfrm>
            <a:off x="3465576" y="3840480"/>
            <a:ext cx="274320" cy="274320"/>
          </a:xfrm>
          <a:prstGeom prst="ellipse">
            <a:avLst/>
          </a:prstGeom>
          <a:solidFill>
            <a:srgbClr val="D5DCE5"/>
          </a:solidFill>
          <a:ln w="6350">
            <a:solidFill>
              <a:srgbClr val="D5DCE5"/>
            </a:solidFill>
            <a:prstDash val="solid"/>
          </a:ln>
        </p:spPr>
      </p:sp>
      <p:sp>
        <p:nvSpPr>
          <p:cNvPr id="64" name="Shape 61"/>
          <p:cNvSpPr/>
          <p:nvPr/>
        </p:nvSpPr>
        <p:spPr>
          <a:xfrm>
            <a:off x="3813048" y="3840480"/>
            <a:ext cx="274320" cy="274320"/>
          </a:xfrm>
          <a:prstGeom prst="ellipse">
            <a:avLst/>
          </a:prstGeom>
          <a:solidFill>
            <a:srgbClr val="D5DCE5"/>
          </a:solidFill>
          <a:ln w="6350">
            <a:solidFill>
              <a:srgbClr val="D5DCE5"/>
            </a:solidFill>
            <a:prstDash val="solid"/>
          </a:ln>
        </p:spPr>
      </p:sp>
      <p:sp>
        <p:nvSpPr>
          <p:cNvPr id="65" name="Shape 62"/>
          <p:cNvSpPr/>
          <p:nvPr/>
        </p:nvSpPr>
        <p:spPr>
          <a:xfrm>
            <a:off x="685800" y="4187952"/>
            <a:ext cx="274320" cy="274320"/>
          </a:xfrm>
          <a:prstGeom prst="ellipse">
            <a:avLst/>
          </a:prstGeom>
          <a:solidFill>
            <a:srgbClr val="D5DCE5"/>
          </a:solidFill>
          <a:ln w="6350">
            <a:solidFill>
              <a:srgbClr val="D5DCE5"/>
            </a:solidFill>
            <a:prstDash val="solid"/>
          </a:ln>
        </p:spPr>
      </p:sp>
      <p:sp>
        <p:nvSpPr>
          <p:cNvPr id="66" name="Shape 63"/>
          <p:cNvSpPr/>
          <p:nvPr/>
        </p:nvSpPr>
        <p:spPr>
          <a:xfrm>
            <a:off x="1033272" y="4187952"/>
            <a:ext cx="274320" cy="274320"/>
          </a:xfrm>
          <a:prstGeom prst="ellipse">
            <a:avLst/>
          </a:prstGeom>
          <a:solidFill>
            <a:srgbClr val="D5DCE5"/>
          </a:solidFill>
          <a:ln w="6350">
            <a:solidFill>
              <a:srgbClr val="D5DCE5"/>
            </a:solidFill>
            <a:prstDash val="solid"/>
          </a:ln>
        </p:spPr>
      </p:sp>
      <p:sp>
        <p:nvSpPr>
          <p:cNvPr id="67" name="Shape 64"/>
          <p:cNvSpPr/>
          <p:nvPr/>
        </p:nvSpPr>
        <p:spPr>
          <a:xfrm>
            <a:off x="1380744" y="4187952"/>
            <a:ext cx="274320" cy="274320"/>
          </a:xfrm>
          <a:prstGeom prst="ellipse">
            <a:avLst/>
          </a:prstGeom>
          <a:solidFill>
            <a:srgbClr val="D5DCE5"/>
          </a:solidFill>
          <a:ln w="6350">
            <a:solidFill>
              <a:srgbClr val="D5DCE5"/>
            </a:solidFill>
            <a:prstDash val="solid"/>
          </a:ln>
        </p:spPr>
      </p:sp>
      <p:sp>
        <p:nvSpPr>
          <p:cNvPr id="68" name="Shape 65"/>
          <p:cNvSpPr/>
          <p:nvPr/>
        </p:nvSpPr>
        <p:spPr>
          <a:xfrm>
            <a:off x="1728216" y="4187952"/>
            <a:ext cx="274320" cy="274320"/>
          </a:xfrm>
          <a:prstGeom prst="ellipse">
            <a:avLst/>
          </a:prstGeom>
          <a:solidFill>
            <a:srgbClr val="D5DCE5"/>
          </a:solidFill>
          <a:ln w="6350">
            <a:solidFill>
              <a:srgbClr val="D5DCE5"/>
            </a:solidFill>
            <a:prstDash val="solid"/>
          </a:ln>
        </p:spPr>
      </p:sp>
      <p:sp>
        <p:nvSpPr>
          <p:cNvPr id="69" name="Shape 66"/>
          <p:cNvSpPr/>
          <p:nvPr/>
        </p:nvSpPr>
        <p:spPr>
          <a:xfrm>
            <a:off x="2075688" y="4187952"/>
            <a:ext cx="274320" cy="274320"/>
          </a:xfrm>
          <a:prstGeom prst="ellipse">
            <a:avLst/>
          </a:prstGeom>
          <a:solidFill>
            <a:srgbClr val="D5DCE5"/>
          </a:solidFill>
          <a:ln w="6350">
            <a:solidFill>
              <a:srgbClr val="D5DCE5"/>
            </a:solidFill>
            <a:prstDash val="solid"/>
          </a:ln>
        </p:spPr>
      </p:sp>
      <p:sp>
        <p:nvSpPr>
          <p:cNvPr id="70" name="Shape 67"/>
          <p:cNvSpPr/>
          <p:nvPr/>
        </p:nvSpPr>
        <p:spPr>
          <a:xfrm>
            <a:off x="2423160" y="4187952"/>
            <a:ext cx="274320" cy="274320"/>
          </a:xfrm>
          <a:prstGeom prst="ellipse">
            <a:avLst/>
          </a:prstGeom>
          <a:solidFill>
            <a:srgbClr val="D5DCE5"/>
          </a:solidFill>
          <a:ln w="6350">
            <a:solidFill>
              <a:srgbClr val="D5DCE5"/>
            </a:solidFill>
            <a:prstDash val="solid"/>
          </a:ln>
        </p:spPr>
      </p:sp>
      <p:sp>
        <p:nvSpPr>
          <p:cNvPr id="71" name="Shape 68"/>
          <p:cNvSpPr/>
          <p:nvPr/>
        </p:nvSpPr>
        <p:spPr>
          <a:xfrm>
            <a:off x="2770632" y="4187952"/>
            <a:ext cx="274320" cy="274320"/>
          </a:xfrm>
          <a:prstGeom prst="ellipse">
            <a:avLst/>
          </a:prstGeom>
          <a:solidFill>
            <a:srgbClr val="D5DCE5"/>
          </a:solidFill>
          <a:ln w="6350">
            <a:solidFill>
              <a:srgbClr val="D5DCE5"/>
            </a:solidFill>
            <a:prstDash val="solid"/>
          </a:ln>
        </p:spPr>
      </p:sp>
      <p:sp>
        <p:nvSpPr>
          <p:cNvPr id="72" name="Shape 69"/>
          <p:cNvSpPr/>
          <p:nvPr/>
        </p:nvSpPr>
        <p:spPr>
          <a:xfrm>
            <a:off x="3118104" y="4187952"/>
            <a:ext cx="274320" cy="274320"/>
          </a:xfrm>
          <a:prstGeom prst="ellipse">
            <a:avLst/>
          </a:prstGeom>
          <a:solidFill>
            <a:srgbClr val="D5DCE5"/>
          </a:solidFill>
          <a:ln w="6350">
            <a:solidFill>
              <a:srgbClr val="D5DCE5"/>
            </a:solidFill>
            <a:prstDash val="solid"/>
          </a:ln>
        </p:spPr>
      </p:sp>
      <p:sp>
        <p:nvSpPr>
          <p:cNvPr id="73" name="Shape 70"/>
          <p:cNvSpPr/>
          <p:nvPr/>
        </p:nvSpPr>
        <p:spPr>
          <a:xfrm>
            <a:off x="3465576" y="4187952"/>
            <a:ext cx="274320" cy="274320"/>
          </a:xfrm>
          <a:prstGeom prst="ellipse">
            <a:avLst/>
          </a:prstGeom>
          <a:solidFill>
            <a:srgbClr val="D5DCE5"/>
          </a:solidFill>
          <a:ln w="6350">
            <a:solidFill>
              <a:srgbClr val="D5DCE5"/>
            </a:solidFill>
            <a:prstDash val="solid"/>
          </a:ln>
        </p:spPr>
      </p:sp>
      <p:sp>
        <p:nvSpPr>
          <p:cNvPr id="74" name="Shape 71"/>
          <p:cNvSpPr/>
          <p:nvPr/>
        </p:nvSpPr>
        <p:spPr>
          <a:xfrm>
            <a:off x="3813048" y="4187952"/>
            <a:ext cx="274320" cy="274320"/>
          </a:xfrm>
          <a:prstGeom prst="ellipse">
            <a:avLst/>
          </a:prstGeom>
          <a:solidFill>
            <a:srgbClr val="D5DCE5"/>
          </a:solidFill>
          <a:ln w="6350">
            <a:solidFill>
              <a:srgbClr val="D5DCE5"/>
            </a:solidFill>
            <a:prstDash val="solid"/>
          </a:ln>
        </p:spPr>
      </p:sp>
      <p:sp>
        <p:nvSpPr>
          <p:cNvPr id="75" name="Shape 72"/>
          <p:cNvSpPr/>
          <p:nvPr/>
        </p:nvSpPr>
        <p:spPr>
          <a:xfrm>
            <a:off x="685800" y="4535424"/>
            <a:ext cx="274320" cy="274320"/>
          </a:xfrm>
          <a:prstGeom prst="ellipse">
            <a:avLst/>
          </a:prstGeom>
          <a:solidFill>
            <a:srgbClr val="D5DCE5"/>
          </a:solidFill>
          <a:ln w="6350">
            <a:solidFill>
              <a:srgbClr val="D5DCE5"/>
            </a:solidFill>
            <a:prstDash val="solid"/>
          </a:ln>
        </p:spPr>
      </p:sp>
      <p:sp>
        <p:nvSpPr>
          <p:cNvPr id="76" name="Shape 73"/>
          <p:cNvSpPr/>
          <p:nvPr/>
        </p:nvSpPr>
        <p:spPr>
          <a:xfrm>
            <a:off x="1033272" y="4535424"/>
            <a:ext cx="274320" cy="274320"/>
          </a:xfrm>
          <a:prstGeom prst="ellipse">
            <a:avLst/>
          </a:prstGeom>
          <a:solidFill>
            <a:srgbClr val="D5DCE5"/>
          </a:solidFill>
          <a:ln w="6350">
            <a:solidFill>
              <a:srgbClr val="D5DCE5"/>
            </a:solidFill>
            <a:prstDash val="solid"/>
          </a:ln>
        </p:spPr>
      </p:sp>
      <p:sp>
        <p:nvSpPr>
          <p:cNvPr id="77" name="Shape 74"/>
          <p:cNvSpPr/>
          <p:nvPr/>
        </p:nvSpPr>
        <p:spPr>
          <a:xfrm>
            <a:off x="1380744" y="4535424"/>
            <a:ext cx="274320" cy="274320"/>
          </a:xfrm>
          <a:prstGeom prst="ellipse">
            <a:avLst/>
          </a:prstGeom>
          <a:solidFill>
            <a:srgbClr val="D5DCE5"/>
          </a:solidFill>
          <a:ln w="6350">
            <a:solidFill>
              <a:srgbClr val="D5DCE5"/>
            </a:solidFill>
            <a:prstDash val="solid"/>
          </a:ln>
        </p:spPr>
      </p:sp>
      <p:sp>
        <p:nvSpPr>
          <p:cNvPr id="78" name="Shape 75"/>
          <p:cNvSpPr/>
          <p:nvPr/>
        </p:nvSpPr>
        <p:spPr>
          <a:xfrm>
            <a:off x="1728216" y="4535424"/>
            <a:ext cx="274320" cy="274320"/>
          </a:xfrm>
          <a:prstGeom prst="ellipse">
            <a:avLst/>
          </a:prstGeom>
          <a:solidFill>
            <a:srgbClr val="D5DCE5"/>
          </a:solidFill>
          <a:ln w="6350">
            <a:solidFill>
              <a:srgbClr val="D5DCE5"/>
            </a:solidFill>
            <a:prstDash val="solid"/>
          </a:ln>
        </p:spPr>
      </p:sp>
      <p:sp>
        <p:nvSpPr>
          <p:cNvPr id="79" name="Shape 76"/>
          <p:cNvSpPr/>
          <p:nvPr/>
        </p:nvSpPr>
        <p:spPr>
          <a:xfrm>
            <a:off x="2075688" y="4535424"/>
            <a:ext cx="274320" cy="274320"/>
          </a:xfrm>
          <a:prstGeom prst="ellipse">
            <a:avLst/>
          </a:prstGeom>
          <a:solidFill>
            <a:srgbClr val="D5DCE5"/>
          </a:solidFill>
          <a:ln w="6350">
            <a:solidFill>
              <a:srgbClr val="D5DCE5"/>
            </a:solidFill>
            <a:prstDash val="solid"/>
          </a:ln>
        </p:spPr>
      </p:sp>
      <p:sp>
        <p:nvSpPr>
          <p:cNvPr id="80" name="Shape 77"/>
          <p:cNvSpPr/>
          <p:nvPr/>
        </p:nvSpPr>
        <p:spPr>
          <a:xfrm>
            <a:off x="2423160" y="4535424"/>
            <a:ext cx="274320" cy="274320"/>
          </a:xfrm>
          <a:prstGeom prst="ellipse">
            <a:avLst/>
          </a:prstGeom>
          <a:solidFill>
            <a:srgbClr val="D5DCE5"/>
          </a:solidFill>
          <a:ln w="6350">
            <a:solidFill>
              <a:srgbClr val="D5DCE5"/>
            </a:solidFill>
            <a:prstDash val="solid"/>
          </a:ln>
        </p:spPr>
      </p:sp>
      <p:sp>
        <p:nvSpPr>
          <p:cNvPr id="81" name="Shape 78"/>
          <p:cNvSpPr/>
          <p:nvPr/>
        </p:nvSpPr>
        <p:spPr>
          <a:xfrm>
            <a:off x="2770632" y="4535424"/>
            <a:ext cx="274320" cy="274320"/>
          </a:xfrm>
          <a:prstGeom prst="ellipse">
            <a:avLst/>
          </a:prstGeom>
          <a:solidFill>
            <a:srgbClr val="D5DCE5"/>
          </a:solidFill>
          <a:ln w="6350">
            <a:solidFill>
              <a:srgbClr val="D5DCE5"/>
            </a:solidFill>
            <a:prstDash val="solid"/>
          </a:ln>
        </p:spPr>
      </p:sp>
      <p:sp>
        <p:nvSpPr>
          <p:cNvPr id="82" name="Shape 79"/>
          <p:cNvSpPr/>
          <p:nvPr/>
        </p:nvSpPr>
        <p:spPr>
          <a:xfrm>
            <a:off x="3118104" y="4535424"/>
            <a:ext cx="274320" cy="274320"/>
          </a:xfrm>
          <a:prstGeom prst="ellipse">
            <a:avLst/>
          </a:prstGeom>
          <a:solidFill>
            <a:srgbClr val="D5DCE5"/>
          </a:solidFill>
          <a:ln w="6350">
            <a:solidFill>
              <a:srgbClr val="D5DCE5"/>
            </a:solidFill>
            <a:prstDash val="solid"/>
          </a:ln>
        </p:spPr>
      </p:sp>
      <p:sp>
        <p:nvSpPr>
          <p:cNvPr id="83" name="Shape 80"/>
          <p:cNvSpPr/>
          <p:nvPr/>
        </p:nvSpPr>
        <p:spPr>
          <a:xfrm>
            <a:off x="3465576" y="4535424"/>
            <a:ext cx="274320" cy="274320"/>
          </a:xfrm>
          <a:prstGeom prst="ellipse">
            <a:avLst/>
          </a:prstGeom>
          <a:solidFill>
            <a:srgbClr val="D5DCE5"/>
          </a:solidFill>
          <a:ln w="6350">
            <a:solidFill>
              <a:srgbClr val="D5DCE5"/>
            </a:solidFill>
            <a:prstDash val="solid"/>
          </a:ln>
        </p:spPr>
      </p:sp>
      <p:sp>
        <p:nvSpPr>
          <p:cNvPr id="84" name="Shape 81"/>
          <p:cNvSpPr/>
          <p:nvPr/>
        </p:nvSpPr>
        <p:spPr>
          <a:xfrm>
            <a:off x="3813048" y="4535424"/>
            <a:ext cx="274320" cy="274320"/>
          </a:xfrm>
          <a:prstGeom prst="ellipse">
            <a:avLst/>
          </a:prstGeom>
          <a:solidFill>
            <a:srgbClr val="D5DCE5"/>
          </a:solidFill>
          <a:ln w="6350">
            <a:solidFill>
              <a:srgbClr val="D5DCE5"/>
            </a:solidFill>
            <a:prstDash val="solid"/>
          </a:ln>
        </p:spPr>
      </p:sp>
      <p:sp>
        <p:nvSpPr>
          <p:cNvPr id="85" name="Shape 82"/>
          <p:cNvSpPr/>
          <p:nvPr/>
        </p:nvSpPr>
        <p:spPr>
          <a:xfrm>
            <a:off x="685800" y="4882896"/>
            <a:ext cx="274320" cy="274320"/>
          </a:xfrm>
          <a:prstGeom prst="ellipse">
            <a:avLst/>
          </a:prstGeom>
          <a:solidFill>
            <a:srgbClr val="D5DCE5"/>
          </a:solidFill>
          <a:ln w="6350">
            <a:solidFill>
              <a:srgbClr val="D5DCE5"/>
            </a:solidFill>
            <a:prstDash val="solid"/>
          </a:ln>
        </p:spPr>
      </p:sp>
      <p:sp>
        <p:nvSpPr>
          <p:cNvPr id="86" name="Shape 83"/>
          <p:cNvSpPr/>
          <p:nvPr/>
        </p:nvSpPr>
        <p:spPr>
          <a:xfrm>
            <a:off x="1033272" y="4882896"/>
            <a:ext cx="274320" cy="274320"/>
          </a:xfrm>
          <a:prstGeom prst="ellipse">
            <a:avLst/>
          </a:prstGeom>
          <a:solidFill>
            <a:srgbClr val="D5DCE5"/>
          </a:solidFill>
          <a:ln w="6350">
            <a:solidFill>
              <a:srgbClr val="D5DCE5"/>
            </a:solidFill>
            <a:prstDash val="solid"/>
          </a:ln>
        </p:spPr>
      </p:sp>
      <p:sp>
        <p:nvSpPr>
          <p:cNvPr id="87" name="Shape 84"/>
          <p:cNvSpPr/>
          <p:nvPr/>
        </p:nvSpPr>
        <p:spPr>
          <a:xfrm>
            <a:off x="1380744" y="4882896"/>
            <a:ext cx="274320" cy="274320"/>
          </a:xfrm>
          <a:prstGeom prst="ellipse">
            <a:avLst/>
          </a:prstGeom>
          <a:solidFill>
            <a:srgbClr val="D5DCE5"/>
          </a:solidFill>
          <a:ln w="6350">
            <a:solidFill>
              <a:srgbClr val="D5DCE5"/>
            </a:solidFill>
            <a:prstDash val="solid"/>
          </a:ln>
        </p:spPr>
      </p:sp>
      <p:sp>
        <p:nvSpPr>
          <p:cNvPr id="88" name="Shape 85"/>
          <p:cNvSpPr/>
          <p:nvPr/>
        </p:nvSpPr>
        <p:spPr>
          <a:xfrm>
            <a:off x="1728216" y="4882896"/>
            <a:ext cx="274320" cy="274320"/>
          </a:xfrm>
          <a:prstGeom prst="ellipse">
            <a:avLst/>
          </a:prstGeom>
          <a:solidFill>
            <a:srgbClr val="D5DCE5"/>
          </a:solidFill>
          <a:ln w="6350">
            <a:solidFill>
              <a:srgbClr val="D5DCE5"/>
            </a:solidFill>
            <a:prstDash val="solid"/>
          </a:ln>
        </p:spPr>
      </p:sp>
      <p:sp>
        <p:nvSpPr>
          <p:cNvPr id="89" name="Shape 86"/>
          <p:cNvSpPr/>
          <p:nvPr/>
        </p:nvSpPr>
        <p:spPr>
          <a:xfrm>
            <a:off x="2075688" y="4882896"/>
            <a:ext cx="274320" cy="274320"/>
          </a:xfrm>
          <a:prstGeom prst="ellipse">
            <a:avLst/>
          </a:prstGeom>
          <a:solidFill>
            <a:srgbClr val="D5DCE5"/>
          </a:solidFill>
          <a:ln w="6350">
            <a:solidFill>
              <a:srgbClr val="D5DCE5"/>
            </a:solidFill>
            <a:prstDash val="solid"/>
          </a:ln>
        </p:spPr>
      </p:sp>
      <p:sp>
        <p:nvSpPr>
          <p:cNvPr id="90" name="Shape 87"/>
          <p:cNvSpPr/>
          <p:nvPr/>
        </p:nvSpPr>
        <p:spPr>
          <a:xfrm>
            <a:off x="2423160" y="4882896"/>
            <a:ext cx="274320" cy="274320"/>
          </a:xfrm>
          <a:prstGeom prst="ellipse">
            <a:avLst/>
          </a:prstGeom>
          <a:solidFill>
            <a:srgbClr val="D5DCE5"/>
          </a:solidFill>
          <a:ln w="6350">
            <a:solidFill>
              <a:srgbClr val="D5DCE5"/>
            </a:solidFill>
            <a:prstDash val="solid"/>
          </a:ln>
        </p:spPr>
      </p:sp>
      <p:sp>
        <p:nvSpPr>
          <p:cNvPr id="91" name="Shape 88"/>
          <p:cNvSpPr/>
          <p:nvPr/>
        </p:nvSpPr>
        <p:spPr>
          <a:xfrm>
            <a:off x="2770632" y="4882896"/>
            <a:ext cx="274320" cy="274320"/>
          </a:xfrm>
          <a:prstGeom prst="ellipse">
            <a:avLst/>
          </a:prstGeom>
          <a:solidFill>
            <a:srgbClr val="D5DCE5"/>
          </a:solidFill>
          <a:ln w="6350">
            <a:solidFill>
              <a:srgbClr val="D5DCE5"/>
            </a:solidFill>
            <a:prstDash val="solid"/>
          </a:ln>
        </p:spPr>
      </p:sp>
      <p:sp>
        <p:nvSpPr>
          <p:cNvPr id="92" name="Shape 89"/>
          <p:cNvSpPr/>
          <p:nvPr/>
        </p:nvSpPr>
        <p:spPr>
          <a:xfrm>
            <a:off x="3118104" y="4882896"/>
            <a:ext cx="274320" cy="274320"/>
          </a:xfrm>
          <a:prstGeom prst="ellipse">
            <a:avLst/>
          </a:prstGeom>
          <a:solidFill>
            <a:srgbClr val="D5DCE5"/>
          </a:solidFill>
          <a:ln w="6350">
            <a:solidFill>
              <a:srgbClr val="D5DCE5"/>
            </a:solidFill>
            <a:prstDash val="solid"/>
          </a:ln>
        </p:spPr>
      </p:sp>
      <p:sp>
        <p:nvSpPr>
          <p:cNvPr id="93" name="Shape 90"/>
          <p:cNvSpPr/>
          <p:nvPr/>
        </p:nvSpPr>
        <p:spPr>
          <a:xfrm>
            <a:off x="3465576" y="4882896"/>
            <a:ext cx="274320" cy="274320"/>
          </a:xfrm>
          <a:prstGeom prst="ellipse">
            <a:avLst/>
          </a:prstGeom>
          <a:solidFill>
            <a:srgbClr val="D5DCE5"/>
          </a:solidFill>
          <a:ln w="6350">
            <a:solidFill>
              <a:srgbClr val="D5DCE5"/>
            </a:solidFill>
            <a:prstDash val="solid"/>
          </a:ln>
        </p:spPr>
      </p:sp>
      <p:sp>
        <p:nvSpPr>
          <p:cNvPr id="94" name="Shape 91"/>
          <p:cNvSpPr/>
          <p:nvPr/>
        </p:nvSpPr>
        <p:spPr>
          <a:xfrm>
            <a:off x="3813048" y="4882896"/>
            <a:ext cx="274320" cy="274320"/>
          </a:xfrm>
          <a:prstGeom prst="ellipse">
            <a:avLst/>
          </a:prstGeom>
          <a:solidFill>
            <a:srgbClr val="D5DCE5"/>
          </a:solidFill>
          <a:ln w="6350">
            <a:solidFill>
              <a:srgbClr val="D5DCE5"/>
            </a:solidFill>
            <a:prstDash val="solid"/>
          </a:ln>
        </p:spPr>
      </p:sp>
      <p:sp>
        <p:nvSpPr>
          <p:cNvPr id="95" name="Shape 92"/>
          <p:cNvSpPr/>
          <p:nvPr/>
        </p:nvSpPr>
        <p:spPr>
          <a:xfrm>
            <a:off x="685800" y="5230368"/>
            <a:ext cx="274320" cy="274320"/>
          </a:xfrm>
          <a:prstGeom prst="ellipse">
            <a:avLst/>
          </a:prstGeom>
          <a:solidFill>
            <a:srgbClr val="D5DCE5"/>
          </a:solidFill>
          <a:ln w="6350">
            <a:solidFill>
              <a:srgbClr val="D5DCE5"/>
            </a:solidFill>
            <a:prstDash val="solid"/>
          </a:ln>
        </p:spPr>
      </p:sp>
      <p:sp>
        <p:nvSpPr>
          <p:cNvPr id="96" name="Shape 93"/>
          <p:cNvSpPr/>
          <p:nvPr/>
        </p:nvSpPr>
        <p:spPr>
          <a:xfrm>
            <a:off x="1033272" y="5230368"/>
            <a:ext cx="274320" cy="274320"/>
          </a:xfrm>
          <a:prstGeom prst="ellipse">
            <a:avLst/>
          </a:prstGeom>
          <a:solidFill>
            <a:srgbClr val="D5DCE5"/>
          </a:solidFill>
          <a:ln w="6350">
            <a:solidFill>
              <a:srgbClr val="D5DCE5"/>
            </a:solidFill>
            <a:prstDash val="solid"/>
          </a:ln>
        </p:spPr>
      </p:sp>
      <p:sp>
        <p:nvSpPr>
          <p:cNvPr id="97" name="Shape 94"/>
          <p:cNvSpPr/>
          <p:nvPr/>
        </p:nvSpPr>
        <p:spPr>
          <a:xfrm>
            <a:off x="1380744" y="5230368"/>
            <a:ext cx="274320" cy="274320"/>
          </a:xfrm>
          <a:prstGeom prst="ellipse">
            <a:avLst/>
          </a:prstGeom>
          <a:solidFill>
            <a:srgbClr val="D5DCE5"/>
          </a:solidFill>
          <a:ln w="6350">
            <a:solidFill>
              <a:srgbClr val="D5DCE5"/>
            </a:solidFill>
            <a:prstDash val="solid"/>
          </a:ln>
        </p:spPr>
      </p:sp>
      <p:sp>
        <p:nvSpPr>
          <p:cNvPr id="98" name="Shape 95"/>
          <p:cNvSpPr/>
          <p:nvPr/>
        </p:nvSpPr>
        <p:spPr>
          <a:xfrm>
            <a:off x="1728216" y="5230368"/>
            <a:ext cx="274320" cy="274320"/>
          </a:xfrm>
          <a:prstGeom prst="ellipse">
            <a:avLst/>
          </a:prstGeom>
          <a:solidFill>
            <a:srgbClr val="D5DCE5"/>
          </a:solidFill>
          <a:ln w="6350">
            <a:solidFill>
              <a:srgbClr val="D5DCE5"/>
            </a:solidFill>
            <a:prstDash val="solid"/>
          </a:ln>
        </p:spPr>
      </p:sp>
      <p:sp>
        <p:nvSpPr>
          <p:cNvPr id="99" name="Shape 96"/>
          <p:cNvSpPr/>
          <p:nvPr/>
        </p:nvSpPr>
        <p:spPr>
          <a:xfrm>
            <a:off x="2075688" y="5230368"/>
            <a:ext cx="274320" cy="274320"/>
          </a:xfrm>
          <a:prstGeom prst="ellipse">
            <a:avLst/>
          </a:prstGeom>
          <a:solidFill>
            <a:srgbClr val="D5DCE5"/>
          </a:solidFill>
          <a:ln w="6350">
            <a:solidFill>
              <a:srgbClr val="D5DCE5"/>
            </a:solidFill>
            <a:prstDash val="solid"/>
          </a:ln>
        </p:spPr>
      </p:sp>
      <p:sp>
        <p:nvSpPr>
          <p:cNvPr id="100" name="Shape 97"/>
          <p:cNvSpPr/>
          <p:nvPr/>
        </p:nvSpPr>
        <p:spPr>
          <a:xfrm>
            <a:off x="2423160" y="5230368"/>
            <a:ext cx="274320" cy="274320"/>
          </a:xfrm>
          <a:prstGeom prst="ellipse">
            <a:avLst/>
          </a:prstGeom>
          <a:solidFill>
            <a:srgbClr val="D5DCE5"/>
          </a:solidFill>
          <a:ln w="6350">
            <a:solidFill>
              <a:srgbClr val="D5DCE5"/>
            </a:solidFill>
            <a:prstDash val="solid"/>
          </a:ln>
        </p:spPr>
      </p:sp>
      <p:sp>
        <p:nvSpPr>
          <p:cNvPr id="101" name="Shape 98"/>
          <p:cNvSpPr/>
          <p:nvPr/>
        </p:nvSpPr>
        <p:spPr>
          <a:xfrm>
            <a:off x="2770632" y="5230368"/>
            <a:ext cx="274320" cy="274320"/>
          </a:xfrm>
          <a:prstGeom prst="ellipse">
            <a:avLst/>
          </a:prstGeom>
          <a:solidFill>
            <a:srgbClr val="D5DCE5"/>
          </a:solidFill>
          <a:ln w="6350">
            <a:solidFill>
              <a:srgbClr val="D5DCE5"/>
            </a:solidFill>
            <a:prstDash val="solid"/>
          </a:ln>
        </p:spPr>
      </p:sp>
      <p:sp>
        <p:nvSpPr>
          <p:cNvPr id="102" name="Shape 99"/>
          <p:cNvSpPr/>
          <p:nvPr/>
        </p:nvSpPr>
        <p:spPr>
          <a:xfrm>
            <a:off x="3118104" y="5230368"/>
            <a:ext cx="274320" cy="274320"/>
          </a:xfrm>
          <a:prstGeom prst="ellipse">
            <a:avLst/>
          </a:prstGeom>
          <a:solidFill>
            <a:srgbClr val="D5DCE5"/>
          </a:solidFill>
          <a:ln w="6350">
            <a:solidFill>
              <a:srgbClr val="D5DCE5"/>
            </a:solidFill>
            <a:prstDash val="solid"/>
          </a:ln>
        </p:spPr>
      </p:sp>
      <p:sp>
        <p:nvSpPr>
          <p:cNvPr id="103" name="Shape 100"/>
          <p:cNvSpPr/>
          <p:nvPr/>
        </p:nvSpPr>
        <p:spPr>
          <a:xfrm>
            <a:off x="3465576" y="5230368"/>
            <a:ext cx="274320" cy="274320"/>
          </a:xfrm>
          <a:prstGeom prst="ellipse">
            <a:avLst/>
          </a:prstGeom>
          <a:solidFill>
            <a:srgbClr val="D5DCE5"/>
          </a:solidFill>
          <a:ln w="6350">
            <a:solidFill>
              <a:srgbClr val="D5DCE5"/>
            </a:solidFill>
            <a:prstDash val="solid"/>
          </a:ln>
        </p:spPr>
      </p:sp>
      <p:sp>
        <p:nvSpPr>
          <p:cNvPr id="104" name="Shape 101"/>
          <p:cNvSpPr/>
          <p:nvPr/>
        </p:nvSpPr>
        <p:spPr>
          <a:xfrm>
            <a:off x="3813048" y="5230368"/>
            <a:ext cx="274320" cy="274320"/>
          </a:xfrm>
          <a:prstGeom prst="ellipse">
            <a:avLst/>
          </a:prstGeom>
          <a:solidFill>
            <a:srgbClr val="D5DCE5"/>
          </a:solidFill>
          <a:ln w="6350">
            <a:solidFill>
              <a:srgbClr val="D5DCE5"/>
            </a:solidFill>
            <a:prstDash val="solid"/>
          </a:ln>
        </p:spPr>
      </p:sp>
      <p:sp>
        <p:nvSpPr>
          <p:cNvPr id="105" name="Text 102"/>
          <p:cNvSpPr txBox="1"/>
          <p:nvPr/>
        </p:nvSpPr>
        <p:spPr>
          <a:xfrm>
            <a:off x="685800" y="5596128"/>
            <a:ext cx="3840480" cy="256032"/>
          </a:xfrm>
          <a:prstGeom prst="rect">
            <a:avLst/>
          </a:prstGeom>
          <a:noFill/>
          <a:ln/>
        </p:spPr>
        <p:txBody>
          <a:bodyPr wrap="square" lIns="0" tIns="0" rIns="0" bIns="0" rtlCol="0" anchor="ctr"/>
          <a:lstStyle/>
          <a:p>
            <a:pPr indent="0" marL="0">
              <a:buNone/>
            </a:pPr>
            <a:r>
              <a:rPr lang="en-US" sz="1100" i="1" dirty="0">
                <a:solidFill>
                  <a:srgbClr val="667285"/>
                </a:solidFill>
                <a:latin typeface="Calibri" pitchFamily="34" charset="0"/>
                <a:ea typeface="Calibri" pitchFamily="34" charset="-122"/>
                <a:cs typeface="Calibri" pitchFamily="34" charset="-120"/>
              </a:rPr>
              <a:t>Each dot = 1 patient scanned within 3 hours of onset</a:t>
            </a:r>
            <a:endParaRPr lang="en-US" sz="1100" dirty="0"/>
          </a:p>
        </p:txBody>
      </p:sp>
      <p:sp>
        <p:nvSpPr>
          <p:cNvPr id="106" name="Text 103"/>
          <p:cNvSpPr txBox="1"/>
          <p:nvPr/>
        </p:nvSpPr>
        <p:spPr>
          <a:xfrm>
            <a:off x="5074920" y="2011680"/>
            <a:ext cx="6568135" cy="777240"/>
          </a:xfrm>
          <a:prstGeom prst="rect">
            <a:avLst/>
          </a:prstGeom>
          <a:noFill/>
          <a:ln/>
        </p:spPr>
        <p:txBody>
          <a:bodyPr wrap="square" lIns="0" tIns="0" rIns="0" bIns="0" rtlCol="0" anchor="ctr"/>
          <a:lstStyle/>
          <a:p>
            <a:pPr indent="0" marL="0">
              <a:buNone/>
            </a:pPr>
            <a:r>
              <a:rPr lang="en-US" sz="5400" b="1" dirty="0">
                <a:solidFill>
                  <a:srgbClr val="C1272D"/>
                </a:solidFill>
                <a:latin typeface="Calibri" pitchFamily="34" charset="0"/>
                <a:ea typeface="Calibri" pitchFamily="34" charset="-122"/>
                <a:cs typeface="Calibri" pitchFamily="34" charset="-120"/>
              </a:rPr>
              <a:t>38 in 100</a:t>
            </a:r>
            <a:endParaRPr lang="en-US" sz="5400" dirty="0"/>
          </a:p>
        </p:txBody>
      </p:sp>
      <p:sp>
        <p:nvSpPr>
          <p:cNvPr id="107" name="Text 104"/>
          <p:cNvSpPr txBox="1"/>
          <p:nvPr/>
        </p:nvSpPr>
        <p:spPr>
          <a:xfrm>
            <a:off x="5074920" y="2788920"/>
            <a:ext cx="6568135" cy="594360"/>
          </a:xfrm>
          <a:prstGeom prst="rect">
            <a:avLst/>
          </a:prstGeom>
          <a:noFill/>
          <a:ln/>
        </p:spPr>
        <p:txBody>
          <a:bodyPr wrap="square" lIns="0" tIns="0" rIns="0" bIns="0" rtlCol="0" anchor="t"/>
          <a:lstStyle/>
          <a:p>
            <a:pPr indent="0" marL="0">
              <a:buNone/>
            </a:pPr>
            <a:r>
              <a:rPr lang="en-US" sz="1600" dirty="0">
                <a:solidFill>
                  <a:srgbClr val="1B2230"/>
                </a:solidFill>
                <a:latin typeface="Calibri" pitchFamily="34" charset="0"/>
                <a:ea typeface="Calibri" pitchFamily="34" charset="-122"/>
                <a:cs typeface="Calibri" pitchFamily="34" charset="-120"/>
              </a:rPr>
              <a:t>grew by more than a third within 20 hours, and growth went with neurological decline.</a:t>
            </a:r>
            <a:endParaRPr lang="en-US" sz="1600" dirty="0"/>
          </a:p>
        </p:txBody>
      </p:sp>
      <p:sp>
        <p:nvSpPr>
          <p:cNvPr id="108" name="Shape 105"/>
          <p:cNvSpPr/>
          <p:nvPr/>
        </p:nvSpPr>
        <p:spPr>
          <a:xfrm>
            <a:off x="5074920" y="3584448"/>
            <a:ext cx="201168" cy="201168"/>
          </a:xfrm>
          <a:prstGeom prst="ellipse">
            <a:avLst/>
          </a:prstGeom>
          <a:solidFill>
            <a:srgbClr val="8E1B1F"/>
          </a:solidFill>
          <a:ln w="6350">
            <a:solidFill>
              <a:srgbClr val="8E1B1F"/>
            </a:solidFill>
            <a:prstDash val="solid"/>
          </a:ln>
        </p:spPr>
      </p:sp>
      <p:sp>
        <p:nvSpPr>
          <p:cNvPr id="109" name="Text 106"/>
          <p:cNvSpPr txBox="1"/>
          <p:nvPr/>
        </p:nvSpPr>
        <p:spPr>
          <a:xfrm>
            <a:off x="5422392" y="3520440"/>
            <a:ext cx="6202375" cy="329184"/>
          </a:xfrm>
          <a:prstGeom prst="rect">
            <a:avLst/>
          </a:prstGeom>
          <a:noFill/>
          <a:ln/>
        </p:spPr>
        <p:txBody>
          <a:bodyPr wrap="square" lIns="0" tIns="0" rIns="0" bIns="0" rtlCol="0" anchor="ctr"/>
          <a:lstStyle/>
          <a:p>
            <a:pPr indent="0" marL="0">
              <a:buNone/>
            </a:pPr>
            <a:r>
              <a:rPr lang="en-US" sz="1400" dirty="0">
                <a:solidFill>
                  <a:srgbClr val="1B2230"/>
                </a:solidFill>
                <a:latin typeface="Calibri" pitchFamily="34" charset="0"/>
                <a:ea typeface="Calibri" pitchFamily="34" charset="-122"/>
                <a:cs typeface="Calibri" pitchFamily="34" charset="-120"/>
              </a:rPr>
              <a:t>26 grew within the first hour after the first scan</a:t>
            </a:r>
            <a:endParaRPr lang="en-US" sz="1400" dirty="0"/>
          </a:p>
        </p:txBody>
      </p:sp>
      <p:sp>
        <p:nvSpPr>
          <p:cNvPr id="110" name="Shape 107"/>
          <p:cNvSpPr/>
          <p:nvPr/>
        </p:nvSpPr>
        <p:spPr>
          <a:xfrm>
            <a:off x="5074920" y="3950208"/>
            <a:ext cx="201168" cy="201168"/>
          </a:xfrm>
          <a:prstGeom prst="ellipse">
            <a:avLst/>
          </a:prstGeom>
          <a:solidFill>
            <a:srgbClr val="E88A8E"/>
          </a:solidFill>
          <a:ln w="6350">
            <a:solidFill>
              <a:srgbClr val="E88A8E"/>
            </a:solidFill>
            <a:prstDash val="solid"/>
          </a:ln>
        </p:spPr>
      </p:sp>
      <p:sp>
        <p:nvSpPr>
          <p:cNvPr id="111" name="Text 108"/>
          <p:cNvSpPr txBox="1"/>
          <p:nvPr/>
        </p:nvSpPr>
        <p:spPr>
          <a:xfrm>
            <a:off x="5422392" y="3886200"/>
            <a:ext cx="6202375" cy="329184"/>
          </a:xfrm>
          <a:prstGeom prst="rect">
            <a:avLst/>
          </a:prstGeom>
          <a:noFill/>
          <a:ln/>
        </p:spPr>
        <p:txBody>
          <a:bodyPr wrap="square" lIns="0" tIns="0" rIns="0" bIns="0" rtlCol="0" anchor="ctr"/>
          <a:lstStyle/>
          <a:p>
            <a:pPr indent="0" marL="0">
              <a:buNone/>
            </a:pPr>
            <a:r>
              <a:rPr lang="en-US" sz="1400" dirty="0">
                <a:solidFill>
                  <a:srgbClr val="1B2230"/>
                </a:solidFill>
                <a:latin typeface="Calibri" pitchFamily="34" charset="0"/>
                <a:ea typeface="Calibri" pitchFamily="34" charset="-122"/>
                <a:cs typeface="Calibri" pitchFamily="34" charset="-120"/>
              </a:rPr>
              <a:t>12 more grew between 1 and 20 hours</a:t>
            </a:r>
            <a:endParaRPr lang="en-US" sz="1400" dirty="0"/>
          </a:p>
        </p:txBody>
      </p:sp>
      <p:sp>
        <p:nvSpPr>
          <p:cNvPr id="112" name="Shape 109"/>
          <p:cNvSpPr/>
          <p:nvPr/>
        </p:nvSpPr>
        <p:spPr>
          <a:xfrm>
            <a:off x="5074920" y="4315968"/>
            <a:ext cx="201168" cy="201168"/>
          </a:xfrm>
          <a:prstGeom prst="ellipse">
            <a:avLst/>
          </a:prstGeom>
          <a:solidFill>
            <a:srgbClr val="D5DCE5"/>
          </a:solidFill>
          <a:ln w="6350">
            <a:solidFill>
              <a:srgbClr val="D5DCE5"/>
            </a:solidFill>
            <a:prstDash val="solid"/>
          </a:ln>
        </p:spPr>
      </p:sp>
      <p:sp>
        <p:nvSpPr>
          <p:cNvPr id="113" name="Text 110"/>
          <p:cNvSpPr txBox="1"/>
          <p:nvPr/>
        </p:nvSpPr>
        <p:spPr>
          <a:xfrm>
            <a:off x="5422392" y="4251960"/>
            <a:ext cx="6202375" cy="329184"/>
          </a:xfrm>
          <a:prstGeom prst="rect">
            <a:avLst/>
          </a:prstGeom>
          <a:noFill/>
          <a:ln/>
        </p:spPr>
        <p:txBody>
          <a:bodyPr wrap="square" lIns="0" tIns="0" rIns="0" bIns="0" rtlCol="0" anchor="ctr"/>
          <a:lstStyle/>
          <a:p>
            <a:pPr indent="0" marL="0">
              <a:buNone/>
            </a:pPr>
            <a:r>
              <a:rPr lang="en-US" sz="1400" dirty="0">
                <a:solidFill>
                  <a:srgbClr val="1B2230"/>
                </a:solidFill>
                <a:latin typeface="Calibri" pitchFamily="34" charset="0"/>
                <a:ea typeface="Calibri" pitchFamily="34" charset="-122"/>
                <a:cs typeface="Calibri" pitchFamily="34" charset="-120"/>
              </a:rPr>
              <a:t>62 showed no substantial growth</a:t>
            </a:r>
            <a:endParaRPr lang="en-US" sz="1400" dirty="0"/>
          </a:p>
        </p:txBody>
      </p:sp>
      <p:sp>
        <p:nvSpPr>
          <p:cNvPr id="114" name="Shape 111"/>
          <p:cNvSpPr/>
          <p:nvPr/>
        </p:nvSpPr>
        <p:spPr>
          <a:xfrm>
            <a:off x="5074920" y="4754880"/>
            <a:ext cx="6568135" cy="1051560"/>
          </a:xfrm>
          <a:prstGeom prst="roundRect">
            <a:avLst>
              <a:gd name="adj" fmla="val 8696"/>
            </a:avLst>
          </a:prstGeom>
          <a:solidFill>
            <a:srgbClr val="E8EDF3"/>
          </a:solidFill>
          <a:ln w="6350">
            <a:solidFill>
              <a:srgbClr val="E8EDF3"/>
            </a:solidFill>
            <a:prstDash val="solid"/>
          </a:ln>
        </p:spPr>
      </p:sp>
      <p:sp>
        <p:nvSpPr>
          <p:cNvPr id="115" name="Shape 112"/>
          <p:cNvSpPr/>
          <p:nvPr/>
        </p:nvSpPr>
        <p:spPr>
          <a:xfrm>
            <a:off x="5349240" y="4992624"/>
            <a:ext cx="566928" cy="566928"/>
          </a:xfrm>
          <a:prstGeom prst="ellipse">
            <a:avLst/>
          </a:prstGeom>
          <a:solidFill>
            <a:srgbClr val="13233A"/>
          </a:solidFill>
          <a:ln w="6350">
            <a:solidFill>
              <a:srgbClr val="13233A"/>
            </a:solidFill>
            <a:prstDash val="solid"/>
          </a:ln>
        </p:spPr>
      </p:sp>
      <p:pic>
        <p:nvPicPr>
          <p:cNvPr id="116" name="Image 0" descr="preencoded.png">    </p:cNvPr>
          <p:cNvPicPr>
            <a:picLocks noChangeAspect="1"/>
          </p:cNvPicPr>
          <p:nvPr/>
        </p:nvPicPr>
        <p:blipFill>
          <a:blip r:embed="rId1"/>
          <a:stretch>
            <a:fillRect/>
          </a:stretch>
        </p:blipFill>
        <p:spPr>
          <a:xfrm>
            <a:off x="5490972" y="5134356"/>
            <a:ext cx="283464" cy="283464"/>
          </a:xfrm>
          <a:prstGeom prst="rect">
            <a:avLst/>
          </a:prstGeom>
        </p:spPr>
      </p:pic>
      <p:sp>
        <p:nvSpPr>
          <p:cNvPr id="117" name="Text 113"/>
          <p:cNvSpPr txBox="1"/>
          <p:nvPr/>
        </p:nvSpPr>
        <p:spPr>
          <a:xfrm>
            <a:off x="6099048" y="4809744"/>
            <a:ext cx="5333695" cy="914400"/>
          </a:xfrm>
          <a:prstGeom prst="rect">
            <a:avLst/>
          </a:prstGeom>
          <a:noFill/>
          <a:ln/>
        </p:spPr>
        <p:txBody>
          <a:bodyPr wrap="square" lIns="0" tIns="0" rIns="0" bIns="0" rtlCol="0" anchor="ctr"/>
          <a:lstStyle/>
          <a:p>
            <a:pPr indent="0" marL="0">
              <a:spcAft>
                <a:spcPts val="300"/>
              </a:spcAft>
              <a:buNone/>
            </a:pPr>
            <a:r>
              <a:rPr lang="en-US" sz="1400" b="1" dirty="0">
                <a:solidFill>
                  <a:srgbClr val="1B2230"/>
                </a:solidFill>
                <a:latin typeface="Calibri" pitchFamily="34" charset="0"/>
                <a:ea typeface="Calibri" pitchFamily="34" charset="-122"/>
                <a:cs typeface="Calibri" pitchFamily="34" charset="-120"/>
              </a:rPr>
              <a:t>Every 10% of growth raised the hazard of death by 5%.</a:t>
            </a:r>
            <a:endParaRPr lang="en-US" sz="1400" dirty="0"/>
          </a:p>
          <a:p>
            <a:pPr indent="0" marL="0">
              <a:spcAft>
                <a:spcPts val="300"/>
              </a:spcAft>
              <a:buNone/>
            </a:pPr>
            <a:r>
              <a:rPr lang="en-US" sz="1400" dirty="0">
                <a:solidFill>
                  <a:srgbClr val="3E5C76"/>
                </a:solidFill>
                <a:latin typeface="Calibri" pitchFamily="34" charset="0"/>
                <a:ea typeface="Calibri" pitchFamily="34" charset="-122"/>
                <a:cs typeface="Calibri" pitchFamily="34" charset="-120"/>
              </a:rPr>
              <a:t>Higher risk: early scan, large bleed, anticoagulants, CTA "spot sign".</a:t>
            </a:r>
            <a:endParaRPr lang="en-US" sz="1400" dirty="0"/>
          </a:p>
        </p:txBody>
      </p:sp>
      <p:sp>
        <p:nvSpPr>
          <p:cNvPr id="118" name="Text 114"/>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000" i="1" dirty="0">
                <a:solidFill>
                  <a:srgbClr val="667285"/>
                </a:solidFill>
                <a:latin typeface="Calibri" pitchFamily="34" charset="0"/>
                <a:ea typeface="Calibri" pitchFamily="34" charset="-122"/>
                <a:cs typeface="Calibri" pitchFamily="34" charset="-120"/>
              </a:rPr>
              <a:t>Brott et al., Stroke 1997 (n = 103); Davis et al., Neurology 2006; spot sign: Demchuk et al., Lancet Neurol 2012 (PREDICT).</a:t>
            </a:r>
            <a:endParaRPr lang="en-US" sz="1000" dirty="0"/>
          </a:p>
        </p:txBody>
      </p:sp>
      <p:sp>
        <p:nvSpPr>
          <p:cNvPr id="119" name="Text 115"/>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120" name="Shape 116"/>
          <p:cNvSpPr/>
          <p:nvPr/>
        </p:nvSpPr>
        <p:spPr>
          <a:xfrm>
            <a:off x="7360920" y="6460236"/>
            <a:ext cx="118872" cy="118872"/>
          </a:xfrm>
          <a:prstGeom prst="ellipse">
            <a:avLst/>
          </a:prstGeom>
          <a:solidFill>
            <a:srgbClr val="C9D2DE"/>
          </a:solidFill>
          <a:ln w="6350">
            <a:solidFill>
              <a:srgbClr val="C9D2DE"/>
            </a:solidFill>
            <a:prstDash val="solid"/>
          </a:ln>
        </p:spPr>
      </p:sp>
      <p:sp>
        <p:nvSpPr>
          <p:cNvPr id="121" name="Text 117"/>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Vessel</a:t>
            </a:r>
            <a:endParaRPr lang="en-US" sz="1000" dirty="0"/>
          </a:p>
        </p:txBody>
      </p:sp>
      <p:sp>
        <p:nvSpPr>
          <p:cNvPr id="122" name="Shape 118"/>
          <p:cNvSpPr/>
          <p:nvPr/>
        </p:nvSpPr>
        <p:spPr>
          <a:xfrm>
            <a:off x="8275320" y="6460236"/>
            <a:ext cx="118872" cy="118872"/>
          </a:xfrm>
          <a:prstGeom prst="ellipse">
            <a:avLst/>
          </a:prstGeom>
          <a:solidFill>
            <a:srgbClr val="C1272D"/>
          </a:solidFill>
          <a:ln w="6350">
            <a:solidFill>
              <a:srgbClr val="C1272D"/>
            </a:solidFill>
            <a:prstDash val="solid"/>
          </a:ln>
        </p:spPr>
      </p:sp>
      <p:sp>
        <p:nvSpPr>
          <p:cNvPr id="123" name="Text 119"/>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b="1" dirty="0">
                <a:solidFill>
                  <a:srgbClr val="C1272D"/>
                </a:solidFill>
                <a:latin typeface="Calibri" pitchFamily="34" charset="0"/>
                <a:ea typeface="Calibri" pitchFamily="34" charset="-122"/>
                <a:cs typeface="Calibri" pitchFamily="34" charset="-120"/>
              </a:rPr>
              <a:t>Hours</a:t>
            </a:r>
            <a:endParaRPr lang="en-US" sz="1000" dirty="0"/>
          </a:p>
        </p:txBody>
      </p:sp>
      <p:sp>
        <p:nvSpPr>
          <p:cNvPr id="124" name="Shape 120"/>
          <p:cNvSpPr/>
          <p:nvPr/>
        </p:nvSpPr>
        <p:spPr>
          <a:xfrm>
            <a:off x="9189720" y="6460236"/>
            <a:ext cx="118872" cy="118872"/>
          </a:xfrm>
          <a:prstGeom prst="ellipse">
            <a:avLst/>
          </a:prstGeom>
          <a:solidFill>
            <a:srgbClr val="C9D2DE"/>
          </a:solidFill>
          <a:ln w="6350">
            <a:solidFill>
              <a:srgbClr val="C9D2DE"/>
            </a:solidFill>
            <a:prstDash val="solid"/>
          </a:ln>
        </p:spPr>
      </p:sp>
      <p:sp>
        <p:nvSpPr>
          <p:cNvPr id="125" name="Text 121"/>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Days</a:t>
            </a:r>
            <a:endParaRPr lang="en-US" sz="1000" dirty="0"/>
          </a:p>
        </p:txBody>
      </p:sp>
      <p:sp>
        <p:nvSpPr>
          <p:cNvPr id="126" name="Shape 122"/>
          <p:cNvSpPr/>
          <p:nvPr/>
        </p:nvSpPr>
        <p:spPr>
          <a:xfrm>
            <a:off x="10104120" y="6460236"/>
            <a:ext cx="118872" cy="118872"/>
          </a:xfrm>
          <a:prstGeom prst="ellipse">
            <a:avLst/>
          </a:prstGeom>
          <a:solidFill>
            <a:srgbClr val="C9D2DE"/>
          </a:solidFill>
          <a:ln w="6350">
            <a:solidFill>
              <a:srgbClr val="C9D2DE"/>
            </a:solidFill>
            <a:prstDash val="solid"/>
          </a:ln>
        </p:spPr>
      </p:sp>
      <p:sp>
        <p:nvSpPr>
          <p:cNvPr id="127" name="Text 123"/>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128" name="Text 124"/>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14</a:t>
            </a:r>
            <a:endParaRPr lang="en-US" sz="10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02 · THE FIRST HOURS</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Volume and ventricles turn a bleed into a crisis</a:t>
            </a:r>
            <a:endParaRPr lang="en-US" sz="3600" dirty="0"/>
          </a:p>
        </p:txBody>
      </p:sp>
      <p:sp>
        <p:nvSpPr>
          <p:cNvPr id="5" name="Shape 2"/>
          <p:cNvSpPr/>
          <p:nvPr/>
        </p:nvSpPr>
        <p:spPr>
          <a:xfrm>
            <a:off x="731520" y="2148840"/>
            <a:ext cx="3566160" cy="3566160"/>
          </a:xfrm>
          <a:prstGeom prst="ellipse">
            <a:avLst/>
          </a:prstGeom>
          <a:solidFill>
            <a:srgbClr val="EEF1F5"/>
          </a:solidFill>
          <a:ln w="6350">
            <a:solidFill>
              <a:srgbClr val="EEF1F5"/>
            </a:solidFill>
            <a:prstDash val="solid"/>
          </a:ln>
        </p:spPr>
      </p:sp>
      <p:sp>
        <p:nvSpPr>
          <p:cNvPr id="6" name="Shape 3"/>
          <p:cNvSpPr/>
          <p:nvPr/>
        </p:nvSpPr>
        <p:spPr>
          <a:xfrm>
            <a:off x="1188720" y="2606040"/>
            <a:ext cx="2651760" cy="2651760"/>
          </a:xfrm>
          <a:prstGeom prst="ellipse">
            <a:avLst/>
          </a:prstGeom>
          <a:solidFill>
            <a:srgbClr val="DCE3EB"/>
          </a:solidFill>
          <a:ln w="6350">
            <a:solidFill>
              <a:srgbClr val="DCE3EB"/>
            </a:solidFill>
            <a:prstDash val="solid"/>
          </a:ln>
        </p:spPr>
      </p:sp>
      <p:sp>
        <p:nvSpPr>
          <p:cNvPr id="7" name="Shape 4"/>
          <p:cNvSpPr/>
          <p:nvPr/>
        </p:nvSpPr>
        <p:spPr>
          <a:xfrm>
            <a:off x="1645920" y="3063240"/>
            <a:ext cx="1737360" cy="1737360"/>
          </a:xfrm>
          <a:prstGeom prst="ellipse">
            <a:avLst/>
          </a:prstGeom>
          <a:solidFill>
            <a:srgbClr val="F6DCDD"/>
          </a:solidFill>
          <a:ln w="6350">
            <a:solidFill>
              <a:srgbClr val="F6DCDD"/>
            </a:solidFill>
            <a:prstDash val="solid"/>
          </a:ln>
        </p:spPr>
      </p:sp>
      <p:sp>
        <p:nvSpPr>
          <p:cNvPr id="8" name="Shape 5"/>
          <p:cNvSpPr/>
          <p:nvPr/>
        </p:nvSpPr>
        <p:spPr>
          <a:xfrm>
            <a:off x="2057400" y="3474720"/>
            <a:ext cx="914400" cy="914400"/>
          </a:xfrm>
          <a:prstGeom prst="ellipse">
            <a:avLst/>
          </a:prstGeom>
          <a:solidFill>
            <a:srgbClr val="C1272D"/>
          </a:solidFill>
          <a:ln w="6350">
            <a:solidFill>
              <a:srgbClr val="C1272D"/>
            </a:solidFill>
            <a:prstDash val="solid"/>
          </a:ln>
        </p:spPr>
      </p:sp>
      <p:sp>
        <p:nvSpPr>
          <p:cNvPr id="9" name="Shape 6"/>
          <p:cNvSpPr/>
          <p:nvPr/>
        </p:nvSpPr>
        <p:spPr>
          <a:xfrm>
            <a:off x="2994163" y="2423160"/>
            <a:ext cx="91440" cy="91440"/>
          </a:xfrm>
          <a:prstGeom prst="ellipse">
            <a:avLst/>
          </a:prstGeom>
          <a:solidFill>
            <a:srgbClr val="13233A"/>
          </a:solidFill>
          <a:ln w="6350">
            <a:solidFill>
              <a:srgbClr val="13233A"/>
            </a:solidFill>
            <a:prstDash val="solid"/>
          </a:ln>
        </p:spPr>
      </p:sp>
      <p:sp>
        <p:nvSpPr>
          <p:cNvPr id="10" name="Shape 7"/>
          <p:cNvSpPr/>
          <p:nvPr/>
        </p:nvSpPr>
        <p:spPr>
          <a:xfrm>
            <a:off x="3039883" y="2468880"/>
            <a:ext cx="1577837" cy="0"/>
          </a:xfrm>
          <a:prstGeom prst="line">
            <a:avLst/>
          </a:prstGeom>
          <a:noFill/>
          <a:ln w="12700">
            <a:solidFill>
              <a:srgbClr val="667285"/>
            </a:solidFill>
            <a:prstDash val="solid"/>
          </a:ln>
        </p:spPr>
      </p:sp>
      <p:sp>
        <p:nvSpPr>
          <p:cNvPr id="11" name="Text 8"/>
          <p:cNvSpPr txBox="1"/>
          <p:nvPr/>
        </p:nvSpPr>
        <p:spPr>
          <a:xfrm>
            <a:off x="4709160" y="2240280"/>
            <a:ext cx="2103120" cy="457200"/>
          </a:xfrm>
          <a:prstGeom prst="rect">
            <a:avLst/>
          </a:prstGeom>
          <a:noFill/>
          <a:ln/>
        </p:spPr>
        <p:txBody>
          <a:bodyPr wrap="square" lIns="0" tIns="0" rIns="0" bIns="0" rtlCol="0" anchor="ctr"/>
          <a:lstStyle/>
          <a:p>
            <a:pPr indent="0" marL="0">
              <a:buNone/>
            </a:pPr>
            <a:r>
              <a:rPr lang="en-US" sz="1400" dirty="0">
                <a:solidFill>
                  <a:srgbClr val="1B2230"/>
                </a:solidFill>
                <a:latin typeface="Calibri" pitchFamily="34" charset="0"/>
                <a:ea typeface="Calibri" pitchFamily="34" charset="-122"/>
                <a:cs typeface="Calibri" pitchFamily="34" charset="-120"/>
              </a:rPr>
              <a:t>Midline shift and herniation</a:t>
            </a:r>
            <a:endParaRPr lang="en-US" sz="1400" dirty="0"/>
          </a:p>
        </p:txBody>
      </p:sp>
      <p:sp>
        <p:nvSpPr>
          <p:cNvPr id="12" name="Shape 9"/>
          <p:cNvSpPr/>
          <p:nvPr/>
        </p:nvSpPr>
        <p:spPr>
          <a:xfrm>
            <a:off x="2782321" y="2834640"/>
            <a:ext cx="91440" cy="91440"/>
          </a:xfrm>
          <a:prstGeom prst="ellipse">
            <a:avLst/>
          </a:prstGeom>
          <a:solidFill>
            <a:srgbClr val="13233A"/>
          </a:solidFill>
          <a:ln w="6350">
            <a:solidFill>
              <a:srgbClr val="13233A"/>
            </a:solidFill>
            <a:prstDash val="solid"/>
          </a:ln>
        </p:spPr>
      </p:sp>
      <p:sp>
        <p:nvSpPr>
          <p:cNvPr id="13" name="Shape 10"/>
          <p:cNvSpPr/>
          <p:nvPr/>
        </p:nvSpPr>
        <p:spPr>
          <a:xfrm>
            <a:off x="2828041" y="2880360"/>
            <a:ext cx="1789679" cy="0"/>
          </a:xfrm>
          <a:prstGeom prst="line">
            <a:avLst/>
          </a:prstGeom>
          <a:noFill/>
          <a:ln w="12700">
            <a:solidFill>
              <a:srgbClr val="667285"/>
            </a:solidFill>
            <a:prstDash val="solid"/>
          </a:ln>
        </p:spPr>
      </p:sp>
      <p:sp>
        <p:nvSpPr>
          <p:cNvPr id="14" name="Text 11"/>
          <p:cNvSpPr txBox="1"/>
          <p:nvPr/>
        </p:nvSpPr>
        <p:spPr>
          <a:xfrm>
            <a:off x="4709160" y="2651760"/>
            <a:ext cx="2103120" cy="457200"/>
          </a:xfrm>
          <a:prstGeom prst="rect">
            <a:avLst/>
          </a:prstGeom>
          <a:noFill/>
          <a:ln/>
        </p:spPr>
        <p:txBody>
          <a:bodyPr wrap="square" lIns="0" tIns="0" rIns="0" bIns="0" rtlCol="0" anchor="ctr"/>
          <a:lstStyle/>
          <a:p>
            <a:pPr indent="0" marL="0">
              <a:buNone/>
            </a:pPr>
            <a:r>
              <a:rPr lang="en-US" sz="1400" dirty="0">
                <a:solidFill>
                  <a:srgbClr val="1B2230"/>
                </a:solidFill>
                <a:latin typeface="Calibri" pitchFamily="34" charset="0"/>
                <a:ea typeface="Calibri" pitchFamily="34" charset="-122"/>
                <a:cs typeface="Calibri" pitchFamily="34" charset="-120"/>
              </a:rPr>
              <a:t>Raised intracranial pressure</a:t>
            </a:r>
            <a:endParaRPr lang="en-US" sz="1400" dirty="0"/>
          </a:p>
        </p:txBody>
      </p:sp>
      <p:sp>
        <p:nvSpPr>
          <p:cNvPr id="15" name="Shape 12"/>
          <p:cNvSpPr/>
          <p:nvPr/>
        </p:nvSpPr>
        <p:spPr>
          <a:xfrm>
            <a:off x="2752049" y="3291840"/>
            <a:ext cx="91440" cy="91440"/>
          </a:xfrm>
          <a:prstGeom prst="ellipse">
            <a:avLst/>
          </a:prstGeom>
          <a:solidFill>
            <a:srgbClr val="13233A"/>
          </a:solidFill>
          <a:ln w="6350">
            <a:solidFill>
              <a:srgbClr val="13233A"/>
            </a:solidFill>
            <a:prstDash val="solid"/>
          </a:ln>
        </p:spPr>
      </p:sp>
      <p:sp>
        <p:nvSpPr>
          <p:cNvPr id="16" name="Shape 13"/>
          <p:cNvSpPr/>
          <p:nvPr/>
        </p:nvSpPr>
        <p:spPr>
          <a:xfrm>
            <a:off x="2797769" y="3337560"/>
            <a:ext cx="1819951" cy="0"/>
          </a:xfrm>
          <a:prstGeom prst="line">
            <a:avLst/>
          </a:prstGeom>
          <a:noFill/>
          <a:ln w="12700">
            <a:solidFill>
              <a:srgbClr val="667285"/>
            </a:solidFill>
            <a:prstDash val="solid"/>
          </a:ln>
        </p:spPr>
      </p:sp>
      <p:sp>
        <p:nvSpPr>
          <p:cNvPr id="17" name="Text 14"/>
          <p:cNvSpPr txBox="1"/>
          <p:nvPr/>
        </p:nvSpPr>
        <p:spPr>
          <a:xfrm>
            <a:off x="4709160" y="3108960"/>
            <a:ext cx="2103120" cy="457200"/>
          </a:xfrm>
          <a:prstGeom prst="rect">
            <a:avLst/>
          </a:prstGeom>
          <a:noFill/>
          <a:ln/>
        </p:spPr>
        <p:txBody>
          <a:bodyPr wrap="square" lIns="0" tIns="0" rIns="0" bIns="0" rtlCol="0" anchor="ctr"/>
          <a:lstStyle/>
          <a:p>
            <a:pPr indent="0" marL="0">
              <a:buNone/>
            </a:pPr>
            <a:r>
              <a:rPr lang="en-US" sz="1400" dirty="0">
                <a:solidFill>
                  <a:srgbClr val="1B2230"/>
                </a:solidFill>
                <a:latin typeface="Calibri" pitchFamily="34" charset="0"/>
                <a:ea typeface="Calibri" pitchFamily="34" charset="-122"/>
                <a:cs typeface="Calibri" pitchFamily="34" charset="-120"/>
              </a:rPr>
              <a:t>Compression and tissue destruction</a:t>
            </a:r>
            <a:endParaRPr lang="en-US" sz="1400" dirty="0"/>
          </a:p>
        </p:txBody>
      </p:sp>
      <p:sp>
        <p:nvSpPr>
          <p:cNvPr id="18" name="Shape 15"/>
          <p:cNvSpPr/>
          <p:nvPr/>
        </p:nvSpPr>
        <p:spPr>
          <a:xfrm>
            <a:off x="2743200" y="3886200"/>
            <a:ext cx="91440" cy="91440"/>
          </a:xfrm>
          <a:prstGeom prst="ellipse">
            <a:avLst/>
          </a:prstGeom>
          <a:solidFill>
            <a:srgbClr val="13233A"/>
          </a:solidFill>
          <a:ln w="6350">
            <a:solidFill>
              <a:srgbClr val="13233A"/>
            </a:solidFill>
            <a:prstDash val="solid"/>
          </a:ln>
        </p:spPr>
      </p:sp>
      <p:sp>
        <p:nvSpPr>
          <p:cNvPr id="19" name="Shape 16"/>
          <p:cNvSpPr/>
          <p:nvPr/>
        </p:nvSpPr>
        <p:spPr>
          <a:xfrm>
            <a:off x="2788920" y="3931920"/>
            <a:ext cx="1828800" cy="0"/>
          </a:xfrm>
          <a:prstGeom prst="line">
            <a:avLst/>
          </a:prstGeom>
          <a:noFill/>
          <a:ln w="12700">
            <a:solidFill>
              <a:srgbClr val="667285"/>
            </a:solidFill>
            <a:prstDash val="solid"/>
          </a:ln>
        </p:spPr>
      </p:sp>
      <p:sp>
        <p:nvSpPr>
          <p:cNvPr id="20" name="Text 17"/>
          <p:cNvSpPr txBox="1"/>
          <p:nvPr/>
        </p:nvSpPr>
        <p:spPr>
          <a:xfrm>
            <a:off x="4709160" y="3703320"/>
            <a:ext cx="2103120" cy="457200"/>
          </a:xfrm>
          <a:prstGeom prst="rect">
            <a:avLst/>
          </a:prstGeom>
          <a:noFill/>
          <a:ln/>
        </p:spPr>
        <p:txBody>
          <a:bodyPr wrap="square" lIns="0" tIns="0" rIns="0" bIns="0" rtlCol="0" anchor="ctr"/>
          <a:lstStyle/>
          <a:p>
            <a:pPr indent="0" marL="0">
              <a:buNone/>
            </a:pPr>
            <a:r>
              <a:rPr lang="en-US" sz="1400" b="1" dirty="0">
                <a:solidFill>
                  <a:srgbClr val="C1272D"/>
                </a:solidFill>
                <a:latin typeface="Calibri" pitchFamily="34" charset="0"/>
                <a:ea typeface="Calibri" pitchFamily="34" charset="-122"/>
                <a:cs typeface="Calibri" pitchFamily="34" charset="-120"/>
              </a:rPr>
              <a:t>The clot</a:t>
            </a:r>
            <a:endParaRPr lang="en-US" sz="1400" dirty="0"/>
          </a:p>
        </p:txBody>
      </p:sp>
      <p:sp>
        <p:nvSpPr>
          <p:cNvPr id="21" name="Shape 18"/>
          <p:cNvSpPr/>
          <p:nvPr/>
        </p:nvSpPr>
        <p:spPr>
          <a:xfrm>
            <a:off x="7178040" y="2103120"/>
            <a:ext cx="4465015" cy="1783080"/>
          </a:xfrm>
          <a:prstGeom prst="roundRect">
            <a:avLst>
              <a:gd name="adj" fmla="val 5128"/>
            </a:avLst>
          </a:prstGeom>
          <a:solidFill>
            <a:srgbClr val="F6DCDD"/>
          </a:solidFill>
          <a:ln w="6350">
            <a:solidFill>
              <a:srgbClr val="F6DCDD"/>
            </a:solidFill>
            <a:prstDash val="solid"/>
          </a:ln>
        </p:spPr>
      </p:sp>
      <p:sp>
        <p:nvSpPr>
          <p:cNvPr id="22" name="Text 19"/>
          <p:cNvSpPr txBox="1"/>
          <p:nvPr/>
        </p:nvSpPr>
        <p:spPr>
          <a:xfrm>
            <a:off x="7498080" y="2194560"/>
            <a:ext cx="2011680" cy="822960"/>
          </a:xfrm>
          <a:prstGeom prst="rect">
            <a:avLst/>
          </a:prstGeom>
          <a:noFill/>
          <a:ln/>
        </p:spPr>
        <p:txBody>
          <a:bodyPr wrap="square" lIns="0" tIns="0" rIns="0" bIns="0" rtlCol="0" anchor="ctr"/>
          <a:lstStyle/>
          <a:p>
            <a:pPr indent="0" marL="0">
              <a:buNone/>
            </a:pPr>
            <a:r>
              <a:rPr lang="en-US" sz="5400" b="1" dirty="0">
                <a:solidFill>
                  <a:srgbClr val="C1272D"/>
                </a:solidFill>
                <a:latin typeface="Calibri" pitchFamily="34" charset="0"/>
                <a:ea typeface="Calibri" pitchFamily="34" charset="-122"/>
                <a:cs typeface="Calibri" pitchFamily="34" charset="-120"/>
              </a:rPr>
              <a:t>91%</a:t>
            </a:r>
            <a:endParaRPr lang="en-US" sz="5400" dirty="0"/>
          </a:p>
        </p:txBody>
      </p:sp>
      <p:sp>
        <p:nvSpPr>
          <p:cNvPr id="23" name="Text 20"/>
          <p:cNvSpPr txBox="1"/>
          <p:nvPr/>
        </p:nvSpPr>
        <p:spPr>
          <a:xfrm>
            <a:off x="7498080" y="3017520"/>
            <a:ext cx="3824935" cy="777240"/>
          </a:xfrm>
          <a:prstGeom prst="rect">
            <a:avLst/>
          </a:prstGeom>
          <a:noFill/>
          <a:ln/>
        </p:spPr>
        <p:txBody>
          <a:bodyPr wrap="square" lIns="0" tIns="0" rIns="0" bIns="0" rtlCol="0" anchor="t"/>
          <a:lstStyle/>
          <a:p>
            <a:pPr indent="0" marL="0">
              <a:buNone/>
            </a:pPr>
            <a:r>
              <a:rPr lang="en-US" sz="1400" dirty="0">
                <a:solidFill>
                  <a:srgbClr val="8E1B1F"/>
                </a:solidFill>
                <a:latin typeface="Calibri" pitchFamily="34" charset="0"/>
                <a:ea typeface="Calibri" pitchFamily="34" charset="-122"/>
                <a:cs typeface="Calibri" pitchFamily="34" charset="-120"/>
              </a:rPr>
              <a:t>predicted 30-day mortality with volume ≥ 60 mL and GCS ≤ 8. Volume is the strongest single predictor.</a:t>
            </a:r>
            <a:endParaRPr lang="en-US" sz="1400" dirty="0"/>
          </a:p>
        </p:txBody>
      </p:sp>
      <p:sp>
        <p:nvSpPr>
          <p:cNvPr id="24" name="Shape 21"/>
          <p:cNvSpPr/>
          <p:nvPr/>
        </p:nvSpPr>
        <p:spPr>
          <a:xfrm>
            <a:off x="7178040" y="4069080"/>
            <a:ext cx="4465015" cy="1783080"/>
          </a:xfrm>
          <a:prstGeom prst="roundRect">
            <a:avLst>
              <a:gd name="adj" fmla="val 5128"/>
            </a:avLst>
          </a:prstGeom>
          <a:solidFill>
            <a:srgbClr val="F3F5F8"/>
          </a:solidFill>
          <a:ln w="6350">
            <a:solidFill>
              <a:srgbClr val="F3F5F8"/>
            </a:solidFill>
            <a:prstDash val="solid"/>
          </a:ln>
        </p:spPr>
      </p:sp>
      <p:sp>
        <p:nvSpPr>
          <p:cNvPr id="25" name="Text 22"/>
          <p:cNvSpPr txBox="1"/>
          <p:nvPr/>
        </p:nvSpPr>
        <p:spPr>
          <a:xfrm>
            <a:off x="7498080" y="4160520"/>
            <a:ext cx="2194560" cy="822960"/>
          </a:xfrm>
          <a:prstGeom prst="rect">
            <a:avLst/>
          </a:prstGeom>
          <a:noFill/>
          <a:ln/>
        </p:spPr>
        <p:txBody>
          <a:bodyPr wrap="square" lIns="0" tIns="0" rIns="0" bIns="0" rtlCol="0" anchor="ctr"/>
          <a:lstStyle/>
          <a:p>
            <a:pPr indent="0" marL="0">
              <a:buNone/>
            </a:pPr>
            <a:r>
              <a:rPr lang="en-US" sz="5400" b="1" dirty="0">
                <a:solidFill>
                  <a:srgbClr val="13233A"/>
                </a:solidFill>
                <a:latin typeface="Calibri" pitchFamily="34" charset="0"/>
                <a:ea typeface="Calibri" pitchFamily="34" charset="-122"/>
                <a:cs typeface="Calibri" pitchFamily="34" charset="-120"/>
              </a:rPr>
              <a:t>≈45%</a:t>
            </a:r>
            <a:endParaRPr lang="en-US" sz="5400" dirty="0"/>
          </a:p>
        </p:txBody>
      </p:sp>
      <p:sp>
        <p:nvSpPr>
          <p:cNvPr id="26" name="Text 23"/>
          <p:cNvSpPr txBox="1"/>
          <p:nvPr/>
        </p:nvSpPr>
        <p:spPr>
          <a:xfrm>
            <a:off x="7498080" y="4983480"/>
            <a:ext cx="3824935" cy="777240"/>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extend into the ventricles. Ventricular blood can cause hydrocephalus and predicts a worse outcome.</a:t>
            </a:r>
            <a:endParaRPr lang="en-US" sz="1400" dirty="0"/>
          </a:p>
        </p:txBody>
      </p:sp>
      <p:sp>
        <p:nvSpPr>
          <p:cNvPr id="27" name="Text 24"/>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000" i="1" dirty="0">
                <a:solidFill>
                  <a:srgbClr val="667285"/>
                </a:solidFill>
                <a:latin typeface="Calibri" pitchFamily="34" charset="0"/>
                <a:ea typeface="Calibri" pitchFamily="34" charset="-122"/>
                <a:cs typeface="Calibri" pitchFamily="34" charset="-120"/>
              </a:rPr>
              <a:t>Broderick et al., Stroke 1993 (Cincinnati, n = 188); Hanley, Stroke 2009.</a:t>
            </a:r>
            <a:endParaRPr lang="en-US" sz="1000" dirty="0"/>
          </a:p>
        </p:txBody>
      </p:sp>
      <p:sp>
        <p:nvSpPr>
          <p:cNvPr id="28" name="Text 25"/>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29" name="Shape 26"/>
          <p:cNvSpPr/>
          <p:nvPr/>
        </p:nvSpPr>
        <p:spPr>
          <a:xfrm>
            <a:off x="7360920" y="6460236"/>
            <a:ext cx="118872" cy="118872"/>
          </a:xfrm>
          <a:prstGeom prst="ellipse">
            <a:avLst/>
          </a:prstGeom>
          <a:solidFill>
            <a:srgbClr val="C9D2DE"/>
          </a:solidFill>
          <a:ln w="6350">
            <a:solidFill>
              <a:srgbClr val="C9D2DE"/>
            </a:solidFill>
            <a:prstDash val="solid"/>
          </a:ln>
        </p:spPr>
      </p:sp>
      <p:sp>
        <p:nvSpPr>
          <p:cNvPr id="30" name="Text 27"/>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Vessel</a:t>
            </a:r>
            <a:endParaRPr lang="en-US" sz="1000" dirty="0"/>
          </a:p>
        </p:txBody>
      </p:sp>
      <p:sp>
        <p:nvSpPr>
          <p:cNvPr id="31" name="Shape 28"/>
          <p:cNvSpPr/>
          <p:nvPr/>
        </p:nvSpPr>
        <p:spPr>
          <a:xfrm>
            <a:off x="8275320" y="6460236"/>
            <a:ext cx="118872" cy="118872"/>
          </a:xfrm>
          <a:prstGeom prst="ellipse">
            <a:avLst/>
          </a:prstGeom>
          <a:solidFill>
            <a:srgbClr val="C1272D"/>
          </a:solidFill>
          <a:ln w="6350">
            <a:solidFill>
              <a:srgbClr val="C1272D"/>
            </a:solidFill>
            <a:prstDash val="solid"/>
          </a:ln>
        </p:spPr>
      </p:sp>
      <p:sp>
        <p:nvSpPr>
          <p:cNvPr id="32" name="Text 29"/>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b="1" dirty="0">
                <a:solidFill>
                  <a:srgbClr val="C1272D"/>
                </a:solidFill>
                <a:latin typeface="Calibri" pitchFamily="34" charset="0"/>
                <a:ea typeface="Calibri" pitchFamily="34" charset="-122"/>
                <a:cs typeface="Calibri" pitchFamily="34" charset="-120"/>
              </a:rPr>
              <a:t>Hours</a:t>
            </a:r>
            <a:endParaRPr lang="en-US" sz="1000" dirty="0"/>
          </a:p>
        </p:txBody>
      </p:sp>
      <p:sp>
        <p:nvSpPr>
          <p:cNvPr id="33" name="Shape 30"/>
          <p:cNvSpPr/>
          <p:nvPr/>
        </p:nvSpPr>
        <p:spPr>
          <a:xfrm>
            <a:off x="9189720" y="6460236"/>
            <a:ext cx="118872" cy="118872"/>
          </a:xfrm>
          <a:prstGeom prst="ellipse">
            <a:avLst/>
          </a:prstGeom>
          <a:solidFill>
            <a:srgbClr val="C9D2DE"/>
          </a:solidFill>
          <a:ln w="6350">
            <a:solidFill>
              <a:srgbClr val="C9D2DE"/>
            </a:solidFill>
            <a:prstDash val="solid"/>
          </a:ln>
        </p:spPr>
      </p:sp>
      <p:sp>
        <p:nvSpPr>
          <p:cNvPr id="34" name="Text 31"/>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Days</a:t>
            </a:r>
            <a:endParaRPr lang="en-US" sz="1000" dirty="0"/>
          </a:p>
        </p:txBody>
      </p:sp>
      <p:sp>
        <p:nvSpPr>
          <p:cNvPr id="35" name="Shape 32"/>
          <p:cNvSpPr/>
          <p:nvPr/>
        </p:nvSpPr>
        <p:spPr>
          <a:xfrm>
            <a:off x="10104120" y="6460236"/>
            <a:ext cx="118872" cy="118872"/>
          </a:xfrm>
          <a:prstGeom prst="ellipse">
            <a:avLst/>
          </a:prstGeom>
          <a:solidFill>
            <a:srgbClr val="C9D2DE"/>
          </a:solidFill>
          <a:ln w="6350">
            <a:solidFill>
              <a:srgbClr val="C9D2DE"/>
            </a:solidFill>
            <a:prstDash val="solid"/>
          </a:ln>
        </p:spPr>
      </p:sp>
      <p:sp>
        <p:nvSpPr>
          <p:cNvPr id="36" name="Text 33"/>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37" name="Text 34"/>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15</a:t>
            </a:r>
            <a:endParaRPr lang="en-US" sz="1000" dirty="0"/>
          </a:p>
        </p:txBody>
      </p:sp>
    </p:spTree>
  </p:cSld>
  <p:clrMapOvr>
    <a:masterClrMapping/>
  </p:clrMapOvr>
  <p:transition spd="med">
    <p:fade/>
  </p:transition>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3233A"/>
        </a:solidFill>
      </p:bgPr>
    </p:bg>
    <p:spTree>
      <p:nvGrpSpPr>
        <p:cNvPr id="1" name=""/>
        <p:cNvGrpSpPr/>
        <p:nvPr/>
      </p:nvGrpSpPr>
      <p:grpSpPr>
        <a:xfrm>
          <a:off x="0" y="0"/>
          <a:ext cx="0" cy="0"/>
          <a:chOff x="0" y="0"/>
          <a:chExt cx="0" cy="0"/>
        </a:xfrm>
      </p:grpSpPr>
      <p:sp>
        <p:nvSpPr>
          <p:cNvPr id="3" name="Shape 0"/>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Shape 1"/>
          <p:cNvSpPr/>
          <p:nvPr/>
        </p:nvSpPr>
        <p:spPr>
          <a:xfrm>
            <a:off x="7406640" y="1508760"/>
            <a:ext cx="3840480" cy="3840480"/>
          </a:xfrm>
          <a:prstGeom prst="ellipse">
            <a:avLst/>
          </a:prstGeom>
          <a:solidFill>
            <a:srgbClr val="C1272D">
              <a:alpha val="12000"/>
            </a:srgbClr>
          </a:solidFill>
          <a:ln w="6350">
            <a:solidFill>
              <a:srgbClr val="C1272D">
                <a:alpha val="0"/>
              </a:srgbClr>
            </a:solidFill>
            <a:prstDash val="solid"/>
          </a:ln>
        </p:spPr>
      </p:sp>
      <p:sp>
        <p:nvSpPr>
          <p:cNvPr id="5" name="Shape 2"/>
          <p:cNvSpPr/>
          <p:nvPr/>
        </p:nvSpPr>
        <p:spPr>
          <a:xfrm>
            <a:off x="7726680" y="1828800"/>
            <a:ext cx="3200400" cy="3200400"/>
          </a:xfrm>
          <a:prstGeom prst="ellipse">
            <a:avLst/>
          </a:prstGeom>
          <a:solidFill>
            <a:srgbClr val="C1272D">
              <a:alpha val="22000"/>
            </a:srgbClr>
          </a:solidFill>
          <a:ln w="6350">
            <a:solidFill>
              <a:srgbClr val="C1272D">
                <a:alpha val="0"/>
              </a:srgbClr>
            </a:solidFill>
            <a:prstDash val="solid"/>
          </a:ln>
        </p:spPr>
      </p:sp>
      <p:sp>
        <p:nvSpPr>
          <p:cNvPr id="6" name="!!bleed"/>
          <p:cNvSpPr/>
          <p:nvPr/>
        </p:nvSpPr>
        <p:spPr>
          <a:xfrm>
            <a:off x="8092440" y="2194560"/>
            <a:ext cx="2468880" cy="2468880"/>
          </a:xfrm>
          <a:prstGeom prst="ellipse">
            <a:avLst/>
          </a:prstGeom>
          <a:solidFill>
            <a:srgbClr val="C1272D"/>
          </a:solidFill>
          <a:ln w="6350">
            <a:solidFill>
              <a:srgbClr val="C1272D"/>
            </a:solidFill>
            <a:prstDash val="solid"/>
          </a:ln>
        </p:spPr>
      </p:sp>
      <p:sp>
        <p:nvSpPr>
          <p:cNvPr id="7" name="Text 4"/>
          <p:cNvSpPr txBox="1"/>
          <p:nvPr/>
        </p:nvSpPr>
        <p:spPr>
          <a:xfrm>
            <a:off x="731520" y="1417320"/>
            <a:ext cx="2743200" cy="1371600"/>
          </a:xfrm>
          <a:prstGeom prst="rect">
            <a:avLst/>
          </a:prstGeom>
          <a:noFill/>
          <a:ln/>
        </p:spPr>
        <p:txBody>
          <a:bodyPr wrap="square" lIns="0" tIns="0" rIns="0" bIns="0" rtlCol="0" anchor="b"/>
          <a:lstStyle/>
          <a:p>
            <a:pPr indent="0" marL="0">
              <a:buNone/>
            </a:pPr>
            <a:r>
              <a:rPr lang="en-US" sz="9600" b="1" dirty="0">
                <a:solidFill>
                  <a:srgbClr val="E0474C"/>
                </a:solidFill>
                <a:latin typeface="Cambria" pitchFamily="34" charset="0"/>
                <a:ea typeface="Cambria" pitchFamily="34" charset="-122"/>
                <a:cs typeface="Cambria" pitchFamily="34" charset="-120"/>
              </a:rPr>
              <a:t>03</a:t>
            </a:r>
            <a:endParaRPr lang="en-US" sz="9600" dirty="0"/>
          </a:p>
        </p:txBody>
      </p:sp>
      <p:sp>
        <p:nvSpPr>
          <p:cNvPr id="8" name="Text 5"/>
          <p:cNvSpPr txBox="1"/>
          <p:nvPr/>
        </p:nvSpPr>
        <p:spPr>
          <a:xfrm>
            <a:off x="731520" y="2926080"/>
            <a:ext cx="5943600"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The days after</a:t>
            </a:r>
            <a:endParaRPr lang="en-US" sz="4800" dirty="0"/>
          </a:p>
        </p:txBody>
      </p:sp>
      <p:sp>
        <p:nvSpPr>
          <p:cNvPr id="9" name="Text 6"/>
          <p:cNvSpPr txBox="1"/>
          <p:nvPr/>
        </p:nvSpPr>
        <p:spPr>
          <a:xfrm>
            <a:off x="731520" y="3886200"/>
            <a:ext cx="5486400" cy="822960"/>
          </a:xfrm>
          <a:prstGeom prst="rect">
            <a:avLst/>
          </a:prstGeom>
          <a:noFill/>
          <a:ln/>
        </p:spPr>
        <p:txBody>
          <a:bodyPr wrap="square" lIns="0" tIns="0" rIns="0" bIns="0" rtlCol="0" anchor="t"/>
          <a:lstStyle/>
          <a:p>
            <a:pPr indent="0" marL="0">
              <a:buNone/>
            </a:pPr>
            <a:r>
              <a:rPr lang="en-US" sz="2200" dirty="0">
                <a:solidFill>
                  <a:srgbClr val="C9D3E0"/>
                </a:solidFill>
                <a:latin typeface="Calibri" pitchFamily="34" charset="0"/>
                <a:ea typeface="Calibri" pitchFamily="34" charset="-122"/>
                <a:cs typeface="Calibri" pitchFamily="34" charset="-120"/>
              </a:rPr>
              <a:t>When the blood itself becomes a toxin</a:t>
            </a:r>
            <a:endParaRPr lang="en-US" sz="2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03 · THE DAYS AFTER</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Oedema builds in waves over the first two weeks</a:t>
            </a:r>
            <a:endParaRPr lang="en-US" sz="3600" dirty="0"/>
          </a:p>
        </p:txBody>
      </p:sp>
      <p:sp>
        <p:nvSpPr>
          <p:cNvPr id="5" name="Shape 2"/>
          <p:cNvSpPr/>
          <p:nvPr/>
        </p:nvSpPr>
        <p:spPr>
          <a:xfrm>
            <a:off x="822960" y="3154680"/>
            <a:ext cx="10561320" cy="0"/>
          </a:xfrm>
          <a:prstGeom prst="line">
            <a:avLst/>
          </a:prstGeom>
          <a:noFill/>
          <a:ln w="38100">
            <a:solidFill>
              <a:srgbClr val="C9D2DE"/>
            </a:solidFill>
            <a:prstDash val="solid"/>
            <a:tailEnd type="triangle"/>
          </a:ln>
        </p:spPr>
      </p:sp>
      <p:sp>
        <p:nvSpPr>
          <p:cNvPr id="6" name="Text 3"/>
          <p:cNvSpPr txBox="1"/>
          <p:nvPr/>
        </p:nvSpPr>
        <p:spPr>
          <a:xfrm>
            <a:off x="640080" y="2103120"/>
            <a:ext cx="2606040" cy="320040"/>
          </a:xfrm>
          <a:prstGeom prst="rect">
            <a:avLst/>
          </a:prstGeom>
          <a:noFill/>
          <a:ln/>
        </p:spPr>
        <p:txBody>
          <a:bodyPr wrap="square" lIns="0" tIns="0" rIns="0" bIns="0" rtlCol="0" anchor="ctr"/>
          <a:lstStyle/>
          <a:p>
            <a:pPr indent="0" marL="0">
              <a:buNone/>
            </a:pPr>
            <a:r>
              <a:rPr lang="en-US" sz="1300" b="1" spc="200" kern="0" dirty="0">
                <a:solidFill>
                  <a:srgbClr val="3E5C76"/>
                </a:solidFill>
                <a:latin typeface="Calibri" pitchFamily="34" charset="0"/>
                <a:ea typeface="Calibri" pitchFamily="34" charset="-122"/>
                <a:cs typeface="Calibri" pitchFamily="34" charset="-120"/>
              </a:rPr>
              <a:t>FIRST HOURS</a:t>
            </a:r>
            <a:endParaRPr lang="en-US" sz="1300" dirty="0"/>
          </a:p>
        </p:txBody>
      </p:sp>
      <p:sp>
        <p:nvSpPr>
          <p:cNvPr id="7" name="Shape 4"/>
          <p:cNvSpPr/>
          <p:nvPr/>
        </p:nvSpPr>
        <p:spPr>
          <a:xfrm>
            <a:off x="859536" y="2962656"/>
            <a:ext cx="384048" cy="384048"/>
          </a:xfrm>
          <a:prstGeom prst="ellipse">
            <a:avLst/>
          </a:prstGeom>
          <a:solidFill>
            <a:srgbClr val="F6DCDD"/>
          </a:solidFill>
          <a:ln w="25400">
            <a:solidFill>
              <a:srgbClr val="FFFFFF"/>
            </a:solidFill>
            <a:prstDash val="solid"/>
          </a:ln>
        </p:spPr>
      </p:sp>
      <p:sp>
        <p:nvSpPr>
          <p:cNvPr id="8" name="Text 5"/>
          <p:cNvSpPr txBox="1"/>
          <p:nvPr/>
        </p:nvSpPr>
        <p:spPr>
          <a:xfrm>
            <a:off x="640080" y="3840480"/>
            <a:ext cx="2606040" cy="365760"/>
          </a:xfrm>
          <a:prstGeom prst="rect">
            <a:avLst/>
          </a:prstGeom>
          <a:noFill/>
          <a:ln/>
        </p:spPr>
        <p:txBody>
          <a:bodyPr wrap="square" lIns="0" tIns="0" rIns="0" bIns="0" rtlCol="0" anchor="t"/>
          <a:lstStyle/>
          <a:p>
            <a:pPr indent="0" marL="0">
              <a:buNone/>
            </a:pPr>
            <a:r>
              <a:rPr lang="en-US" sz="1800" b="1" dirty="0">
                <a:solidFill>
                  <a:srgbClr val="13233A"/>
                </a:solidFill>
                <a:latin typeface="Calibri" pitchFamily="34" charset="0"/>
                <a:ea typeface="Calibri" pitchFamily="34" charset="-122"/>
                <a:cs typeface="Calibri" pitchFamily="34" charset="-120"/>
              </a:rPr>
              <a:t>Clot retraction</a:t>
            </a:r>
            <a:endParaRPr lang="en-US" sz="1800" dirty="0"/>
          </a:p>
        </p:txBody>
      </p:sp>
      <p:sp>
        <p:nvSpPr>
          <p:cNvPr id="9" name="Text 6"/>
          <p:cNvSpPr txBox="1"/>
          <p:nvPr/>
        </p:nvSpPr>
        <p:spPr>
          <a:xfrm>
            <a:off x="640080" y="4251960"/>
            <a:ext cx="2468880" cy="914400"/>
          </a:xfrm>
          <a:prstGeom prst="rect">
            <a:avLst/>
          </a:prstGeom>
          <a:noFill/>
          <a:ln/>
        </p:spPr>
        <p:txBody>
          <a:bodyPr wrap="square" lIns="0" tIns="0" rIns="0" bIns="0" rtlCol="0" anchor="t"/>
          <a:lstStyle/>
          <a:p>
            <a:pPr indent="0" marL="0">
              <a:buNone/>
            </a:pPr>
            <a:r>
              <a:rPr lang="en-US" sz="1500" dirty="0">
                <a:solidFill>
                  <a:srgbClr val="1B2230"/>
                </a:solidFill>
                <a:latin typeface="Calibri" pitchFamily="34" charset="0"/>
                <a:ea typeface="Calibri" pitchFamily="34" charset="-122"/>
                <a:cs typeface="Calibri" pitchFamily="34" charset="-120"/>
              </a:rPr>
              <a:t>The clot contracts and squeezes serum into the surrounding tissue.</a:t>
            </a:r>
            <a:endParaRPr lang="en-US" sz="1500" dirty="0"/>
          </a:p>
        </p:txBody>
      </p:sp>
      <p:sp>
        <p:nvSpPr>
          <p:cNvPr id="10" name="Text 7"/>
          <p:cNvSpPr txBox="1"/>
          <p:nvPr/>
        </p:nvSpPr>
        <p:spPr>
          <a:xfrm>
            <a:off x="3410712" y="2103120"/>
            <a:ext cx="2606040" cy="320040"/>
          </a:xfrm>
          <a:prstGeom prst="rect">
            <a:avLst/>
          </a:prstGeom>
          <a:noFill/>
          <a:ln/>
        </p:spPr>
        <p:txBody>
          <a:bodyPr wrap="square" lIns="0" tIns="0" rIns="0" bIns="0" rtlCol="0" anchor="ctr"/>
          <a:lstStyle/>
          <a:p>
            <a:pPr indent="0" marL="0">
              <a:buNone/>
            </a:pPr>
            <a:r>
              <a:rPr lang="en-US" sz="1300" b="1" spc="200" kern="0" dirty="0">
                <a:solidFill>
                  <a:srgbClr val="3E5C76"/>
                </a:solidFill>
                <a:latin typeface="Calibri" pitchFamily="34" charset="0"/>
                <a:ea typeface="Calibri" pitchFamily="34" charset="-122"/>
                <a:cs typeface="Calibri" pitchFamily="34" charset="-120"/>
              </a:rPr>
              <a:t>DAYS 1–2</a:t>
            </a:r>
            <a:endParaRPr lang="en-US" sz="1300" dirty="0"/>
          </a:p>
        </p:txBody>
      </p:sp>
      <p:sp>
        <p:nvSpPr>
          <p:cNvPr id="11" name="Shape 8"/>
          <p:cNvSpPr/>
          <p:nvPr/>
        </p:nvSpPr>
        <p:spPr>
          <a:xfrm>
            <a:off x="3557016" y="2889504"/>
            <a:ext cx="530352" cy="530352"/>
          </a:xfrm>
          <a:prstGeom prst="ellipse">
            <a:avLst/>
          </a:prstGeom>
          <a:solidFill>
            <a:srgbClr val="E88A8E"/>
          </a:solidFill>
          <a:ln w="25400">
            <a:solidFill>
              <a:srgbClr val="FFFFFF"/>
            </a:solidFill>
            <a:prstDash val="solid"/>
          </a:ln>
        </p:spPr>
      </p:sp>
      <p:sp>
        <p:nvSpPr>
          <p:cNvPr id="12" name="Text 9"/>
          <p:cNvSpPr txBox="1"/>
          <p:nvPr/>
        </p:nvSpPr>
        <p:spPr>
          <a:xfrm>
            <a:off x="3410712" y="3840480"/>
            <a:ext cx="2606040" cy="365760"/>
          </a:xfrm>
          <a:prstGeom prst="rect">
            <a:avLst/>
          </a:prstGeom>
          <a:noFill/>
          <a:ln/>
        </p:spPr>
        <p:txBody>
          <a:bodyPr wrap="square" lIns="0" tIns="0" rIns="0" bIns="0" rtlCol="0" anchor="t"/>
          <a:lstStyle/>
          <a:p>
            <a:pPr indent="0" marL="0">
              <a:buNone/>
            </a:pPr>
            <a:r>
              <a:rPr lang="en-US" sz="1800" b="1" dirty="0">
                <a:solidFill>
                  <a:srgbClr val="13233A"/>
                </a:solidFill>
                <a:latin typeface="Calibri" pitchFamily="34" charset="0"/>
                <a:ea typeface="Calibri" pitchFamily="34" charset="-122"/>
                <a:cs typeface="Calibri" pitchFamily="34" charset="-120"/>
              </a:rPr>
              <a:t>Thrombin</a:t>
            </a:r>
            <a:endParaRPr lang="en-US" sz="1800" dirty="0"/>
          </a:p>
        </p:txBody>
      </p:sp>
      <p:sp>
        <p:nvSpPr>
          <p:cNvPr id="13" name="Text 10"/>
          <p:cNvSpPr txBox="1"/>
          <p:nvPr/>
        </p:nvSpPr>
        <p:spPr>
          <a:xfrm>
            <a:off x="3410712" y="4251960"/>
            <a:ext cx="2468880" cy="914400"/>
          </a:xfrm>
          <a:prstGeom prst="rect">
            <a:avLst/>
          </a:prstGeom>
          <a:noFill/>
          <a:ln/>
        </p:spPr>
        <p:txBody>
          <a:bodyPr wrap="square" lIns="0" tIns="0" rIns="0" bIns="0" rtlCol="0" anchor="t"/>
          <a:lstStyle/>
          <a:p>
            <a:pPr indent="0" marL="0">
              <a:buNone/>
            </a:pPr>
            <a:r>
              <a:rPr lang="en-US" sz="1500" dirty="0">
                <a:solidFill>
                  <a:srgbClr val="1B2230"/>
                </a:solidFill>
                <a:latin typeface="Calibri" pitchFamily="34" charset="0"/>
                <a:ea typeface="Calibri" pitchFamily="34" charset="-122"/>
                <a:cs typeface="Calibri" pitchFamily="34" charset="-120"/>
              </a:rPr>
              <a:t>The clotting cascade opens the blood–brain barrier.</a:t>
            </a:r>
            <a:endParaRPr lang="en-US" sz="1500" dirty="0"/>
          </a:p>
        </p:txBody>
      </p:sp>
      <p:sp>
        <p:nvSpPr>
          <p:cNvPr id="14" name="Text 11"/>
          <p:cNvSpPr txBox="1"/>
          <p:nvPr/>
        </p:nvSpPr>
        <p:spPr>
          <a:xfrm>
            <a:off x="6181344" y="2103120"/>
            <a:ext cx="2606040" cy="320040"/>
          </a:xfrm>
          <a:prstGeom prst="rect">
            <a:avLst/>
          </a:prstGeom>
          <a:noFill/>
          <a:ln/>
        </p:spPr>
        <p:txBody>
          <a:bodyPr wrap="square" lIns="0" tIns="0" rIns="0" bIns="0" rtlCol="0" anchor="ctr"/>
          <a:lstStyle/>
          <a:p>
            <a:pPr indent="0" marL="0">
              <a:buNone/>
            </a:pPr>
            <a:r>
              <a:rPr lang="en-US" sz="1300" b="1" spc="200" kern="0" dirty="0">
                <a:solidFill>
                  <a:srgbClr val="3E5C76"/>
                </a:solidFill>
                <a:latin typeface="Calibri" pitchFamily="34" charset="0"/>
                <a:ea typeface="Calibri" pitchFamily="34" charset="-122"/>
                <a:cs typeface="Calibri" pitchFamily="34" charset="-120"/>
              </a:rPr>
              <a:t>DAY 3 ONWARD</a:t>
            </a:r>
            <a:endParaRPr lang="en-US" sz="1300" dirty="0"/>
          </a:p>
        </p:txBody>
      </p:sp>
      <p:sp>
        <p:nvSpPr>
          <p:cNvPr id="15" name="Shape 12"/>
          <p:cNvSpPr/>
          <p:nvPr/>
        </p:nvSpPr>
        <p:spPr>
          <a:xfrm>
            <a:off x="6254496" y="2816352"/>
            <a:ext cx="676656" cy="676656"/>
          </a:xfrm>
          <a:prstGeom prst="ellipse">
            <a:avLst/>
          </a:prstGeom>
          <a:solidFill>
            <a:srgbClr val="C1272D"/>
          </a:solidFill>
          <a:ln w="25400">
            <a:solidFill>
              <a:srgbClr val="FFFFFF"/>
            </a:solidFill>
            <a:prstDash val="solid"/>
          </a:ln>
        </p:spPr>
      </p:sp>
      <p:sp>
        <p:nvSpPr>
          <p:cNvPr id="16" name="Text 13"/>
          <p:cNvSpPr txBox="1"/>
          <p:nvPr/>
        </p:nvSpPr>
        <p:spPr>
          <a:xfrm>
            <a:off x="6181344" y="3840480"/>
            <a:ext cx="2606040" cy="365760"/>
          </a:xfrm>
          <a:prstGeom prst="rect">
            <a:avLst/>
          </a:prstGeom>
          <a:noFill/>
          <a:ln/>
        </p:spPr>
        <p:txBody>
          <a:bodyPr wrap="square" lIns="0" tIns="0" rIns="0" bIns="0" rtlCol="0" anchor="t"/>
          <a:lstStyle/>
          <a:p>
            <a:pPr indent="0" marL="0">
              <a:buNone/>
            </a:pPr>
            <a:r>
              <a:rPr lang="en-US" sz="1800" b="1" dirty="0">
                <a:solidFill>
                  <a:srgbClr val="13233A"/>
                </a:solidFill>
                <a:latin typeface="Calibri" pitchFamily="34" charset="0"/>
                <a:ea typeface="Calibri" pitchFamily="34" charset="-122"/>
                <a:cs typeface="Calibri" pitchFamily="34" charset="-120"/>
              </a:rPr>
              <a:t>Red-cell lysis</a:t>
            </a:r>
            <a:endParaRPr lang="en-US" sz="1800" dirty="0"/>
          </a:p>
        </p:txBody>
      </p:sp>
      <p:sp>
        <p:nvSpPr>
          <p:cNvPr id="17" name="Text 14"/>
          <p:cNvSpPr txBox="1"/>
          <p:nvPr/>
        </p:nvSpPr>
        <p:spPr>
          <a:xfrm>
            <a:off x="6181344" y="4251960"/>
            <a:ext cx="2468880" cy="914400"/>
          </a:xfrm>
          <a:prstGeom prst="rect">
            <a:avLst/>
          </a:prstGeom>
          <a:noFill/>
          <a:ln/>
        </p:spPr>
        <p:txBody>
          <a:bodyPr wrap="square" lIns="0" tIns="0" rIns="0" bIns="0" rtlCol="0" anchor="t"/>
          <a:lstStyle/>
          <a:p>
            <a:pPr indent="0" marL="0">
              <a:buNone/>
            </a:pPr>
            <a:r>
              <a:rPr lang="en-US" sz="1500" dirty="0">
                <a:solidFill>
                  <a:srgbClr val="1B2230"/>
                </a:solidFill>
                <a:latin typeface="Calibri" pitchFamily="34" charset="0"/>
                <a:ea typeface="Calibri" pitchFamily="34" charset="-122"/>
                <a:cs typeface="Calibri" pitchFamily="34" charset="-120"/>
              </a:rPr>
              <a:t>Haemoglobin, haem and iron drive oxidative injury.</a:t>
            </a:r>
            <a:endParaRPr lang="en-US" sz="1500" dirty="0"/>
          </a:p>
        </p:txBody>
      </p:sp>
      <p:sp>
        <p:nvSpPr>
          <p:cNvPr id="18" name="Text 15"/>
          <p:cNvSpPr txBox="1"/>
          <p:nvPr/>
        </p:nvSpPr>
        <p:spPr>
          <a:xfrm>
            <a:off x="8951976" y="2103120"/>
            <a:ext cx="2606040" cy="320040"/>
          </a:xfrm>
          <a:prstGeom prst="rect">
            <a:avLst/>
          </a:prstGeom>
          <a:noFill/>
          <a:ln/>
        </p:spPr>
        <p:txBody>
          <a:bodyPr wrap="square" lIns="0" tIns="0" rIns="0" bIns="0" rtlCol="0" anchor="ctr"/>
          <a:lstStyle/>
          <a:p>
            <a:pPr indent="0" marL="0">
              <a:buNone/>
            </a:pPr>
            <a:r>
              <a:rPr lang="en-US" sz="1300" b="1" spc="200" kern="0" dirty="0">
                <a:solidFill>
                  <a:srgbClr val="3E5C76"/>
                </a:solidFill>
                <a:latin typeface="Calibri" pitchFamily="34" charset="0"/>
                <a:ea typeface="Calibri" pitchFamily="34" charset="-122"/>
                <a:cs typeface="Calibri" pitchFamily="34" charset="-120"/>
              </a:rPr>
              <a:t>WEEKS</a:t>
            </a:r>
            <a:endParaRPr lang="en-US" sz="1300" dirty="0"/>
          </a:p>
        </p:txBody>
      </p:sp>
      <p:sp>
        <p:nvSpPr>
          <p:cNvPr id="19" name="Shape 16"/>
          <p:cNvSpPr/>
          <p:nvPr/>
        </p:nvSpPr>
        <p:spPr>
          <a:xfrm>
            <a:off x="8951976" y="2743200"/>
            <a:ext cx="822960" cy="822960"/>
          </a:xfrm>
          <a:prstGeom prst="ellipse">
            <a:avLst/>
          </a:prstGeom>
          <a:solidFill>
            <a:srgbClr val="8E1B1F"/>
          </a:solidFill>
          <a:ln w="25400">
            <a:solidFill>
              <a:srgbClr val="FFFFFF"/>
            </a:solidFill>
            <a:prstDash val="solid"/>
          </a:ln>
        </p:spPr>
      </p:sp>
      <p:sp>
        <p:nvSpPr>
          <p:cNvPr id="20" name="Text 17"/>
          <p:cNvSpPr txBox="1"/>
          <p:nvPr/>
        </p:nvSpPr>
        <p:spPr>
          <a:xfrm>
            <a:off x="8951976" y="3840480"/>
            <a:ext cx="2606040" cy="365760"/>
          </a:xfrm>
          <a:prstGeom prst="rect">
            <a:avLst/>
          </a:prstGeom>
          <a:noFill/>
          <a:ln/>
        </p:spPr>
        <p:txBody>
          <a:bodyPr wrap="square" lIns="0" tIns="0" rIns="0" bIns="0" rtlCol="0" anchor="t"/>
          <a:lstStyle/>
          <a:p>
            <a:pPr indent="0" marL="0">
              <a:buNone/>
            </a:pPr>
            <a:r>
              <a:rPr lang="en-US" sz="1800" b="1" dirty="0">
                <a:solidFill>
                  <a:srgbClr val="13233A"/>
                </a:solidFill>
                <a:latin typeface="Calibri" pitchFamily="34" charset="0"/>
                <a:ea typeface="Calibri" pitchFamily="34" charset="-122"/>
                <a:cs typeface="Calibri" pitchFamily="34" charset="-120"/>
              </a:rPr>
              <a:t>Clearance</a:t>
            </a:r>
            <a:endParaRPr lang="en-US" sz="1800" dirty="0"/>
          </a:p>
        </p:txBody>
      </p:sp>
      <p:sp>
        <p:nvSpPr>
          <p:cNvPr id="21" name="Text 18"/>
          <p:cNvSpPr txBox="1"/>
          <p:nvPr/>
        </p:nvSpPr>
        <p:spPr>
          <a:xfrm>
            <a:off x="8951976" y="4251960"/>
            <a:ext cx="2468880" cy="914400"/>
          </a:xfrm>
          <a:prstGeom prst="rect">
            <a:avLst/>
          </a:prstGeom>
          <a:noFill/>
          <a:ln/>
        </p:spPr>
        <p:txBody>
          <a:bodyPr wrap="square" lIns="0" tIns="0" rIns="0" bIns="0" rtlCol="0" anchor="t"/>
          <a:lstStyle/>
          <a:p>
            <a:pPr indent="0" marL="0">
              <a:buNone/>
            </a:pPr>
            <a:r>
              <a:rPr lang="en-US" sz="1500" dirty="0">
                <a:solidFill>
                  <a:srgbClr val="1B2230"/>
                </a:solidFill>
                <a:latin typeface="Calibri" pitchFamily="34" charset="0"/>
                <a:ea typeface="Calibri" pitchFamily="34" charset="-122"/>
                <a:cs typeface="Calibri" pitchFamily="34" charset="-120"/>
              </a:rPr>
              <a:t>Macrophages remove the clot, leaving a cavity and haemosiderin.</a:t>
            </a:r>
            <a:endParaRPr lang="en-US" sz="1500" dirty="0"/>
          </a:p>
        </p:txBody>
      </p:sp>
      <p:sp>
        <p:nvSpPr>
          <p:cNvPr id="22" name="Shape 19"/>
          <p:cNvSpPr/>
          <p:nvPr/>
        </p:nvSpPr>
        <p:spPr>
          <a:xfrm>
            <a:off x="548640" y="5257800"/>
            <a:ext cx="11094415" cy="566928"/>
          </a:xfrm>
          <a:prstGeom prst="roundRect">
            <a:avLst>
              <a:gd name="adj" fmla="val 16129"/>
            </a:avLst>
          </a:prstGeom>
          <a:solidFill>
            <a:srgbClr val="E8EDF3"/>
          </a:solidFill>
          <a:ln w="6350">
            <a:solidFill>
              <a:srgbClr val="E8EDF3"/>
            </a:solidFill>
            <a:prstDash val="solid"/>
          </a:ln>
        </p:spPr>
      </p:sp>
      <p:sp>
        <p:nvSpPr>
          <p:cNvPr id="23" name="Text 20"/>
          <p:cNvSpPr txBox="1"/>
          <p:nvPr/>
        </p:nvSpPr>
        <p:spPr>
          <a:xfrm>
            <a:off x="868680" y="5257800"/>
            <a:ext cx="10454335" cy="566928"/>
          </a:xfrm>
          <a:prstGeom prst="rect">
            <a:avLst/>
          </a:prstGeom>
          <a:noFill/>
          <a:ln/>
        </p:spPr>
        <p:txBody>
          <a:bodyPr wrap="square" lIns="0" tIns="0" rIns="0" bIns="0" rtlCol="0" anchor="ctr"/>
          <a:lstStyle/>
          <a:p>
            <a:pPr indent="0" marL="0">
              <a:buNone/>
            </a:pPr>
            <a:r>
              <a:rPr lang="en-US" sz="1600" b="1" dirty="0">
                <a:solidFill>
                  <a:srgbClr val="13233A"/>
                </a:solidFill>
                <a:latin typeface="Calibri" pitchFamily="34" charset="0"/>
                <a:ea typeface="Calibri" pitchFamily="34" charset="-122"/>
                <a:cs typeface="Calibri" pitchFamily="34" charset="-120"/>
              </a:rPr>
              <a:t>Oedema grew by about 75% in the first 24 hours </a:t>
            </a:r>
            <a:pPr indent="0" marL="0">
              <a:buNone/>
            </a:pPr>
            <a:r>
              <a:rPr lang="en-US" sz="1600" dirty="0">
                <a:solidFill>
                  <a:srgbClr val="1B2230"/>
                </a:solidFill>
                <a:latin typeface="Calibri" pitchFamily="34" charset="0"/>
                <a:ea typeface="Calibri" pitchFamily="34" charset="-122"/>
                <a:cs typeface="Calibri" pitchFamily="34" charset="-120"/>
              </a:rPr>
              <a:t>and can keep building into the second week.</a:t>
            </a:r>
            <a:endParaRPr lang="en-US" sz="1600" dirty="0"/>
          </a:p>
        </p:txBody>
      </p:sp>
      <p:sp>
        <p:nvSpPr>
          <p:cNvPr id="24" name="Text 21"/>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000" i="1" dirty="0">
                <a:solidFill>
                  <a:srgbClr val="667285"/>
                </a:solidFill>
                <a:latin typeface="Calibri" pitchFamily="34" charset="0"/>
                <a:ea typeface="Calibri" pitchFamily="34" charset="-122"/>
                <a:cs typeface="Calibri" pitchFamily="34" charset="-120"/>
              </a:rPr>
              <a:t>Xi, Keep &amp; Hoff, Lancet Neurol 2006; oedema growth: Gebel et al., Stroke 2002.</a:t>
            </a:r>
            <a:endParaRPr lang="en-US" sz="1000" dirty="0"/>
          </a:p>
        </p:txBody>
      </p:sp>
      <p:sp>
        <p:nvSpPr>
          <p:cNvPr id="25" name="Text 22"/>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26" name="Shape 23"/>
          <p:cNvSpPr/>
          <p:nvPr/>
        </p:nvSpPr>
        <p:spPr>
          <a:xfrm>
            <a:off x="7360920" y="6460236"/>
            <a:ext cx="118872" cy="118872"/>
          </a:xfrm>
          <a:prstGeom prst="ellipse">
            <a:avLst/>
          </a:prstGeom>
          <a:solidFill>
            <a:srgbClr val="C9D2DE"/>
          </a:solidFill>
          <a:ln w="6350">
            <a:solidFill>
              <a:srgbClr val="C9D2DE"/>
            </a:solidFill>
            <a:prstDash val="solid"/>
          </a:ln>
        </p:spPr>
      </p:sp>
      <p:sp>
        <p:nvSpPr>
          <p:cNvPr id="27" name="Text 24"/>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Vessel</a:t>
            </a:r>
            <a:endParaRPr lang="en-US" sz="1000" dirty="0"/>
          </a:p>
        </p:txBody>
      </p:sp>
      <p:sp>
        <p:nvSpPr>
          <p:cNvPr id="28" name="Shape 25"/>
          <p:cNvSpPr/>
          <p:nvPr/>
        </p:nvSpPr>
        <p:spPr>
          <a:xfrm>
            <a:off x="8275320" y="6460236"/>
            <a:ext cx="118872" cy="118872"/>
          </a:xfrm>
          <a:prstGeom prst="ellipse">
            <a:avLst/>
          </a:prstGeom>
          <a:solidFill>
            <a:srgbClr val="C9D2DE"/>
          </a:solidFill>
          <a:ln w="6350">
            <a:solidFill>
              <a:srgbClr val="C9D2DE"/>
            </a:solidFill>
            <a:prstDash val="solid"/>
          </a:ln>
        </p:spPr>
      </p:sp>
      <p:sp>
        <p:nvSpPr>
          <p:cNvPr id="29" name="Text 26"/>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Hours</a:t>
            </a:r>
            <a:endParaRPr lang="en-US" sz="1000" dirty="0"/>
          </a:p>
        </p:txBody>
      </p:sp>
      <p:sp>
        <p:nvSpPr>
          <p:cNvPr id="30" name="Shape 27"/>
          <p:cNvSpPr/>
          <p:nvPr/>
        </p:nvSpPr>
        <p:spPr>
          <a:xfrm>
            <a:off x="9189720" y="6460236"/>
            <a:ext cx="118872" cy="118872"/>
          </a:xfrm>
          <a:prstGeom prst="ellipse">
            <a:avLst/>
          </a:prstGeom>
          <a:solidFill>
            <a:srgbClr val="C1272D"/>
          </a:solidFill>
          <a:ln w="6350">
            <a:solidFill>
              <a:srgbClr val="C1272D"/>
            </a:solidFill>
            <a:prstDash val="solid"/>
          </a:ln>
        </p:spPr>
      </p:sp>
      <p:sp>
        <p:nvSpPr>
          <p:cNvPr id="31" name="Text 28"/>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b="1" dirty="0">
                <a:solidFill>
                  <a:srgbClr val="C1272D"/>
                </a:solidFill>
                <a:latin typeface="Calibri" pitchFamily="34" charset="0"/>
                <a:ea typeface="Calibri" pitchFamily="34" charset="-122"/>
                <a:cs typeface="Calibri" pitchFamily="34" charset="-120"/>
              </a:rPr>
              <a:t>Days</a:t>
            </a:r>
            <a:endParaRPr lang="en-US" sz="1000" dirty="0"/>
          </a:p>
        </p:txBody>
      </p:sp>
      <p:sp>
        <p:nvSpPr>
          <p:cNvPr id="32" name="Shape 29"/>
          <p:cNvSpPr/>
          <p:nvPr/>
        </p:nvSpPr>
        <p:spPr>
          <a:xfrm>
            <a:off x="10104120" y="6460236"/>
            <a:ext cx="118872" cy="118872"/>
          </a:xfrm>
          <a:prstGeom prst="ellipse">
            <a:avLst/>
          </a:prstGeom>
          <a:solidFill>
            <a:srgbClr val="C9D2DE"/>
          </a:solidFill>
          <a:ln w="6350">
            <a:solidFill>
              <a:srgbClr val="C9D2DE"/>
            </a:solidFill>
            <a:prstDash val="solid"/>
          </a:ln>
        </p:spPr>
      </p:sp>
      <p:sp>
        <p:nvSpPr>
          <p:cNvPr id="33" name="Text 30"/>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34" name="Text 31"/>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17</a:t>
            </a:r>
            <a:endParaRPr lang="en-US" sz="10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03 · THE DAYS AFTER</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Three toxic pathways drive secondary injury</a:t>
            </a:r>
            <a:endParaRPr lang="en-US" sz="3600" dirty="0"/>
          </a:p>
        </p:txBody>
      </p:sp>
      <p:sp>
        <p:nvSpPr>
          <p:cNvPr id="5" name="Shape 2"/>
          <p:cNvSpPr/>
          <p:nvPr/>
        </p:nvSpPr>
        <p:spPr>
          <a:xfrm>
            <a:off x="548640" y="2057400"/>
            <a:ext cx="3515258" cy="2514600"/>
          </a:xfrm>
          <a:prstGeom prst="roundRect">
            <a:avLst>
              <a:gd name="adj" fmla="val 3636"/>
            </a:avLst>
          </a:prstGeom>
          <a:solidFill>
            <a:srgbClr val="F3F5F8"/>
          </a:solidFill>
          <a:ln w="6350">
            <a:solidFill>
              <a:srgbClr val="F3F5F8"/>
            </a:solidFill>
            <a:prstDash val="solid"/>
          </a:ln>
        </p:spPr>
      </p:sp>
      <p:sp>
        <p:nvSpPr>
          <p:cNvPr id="6" name="Shape 3"/>
          <p:cNvSpPr/>
          <p:nvPr/>
        </p:nvSpPr>
        <p:spPr>
          <a:xfrm>
            <a:off x="822960" y="2331720"/>
            <a:ext cx="566928" cy="566928"/>
          </a:xfrm>
          <a:prstGeom prst="ellipse">
            <a:avLst/>
          </a:prstGeom>
          <a:solidFill>
            <a:srgbClr val="C1272D"/>
          </a:solidFill>
          <a:ln w="6350">
            <a:solidFill>
              <a:srgbClr val="C1272D"/>
            </a:solidFill>
            <a:prstDash val="solid"/>
          </a:ln>
        </p:spPr>
      </p:sp>
      <p:pic>
        <p:nvPicPr>
          <p:cNvPr id="7" name="Image 0" descr="preencoded.png">    </p:cNvPr>
          <p:cNvPicPr>
            <a:picLocks noChangeAspect="1"/>
          </p:cNvPicPr>
          <p:nvPr/>
        </p:nvPicPr>
        <p:blipFill>
          <a:blip r:embed="rId1"/>
          <a:stretch>
            <a:fillRect/>
          </a:stretch>
        </p:blipFill>
        <p:spPr>
          <a:xfrm>
            <a:off x="964692" y="2473452"/>
            <a:ext cx="283464" cy="283464"/>
          </a:xfrm>
          <a:prstGeom prst="rect">
            <a:avLst/>
          </a:prstGeom>
        </p:spPr>
      </p:pic>
      <p:sp>
        <p:nvSpPr>
          <p:cNvPr id="8" name="Shape 4"/>
          <p:cNvSpPr/>
          <p:nvPr/>
        </p:nvSpPr>
        <p:spPr>
          <a:xfrm>
            <a:off x="2280818" y="2441448"/>
            <a:ext cx="1508760" cy="347472"/>
          </a:xfrm>
          <a:prstGeom prst="roundRect">
            <a:avLst>
              <a:gd name="adj" fmla="val 50000"/>
            </a:avLst>
          </a:prstGeom>
          <a:solidFill>
            <a:srgbClr val="F6DCDD"/>
          </a:solidFill>
          <a:ln w="6350">
            <a:solidFill>
              <a:srgbClr val="F6DCDD"/>
            </a:solidFill>
            <a:prstDash val="solid"/>
          </a:ln>
        </p:spPr>
      </p:sp>
      <p:sp>
        <p:nvSpPr>
          <p:cNvPr id="9" name="Text 5"/>
          <p:cNvSpPr txBox="1"/>
          <p:nvPr/>
        </p:nvSpPr>
        <p:spPr>
          <a:xfrm>
            <a:off x="2280818" y="2441448"/>
            <a:ext cx="1508760" cy="347472"/>
          </a:xfrm>
          <a:prstGeom prst="rect">
            <a:avLst/>
          </a:prstGeom>
          <a:noFill/>
          <a:ln/>
        </p:spPr>
        <p:txBody>
          <a:bodyPr wrap="square" lIns="0" tIns="0" rIns="0" bIns="0" rtlCol="0" anchor="ctr"/>
          <a:lstStyle/>
          <a:p>
            <a:pPr algn="ctr" indent="0" marL="0">
              <a:buNone/>
            </a:pPr>
            <a:r>
              <a:rPr lang="en-US" sz="1200" b="1" dirty="0">
                <a:solidFill>
                  <a:srgbClr val="8E1B1F"/>
                </a:solidFill>
                <a:latin typeface="Calibri" pitchFamily="34" charset="0"/>
                <a:ea typeface="Calibri" pitchFamily="34" charset="-122"/>
                <a:cs typeface="Calibri" pitchFamily="34" charset="-120"/>
              </a:rPr>
              <a:t>Hours to days</a:t>
            </a:r>
            <a:endParaRPr lang="en-US" sz="1200" dirty="0"/>
          </a:p>
        </p:txBody>
      </p:sp>
      <p:sp>
        <p:nvSpPr>
          <p:cNvPr id="10" name="Text 6"/>
          <p:cNvSpPr txBox="1"/>
          <p:nvPr/>
        </p:nvSpPr>
        <p:spPr>
          <a:xfrm>
            <a:off x="822960" y="3063240"/>
            <a:ext cx="2966618" cy="384048"/>
          </a:xfrm>
          <a:prstGeom prst="rect">
            <a:avLst/>
          </a:prstGeom>
          <a:noFill/>
          <a:ln/>
        </p:spPr>
        <p:txBody>
          <a:bodyPr wrap="square" lIns="0" tIns="0" rIns="0" bIns="0" rtlCol="0" anchor="t"/>
          <a:lstStyle/>
          <a:p>
            <a:pPr indent="0" marL="0">
              <a:buNone/>
            </a:pPr>
            <a:r>
              <a:rPr lang="en-US" sz="1900" b="1" dirty="0">
                <a:solidFill>
                  <a:srgbClr val="13233A"/>
                </a:solidFill>
                <a:latin typeface="Calibri" pitchFamily="34" charset="0"/>
                <a:ea typeface="Calibri" pitchFamily="34" charset="-122"/>
                <a:cs typeface="Calibri" pitchFamily="34" charset="-120"/>
              </a:rPr>
              <a:t>Thrombin</a:t>
            </a:r>
            <a:endParaRPr lang="en-US" sz="1900" dirty="0"/>
          </a:p>
        </p:txBody>
      </p:sp>
      <p:sp>
        <p:nvSpPr>
          <p:cNvPr id="11" name="Text 7"/>
          <p:cNvSpPr txBox="1"/>
          <p:nvPr/>
        </p:nvSpPr>
        <p:spPr>
          <a:xfrm>
            <a:off x="822960" y="3474720"/>
            <a:ext cx="3012338" cy="1005840"/>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Needed to stop the bleed. At high levels it opens the barrier, inflames and kills cells.</a:t>
            </a:r>
            <a:endParaRPr lang="en-US" sz="1400" dirty="0"/>
          </a:p>
        </p:txBody>
      </p:sp>
      <p:sp>
        <p:nvSpPr>
          <p:cNvPr id="12" name="Shape 8"/>
          <p:cNvSpPr/>
          <p:nvPr/>
        </p:nvSpPr>
        <p:spPr>
          <a:xfrm>
            <a:off x="2306269" y="4617720"/>
            <a:ext cx="0" cy="228600"/>
          </a:xfrm>
          <a:prstGeom prst="line">
            <a:avLst/>
          </a:prstGeom>
          <a:noFill/>
          <a:ln w="19050">
            <a:solidFill>
              <a:srgbClr val="667285"/>
            </a:solidFill>
            <a:prstDash val="solid"/>
            <a:tailEnd type="triangle"/>
          </a:ln>
        </p:spPr>
      </p:sp>
      <p:sp>
        <p:nvSpPr>
          <p:cNvPr id="13" name="Shape 9"/>
          <p:cNvSpPr/>
          <p:nvPr/>
        </p:nvSpPr>
        <p:spPr>
          <a:xfrm>
            <a:off x="4338218" y="2057400"/>
            <a:ext cx="3515258" cy="2514600"/>
          </a:xfrm>
          <a:prstGeom prst="roundRect">
            <a:avLst>
              <a:gd name="adj" fmla="val 3636"/>
            </a:avLst>
          </a:prstGeom>
          <a:solidFill>
            <a:srgbClr val="F3F5F8"/>
          </a:solidFill>
          <a:ln w="6350">
            <a:solidFill>
              <a:srgbClr val="F3F5F8"/>
            </a:solidFill>
            <a:prstDash val="solid"/>
          </a:ln>
        </p:spPr>
      </p:sp>
      <p:sp>
        <p:nvSpPr>
          <p:cNvPr id="14" name="Shape 10"/>
          <p:cNvSpPr/>
          <p:nvPr/>
        </p:nvSpPr>
        <p:spPr>
          <a:xfrm>
            <a:off x="4612538" y="2331720"/>
            <a:ext cx="566928" cy="566928"/>
          </a:xfrm>
          <a:prstGeom prst="ellipse">
            <a:avLst/>
          </a:prstGeom>
          <a:solidFill>
            <a:srgbClr val="C1272D"/>
          </a:solidFill>
          <a:ln w="6350">
            <a:solidFill>
              <a:srgbClr val="C1272D"/>
            </a:solidFill>
            <a:prstDash val="solid"/>
          </a:ln>
        </p:spPr>
      </p:sp>
      <p:pic>
        <p:nvPicPr>
          <p:cNvPr id="15" name="Image 1" descr="preencoded.png">    </p:cNvPr>
          <p:cNvPicPr>
            <a:picLocks noChangeAspect="1"/>
          </p:cNvPicPr>
          <p:nvPr/>
        </p:nvPicPr>
        <p:blipFill>
          <a:blip r:embed="rId2"/>
          <a:stretch>
            <a:fillRect/>
          </a:stretch>
        </p:blipFill>
        <p:spPr>
          <a:xfrm>
            <a:off x="4754270" y="2473452"/>
            <a:ext cx="283464" cy="283464"/>
          </a:xfrm>
          <a:prstGeom prst="rect">
            <a:avLst/>
          </a:prstGeom>
        </p:spPr>
      </p:pic>
      <p:sp>
        <p:nvSpPr>
          <p:cNvPr id="16" name="Shape 11"/>
          <p:cNvSpPr/>
          <p:nvPr/>
        </p:nvSpPr>
        <p:spPr>
          <a:xfrm>
            <a:off x="6070397" y="2441448"/>
            <a:ext cx="1508760" cy="347472"/>
          </a:xfrm>
          <a:prstGeom prst="roundRect">
            <a:avLst>
              <a:gd name="adj" fmla="val 50000"/>
            </a:avLst>
          </a:prstGeom>
          <a:solidFill>
            <a:srgbClr val="F6DCDD"/>
          </a:solidFill>
          <a:ln w="6350">
            <a:solidFill>
              <a:srgbClr val="F6DCDD"/>
            </a:solidFill>
            <a:prstDash val="solid"/>
          </a:ln>
        </p:spPr>
      </p:sp>
      <p:sp>
        <p:nvSpPr>
          <p:cNvPr id="17" name="Text 12"/>
          <p:cNvSpPr txBox="1"/>
          <p:nvPr/>
        </p:nvSpPr>
        <p:spPr>
          <a:xfrm>
            <a:off x="6070397" y="2441448"/>
            <a:ext cx="1508760" cy="347472"/>
          </a:xfrm>
          <a:prstGeom prst="rect">
            <a:avLst/>
          </a:prstGeom>
          <a:noFill/>
          <a:ln/>
        </p:spPr>
        <p:txBody>
          <a:bodyPr wrap="square" lIns="0" tIns="0" rIns="0" bIns="0" rtlCol="0" anchor="ctr"/>
          <a:lstStyle/>
          <a:p>
            <a:pPr algn="ctr" indent="0" marL="0">
              <a:buNone/>
            </a:pPr>
            <a:r>
              <a:rPr lang="en-US" sz="1200" b="1" dirty="0">
                <a:solidFill>
                  <a:srgbClr val="8E1B1F"/>
                </a:solidFill>
                <a:latin typeface="Calibri" pitchFamily="34" charset="0"/>
                <a:ea typeface="Calibri" pitchFamily="34" charset="-122"/>
                <a:cs typeface="Calibri" pitchFamily="34" charset="-120"/>
              </a:rPr>
              <a:t>Day 3 onward</a:t>
            </a:r>
            <a:endParaRPr lang="en-US" sz="1200" dirty="0"/>
          </a:p>
        </p:txBody>
      </p:sp>
      <p:sp>
        <p:nvSpPr>
          <p:cNvPr id="18" name="Text 13"/>
          <p:cNvSpPr txBox="1"/>
          <p:nvPr/>
        </p:nvSpPr>
        <p:spPr>
          <a:xfrm>
            <a:off x="4612538" y="3063240"/>
            <a:ext cx="2966618" cy="384048"/>
          </a:xfrm>
          <a:prstGeom prst="rect">
            <a:avLst/>
          </a:prstGeom>
          <a:noFill/>
          <a:ln/>
        </p:spPr>
        <p:txBody>
          <a:bodyPr wrap="square" lIns="0" tIns="0" rIns="0" bIns="0" rtlCol="0" anchor="t"/>
          <a:lstStyle/>
          <a:p>
            <a:pPr indent="0" marL="0">
              <a:buNone/>
            </a:pPr>
            <a:r>
              <a:rPr lang="en-US" sz="1900" b="1" dirty="0">
                <a:solidFill>
                  <a:srgbClr val="13233A"/>
                </a:solidFill>
                <a:latin typeface="Calibri" pitchFamily="34" charset="0"/>
                <a:ea typeface="Calibri" pitchFamily="34" charset="-122"/>
                <a:cs typeface="Calibri" pitchFamily="34" charset="-120"/>
              </a:rPr>
              <a:t>Haemoglobin and iron</a:t>
            </a:r>
            <a:endParaRPr lang="en-US" sz="1900" dirty="0"/>
          </a:p>
        </p:txBody>
      </p:sp>
      <p:sp>
        <p:nvSpPr>
          <p:cNvPr id="19" name="Text 14"/>
          <p:cNvSpPr txBox="1"/>
          <p:nvPr/>
        </p:nvSpPr>
        <p:spPr>
          <a:xfrm>
            <a:off x="4612538" y="3474720"/>
            <a:ext cx="3012338" cy="1005840"/>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Red cells lyse. Haem oxygenase frees iron, which fuels free radicals and lipid damage.</a:t>
            </a:r>
            <a:endParaRPr lang="en-US" sz="1400" dirty="0"/>
          </a:p>
        </p:txBody>
      </p:sp>
      <p:sp>
        <p:nvSpPr>
          <p:cNvPr id="20" name="Shape 15"/>
          <p:cNvSpPr/>
          <p:nvPr/>
        </p:nvSpPr>
        <p:spPr>
          <a:xfrm>
            <a:off x="6095848" y="4617720"/>
            <a:ext cx="0" cy="228600"/>
          </a:xfrm>
          <a:prstGeom prst="line">
            <a:avLst/>
          </a:prstGeom>
          <a:noFill/>
          <a:ln w="19050">
            <a:solidFill>
              <a:srgbClr val="667285"/>
            </a:solidFill>
            <a:prstDash val="solid"/>
            <a:tailEnd type="triangle"/>
          </a:ln>
        </p:spPr>
      </p:sp>
      <p:sp>
        <p:nvSpPr>
          <p:cNvPr id="21" name="Shape 16"/>
          <p:cNvSpPr/>
          <p:nvPr/>
        </p:nvSpPr>
        <p:spPr>
          <a:xfrm>
            <a:off x="8127797" y="2057400"/>
            <a:ext cx="3515258" cy="2514600"/>
          </a:xfrm>
          <a:prstGeom prst="roundRect">
            <a:avLst>
              <a:gd name="adj" fmla="val 3636"/>
            </a:avLst>
          </a:prstGeom>
          <a:solidFill>
            <a:srgbClr val="F3F5F8"/>
          </a:solidFill>
          <a:ln w="6350">
            <a:solidFill>
              <a:srgbClr val="F3F5F8"/>
            </a:solidFill>
            <a:prstDash val="solid"/>
          </a:ln>
        </p:spPr>
      </p:sp>
      <p:sp>
        <p:nvSpPr>
          <p:cNvPr id="22" name="Shape 17"/>
          <p:cNvSpPr/>
          <p:nvPr/>
        </p:nvSpPr>
        <p:spPr>
          <a:xfrm>
            <a:off x="8402117" y="2331720"/>
            <a:ext cx="566928" cy="566928"/>
          </a:xfrm>
          <a:prstGeom prst="ellipse">
            <a:avLst/>
          </a:prstGeom>
          <a:solidFill>
            <a:srgbClr val="C1272D"/>
          </a:solidFill>
          <a:ln w="6350">
            <a:solidFill>
              <a:srgbClr val="C1272D"/>
            </a:solidFill>
            <a:prstDash val="solid"/>
          </a:ln>
        </p:spPr>
      </p:sp>
      <p:pic>
        <p:nvPicPr>
          <p:cNvPr id="23" name="Image 2" descr="preencoded.png">    </p:cNvPr>
          <p:cNvPicPr>
            <a:picLocks noChangeAspect="1"/>
          </p:cNvPicPr>
          <p:nvPr/>
        </p:nvPicPr>
        <p:blipFill>
          <a:blip r:embed="rId3"/>
          <a:stretch>
            <a:fillRect/>
          </a:stretch>
        </p:blipFill>
        <p:spPr>
          <a:xfrm>
            <a:off x="8543849" y="2473452"/>
            <a:ext cx="283464" cy="283464"/>
          </a:xfrm>
          <a:prstGeom prst="rect">
            <a:avLst/>
          </a:prstGeom>
        </p:spPr>
      </p:pic>
      <p:sp>
        <p:nvSpPr>
          <p:cNvPr id="24" name="Shape 18"/>
          <p:cNvSpPr/>
          <p:nvPr/>
        </p:nvSpPr>
        <p:spPr>
          <a:xfrm>
            <a:off x="9859975" y="2441448"/>
            <a:ext cx="1508760" cy="347472"/>
          </a:xfrm>
          <a:prstGeom prst="roundRect">
            <a:avLst>
              <a:gd name="adj" fmla="val 50000"/>
            </a:avLst>
          </a:prstGeom>
          <a:solidFill>
            <a:srgbClr val="F6DCDD"/>
          </a:solidFill>
          <a:ln w="6350">
            <a:solidFill>
              <a:srgbClr val="F6DCDD"/>
            </a:solidFill>
            <a:prstDash val="solid"/>
          </a:ln>
        </p:spPr>
      </p:sp>
      <p:sp>
        <p:nvSpPr>
          <p:cNvPr id="25" name="Text 19"/>
          <p:cNvSpPr txBox="1"/>
          <p:nvPr/>
        </p:nvSpPr>
        <p:spPr>
          <a:xfrm>
            <a:off x="9859975" y="2441448"/>
            <a:ext cx="1508760" cy="347472"/>
          </a:xfrm>
          <a:prstGeom prst="rect">
            <a:avLst/>
          </a:prstGeom>
          <a:noFill/>
          <a:ln/>
        </p:spPr>
        <p:txBody>
          <a:bodyPr wrap="square" lIns="0" tIns="0" rIns="0" bIns="0" rtlCol="0" anchor="ctr"/>
          <a:lstStyle/>
          <a:p>
            <a:pPr algn="ctr" indent="0" marL="0">
              <a:buNone/>
            </a:pPr>
            <a:r>
              <a:rPr lang="en-US" sz="1200" b="1" dirty="0">
                <a:solidFill>
                  <a:srgbClr val="8E1B1F"/>
                </a:solidFill>
                <a:latin typeface="Calibri" pitchFamily="34" charset="0"/>
                <a:ea typeface="Calibri" pitchFamily="34" charset="-122"/>
                <a:cs typeface="Calibri" pitchFamily="34" charset="-120"/>
              </a:rPr>
              <a:t>Hours to weeks</a:t>
            </a:r>
            <a:endParaRPr lang="en-US" sz="1200" dirty="0"/>
          </a:p>
        </p:txBody>
      </p:sp>
      <p:sp>
        <p:nvSpPr>
          <p:cNvPr id="26" name="Text 20"/>
          <p:cNvSpPr txBox="1"/>
          <p:nvPr/>
        </p:nvSpPr>
        <p:spPr>
          <a:xfrm>
            <a:off x="8402117" y="3063240"/>
            <a:ext cx="2966618" cy="384048"/>
          </a:xfrm>
          <a:prstGeom prst="rect">
            <a:avLst/>
          </a:prstGeom>
          <a:noFill/>
          <a:ln/>
        </p:spPr>
        <p:txBody>
          <a:bodyPr wrap="square" lIns="0" tIns="0" rIns="0" bIns="0" rtlCol="0" anchor="t"/>
          <a:lstStyle/>
          <a:p>
            <a:pPr indent="0" marL="0">
              <a:buNone/>
            </a:pPr>
            <a:r>
              <a:rPr lang="en-US" sz="1900" b="1" dirty="0">
                <a:solidFill>
                  <a:srgbClr val="13233A"/>
                </a:solidFill>
                <a:latin typeface="Calibri" pitchFamily="34" charset="0"/>
                <a:ea typeface="Calibri" pitchFamily="34" charset="-122"/>
                <a:cs typeface="Calibri" pitchFamily="34" charset="-120"/>
              </a:rPr>
              <a:t>Inflammation</a:t>
            </a:r>
            <a:endParaRPr lang="en-US" sz="1900" dirty="0"/>
          </a:p>
        </p:txBody>
      </p:sp>
      <p:sp>
        <p:nvSpPr>
          <p:cNvPr id="27" name="Text 21"/>
          <p:cNvSpPr txBox="1"/>
          <p:nvPr/>
        </p:nvSpPr>
        <p:spPr>
          <a:xfrm>
            <a:off x="8402117" y="3474720"/>
            <a:ext cx="3012338" cy="1005840"/>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Microglia activate within hours. Neutrophils, macrophages, cytokines and MMP-9 follow.</a:t>
            </a:r>
            <a:endParaRPr lang="en-US" sz="1400" dirty="0"/>
          </a:p>
        </p:txBody>
      </p:sp>
      <p:sp>
        <p:nvSpPr>
          <p:cNvPr id="28" name="Shape 22"/>
          <p:cNvSpPr/>
          <p:nvPr/>
        </p:nvSpPr>
        <p:spPr>
          <a:xfrm>
            <a:off x="9885426" y="4617720"/>
            <a:ext cx="0" cy="228600"/>
          </a:xfrm>
          <a:prstGeom prst="line">
            <a:avLst/>
          </a:prstGeom>
          <a:noFill/>
          <a:ln w="19050">
            <a:solidFill>
              <a:srgbClr val="667285"/>
            </a:solidFill>
            <a:prstDash val="solid"/>
            <a:tailEnd type="triangle"/>
          </a:ln>
        </p:spPr>
      </p:sp>
      <p:sp>
        <p:nvSpPr>
          <p:cNvPr id="29" name="Shape 23"/>
          <p:cNvSpPr/>
          <p:nvPr/>
        </p:nvSpPr>
        <p:spPr>
          <a:xfrm>
            <a:off x="548640" y="4892040"/>
            <a:ext cx="11094415" cy="914400"/>
          </a:xfrm>
          <a:prstGeom prst="roundRect">
            <a:avLst>
              <a:gd name="adj" fmla="val 10000"/>
            </a:avLst>
          </a:prstGeom>
          <a:solidFill>
            <a:srgbClr val="13233A"/>
          </a:solidFill>
          <a:ln w="6350">
            <a:solidFill>
              <a:srgbClr val="13233A"/>
            </a:solidFill>
            <a:prstDash val="solid"/>
          </a:ln>
        </p:spPr>
      </p:sp>
      <p:sp>
        <p:nvSpPr>
          <p:cNvPr id="30" name="Text 24"/>
          <p:cNvSpPr txBox="1"/>
          <p:nvPr/>
        </p:nvSpPr>
        <p:spPr>
          <a:xfrm>
            <a:off x="914400" y="4892040"/>
            <a:ext cx="10362895" cy="914400"/>
          </a:xfrm>
          <a:prstGeom prst="rect">
            <a:avLst/>
          </a:prstGeom>
          <a:noFill/>
          <a:ln/>
        </p:spPr>
        <p:txBody>
          <a:bodyPr wrap="square" lIns="0" tIns="0" rIns="0" bIns="0" rtlCol="0" anchor="ctr"/>
          <a:lstStyle/>
          <a:p>
            <a:pPr indent="0" marL="0">
              <a:spcAft>
                <a:spcPts val="200"/>
              </a:spcAft>
              <a:buNone/>
            </a:pPr>
            <a:r>
              <a:rPr lang="en-US" sz="1800" b="1" dirty="0">
                <a:solidFill>
                  <a:srgbClr val="FFFFFF"/>
                </a:solidFill>
                <a:latin typeface="Calibri" pitchFamily="34" charset="0"/>
                <a:ea typeface="Calibri" pitchFamily="34" charset="-122"/>
                <a:cs typeface="Calibri" pitchFamily="34" charset="-120"/>
              </a:rPr>
              <a:t>Blood–brain barrier breakdown   →   more oedema   →   neuronal death</a:t>
            </a:r>
            <a:endParaRPr lang="en-US" sz="1800" dirty="0"/>
          </a:p>
          <a:p>
            <a:pPr indent="0" marL="0">
              <a:spcAft>
                <a:spcPts val="200"/>
              </a:spcAft>
              <a:buNone/>
            </a:pPr>
            <a:r>
              <a:rPr lang="en-US" sz="1400" dirty="0">
                <a:solidFill>
                  <a:srgbClr val="C9D3E0"/>
                </a:solidFill>
                <a:latin typeface="Calibri" pitchFamily="34" charset="0"/>
                <a:ea typeface="Calibri" pitchFamily="34" charset="-122"/>
                <a:cs typeface="Calibri" pitchFamily="34" charset="-120"/>
              </a:rPr>
              <a:t>This is why patients can worsen days after the bleeding has stopped.</a:t>
            </a:r>
            <a:endParaRPr lang="en-US" sz="1800" dirty="0"/>
          </a:p>
        </p:txBody>
      </p:sp>
      <p:sp>
        <p:nvSpPr>
          <p:cNvPr id="31" name="Text 25"/>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000" i="1" dirty="0">
                <a:solidFill>
                  <a:srgbClr val="667285"/>
                </a:solidFill>
                <a:latin typeface="Calibri" pitchFamily="34" charset="0"/>
                <a:ea typeface="Calibri" pitchFamily="34" charset="-122"/>
                <a:cs typeface="Calibri" pitchFamily="34" charset="-120"/>
              </a:rPr>
              <a:t>Xi, Keep &amp; Hoff, Lancet Neurol 2006. Most mechanistic evidence comes from animal models.</a:t>
            </a:r>
            <a:endParaRPr lang="en-US" sz="1000" dirty="0"/>
          </a:p>
        </p:txBody>
      </p:sp>
      <p:sp>
        <p:nvSpPr>
          <p:cNvPr id="32" name="Text 26"/>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33" name="Shape 27"/>
          <p:cNvSpPr/>
          <p:nvPr/>
        </p:nvSpPr>
        <p:spPr>
          <a:xfrm>
            <a:off x="7360920" y="6460236"/>
            <a:ext cx="118872" cy="118872"/>
          </a:xfrm>
          <a:prstGeom prst="ellipse">
            <a:avLst/>
          </a:prstGeom>
          <a:solidFill>
            <a:srgbClr val="C9D2DE"/>
          </a:solidFill>
          <a:ln w="6350">
            <a:solidFill>
              <a:srgbClr val="C9D2DE"/>
            </a:solidFill>
            <a:prstDash val="solid"/>
          </a:ln>
        </p:spPr>
      </p:sp>
      <p:sp>
        <p:nvSpPr>
          <p:cNvPr id="34" name="Text 28"/>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Vessel</a:t>
            </a:r>
            <a:endParaRPr lang="en-US" sz="1000" dirty="0"/>
          </a:p>
        </p:txBody>
      </p:sp>
      <p:sp>
        <p:nvSpPr>
          <p:cNvPr id="35" name="Shape 29"/>
          <p:cNvSpPr/>
          <p:nvPr/>
        </p:nvSpPr>
        <p:spPr>
          <a:xfrm>
            <a:off x="8275320" y="6460236"/>
            <a:ext cx="118872" cy="118872"/>
          </a:xfrm>
          <a:prstGeom prst="ellipse">
            <a:avLst/>
          </a:prstGeom>
          <a:solidFill>
            <a:srgbClr val="C9D2DE"/>
          </a:solidFill>
          <a:ln w="6350">
            <a:solidFill>
              <a:srgbClr val="C9D2DE"/>
            </a:solidFill>
            <a:prstDash val="solid"/>
          </a:ln>
        </p:spPr>
      </p:sp>
      <p:sp>
        <p:nvSpPr>
          <p:cNvPr id="36" name="Text 30"/>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Hours</a:t>
            </a:r>
            <a:endParaRPr lang="en-US" sz="1000" dirty="0"/>
          </a:p>
        </p:txBody>
      </p:sp>
      <p:sp>
        <p:nvSpPr>
          <p:cNvPr id="37" name="Shape 31"/>
          <p:cNvSpPr/>
          <p:nvPr/>
        </p:nvSpPr>
        <p:spPr>
          <a:xfrm>
            <a:off x="9189720" y="6460236"/>
            <a:ext cx="118872" cy="118872"/>
          </a:xfrm>
          <a:prstGeom prst="ellipse">
            <a:avLst/>
          </a:prstGeom>
          <a:solidFill>
            <a:srgbClr val="C1272D"/>
          </a:solidFill>
          <a:ln w="6350">
            <a:solidFill>
              <a:srgbClr val="C1272D"/>
            </a:solidFill>
            <a:prstDash val="solid"/>
          </a:ln>
        </p:spPr>
      </p:sp>
      <p:sp>
        <p:nvSpPr>
          <p:cNvPr id="38" name="Text 32"/>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b="1" dirty="0">
                <a:solidFill>
                  <a:srgbClr val="C1272D"/>
                </a:solidFill>
                <a:latin typeface="Calibri" pitchFamily="34" charset="0"/>
                <a:ea typeface="Calibri" pitchFamily="34" charset="-122"/>
                <a:cs typeface="Calibri" pitchFamily="34" charset="-120"/>
              </a:rPr>
              <a:t>Days</a:t>
            </a:r>
            <a:endParaRPr lang="en-US" sz="1000" dirty="0"/>
          </a:p>
        </p:txBody>
      </p:sp>
      <p:sp>
        <p:nvSpPr>
          <p:cNvPr id="39" name="Shape 33"/>
          <p:cNvSpPr/>
          <p:nvPr/>
        </p:nvSpPr>
        <p:spPr>
          <a:xfrm>
            <a:off x="10104120" y="6460236"/>
            <a:ext cx="118872" cy="118872"/>
          </a:xfrm>
          <a:prstGeom prst="ellipse">
            <a:avLst/>
          </a:prstGeom>
          <a:solidFill>
            <a:srgbClr val="C9D2DE"/>
          </a:solidFill>
          <a:ln w="6350">
            <a:solidFill>
              <a:srgbClr val="C9D2DE"/>
            </a:solidFill>
            <a:prstDash val="solid"/>
          </a:ln>
        </p:spPr>
      </p:sp>
      <p:sp>
        <p:nvSpPr>
          <p:cNvPr id="40" name="Text 34"/>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41" name="Text 35"/>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18</a:t>
            </a:r>
            <a:endParaRPr lang="en-US" sz="10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03 · THE DAYS AFTER</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The rim around the clot is not ischaemic</a:t>
            </a:r>
            <a:endParaRPr lang="en-US" sz="3600" dirty="0"/>
          </a:p>
        </p:txBody>
      </p:sp>
      <p:sp>
        <p:nvSpPr>
          <p:cNvPr id="5" name="Shape 2"/>
          <p:cNvSpPr/>
          <p:nvPr/>
        </p:nvSpPr>
        <p:spPr>
          <a:xfrm>
            <a:off x="548640" y="2057400"/>
            <a:ext cx="5257800" cy="1463040"/>
          </a:xfrm>
          <a:prstGeom prst="roundRect">
            <a:avLst>
              <a:gd name="adj" fmla="val 6250"/>
            </a:avLst>
          </a:prstGeom>
          <a:solidFill>
            <a:srgbClr val="F3F5F8"/>
          </a:solidFill>
          <a:ln w="6350">
            <a:solidFill>
              <a:srgbClr val="F3F5F8"/>
            </a:solidFill>
            <a:prstDash val="solid"/>
          </a:ln>
        </p:spPr>
      </p:sp>
      <p:sp>
        <p:nvSpPr>
          <p:cNvPr id="6" name="Shape 3"/>
          <p:cNvSpPr/>
          <p:nvPr/>
        </p:nvSpPr>
        <p:spPr>
          <a:xfrm>
            <a:off x="822960" y="2286000"/>
            <a:ext cx="475488" cy="475488"/>
          </a:xfrm>
          <a:prstGeom prst="ellipse">
            <a:avLst/>
          </a:prstGeom>
          <a:solidFill>
            <a:srgbClr val="667285"/>
          </a:solidFill>
          <a:ln w="6350">
            <a:solidFill>
              <a:srgbClr val="667285"/>
            </a:solidFill>
            <a:prstDash val="solid"/>
          </a:ln>
        </p:spPr>
      </p:sp>
      <p:pic>
        <p:nvPicPr>
          <p:cNvPr id="7" name="Image 0" descr="preencoded.png">    </p:cNvPr>
          <p:cNvPicPr>
            <a:picLocks noChangeAspect="1"/>
          </p:cNvPicPr>
          <p:nvPr/>
        </p:nvPicPr>
        <p:blipFill>
          <a:blip r:embed="rId1"/>
          <a:stretch>
            <a:fillRect/>
          </a:stretch>
        </p:blipFill>
        <p:spPr>
          <a:xfrm>
            <a:off x="941832" y="2404872"/>
            <a:ext cx="237744" cy="237744"/>
          </a:xfrm>
          <a:prstGeom prst="rect">
            <a:avLst/>
          </a:prstGeom>
        </p:spPr>
      </p:pic>
      <p:sp>
        <p:nvSpPr>
          <p:cNvPr id="8" name="Text 4"/>
          <p:cNvSpPr txBox="1"/>
          <p:nvPr/>
        </p:nvSpPr>
        <p:spPr>
          <a:xfrm>
            <a:off x="1463040" y="2240280"/>
            <a:ext cx="4069080" cy="365760"/>
          </a:xfrm>
          <a:prstGeom prst="rect">
            <a:avLst/>
          </a:prstGeom>
          <a:noFill/>
          <a:ln/>
        </p:spPr>
        <p:txBody>
          <a:bodyPr wrap="square" lIns="0" tIns="0" rIns="0" bIns="0" rtlCol="0" anchor="t"/>
          <a:lstStyle/>
          <a:p>
            <a:pPr indent="0" marL="0">
              <a:buNone/>
            </a:pPr>
            <a:r>
              <a:rPr lang="en-US" sz="1700" b="1" dirty="0">
                <a:solidFill>
                  <a:srgbClr val="667285"/>
                </a:solidFill>
                <a:latin typeface="Calibri" pitchFamily="34" charset="0"/>
                <a:ea typeface="Calibri" pitchFamily="34" charset="-122"/>
                <a:cs typeface="Calibri" pitchFamily="34" charset="-120"/>
              </a:rPr>
              <a:t>The old idea</a:t>
            </a:r>
            <a:endParaRPr lang="en-US" sz="1700" dirty="0"/>
          </a:p>
        </p:txBody>
      </p:sp>
      <p:sp>
        <p:nvSpPr>
          <p:cNvPr id="9" name="Text 5"/>
          <p:cNvSpPr txBox="1"/>
          <p:nvPr/>
        </p:nvSpPr>
        <p:spPr>
          <a:xfrm>
            <a:off x="1463040" y="2633472"/>
            <a:ext cx="4069080" cy="777240"/>
          </a:xfrm>
          <a:prstGeom prst="rect">
            <a:avLst/>
          </a:prstGeom>
          <a:noFill/>
          <a:ln/>
        </p:spPr>
        <p:txBody>
          <a:bodyPr wrap="square" lIns="0" tIns="0" rIns="0" bIns="0" rtlCol="0" anchor="t"/>
          <a:lstStyle/>
          <a:p>
            <a:pPr indent="0" marL="0">
              <a:buNone/>
            </a:pPr>
            <a:r>
              <a:rPr lang="en-US" sz="1500" dirty="0">
                <a:solidFill>
                  <a:srgbClr val="1B2230"/>
                </a:solidFill>
                <a:latin typeface="Calibri" pitchFamily="34" charset="0"/>
                <a:ea typeface="Calibri" pitchFamily="34" charset="-122"/>
                <a:cs typeface="Calibri" pitchFamily="34" charset="-120"/>
              </a:rPr>
              <a:t>The rim is ischaemic tissue starved of blood, so lowering blood pressure could harm it.</a:t>
            </a:r>
            <a:endParaRPr lang="en-US" sz="1500" dirty="0"/>
          </a:p>
        </p:txBody>
      </p:sp>
      <p:sp>
        <p:nvSpPr>
          <p:cNvPr id="10" name="Shape 6"/>
          <p:cNvSpPr/>
          <p:nvPr/>
        </p:nvSpPr>
        <p:spPr>
          <a:xfrm>
            <a:off x="548640" y="3703320"/>
            <a:ext cx="5257800" cy="1463040"/>
          </a:xfrm>
          <a:prstGeom prst="roundRect">
            <a:avLst>
              <a:gd name="adj" fmla="val 6250"/>
            </a:avLst>
          </a:prstGeom>
          <a:solidFill>
            <a:srgbClr val="E8EDF3"/>
          </a:solidFill>
          <a:ln w="6350">
            <a:solidFill>
              <a:srgbClr val="E8EDF3"/>
            </a:solidFill>
            <a:prstDash val="solid"/>
          </a:ln>
        </p:spPr>
      </p:sp>
      <p:sp>
        <p:nvSpPr>
          <p:cNvPr id="11" name="Shape 7"/>
          <p:cNvSpPr/>
          <p:nvPr/>
        </p:nvSpPr>
        <p:spPr>
          <a:xfrm>
            <a:off x="822960" y="3931920"/>
            <a:ext cx="475488" cy="475488"/>
          </a:xfrm>
          <a:prstGeom prst="ellipse">
            <a:avLst/>
          </a:prstGeom>
          <a:solidFill>
            <a:srgbClr val="13233A"/>
          </a:solidFill>
          <a:ln w="6350">
            <a:solidFill>
              <a:srgbClr val="13233A"/>
            </a:solidFill>
            <a:prstDash val="solid"/>
          </a:ln>
        </p:spPr>
      </p:sp>
      <p:pic>
        <p:nvPicPr>
          <p:cNvPr id="12" name="Image 1" descr="preencoded.png">    </p:cNvPr>
          <p:cNvPicPr>
            <a:picLocks noChangeAspect="1"/>
          </p:cNvPicPr>
          <p:nvPr/>
        </p:nvPicPr>
        <p:blipFill>
          <a:blip r:embed="rId2"/>
          <a:stretch>
            <a:fillRect/>
          </a:stretch>
        </p:blipFill>
        <p:spPr>
          <a:xfrm>
            <a:off x="941832" y="4050792"/>
            <a:ext cx="237744" cy="237744"/>
          </a:xfrm>
          <a:prstGeom prst="rect">
            <a:avLst/>
          </a:prstGeom>
        </p:spPr>
      </p:pic>
      <p:sp>
        <p:nvSpPr>
          <p:cNvPr id="13" name="Text 8"/>
          <p:cNvSpPr txBox="1"/>
          <p:nvPr/>
        </p:nvSpPr>
        <p:spPr>
          <a:xfrm>
            <a:off x="1463040" y="3886200"/>
            <a:ext cx="4069080" cy="365760"/>
          </a:xfrm>
          <a:prstGeom prst="rect">
            <a:avLst/>
          </a:prstGeom>
          <a:noFill/>
          <a:ln/>
        </p:spPr>
        <p:txBody>
          <a:bodyPr wrap="square" lIns="0" tIns="0" rIns="0" bIns="0" rtlCol="0" anchor="t"/>
          <a:lstStyle/>
          <a:p>
            <a:pPr indent="0" marL="0">
              <a:buNone/>
            </a:pPr>
            <a:r>
              <a:rPr lang="en-US" sz="1700" b="1" dirty="0">
                <a:solidFill>
                  <a:srgbClr val="13233A"/>
                </a:solidFill>
                <a:latin typeface="Calibri" pitchFamily="34" charset="0"/>
                <a:ea typeface="Calibri" pitchFamily="34" charset="-122"/>
                <a:cs typeface="Calibri" pitchFamily="34" charset="-120"/>
              </a:rPr>
              <a:t>What PET showed</a:t>
            </a:r>
            <a:endParaRPr lang="en-US" sz="1700" dirty="0"/>
          </a:p>
        </p:txBody>
      </p:sp>
      <p:sp>
        <p:nvSpPr>
          <p:cNvPr id="14" name="Text 9"/>
          <p:cNvSpPr txBox="1"/>
          <p:nvPr/>
        </p:nvSpPr>
        <p:spPr>
          <a:xfrm>
            <a:off x="1463040" y="4279392"/>
            <a:ext cx="4069080" cy="822960"/>
          </a:xfrm>
          <a:prstGeom prst="rect">
            <a:avLst/>
          </a:prstGeom>
          <a:noFill/>
          <a:ln/>
        </p:spPr>
        <p:txBody>
          <a:bodyPr wrap="square" lIns="0" tIns="0" rIns="0" bIns="0" rtlCol="0" anchor="t"/>
          <a:lstStyle/>
          <a:p>
            <a:pPr indent="0" marL="0">
              <a:buNone/>
            </a:pPr>
            <a:r>
              <a:rPr lang="en-US" sz="1500" dirty="0">
                <a:solidFill>
                  <a:srgbClr val="1B2230"/>
                </a:solidFill>
                <a:latin typeface="Calibri" pitchFamily="34" charset="0"/>
                <a:ea typeface="Calibri" pitchFamily="34" charset="-122"/>
                <a:cs typeface="Calibri" pitchFamily="34" charset="-120"/>
              </a:rPr>
              <a:t>Blood flow falls, but oxygen use falls further. Oxygen extraction drops: hypoperfusion without ischaemia.</a:t>
            </a:r>
            <a:endParaRPr lang="en-US" sz="1500" dirty="0"/>
          </a:p>
        </p:txBody>
      </p:sp>
      <p:sp>
        <p:nvSpPr>
          <p:cNvPr id="15" name="Text 10"/>
          <p:cNvSpPr txBox="1"/>
          <p:nvPr/>
        </p:nvSpPr>
        <p:spPr>
          <a:xfrm>
            <a:off x="6172200" y="2057400"/>
            <a:ext cx="5470855" cy="320040"/>
          </a:xfrm>
          <a:prstGeom prst="rect">
            <a:avLst/>
          </a:prstGeom>
          <a:noFill/>
          <a:ln/>
        </p:spPr>
        <p:txBody>
          <a:bodyPr wrap="square" lIns="0" tIns="0" rIns="0" bIns="0" rtlCol="0" anchor="t"/>
          <a:lstStyle/>
          <a:p>
            <a:pPr indent="0" marL="0">
              <a:buNone/>
            </a:pPr>
            <a:r>
              <a:rPr lang="en-US" sz="1400" b="1" dirty="0">
                <a:solidFill>
                  <a:srgbClr val="13233A"/>
                </a:solidFill>
                <a:latin typeface="Calibri" pitchFamily="34" charset="0"/>
                <a:ea typeface="Calibri" pitchFamily="34" charset="-122"/>
                <a:cs typeface="Calibri" pitchFamily="34" charset="-120"/>
              </a:rPr>
              <a:t>Rim around the clot, as % of the mirror region</a:t>
            </a:r>
            <a:endParaRPr lang="en-US" sz="1400" dirty="0"/>
          </a:p>
        </p:txBody>
      </p:sp>
      <p:graphicFrame>
        <p:nvGraphicFramePr>
          <p:cNvPr id="16" name="Chart 0" descr=""/>
          <p:cNvGraphicFramePr/>
          <p:nvPr/>
        </p:nvGraphicFramePr>
        <p:xfrm>
          <a:off x="6080760" y="2377440"/>
          <a:ext cx="5562295" cy="2788920"/>
        </p:xfrm>
        <a:graphic xmlns:a="http://schemas.openxmlformats.org/drawingml/2006/main">
          <a:graphicData uri="http://schemas.openxmlformats.org/drawingml/2006/chart">
            <c:chart xmlns:c="http://schemas.openxmlformats.org/drawingml/2006/chart" r:id="rId3"/>
          </a:graphicData>
        </a:graphic>
      </p:graphicFrame>
      <p:sp>
        <p:nvSpPr>
          <p:cNvPr id="17" name="Shape 11"/>
          <p:cNvSpPr/>
          <p:nvPr/>
        </p:nvSpPr>
        <p:spPr>
          <a:xfrm>
            <a:off x="548640" y="5349240"/>
            <a:ext cx="11094415" cy="502920"/>
          </a:xfrm>
          <a:prstGeom prst="roundRect">
            <a:avLst>
              <a:gd name="adj" fmla="val 18182"/>
            </a:avLst>
          </a:prstGeom>
          <a:solidFill>
            <a:srgbClr val="F6DCDD"/>
          </a:solidFill>
          <a:ln w="6350">
            <a:solidFill>
              <a:srgbClr val="F6DCDD"/>
            </a:solidFill>
            <a:prstDash val="solid"/>
          </a:ln>
        </p:spPr>
      </p:sp>
      <p:sp>
        <p:nvSpPr>
          <p:cNvPr id="18" name="Shape 12"/>
          <p:cNvSpPr/>
          <p:nvPr/>
        </p:nvSpPr>
        <p:spPr>
          <a:xfrm>
            <a:off x="731520" y="5394960"/>
            <a:ext cx="402336" cy="402336"/>
          </a:xfrm>
          <a:prstGeom prst="ellipse">
            <a:avLst/>
          </a:prstGeom>
          <a:solidFill>
            <a:srgbClr val="C1272D"/>
          </a:solidFill>
          <a:ln w="6350">
            <a:solidFill>
              <a:srgbClr val="C1272D"/>
            </a:solidFill>
            <a:prstDash val="solid"/>
          </a:ln>
        </p:spPr>
      </p:sp>
      <p:pic>
        <p:nvPicPr>
          <p:cNvPr id="19" name="Image 2" descr="preencoded.png">    </p:cNvPr>
          <p:cNvPicPr>
            <a:picLocks noChangeAspect="1"/>
          </p:cNvPicPr>
          <p:nvPr/>
        </p:nvPicPr>
        <p:blipFill>
          <a:blip r:embed="rId4"/>
          <a:stretch>
            <a:fillRect/>
          </a:stretch>
        </p:blipFill>
        <p:spPr>
          <a:xfrm>
            <a:off x="832104" y="5495544"/>
            <a:ext cx="201168" cy="201168"/>
          </a:xfrm>
          <a:prstGeom prst="rect">
            <a:avLst/>
          </a:prstGeom>
        </p:spPr>
      </p:pic>
      <p:sp>
        <p:nvSpPr>
          <p:cNvPr id="20" name="Text 13"/>
          <p:cNvSpPr txBox="1"/>
          <p:nvPr/>
        </p:nvSpPr>
        <p:spPr>
          <a:xfrm>
            <a:off x="1280160" y="5349240"/>
            <a:ext cx="10180015" cy="502920"/>
          </a:xfrm>
          <a:prstGeom prst="rect">
            <a:avLst/>
          </a:prstGeom>
          <a:noFill/>
          <a:ln/>
        </p:spPr>
        <p:txBody>
          <a:bodyPr wrap="square" lIns="0" tIns="0" rIns="0" bIns="0" rtlCol="0" anchor="ctr"/>
          <a:lstStyle/>
          <a:p>
            <a:pPr indent="0" marL="0">
              <a:buNone/>
            </a:pPr>
            <a:r>
              <a:rPr lang="en-US" sz="1500" b="1" dirty="0">
                <a:solidFill>
                  <a:srgbClr val="8E1B1F"/>
                </a:solidFill>
                <a:latin typeface="Calibri" pitchFamily="34" charset="0"/>
                <a:ea typeface="Calibri" pitchFamily="34" charset="-122"/>
                <a:cs typeface="Calibri" pitchFamily="34" charset="-120"/>
              </a:rPr>
              <a:t>So what? </a:t>
            </a:r>
            <a:pPr indent="0" marL="0">
              <a:buNone/>
            </a:pPr>
            <a:r>
              <a:rPr lang="en-US" sz="1500" dirty="0">
                <a:solidFill>
                  <a:srgbClr val="8E1B1F"/>
                </a:solidFill>
                <a:latin typeface="Calibri" pitchFamily="34" charset="0"/>
                <a:ea typeface="Calibri" pitchFamily="34" charset="-122"/>
                <a:cs typeface="Calibri" pitchFamily="34" charset="-120"/>
              </a:rPr>
              <a:t>Lowering systolic pressure below 150 mmHg did not reduce blood flow around the haematoma (ICH ADAPT).</a:t>
            </a:r>
            <a:endParaRPr lang="en-US" sz="1500" dirty="0"/>
          </a:p>
        </p:txBody>
      </p:sp>
      <p:sp>
        <p:nvSpPr>
          <p:cNvPr id="21" name="Text 14"/>
          <p:cNvSpPr txBox="1"/>
          <p:nvPr/>
        </p:nvSpPr>
        <p:spPr>
          <a:xfrm>
            <a:off x="548640" y="5943600"/>
            <a:ext cx="11094415" cy="274320"/>
          </a:xfrm>
          <a:prstGeom prst="rect">
            <a:avLst/>
          </a:prstGeom>
          <a:noFill/>
          <a:ln/>
        </p:spPr>
        <p:txBody>
          <a:bodyPr wrap="square" lIns="0" tIns="0" rIns="0" bIns="0" rtlCol="0" anchor="ctr"/>
          <a:lstStyle/>
          <a:p>
            <a:pPr indent="0" marL="0">
              <a:buNone/>
            </a:pPr>
            <a:r>
              <a:rPr lang="en-US" sz="1000" i="1" dirty="0">
                <a:solidFill>
                  <a:srgbClr val="667285"/>
                </a:solidFill>
                <a:latin typeface="Calibri" pitchFamily="34" charset="0"/>
                <a:ea typeface="Calibri" pitchFamily="34" charset="-122"/>
                <a:cs typeface="Calibri" pitchFamily="34" charset="-120"/>
              </a:rPr>
              <a:t>Zazulia et al., J Cereb Blood Flow Metab 2001 (PET, n = 19, 5–22 h after onset); Butcher et al., Stroke 2013.</a:t>
            </a:r>
            <a:endParaRPr lang="en-US" sz="1000" dirty="0"/>
          </a:p>
        </p:txBody>
      </p:sp>
      <p:sp>
        <p:nvSpPr>
          <p:cNvPr id="22" name="Text 15"/>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23" name="Shape 16"/>
          <p:cNvSpPr/>
          <p:nvPr/>
        </p:nvSpPr>
        <p:spPr>
          <a:xfrm>
            <a:off x="7360920" y="6460236"/>
            <a:ext cx="118872" cy="118872"/>
          </a:xfrm>
          <a:prstGeom prst="ellipse">
            <a:avLst/>
          </a:prstGeom>
          <a:solidFill>
            <a:srgbClr val="C9D2DE"/>
          </a:solidFill>
          <a:ln w="6350">
            <a:solidFill>
              <a:srgbClr val="C9D2DE"/>
            </a:solidFill>
            <a:prstDash val="solid"/>
          </a:ln>
        </p:spPr>
      </p:sp>
      <p:sp>
        <p:nvSpPr>
          <p:cNvPr id="24" name="Text 17"/>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Vessel</a:t>
            </a:r>
            <a:endParaRPr lang="en-US" sz="1000" dirty="0"/>
          </a:p>
        </p:txBody>
      </p:sp>
      <p:sp>
        <p:nvSpPr>
          <p:cNvPr id="25" name="Shape 18"/>
          <p:cNvSpPr/>
          <p:nvPr/>
        </p:nvSpPr>
        <p:spPr>
          <a:xfrm>
            <a:off x="8275320" y="6460236"/>
            <a:ext cx="118872" cy="118872"/>
          </a:xfrm>
          <a:prstGeom prst="ellipse">
            <a:avLst/>
          </a:prstGeom>
          <a:solidFill>
            <a:srgbClr val="C9D2DE"/>
          </a:solidFill>
          <a:ln w="6350">
            <a:solidFill>
              <a:srgbClr val="C9D2DE"/>
            </a:solidFill>
            <a:prstDash val="solid"/>
          </a:ln>
        </p:spPr>
      </p:sp>
      <p:sp>
        <p:nvSpPr>
          <p:cNvPr id="26" name="Text 19"/>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Hours</a:t>
            </a:r>
            <a:endParaRPr lang="en-US" sz="1000" dirty="0"/>
          </a:p>
        </p:txBody>
      </p:sp>
      <p:sp>
        <p:nvSpPr>
          <p:cNvPr id="27" name="Shape 20"/>
          <p:cNvSpPr/>
          <p:nvPr/>
        </p:nvSpPr>
        <p:spPr>
          <a:xfrm>
            <a:off x="9189720" y="6460236"/>
            <a:ext cx="118872" cy="118872"/>
          </a:xfrm>
          <a:prstGeom prst="ellipse">
            <a:avLst/>
          </a:prstGeom>
          <a:solidFill>
            <a:srgbClr val="C1272D"/>
          </a:solidFill>
          <a:ln w="6350">
            <a:solidFill>
              <a:srgbClr val="C1272D"/>
            </a:solidFill>
            <a:prstDash val="solid"/>
          </a:ln>
        </p:spPr>
      </p:sp>
      <p:sp>
        <p:nvSpPr>
          <p:cNvPr id="28" name="Text 21"/>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b="1" dirty="0">
                <a:solidFill>
                  <a:srgbClr val="C1272D"/>
                </a:solidFill>
                <a:latin typeface="Calibri" pitchFamily="34" charset="0"/>
                <a:ea typeface="Calibri" pitchFamily="34" charset="-122"/>
                <a:cs typeface="Calibri" pitchFamily="34" charset="-120"/>
              </a:rPr>
              <a:t>Days</a:t>
            </a:r>
            <a:endParaRPr lang="en-US" sz="1000" dirty="0"/>
          </a:p>
        </p:txBody>
      </p:sp>
      <p:sp>
        <p:nvSpPr>
          <p:cNvPr id="29" name="Shape 22"/>
          <p:cNvSpPr/>
          <p:nvPr/>
        </p:nvSpPr>
        <p:spPr>
          <a:xfrm>
            <a:off x="10104120" y="6460236"/>
            <a:ext cx="118872" cy="118872"/>
          </a:xfrm>
          <a:prstGeom prst="ellipse">
            <a:avLst/>
          </a:prstGeom>
          <a:solidFill>
            <a:srgbClr val="C9D2DE"/>
          </a:solidFill>
          <a:ln w="6350">
            <a:solidFill>
              <a:srgbClr val="C9D2DE"/>
            </a:solidFill>
            <a:prstDash val="solid"/>
          </a:ln>
        </p:spPr>
      </p:sp>
      <p:sp>
        <p:nvSpPr>
          <p:cNvPr id="30" name="Text 23"/>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31" name="Text 24"/>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19</a:t>
            </a:r>
            <a:endParaRPr lang="en-US" sz="10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3233A"/>
        </a:solidFill>
      </p:bgPr>
    </p:bg>
    <p:spTree>
      <p:nvGrpSpPr>
        <p:cNvPr id="1" name=""/>
        <p:cNvGrpSpPr/>
        <p:nvPr/>
      </p:nvGrpSpPr>
      <p:grpSpPr>
        <a:xfrm>
          <a:off x="0" y="0"/>
          <a:ext cx="0" cy="0"/>
          <a:chOff x="0" y="0"/>
          <a:chExt cx="0" cy="0"/>
        </a:xfrm>
      </p:grpSpPr>
      <p:sp>
        <p:nvSpPr>
          <p:cNvPr id="3" name="Shape 0"/>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Shape 1"/>
          <p:cNvSpPr/>
          <p:nvPr/>
        </p:nvSpPr>
        <p:spPr>
          <a:xfrm>
            <a:off x="7223760" y="1325880"/>
            <a:ext cx="4206240" cy="4206240"/>
          </a:xfrm>
          <a:prstGeom prst="ellipse">
            <a:avLst/>
          </a:prstGeom>
          <a:solidFill>
            <a:srgbClr val="C1272D">
              <a:alpha val="10000"/>
            </a:srgbClr>
          </a:solidFill>
          <a:ln w="6350">
            <a:solidFill>
              <a:srgbClr val="C1272D">
                <a:alpha val="0"/>
              </a:srgbClr>
            </a:solidFill>
            <a:prstDash val="solid"/>
          </a:ln>
        </p:spPr>
      </p:sp>
      <p:sp>
        <p:nvSpPr>
          <p:cNvPr id="5" name="Shape 2"/>
          <p:cNvSpPr/>
          <p:nvPr/>
        </p:nvSpPr>
        <p:spPr>
          <a:xfrm>
            <a:off x="7635240" y="1737360"/>
            <a:ext cx="3383280" cy="3383280"/>
          </a:xfrm>
          <a:prstGeom prst="ellipse">
            <a:avLst/>
          </a:prstGeom>
          <a:solidFill>
            <a:srgbClr val="C1272D">
              <a:alpha val="20000"/>
            </a:srgbClr>
          </a:solidFill>
          <a:ln w="6350">
            <a:solidFill>
              <a:srgbClr val="C1272D">
                <a:alpha val="0"/>
              </a:srgbClr>
            </a:solidFill>
            <a:prstDash val="solid"/>
          </a:ln>
        </p:spPr>
      </p:sp>
      <p:sp>
        <p:nvSpPr>
          <p:cNvPr id="6" name="!!bleed"/>
          <p:cNvSpPr/>
          <p:nvPr/>
        </p:nvSpPr>
        <p:spPr>
          <a:xfrm>
            <a:off x="8092440" y="2194560"/>
            <a:ext cx="2468880" cy="2468880"/>
          </a:xfrm>
          <a:prstGeom prst="ellipse">
            <a:avLst/>
          </a:prstGeom>
          <a:solidFill>
            <a:srgbClr val="C1272D"/>
          </a:solidFill>
          <a:ln w="6350">
            <a:solidFill>
              <a:srgbClr val="C1272D"/>
            </a:solidFill>
            <a:prstDash val="solid"/>
          </a:ln>
        </p:spPr>
      </p:sp>
      <p:sp>
        <p:nvSpPr>
          <p:cNvPr id="7" name="Text 4"/>
          <p:cNvSpPr txBox="1"/>
          <p:nvPr/>
        </p:nvSpPr>
        <p:spPr>
          <a:xfrm>
            <a:off x="731520" y="1417320"/>
            <a:ext cx="2743200" cy="1371600"/>
          </a:xfrm>
          <a:prstGeom prst="rect">
            <a:avLst/>
          </a:prstGeom>
          <a:noFill/>
          <a:ln/>
        </p:spPr>
        <p:txBody>
          <a:bodyPr wrap="square" lIns="0" tIns="0" rIns="0" bIns="0" rtlCol="0" anchor="b"/>
          <a:lstStyle/>
          <a:p>
            <a:pPr indent="0" marL="0">
              <a:buNone/>
            </a:pPr>
            <a:r>
              <a:rPr lang="en-US" sz="9600" b="1" dirty="0">
                <a:solidFill>
                  <a:srgbClr val="E0474C"/>
                </a:solidFill>
                <a:latin typeface="Cambria" pitchFamily="34" charset="0"/>
                <a:ea typeface="Cambria" pitchFamily="34" charset="-122"/>
                <a:cs typeface="Cambria" pitchFamily="34" charset="-120"/>
              </a:rPr>
              <a:t>04</a:t>
            </a:r>
            <a:endParaRPr lang="en-US" sz="9600" dirty="0"/>
          </a:p>
        </p:txBody>
      </p:sp>
      <p:sp>
        <p:nvSpPr>
          <p:cNvPr id="8" name="Text 5"/>
          <p:cNvSpPr txBox="1"/>
          <p:nvPr/>
        </p:nvSpPr>
        <p:spPr>
          <a:xfrm>
            <a:off x="731520" y="2926080"/>
            <a:ext cx="5943600"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At the bedside</a:t>
            </a:r>
            <a:endParaRPr lang="en-US" sz="4800" dirty="0"/>
          </a:p>
        </p:txBody>
      </p:sp>
      <p:sp>
        <p:nvSpPr>
          <p:cNvPr id="9" name="Text 6"/>
          <p:cNvSpPr txBox="1"/>
          <p:nvPr/>
        </p:nvSpPr>
        <p:spPr>
          <a:xfrm>
            <a:off x="731520" y="3886200"/>
            <a:ext cx="5486400" cy="822960"/>
          </a:xfrm>
          <a:prstGeom prst="rect">
            <a:avLst/>
          </a:prstGeom>
          <a:noFill/>
          <a:ln/>
        </p:spPr>
        <p:txBody>
          <a:bodyPr wrap="square" lIns="0" tIns="0" rIns="0" bIns="0" rtlCol="0" anchor="t"/>
          <a:lstStyle/>
          <a:p>
            <a:pPr indent="0" marL="0">
              <a:buNone/>
            </a:pPr>
            <a:r>
              <a:rPr lang="en-US" sz="2200" dirty="0">
                <a:solidFill>
                  <a:srgbClr val="C9D3E0"/>
                </a:solidFill>
                <a:latin typeface="Calibri" pitchFamily="34" charset="0"/>
                <a:ea typeface="Calibri" pitchFamily="34" charset="-122"/>
                <a:cs typeface="Calibri" pitchFamily="34" charset="-120"/>
              </a:rPr>
              <a:t>What the mechanisms mean for our patients</a:t>
            </a:r>
            <a:endParaRPr lang="en-US" sz="2200" dirty="0"/>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9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04 · AT THE BEDSIDE</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Every mechanism opens a window to act</a:t>
            </a:r>
            <a:endParaRPr lang="en-US" sz="3600" dirty="0"/>
          </a:p>
        </p:txBody>
      </p:sp>
      <p:sp>
        <p:nvSpPr>
          <p:cNvPr id="5" name="Text 2"/>
          <p:cNvSpPr txBox="1"/>
          <p:nvPr/>
        </p:nvSpPr>
        <p:spPr>
          <a:xfrm>
            <a:off x="1417320" y="1600200"/>
            <a:ext cx="2286000" cy="274320"/>
          </a:xfrm>
          <a:prstGeom prst="rect">
            <a:avLst/>
          </a:prstGeom>
          <a:noFill/>
          <a:ln/>
        </p:spPr>
        <p:txBody>
          <a:bodyPr wrap="square" lIns="0" tIns="0" rIns="0" bIns="0" rtlCol="0" anchor="ctr"/>
          <a:lstStyle/>
          <a:p>
            <a:pPr indent="0" marL="0">
              <a:buNone/>
            </a:pPr>
            <a:r>
              <a:rPr lang="en-US" sz="1100" b="1" spc="300" kern="0" dirty="0">
                <a:solidFill>
                  <a:srgbClr val="667285"/>
                </a:solidFill>
                <a:latin typeface="Calibri" pitchFamily="34" charset="0"/>
                <a:ea typeface="Calibri" pitchFamily="34" charset="-122"/>
                <a:cs typeface="Calibri" pitchFamily="34" charset="-120"/>
              </a:rPr>
              <a:t>MECHANISM</a:t>
            </a:r>
            <a:endParaRPr lang="en-US" sz="1100" dirty="0"/>
          </a:p>
        </p:txBody>
      </p:sp>
      <p:sp>
        <p:nvSpPr>
          <p:cNvPr id="6" name="Text 3"/>
          <p:cNvSpPr txBox="1"/>
          <p:nvPr/>
        </p:nvSpPr>
        <p:spPr>
          <a:xfrm>
            <a:off x="4114800" y="1600200"/>
            <a:ext cx="2286000" cy="274320"/>
          </a:xfrm>
          <a:prstGeom prst="rect">
            <a:avLst/>
          </a:prstGeom>
          <a:noFill/>
          <a:ln/>
        </p:spPr>
        <p:txBody>
          <a:bodyPr wrap="square" lIns="0" tIns="0" rIns="0" bIns="0" rtlCol="0" anchor="ctr"/>
          <a:lstStyle/>
          <a:p>
            <a:pPr indent="0" marL="0">
              <a:buNone/>
            </a:pPr>
            <a:r>
              <a:rPr lang="en-US" sz="1100" b="1" spc="300" kern="0" dirty="0">
                <a:solidFill>
                  <a:srgbClr val="667285"/>
                </a:solidFill>
                <a:latin typeface="Calibri" pitchFamily="34" charset="0"/>
                <a:ea typeface="Calibri" pitchFamily="34" charset="-122"/>
                <a:cs typeface="Calibri" pitchFamily="34" charset="-120"/>
              </a:rPr>
              <a:t>WHEN</a:t>
            </a:r>
            <a:endParaRPr lang="en-US" sz="1100" dirty="0"/>
          </a:p>
        </p:txBody>
      </p:sp>
      <p:sp>
        <p:nvSpPr>
          <p:cNvPr id="7" name="Text 4"/>
          <p:cNvSpPr txBox="1"/>
          <p:nvPr/>
        </p:nvSpPr>
        <p:spPr>
          <a:xfrm>
            <a:off x="6126480" y="1600200"/>
            <a:ext cx="2286000" cy="274320"/>
          </a:xfrm>
          <a:prstGeom prst="rect">
            <a:avLst/>
          </a:prstGeom>
          <a:noFill/>
          <a:ln/>
        </p:spPr>
        <p:txBody>
          <a:bodyPr wrap="square" lIns="0" tIns="0" rIns="0" bIns="0" rtlCol="0" anchor="ctr"/>
          <a:lstStyle/>
          <a:p>
            <a:pPr indent="0" marL="0">
              <a:buNone/>
            </a:pPr>
            <a:r>
              <a:rPr lang="en-US" sz="1100" b="1" spc="300" kern="0" dirty="0">
                <a:solidFill>
                  <a:srgbClr val="667285"/>
                </a:solidFill>
                <a:latin typeface="Calibri" pitchFamily="34" charset="0"/>
                <a:ea typeface="Calibri" pitchFamily="34" charset="-122"/>
                <a:cs typeface="Calibri" pitchFamily="34" charset="-120"/>
              </a:rPr>
              <a:t>WHAT WE DO</a:t>
            </a:r>
            <a:endParaRPr lang="en-US" sz="1100" dirty="0"/>
          </a:p>
        </p:txBody>
      </p:sp>
      <p:sp>
        <p:nvSpPr>
          <p:cNvPr id="8" name="Shape 5"/>
          <p:cNvSpPr/>
          <p:nvPr/>
        </p:nvSpPr>
        <p:spPr>
          <a:xfrm>
            <a:off x="548640" y="1965960"/>
            <a:ext cx="11094415" cy="868680"/>
          </a:xfrm>
          <a:prstGeom prst="roundRect">
            <a:avLst>
              <a:gd name="adj" fmla="val 10526"/>
            </a:avLst>
          </a:prstGeom>
          <a:solidFill>
            <a:srgbClr val="E8EDF3"/>
          </a:solidFill>
          <a:ln w="6350">
            <a:solidFill>
              <a:srgbClr val="E8EDF3"/>
            </a:solidFill>
            <a:prstDash val="solid"/>
          </a:ln>
        </p:spPr>
      </p:sp>
      <p:sp>
        <p:nvSpPr>
          <p:cNvPr id="9" name="Shape 6"/>
          <p:cNvSpPr/>
          <p:nvPr/>
        </p:nvSpPr>
        <p:spPr>
          <a:xfrm>
            <a:off x="749808" y="2130552"/>
            <a:ext cx="548640" cy="548640"/>
          </a:xfrm>
          <a:prstGeom prst="ellipse">
            <a:avLst/>
          </a:prstGeom>
          <a:solidFill>
            <a:srgbClr val="13233A"/>
          </a:solidFill>
          <a:ln w="6350">
            <a:solidFill>
              <a:srgbClr val="13233A"/>
            </a:solidFill>
            <a:prstDash val="solid"/>
          </a:ln>
        </p:spPr>
      </p:sp>
      <p:pic>
        <p:nvPicPr>
          <p:cNvPr id="10" name="Image 0" descr="preencoded.png">    </p:cNvPr>
          <p:cNvPicPr>
            <a:picLocks noChangeAspect="1"/>
          </p:cNvPicPr>
          <p:nvPr/>
        </p:nvPicPr>
        <p:blipFill>
          <a:blip r:embed="rId1"/>
          <a:stretch>
            <a:fillRect/>
          </a:stretch>
        </p:blipFill>
        <p:spPr>
          <a:xfrm>
            <a:off x="886968" y="2267712"/>
            <a:ext cx="274320" cy="274320"/>
          </a:xfrm>
          <a:prstGeom prst="rect">
            <a:avLst/>
          </a:prstGeom>
        </p:spPr>
      </p:pic>
      <p:sp>
        <p:nvSpPr>
          <p:cNvPr id="11" name="Text 7"/>
          <p:cNvSpPr txBox="1"/>
          <p:nvPr/>
        </p:nvSpPr>
        <p:spPr>
          <a:xfrm>
            <a:off x="1417320" y="1965960"/>
            <a:ext cx="2560320" cy="868680"/>
          </a:xfrm>
          <a:prstGeom prst="rect">
            <a:avLst/>
          </a:prstGeom>
          <a:noFill/>
          <a:ln/>
        </p:spPr>
        <p:txBody>
          <a:bodyPr wrap="square" lIns="0" tIns="0" rIns="0" bIns="0" rtlCol="0" anchor="ctr"/>
          <a:lstStyle/>
          <a:p>
            <a:pPr indent="0" marL="0">
              <a:buNone/>
            </a:pPr>
            <a:r>
              <a:rPr lang="en-US" sz="1600" b="1" dirty="0">
                <a:solidFill>
                  <a:srgbClr val="13233A"/>
                </a:solidFill>
                <a:latin typeface="Calibri" pitchFamily="34" charset="0"/>
                <a:ea typeface="Calibri" pitchFamily="34" charset="-122"/>
                <a:cs typeface="Calibri" pitchFamily="34" charset="-120"/>
              </a:rPr>
              <a:t>Small-vessel disease</a:t>
            </a:r>
            <a:endParaRPr lang="en-US" sz="1600" dirty="0"/>
          </a:p>
        </p:txBody>
      </p:sp>
      <p:sp>
        <p:nvSpPr>
          <p:cNvPr id="12" name="Shape 8"/>
          <p:cNvSpPr/>
          <p:nvPr/>
        </p:nvSpPr>
        <p:spPr>
          <a:xfrm>
            <a:off x="4114800" y="2221992"/>
            <a:ext cx="1691640" cy="365760"/>
          </a:xfrm>
          <a:prstGeom prst="roundRect">
            <a:avLst>
              <a:gd name="adj" fmla="val 50000"/>
            </a:avLst>
          </a:prstGeom>
          <a:solidFill>
            <a:srgbClr val="F6DCDD"/>
          </a:solidFill>
          <a:ln w="6350">
            <a:solidFill>
              <a:srgbClr val="F6DCDD"/>
            </a:solidFill>
            <a:prstDash val="solid"/>
          </a:ln>
        </p:spPr>
      </p:sp>
      <p:sp>
        <p:nvSpPr>
          <p:cNvPr id="13" name="Text 9"/>
          <p:cNvSpPr txBox="1"/>
          <p:nvPr/>
        </p:nvSpPr>
        <p:spPr>
          <a:xfrm>
            <a:off x="4114800" y="2221992"/>
            <a:ext cx="1691640" cy="365760"/>
          </a:xfrm>
          <a:prstGeom prst="rect">
            <a:avLst/>
          </a:prstGeom>
          <a:noFill/>
          <a:ln/>
        </p:spPr>
        <p:txBody>
          <a:bodyPr wrap="square" lIns="0" tIns="0" rIns="0" bIns="0" rtlCol="0" anchor="ctr"/>
          <a:lstStyle/>
          <a:p>
            <a:pPr algn="ctr" indent="0" marL="0">
              <a:buNone/>
            </a:pPr>
            <a:r>
              <a:rPr lang="en-US" sz="1200" b="1" dirty="0">
                <a:solidFill>
                  <a:srgbClr val="8E1B1F"/>
                </a:solidFill>
                <a:latin typeface="Calibri" pitchFamily="34" charset="0"/>
                <a:ea typeface="Calibri" pitchFamily="34" charset="-122"/>
                <a:cs typeface="Calibri" pitchFamily="34" charset="-120"/>
              </a:rPr>
              <a:t>Before and after</a:t>
            </a:r>
            <a:endParaRPr lang="en-US" sz="1200" dirty="0"/>
          </a:p>
        </p:txBody>
      </p:sp>
      <p:sp>
        <p:nvSpPr>
          <p:cNvPr id="14" name="Text 10"/>
          <p:cNvSpPr txBox="1"/>
          <p:nvPr/>
        </p:nvSpPr>
        <p:spPr>
          <a:xfrm>
            <a:off x="6126480" y="1965960"/>
            <a:ext cx="5257800" cy="868680"/>
          </a:xfrm>
          <a:prstGeom prst="rect">
            <a:avLst/>
          </a:prstGeom>
          <a:noFill/>
          <a:ln/>
        </p:spPr>
        <p:txBody>
          <a:bodyPr wrap="square" lIns="0" tIns="0" rIns="0" bIns="0" rtlCol="0" anchor="ctr"/>
          <a:lstStyle/>
          <a:p>
            <a:pPr indent="0" marL="0">
              <a:buNone/>
            </a:pPr>
            <a:r>
              <a:rPr lang="en-US" sz="1400" dirty="0">
                <a:solidFill>
                  <a:srgbClr val="1B2230"/>
                </a:solidFill>
                <a:latin typeface="Calibri" pitchFamily="34" charset="0"/>
                <a:ea typeface="Calibri" pitchFamily="34" charset="-122"/>
                <a:cs typeface="Calibri" pitchFamily="34" charset="-120"/>
              </a:rPr>
              <a:t>Control blood pressure. Review antithrombotics. Older adult with a lobar bleed? Think CAA.</a:t>
            </a:r>
            <a:endParaRPr lang="en-US" sz="1400" dirty="0"/>
          </a:p>
        </p:txBody>
      </p:sp>
      <p:sp>
        <p:nvSpPr>
          <p:cNvPr id="15" name="Shape 11"/>
          <p:cNvSpPr/>
          <p:nvPr/>
        </p:nvSpPr>
        <p:spPr>
          <a:xfrm>
            <a:off x="548640" y="2944368"/>
            <a:ext cx="11094415" cy="868680"/>
          </a:xfrm>
          <a:prstGeom prst="roundRect">
            <a:avLst>
              <a:gd name="adj" fmla="val 10526"/>
            </a:avLst>
          </a:prstGeom>
          <a:solidFill>
            <a:srgbClr val="F3F5F8"/>
          </a:solidFill>
          <a:ln w="6350">
            <a:solidFill>
              <a:srgbClr val="F3F5F8"/>
            </a:solidFill>
            <a:prstDash val="solid"/>
          </a:ln>
        </p:spPr>
      </p:sp>
      <p:sp>
        <p:nvSpPr>
          <p:cNvPr id="16" name="Shape 12"/>
          <p:cNvSpPr/>
          <p:nvPr/>
        </p:nvSpPr>
        <p:spPr>
          <a:xfrm>
            <a:off x="749808" y="3108960"/>
            <a:ext cx="548640" cy="548640"/>
          </a:xfrm>
          <a:prstGeom prst="ellipse">
            <a:avLst/>
          </a:prstGeom>
          <a:solidFill>
            <a:srgbClr val="C1272D"/>
          </a:solidFill>
          <a:ln w="6350">
            <a:solidFill>
              <a:srgbClr val="C1272D"/>
            </a:solidFill>
            <a:prstDash val="solid"/>
          </a:ln>
        </p:spPr>
      </p:sp>
      <p:pic>
        <p:nvPicPr>
          <p:cNvPr id="17" name="Image 1" descr="preencoded.png">    </p:cNvPr>
          <p:cNvPicPr>
            <a:picLocks noChangeAspect="1"/>
          </p:cNvPicPr>
          <p:nvPr/>
        </p:nvPicPr>
        <p:blipFill>
          <a:blip r:embed="rId2"/>
          <a:stretch>
            <a:fillRect/>
          </a:stretch>
        </p:blipFill>
        <p:spPr>
          <a:xfrm>
            <a:off x="886968" y="3246120"/>
            <a:ext cx="274320" cy="274320"/>
          </a:xfrm>
          <a:prstGeom prst="rect">
            <a:avLst/>
          </a:prstGeom>
        </p:spPr>
      </p:pic>
      <p:sp>
        <p:nvSpPr>
          <p:cNvPr id="18" name="Text 13"/>
          <p:cNvSpPr txBox="1"/>
          <p:nvPr/>
        </p:nvSpPr>
        <p:spPr>
          <a:xfrm>
            <a:off x="1417320" y="2944368"/>
            <a:ext cx="2560320" cy="868680"/>
          </a:xfrm>
          <a:prstGeom prst="rect">
            <a:avLst/>
          </a:prstGeom>
          <a:noFill/>
          <a:ln/>
        </p:spPr>
        <p:txBody>
          <a:bodyPr wrap="square" lIns="0" tIns="0" rIns="0" bIns="0" rtlCol="0" anchor="ctr"/>
          <a:lstStyle/>
          <a:p>
            <a:pPr indent="0" marL="0">
              <a:buNone/>
            </a:pPr>
            <a:r>
              <a:rPr lang="en-US" sz="1600" b="1" dirty="0">
                <a:solidFill>
                  <a:srgbClr val="13233A"/>
                </a:solidFill>
                <a:latin typeface="Calibri" pitchFamily="34" charset="0"/>
                <a:ea typeface="Calibri" pitchFamily="34" charset="-122"/>
                <a:cs typeface="Calibri" pitchFamily="34" charset="-120"/>
              </a:rPr>
              <a:t>Haematoma growth</a:t>
            </a:r>
            <a:endParaRPr lang="en-US" sz="1600" dirty="0"/>
          </a:p>
        </p:txBody>
      </p:sp>
      <p:sp>
        <p:nvSpPr>
          <p:cNvPr id="19" name="Shape 14"/>
          <p:cNvSpPr/>
          <p:nvPr/>
        </p:nvSpPr>
        <p:spPr>
          <a:xfrm>
            <a:off x="4114800" y="3200400"/>
            <a:ext cx="1691640" cy="365760"/>
          </a:xfrm>
          <a:prstGeom prst="roundRect">
            <a:avLst>
              <a:gd name="adj" fmla="val 50000"/>
            </a:avLst>
          </a:prstGeom>
          <a:solidFill>
            <a:srgbClr val="F6DCDD"/>
          </a:solidFill>
          <a:ln w="6350">
            <a:solidFill>
              <a:srgbClr val="F6DCDD"/>
            </a:solidFill>
            <a:prstDash val="solid"/>
          </a:ln>
        </p:spPr>
      </p:sp>
      <p:sp>
        <p:nvSpPr>
          <p:cNvPr id="20" name="Text 15"/>
          <p:cNvSpPr txBox="1"/>
          <p:nvPr/>
        </p:nvSpPr>
        <p:spPr>
          <a:xfrm>
            <a:off x="4114800" y="3200400"/>
            <a:ext cx="1691640" cy="365760"/>
          </a:xfrm>
          <a:prstGeom prst="rect">
            <a:avLst/>
          </a:prstGeom>
          <a:noFill/>
          <a:ln/>
        </p:spPr>
        <p:txBody>
          <a:bodyPr wrap="square" lIns="0" tIns="0" rIns="0" bIns="0" rtlCol="0" anchor="ctr"/>
          <a:lstStyle/>
          <a:p>
            <a:pPr algn="ctr" indent="0" marL="0">
              <a:buNone/>
            </a:pPr>
            <a:r>
              <a:rPr lang="en-US" sz="1200" b="1" dirty="0">
                <a:solidFill>
                  <a:srgbClr val="8E1B1F"/>
                </a:solidFill>
                <a:latin typeface="Calibri" pitchFamily="34" charset="0"/>
                <a:ea typeface="Calibri" pitchFamily="34" charset="-122"/>
                <a:cs typeface="Calibri" pitchFamily="34" charset="-120"/>
              </a:rPr>
              <a:t>First hours</a:t>
            </a:r>
            <a:endParaRPr lang="en-US" sz="1200" dirty="0"/>
          </a:p>
        </p:txBody>
      </p:sp>
      <p:sp>
        <p:nvSpPr>
          <p:cNvPr id="21" name="Text 16"/>
          <p:cNvSpPr txBox="1"/>
          <p:nvPr/>
        </p:nvSpPr>
        <p:spPr>
          <a:xfrm>
            <a:off x="6126480" y="2944368"/>
            <a:ext cx="5257800" cy="868680"/>
          </a:xfrm>
          <a:prstGeom prst="rect">
            <a:avLst/>
          </a:prstGeom>
          <a:noFill/>
          <a:ln/>
        </p:spPr>
        <p:txBody>
          <a:bodyPr wrap="square" lIns="0" tIns="0" rIns="0" bIns="0" rtlCol="0" anchor="ctr"/>
          <a:lstStyle/>
          <a:p>
            <a:pPr indent="0" marL="0">
              <a:buNone/>
            </a:pPr>
            <a:r>
              <a:rPr lang="en-US" sz="1400" dirty="0">
                <a:solidFill>
                  <a:srgbClr val="1B2230"/>
                </a:solidFill>
                <a:latin typeface="Calibri" pitchFamily="34" charset="0"/>
                <a:ea typeface="Calibri" pitchFamily="34" charset="-122"/>
                <a:cs typeface="Calibri" pitchFamily="34" charset="-120"/>
              </a:rPr>
              <a:t>Fast imaging, early blood pressure lowering and urgent anticoagulant reversal. Close neuro observations.</a:t>
            </a:r>
            <a:endParaRPr lang="en-US" sz="1400" dirty="0"/>
          </a:p>
        </p:txBody>
      </p:sp>
      <p:sp>
        <p:nvSpPr>
          <p:cNvPr id="22" name="Shape 17"/>
          <p:cNvSpPr/>
          <p:nvPr/>
        </p:nvSpPr>
        <p:spPr>
          <a:xfrm>
            <a:off x="548640" y="3922776"/>
            <a:ext cx="11094415" cy="868680"/>
          </a:xfrm>
          <a:prstGeom prst="roundRect">
            <a:avLst>
              <a:gd name="adj" fmla="val 10526"/>
            </a:avLst>
          </a:prstGeom>
          <a:solidFill>
            <a:srgbClr val="E8EDF3"/>
          </a:solidFill>
          <a:ln w="6350">
            <a:solidFill>
              <a:srgbClr val="E8EDF3"/>
            </a:solidFill>
            <a:prstDash val="solid"/>
          </a:ln>
        </p:spPr>
      </p:sp>
      <p:sp>
        <p:nvSpPr>
          <p:cNvPr id="23" name="Shape 18"/>
          <p:cNvSpPr/>
          <p:nvPr/>
        </p:nvSpPr>
        <p:spPr>
          <a:xfrm>
            <a:off x="749808" y="4087368"/>
            <a:ext cx="548640" cy="548640"/>
          </a:xfrm>
          <a:prstGeom prst="ellipse">
            <a:avLst/>
          </a:prstGeom>
          <a:solidFill>
            <a:srgbClr val="13233A"/>
          </a:solidFill>
          <a:ln w="6350">
            <a:solidFill>
              <a:srgbClr val="13233A"/>
            </a:solidFill>
            <a:prstDash val="solid"/>
          </a:ln>
        </p:spPr>
      </p:sp>
      <p:pic>
        <p:nvPicPr>
          <p:cNvPr id="24" name="Image 2" descr="preencoded.png">    </p:cNvPr>
          <p:cNvPicPr>
            <a:picLocks noChangeAspect="1"/>
          </p:cNvPicPr>
          <p:nvPr/>
        </p:nvPicPr>
        <p:blipFill>
          <a:blip r:embed="rId3"/>
          <a:stretch>
            <a:fillRect/>
          </a:stretch>
        </p:blipFill>
        <p:spPr>
          <a:xfrm>
            <a:off x="886968" y="4224528"/>
            <a:ext cx="274320" cy="274320"/>
          </a:xfrm>
          <a:prstGeom prst="rect">
            <a:avLst/>
          </a:prstGeom>
        </p:spPr>
      </p:pic>
      <p:sp>
        <p:nvSpPr>
          <p:cNvPr id="25" name="Text 19"/>
          <p:cNvSpPr txBox="1"/>
          <p:nvPr/>
        </p:nvSpPr>
        <p:spPr>
          <a:xfrm>
            <a:off x="1417320" y="3922776"/>
            <a:ext cx="2560320" cy="868680"/>
          </a:xfrm>
          <a:prstGeom prst="rect">
            <a:avLst/>
          </a:prstGeom>
          <a:noFill/>
          <a:ln/>
        </p:spPr>
        <p:txBody>
          <a:bodyPr wrap="square" lIns="0" tIns="0" rIns="0" bIns="0" rtlCol="0" anchor="ctr"/>
          <a:lstStyle/>
          <a:p>
            <a:pPr indent="0" marL="0">
              <a:buNone/>
            </a:pPr>
            <a:r>
              <a:rPr lang="en-US" sz="1600" b="1" dirty="0">
                <a:solidFill>
                  <a:srgbClr val="13233A"/>
                </a:solidFill>
                <a:latin typeface="Calibri" pitchFamily="34" charset="0"/>
                <a:ea typeface="Calibri" pitchFamily="34" charset="-122"/>
                <a:cs typeface="Calibri" pitchFamily="34" charset="-120"/>
              </a:rPr>
              <a:t>Mass effect and ventricular blood</a:t>
            </a:r>
            <a:endParaRPr lang="en-US" sz="1600" dirty="0"/>
          </a:p>
        </p:txBody>
      </p:sp>
      <p:sp>
        <p:nvSpPr>
          <p:cNvPr id="26" name="Shape 20"/>
          <p:cNvSpPr/>
          <p:nvPr/>
        </p:nvSpPr>
        <p:spPr>
          <a:xfrm>
            <a:off x="4114800" y="4178808"/>
            <a:ext cx="1691640" cy="365760"/>
          </a:xfrm>
          <a:prstGeom prst="roundRect">
            <a:avLst>
              <a:gd name="adj" fmla="val 50000"/>
            </a:avLst>
          </a:prstGeom>
          <a:solidFill>
            <a:srgbClr val="F6DCDD"/>
          </a:solidFill>
          <a:ln w="6350">
            <a:solidFill>
              <a:srgbClr val="F6DCDD"/>
            </a:solidFill>
            <a:prstDash val="solid"/>
          </a:ln>
        </p:spPr>
      </p:sp>
      <p:sp>
        <p:nvSpPr>
          <p:cNvPr id="27" name="Text 21"/>
          <p:cNvSpPr txBox="1"/>
          <p:nvPr/>
        </p:nvSpPr>
        <p:spPr>
          <a:xfrm>
            <a:off x="4114800" y="4178808"/>
            <a:ext cx="1691640" cy="365760"/>
          </a:xfrm>
          <a:prstGeom prst="rect">
            <a:avLst/>
          </a:prstGeom>
          <a:noFill/>
          <a:ln/>
        </p:spPr>
        <p:txBody>
          <a:bodyPr wrap="square" lIns="0" tIns="0" rIns="0" bIns="0" rtlCol="0" anchor="ctr"/>
          <a:lstStyle/>
          <a:p>
            <a:pPr algn="ctr" indent="0" marL="0">
              <a:buNone/>
            </a:pPr>
            <a:r>
              <a:rPr lang="en-US" sz="1200" b="1" dirty="0">
                <a:solidFill>
                  <a:srgbClr val="8E1B1F"/>
                </a:solidFill>
                <a:latin typeface="Calibri" pitchFamily="34" charset="0"/>
                <a:ea typeface="Calibri" pitchFamily="34" charset="-122"/>
                <a:cs typeface="Calibri" pitchFamily="34" charset="-120"/>
              </a:rPr>
              <a:t>First days</a:t>
            </a:r>
            <a:endParaRPr lang="en-US" sz="1200" dirty="0"/>
          </a:p>
        </p:txBody>
      </p:sp>
      <p:sp>
        <p:nvSpPr>
          <p:cNvPr id="28" name="Text 22"/>
          <p:cNvSpPr txBox="1"/>
          <p:nvPr/>
        </p:nvSpPr>
        <p:spPr>
          <a:xfrm>
            <a:off x="6126480" y="3922776"/>
            <a:ext cx="5257800" cy="868680"/>
          </a:xfrm>
          <a:prstGeom prst="rect">
            <a:avLst/>
          </a:prstGeom>
          <a:noFill/>
          <a:ln/>
        </p:spPr>
        <p:txBody>
          <a:bodyPr wrap="square" lIns="0" tIns="0" rIns="0" bIns="0" rtlCol="0" anchor="ctr"/>
          <a:lstStyle/>
          <a:p>
            <a:pPr indent="0" marL="0">
              <a:buNone/>
            </a:pPr>
            <a:r>
              <a:rPr lang="en-US" sz="1400" dirty="0">
                <a:solidFill>
                  <a:srgbClr val="1B2230"/>
                </a:solidFill>
                <a:latin typeface="Calibri" pitchFamily="34" charset="0"/>
                <a:ea typeface="Calibri" pitchFamily="34" charset="-122"/>
                <a:cs typeface="Calibri" pitchFamily="34" charset="-120"/>
              </a:rPr>
              <a:t>New drowsiness, headache, vomiting or deficit? Stop and escalate: think growth or hydrocephalus.</a:t>
            </a:r>
            <a:endParaRPr lang="en-US" sz="1400" dirty="0"/>
          </a:p>
        </p:txBody>
      </p:sp>
      <p:sp>
        <p:nvSpPr>
          <p:cNvPr id="29" name="Shape 23"/>
          <p:cNvSpPr/>
          <p:nvPr/>
        </p:nvSpPr>
        <p:spPr>
          <a:xfrm>
            <a:off x="548640" y="4901184"/>
            <a:ext cx="11094415" cy="868680"/>
          </a:xfrm>
          <a:prstGeom prst="roundRect">
            <a:avLst>
              <a:gd name="adj" fmla="val 10526"/>
            </a:avLst>
          </a:prstGeom>
          <a:solidFill>
            <a:srgbClr val="F3F5F8"/>
          </a:solidFill>
          <a:ln w="6350">
            <a:solidFill>
              <a:srgbClr val="F3F5F8"/>
            </a:solidFill>
            <a:prstDash val="solid"/>
          </a:ln>
        </p:spPr>
      </p:sp>
      <p:sp>
        <p:nvSpPr>
          <p:cNvPr id="30" name="Shape 24"/>
          <p:cNvSpPr/>
          <p:nvPr/>
        </p:nvSpPr>
        <p:spPr>
          <a:xfrm>
            <a:off x="749808" y="5065776"/>
            <a:ext cx="548640" cy="548640"/>
          </a:xfrm>
          <a:prstGeom prst="ellipse">
            <a:avLst/>
          </a:prstGeom>
          <a:solidFill>
            <a:srgbClr val="13233A"/>
          </a:solidFill>
          <a:ln w="6350">
            <a:solidFill>
              <a:srgbClr val="13233A"/>
            </a:solidFill>
            <a:prstDash val="solid"/>
          </a:ln>
        </p:spPr>
      </p:sp>
      <p:pic>
        <p:nvPicPr>
          <p:cNvPr id="31" name="Image 3" descr="preencoded.png">    </p:cNvPr>
          <p:cNvPicPr>
            <a:picLocks noChangeAspect="1"/>
          </p:cNvPicPr>
          <p:nvPr/>
        </p:nvPicPr>
        <p:blipFill>
          <a:blip r:embed="rId4"/>
          <a:stretch>
            <a:fillRect/>
          </a:stretch>
        </p:blipFill>
        <p:spPr>
          <a:xfrm>
            <a:off x="886968" y="5202936"/>
            <a:ext cx="274320" cy="274320"/>
          </a:xfrm>
          <a:prstGeom prst="rect">
            <a:avLst/>
          </a:prstGeom>
        </p:spPr>
      </p:pic>
      <p:sp>
        <p:nvSpPr>
          <p:cNvPr id="32" name="Text 25"/>
          <p:cNvSpPr txBox="1"/>
          <p:nvPr/>
        </p:nvSpPr>
        <p:spPr>
          <a:xfrm>
            <a:off x="1417320" y="4901184"/>
            <a:ext cx="2560320" cy="868680"/>
          </a:xfrm>
          <a:prstGeom prst="rect">
            <a:avLst/>
          </a:prstGeom>
          <a:noFill/>
          <a:ln/>
        </p:spPr>
        <p:txBody>
          <a:bodyPr wrap="square" lIns="0" tIns="0" rIns="0" bIns="0" rtlCol="0" anchor="ctr"/>
          <a:lstStyle/>
          <a:p>
            <a:pPr indent="0" marL="0">
              <a:buNone/>
            </a:pPr>
            <a:r>
              <a:rPr lang="en-US" sz="1600" b="1" dirty="0">
                <a:solidFill>
                  <a:srgbClr val="13233A"/>
                </a:solidFill>
                <a:latin typeface="Calibri" pitchFamily="34" charset="0"/>
                <a:ea typeface="Calibri" pitchFamily="34" charset="-122"/>
                <a:cs typeface="Calibri" pitchFamily="34" charset="-120"/>
              </a:rPr>
              <a:t>Secondary injury</a:t>
            </a:r>
            <a:endParaRPr lang="en-US" sz="1600" dirty="0"/>
          </a:p>
        </p:txBody>
      </p:sp>
      <p:sp>
        <p:nvSpPr>
          <p:cNvPr id="33" name="Shape 26"/>
          <p:cNvSpPr/>
          <p:nvPr/>
        </p:nvSpPr>
        <p:spPr>
          <a:xfrm>
            <a:off x="4114800" y="5157216"/>
            <a:ext cx="1691640" cy="365760"/>
          </a:xfrm>
          <a:prstGeom prst="roundRect">
            <a:avLst>
              <a:gd name="adj" fmla="val 50000"/>
            </a:avLst>
          </a:prstGeom>
          <a:solidFill>
            <a:srgbClr val="F6DCDD"/>
          </a:solidFill>
          <a:ln w="6350">
            <a:solidFill>
              <a:srgbClr val="F6DCDD"/>
            </a:solidFill>
            <a:prstDash val="solid"/>
          </a:ln>
        </p:spPr>
      </p:sp>
      <p:sp>
        <p:nvSpPr>
          <p:cNvPr id="34" name="Text 27"/>
          <p:cNvSpPr txBox="1"/>
          <p:nvPr/>
        </p:nvSpPr>
        <p:spPr>
          <a:xfrm>
            <a:off x="4114800" y="5157216"/>
            <a:ext cx="1691640" cy="365760"/>
          </a:xfrm>
          <a:prstGeom prst="rect">
            <a:avLst/>
          </a:prstGeom>
          <a:noFill/>
          <a:ln/>
        </p:spPr>
        <p:txBody>
          <a:bodyPr wrap="square" lIns="0" tIns="0" rIns="0" bIns="0" rtlCol="0" anchor="ctr"/>
          <a:lstStyle/>
          <a:p>
            <a:pPr algn="ctr" indent="0" marL="0">
              <a:buNone/>
            </a:pPr>
            <a:r>
              <a:rPr lang="en-US" sz="1200" b="1" dirty="0">
                <a:solidFill>
                  <a:srgbClr val="8E1B1F"/>
                </a:solidFill>
                <a:latin typeface="Calibri" pitchFamily="34" charset="0"/>
                <a:ea typeface="Calibri" pitchFamily="34" charset="-122"/>
                <a:cs typeface="Calibri" pitchFamily="34" charset="-120"/>
              </a:rPr>
              <a:t>Days to weeks</a:t>
            </a:r>
            <a:endParaRPr lang="en-US" sz="1200" dirty="0"/>
          </a:p>
        </p:txBody>
      </p:sp>
      <p:sp>
        <p:nvSpPr>
          <p:cNvPr id="35" name="Text 28"/>
          <p:cNvSpPr txBox="1"/>
          <p:nvPr/>
        </p:nvSpPr>
        <p:spPr>
          <a:xfrm>
            <a:off x="6126480" y="4901184"/>
            <a:ext cx="5257800" cy="868680"/>
          </a:xfrm>
          <a:prstGeom prst="rect">
            <a:avLst/>
          </a:prstGeom>
          <a:noFill/>
          <a:ln/>
        </p:spPr>
        <p:txBody>
          <a:bodyPr wrap="square" lIns="0" tIns="0" rIns="0" bIns="0" rtlCol="0" anchor="ctr"/>
          <a:lstStyle/>
          <a:p>
            <a:pPr indent="0" marL="0">
              <a:buNone/>
            </a:pPr>
            <a:r>
              <a:rPr lang="en-US" sz="1400" dirty="0">
                <a:solidFill>
                  <a:srgbClr val="1B2230"/>
                </a:solidFill>
                <a:latin typeface="Calibri" pitchFamily="34" charset="0"/>
                <a:ea typeface="Calibri" pitchFamily="34" charset="-122"/>
                <a:cs typeface="Calibri" pitchFamily="34" charset="-120"/>
              </a:rPr>
              <a:t>Expect fluctuation as oedema peaks. Reassess before each session and pace therapy.</a:t>
            </a:r>
            <a:endParaRPr lang="en-US" sz="1400" dirty="0"/>
          </a:p>
        </p:txBody>
      </p:sp>
      <p:sp>
        <p:nvSpPr>
          <p:cNvPr id="36" name="Text 29"/>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37" name="Shape 30"/>
          <p:cNvSpPr/>
          <p:nvPr/>
        </p:nvSpPr>
        <p:spPr>
          <a:xfrm>
            <a:off x="7360920" y="6460236"/>
            <a:ext cx="118872" cy="118872"/>
          </a:xfrm>
          <a:prstGeom prst="ellipse">
            <a:avLst/>
          </a:prstGeom>
          <a:solidFill>
            <a:srgbClr val="C9D2DE"/>
          </a:solidFill>
          <a:ln w="6350">
            <a:solidFill>
              <a:srgbClr val="C9D2DE"/>
            </a:solidFill>
            <a:prstDash val="solid"/>
          </a:ln>
        </p:spPr>
      </p:sp>
      <p:sp>
        <p:nvSpPr>
          <p:cNvPr id="38" name="Text 31"/>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Vessel</a:t>
            </a:r>
            <a:endParaRPr lang="en-US" sz="1000" dirty="0"/>
          </a:p>
        </p:txBody>
      </p:sp>
      <p:sp>
        <p:nvSpPr>
          <p:cNvPr id="39" name="Shape 32"/>
          <p:cNvSpPr/>
          <p:nvPr/>
        </p:nvSpPr>
        <p:spPr>
          <a:xfrm>
            <a:off x="8275320" y="6460236"/>
            <a:ext cx="118872" cy="118872"/>
          </a:xfrm>
          <a:prstGeom prst="ellipse">
            <a:avLst/>
          </a:prstGeom>
          <a:solidFill>
            <a:srgbClr val="C9D2DE"/>
          </a:solidFill>
          <a:ln w="6350">
            <a:solidFill>
              <a:srgbClr val="C9D2DE"/>
            </a:solidFill>
            <a:prstDash val="solid"/>
          </a:ln>
        </p:spPr>
      </p:sp>
      <p:sp>
        <p:nvSpPr>
          <p:cNvPr id="40" name="Text 33"/>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Hours</a:t>
            </a:r>
            <a:endParaRPr lang="en-US" sz="1000" dirty="0"/>
          </a:p>
        </p:txBody>
      </p:sp>
      <p:sp>
        <p:nvSpPr>
          <p:cNvPr id="41" name="Shape 34"/>
          <p:cNvSpPr/>
          <p:nvPr/>
        </p:nvSpPr>
        <p:spPr>
          <a:xfrm>
            <a:off x="9189720" y="6460236"/>
            <a:ext cx="118872" cy="118872"/>
          </a:xfrm>
          <a:prstGeom prst="ellipse">
            <a:avLst/>
          </a:prstGeom>
          <a:solidFill>
            <a:srgbClr val="C9D2DE"/>
          </a:solidFill>
          <a:ln w="6350">
            <a:solidFill>
              <a:srgbClr val="C9D2DE"/>
            </a:solidFill>
            <a:prstDash val="solid"/>
          </a:ln>
        </p:spPr>
      </p:sp>
      <p:sp>
        <p:nvSpPr>
          <p:cNvPr id="42" name="Text 35"/>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Days</a:t>
            </a:r>
            <a:endParaRPr lang="en-US" sz="1000" dirty="0"/>
          </a:p>
        </p:txBody>
      </p:sp>
      <p:sp>
        <p:nvSpPr>
          <p:cNvPr id="43" name="Shape 36"/>
          <p:cNvSpPr/>
          <p:nvPr/>
        </p:nvSpPr>
        <p:spPr>
          <a:xfrm>
            <a:off x="10104120" y="6460236"/>
            <a:ext cx="118872" cy="118872"/>
          </a:xfrm>
          <a:prstGeom prst="ellipse">
            <a:avLst/>
          </a:prstGeom>
          <a:solidFill>
            <a:srgbClr val="C1272D"/>
          </a:solidFill>
          <a:ln w="6350">
            <a:solidFill>
              <a:srgbClr val="C1272D"/>
            </a:solidFill>
            <a:prstDash val="solid"/>
          </a:ln>
        </p:spPr>
      </p:sp>
      <p:sp>
        <p:nvSpPr>
          <p:cNvPr id="44" name="Text 37"/>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b="1" dirty="0">
                <a:solidFill>
                  <a:srgbClr val="C1272D"/>
                </a:solidFill>
                <a:latin typeface="Calibri" pitchFamily="34" charset="0"/>
                <a:ea typeface="Calibri" pitchFamily="34" charset="-122"/>
                <a:cs typeface="Calibri" pitchFamily="34" charset="-120"/>
              </a:rPr>
              <a:t>Bedside</a:t>
            </a:r>
            <a:endParaRPr lang="en-US" sz="1000" dirty="0"/>
          </a:p>
        </p:txBody>
      </p:sp>
      <p:sp>
        <p:nvSpPr>
          <p:cNvPr id="45" name="Text 38"/>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21</a:t>
            </a:r>
            <a:endParaRPr lang="en-US" sz="1000" dirty="0"/>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SUMMARY</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Five things to take home</a:t>
            </a:r>
            <a:endParaRPr lang="en-US" sz="3600" dirty="0"/>
          </a:p>
        </p:txBody>
      </p:sp>
      <p:sp>
        <p:nvSpPr>
          <p:cNvPr id="5" name="Shape 2"/>
          <p:cNvSpPr/>
          <p:nvPr/>
        </p:nvSpPr>
        <p:spPr>
          <a:xfrm>
            <a:off x="548640" y="2020824"/>
            <a:ext cx="512064" cy="512064"/>
          </a:xfrm>
          <a:prstGeom prst="ellipse">
            <a:avLst/>
          </a:prstGeom>
          <a:solidFill>
            <a:srgbClr val="C1272D"/>
          </a:solidFill>
          <a:ln w="6350">
            <a:solidFill>
              <a:srgbClr val="C1272D"/>
            </a:solidFill>
            <a:prstDash val="solid"/>
          </a:ln>
        </p:spPr>
      </p:sp>
      <p:sp>
        <p:nvSpPr>
          <p:cNvPr id="6" name="Text 3"/>
          <p:cNvSpPr txBox="1"/>
          <p:nvPr/>
        </p:nvSpPr>
        <p:spPr>
          <a:xfrm>
            <a:off x="548640" y="2020824"/>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7" name="Text 4"/>
          <p:cNvSpPr txBox="1"/>
          <p:nvPr/>
        </p:nvSpPr>
        <p:spPr>
          <a:xfrm>
            <a:off x="1325880" y="1965960"/>
            <a:ext cx="7223760" cy="640080"/>
          </a:xfrm>
          <a:prstGeom prst="rect">
            <a:avLst/>
          </a:prstGeom>
          <a:noFill/>
          <a:ln/>
        </p:spPr>
        <p:txBody>
          <a:bodyPr wrap="square" lIns="0" tIns="0" rIns="0" bIns="0" rtlCol="0" anchor="ctr"/>
          <a:lstStyle/>
          <a:p>
            <a:pPr indent="0" marL="0">
              <a:buNone/>
            </a:pPr>
            <a:r>
              <a:rPr lang="en-US" sz="1900" b="1" dirty="0">
                <a:solidFill>
                  <a:srgbClr val="C1272D"/>
                </a:solidFill>
                <a:latin typeface="Calibri" pitchFamily="34" charset="0"/>
                <a:ea typeface="Calibri" pitchFamily="34" charset="-122"/>
                <a:cs typeface="Calibri" pitchFamily="34" charset="-120"/>
              </a:rPr>
              <a:t>ICH is a process, not a moment.</a:t>
            </a:r>
            <a:endParaRPr lang="en-US" sz="1900" dirty="0"/>
          </a:p>
        </p:txBody>
      </p:sp>
      <p:sp>
        <p:nvSpPr>
          <p:cNvPr id="8" name="Shape 5"/>
          <p:cNvSpPr/>
          <p:nvPr/>
        </p:nvSpPr>
        <p:spPr>
          <a:xfrm>
            <a:off x="548640" y="2807208"/>
            <a:ext cx="512064" cy="512064"/>
          </a:xfrm>
          <a:prstGeom prst="ellipse">
            <a:avLst/>
          </a:prstGeom>
          <a:solidFill>
            <a:srgbClr val="13233A"/>
          </a:solidFill>
          <a:ln w="6350">
            <a:solidFill>
              <a:srgbClr val="13233A"/>
            </a:solidFill>
            <a:prstDash val="solid"/>
          </a:ln>
        </p:spPr>
      </p:sp>
      <p:sp>
        <p:nvSpPr>
          <p:cNvPr id="9" name="Text 6"/>
          <p:cNvSpPr txBox="1"/>
          <p:nvPr/>
        </p:nvSpPr>
        <p:spPr>
          <a:xfrm>
            <a:off x="548640" y="2807208"/>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0" name="Text 7"/>
          <p:cNvSpPr txBox="1"/>
          <p:nvPr/>
        </p:nvSpPr>
        <p:spPr>
          <a:xfrm>
            <a:off x="1325880" y="2752344"/>
            <a:ext cx="7223760" cy="640080"/>
          </a:xfrm>
          <a:prstGeom prst="rect">
            <a:avLst/>
          </a:prstGeom>
          <a:noFill/>
          <a:ln/>
        </p:spPr>
        <p:txBody>
          <a:bodyPr wrap="square" lIns="0" tIns="0" rIns="0" bIns="0" rtlCol="0" anchor="ctr"/>
          <a:lstStyle/>
          <a:p>
            <a:pPr indent="0" marL="0">
              <a:buNone/>
            </a:pPr>
            <a:r>
              <a:rPr lang="en-US" sz="1900" dirty="0">
                <a:solidFill>
                  <a:srgbClr val="1B2230"/>
                </a:solidFill>
                <a:latin typeface="Calibri" pitchFamily="34" charset="0"/>
                <a:ea typeface="Calibri" pitchFamily="34" charset="-122"/>
                <a:cs typeface="Calibri" pitchFamily="34" charset="-120"/>
              </a:rPr>
              <a:t>Deep bleeds point to hypertension. Lobar bleeds in older adults point to CAA.</a:t>
            </a:r>
            <a:endParaRPr lang="en-US" sz="1900" dirty="0"/>
          </a:p>
        </p:txBody>
      </p:sp>
      <p:sp>
        <p:nvSpPr>
          <p:cNvPr id="11" name="Shape 8"/>
          <p:cNvSpPr/>
          <p:nvPr/>
        </p:nvSpPr>
        <p:spPr>
          <a:xfrm>
            <a:off x="548640" y="3593592"/>
            <a:ext cx="512064" cy="512064"/>
          </a:xfrm>
          <a:prstGeom prst="ellipse">
            <a:avLst/>
          </a:prstGeom>
          <a:solidFill>
            <a:srgbClr val="13233A"/>
          </a:solidFill>
          <a:ln w="6350">
            <a:solidFill>
              <a:srgbClr val="13233A"/>
            </a:solidFill>
            <a:prstDash val="solid"/>
          </a:ln>
        </p:spPr>
      </p:sp>
      <p:sp>
        <p:nvSpPr>
          <p:cNvPr id="12" name="Text 9"/>
          <p:cNvSpPr txBox="1"/>
          <p:nvPr/>
        </p:nvSpPr>
        <p:spPr>
          <a:xfrm>
            <a:off x="548640" y="3593592"/>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13" name="Text 10"/>
          <p:cNvSpPr txBox="1"/>
          <p:nvPr/>
        </p:nvSpPr>
        <p:spPr>
          <a:xfrm>
            <a:off x="1325880" y="3538728"/>
            <a:ext cx="7223760" cy="640080"/>
          </a:xfrm>
          <a:prstGeom prst="rect">
            <a:avLst/>
          </a:prstGeom>
          <a:noFill/>
          <a:ln/>
        </p:spPr>
        <p:txBody>
          <a:bodyPr wrap="square" lIns="0" tIns="0" rIns="0" bIns="0" rtlCol="0" anchor="ctr"/>
          <a:lstStyle/>
          <a:p>
            <a:pPr indent="0" marL="0">
              <a:buNone/>
            </a:pPr>
            <a:r>
              <a:rPr lang="en-US" sz="1900" dirty="0">
                <a:solidFill>
                  <a:srgbClr val="1B2230"/>
                </a:solidFill>
                <a:latin typeface="Calibri" pitchFamily="34" charset="0"/>
                <a:ea typeface="Calibri" pitchFamily="34" charset="-122"/>
                <a:cs typeface="Calibri" pitchFamily="34" charset="-120"/>
              </a:rPr>
              <a:t>Young, normotensive or atypical? Hunt for a secondary cause.</a:t>
            </a:r>
            <a:endParaRPr lang="en-US" sz="1900" dirty="0"/>
          </a:p>
        </p:txBody>
      </p:sp>
      <p:sp>
        <p:nvSpPr>
          <p:cNvPr id="14" name="Shape 11"/>
          <p:cNvSpPr/>
          <p:nvPr/>
        </p:nvSpPr>
        <p:spPr>
          <a:xfrm>
            <a:off x="548640" y="4379976"/>
            <a:ext cx="512064" cy="512064"/>
          </a:xfrm>
          <a:prstGeom prst="ellipse">
            <a:avLst/>
          </a:prstGeom>
          <a:solidFill>
            <a:srgbClr val="13233A"/>
          </a:solidFill>
          <a:ln w="6350">
            <a:solidFill>
              <a:srgbClr val="13233A"/>
            </a:solidFill>
            <a:prstDash val="solid"/>
          </a:ln>
        </p:spPr>
      </p:sp>
      <p:sp>
        <p:nvSpPr>
          <p:cNvPr id="15" name="Text 12"/>
          <p:cNvSpPr txBox="1"/>
          <p:nvPr/>
        </p:nvSpPr>
        <p:spPr>
          <a:xfrm>
            <a:off x="548640" y="4379976"/>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6" name="Text 13"/>
          <p:cNvSpPr txBox="1"/>
          <p:nvPr/>
        </p:nvSpPr>
        <p:spPr>
          <a:xfrm>
            <a:off x="1325880" y="4325112"/>
            <a:ext cx="7223760" cy="640080"/>
          </a:xfrm>
          <a:prstGeom prst="rect">
            <a:avLst/>
          </a:prstGeom>
          <a:noFill/>
          <a:ln/>
        </p:spPr>
        <p:txBody>
          <a:bodyPr wrap="square" lIns="0" tIns="0" rIns="0" bIns="0" rtlCol="0" anchor="ctr"/>
          <a:lstStyle/>
          <a:p>
            <a:pPr indent="0" marL="0">
              <a:buNone/>
            </a:pPr>
            <a:r>
              <a:rPr lang="en-US" sz="1900" dirty="0">
                <a:solidFill>
                  <a:srgbClr val="1B2230"/>
                </a:solidFill>
                <a:latin typeface="Calibri" pitchFamily="34" charset="0"/>
                <a:ea typeface="Calibri" pitchFamily="34" charset="-122"/>
                <a:cs typeface="Calibri" pitchFamily="34" charset="-120"/>
              </a:rPr>
              <a:t>About one in three haematomas grows in the first hours.</a:t>
            </a:r>
            <a:endParaRPr lang="en-US" sz="1900" dirty="0"/>
          </a:p>
        </p:txBody>
      </p:sp>
      <p:sp>
        <p:nvSpPr>
          <p:cNvPr id="17" name="Shape 14"/>
          <p:cNvSpPr/>
          <p:nvPr/>
        </p:nvSpPr>
        <p:spPr>
          <a:xfrm>
            <a:off x="548640" y="5166360"/>
            <a:ext cx="512064" cy="512064"/>
          </a:xfrm>
          <a:prstGeom prst="ellipse">
            <a:avLst/>
          </a:prstGeom>
          <a:solidFill>
            <a:srgbClr val="13233A"/>
          </a:solidFill>
          <a:ln w="6350">
            <a:solidFill>
              <a:srgbClr val="13233A"/>
            </a:solidFill>
            <a:prstDash val="solid"/>
          </a:ln>
        </p:spPr>
      </p:sp>
      <p:sp>
        <p:nvSpPr>
          <p:cNvPr id="18" name="Text 15"/>
          <p:cNvSpPr txBox="1"/>
          <p:nvPr/>
        </p:nvSpPr>
        <p:spPr>
          <a:xfrm>
            <a:off x="548640" y="5166360"/>
            <a:ext cx="512064" cy="512064"/>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9" name="Text 16"/>
          <p:cNvSpPr txBox="1"/>
          <p:nvPr/>
        </p:nvSpPr>
        <p:spPr>
          <a:xfrm>
            <a:off x="1325880" y="5111496"/>
            <a:ext cx="7223760" cy="640080"/>
          </a:xfrm>
          <a:prstGeom prst="rect">
            <a:avLst/>
          </a:prstGeom>
          <a:noFill/>
          <a:ln/>
        </p:spPr>
        <p:txBody>
          <a:bodyPr wrap="square" lIns="0" tIns="0" rIns="0" bIns="0" rtlCol="0" anchor="ctr"/>
          <a:lstStyle/>
          <a:p>
            <a:pPr indent="0" marL="0">
              <a:buNone/>
            </a:pPr>
            <a:r>
              <a:rPr lang="en-US" sz="1900" dirty="0">
                <a:solidFill>
                  <a:srgbClr val="1B2230"/>
                </a:solidFill>
                <a:latin typeface="Calibri" pitchFamily="34" charset="0"/>
                <a:ea typeface="Calibri" pitchFamily="34" charset="-122"/>
                <a:cs typeface="Calibri" pitchFamily="34" charset="-120"/>
              </a:rPr>
              <a:t>The blood is toxic: thrombin, iron and inflammation injure the brain for days.</a:t>
            </a:r>
            <a:endParaRPr lang="en-US" sz="1900" dirty="0"/>
          </a:p>
        </p:txBody>
      </p:sp>
      <p:sp>
        <p:nvSpPr>
          <p:cNvPr id="20" name="Shape 17"/>
          <p:cNvSpPr/>
          <p:nvPr/>
        </p:nvSpPr>
        <p:spPr>
          <a:xfrm>
            <a:off x="9006840" y="2423160"/>
            <a:ext cx="2651760" cy="2651760"/>
          </a:xfrm>
          <a:prstGeom prst="ellipse">
            <a:avLst/>
          </a:prstGeom>
          <a:solidFill>
            <a:srgbClr val="C1272D">
              <a:alpha val="10000"/>
            </a:srgbClr>
          </a:solidFill>
          <a:ln w="6350">
            <a:solidFill>
              <a:srgbClr val="C1272D">
                <a:alpha val="0"/>
              </a:srgbClr>
            </a:solidFill>
            <a:prstDash val="solid"/>
          </a:ln>
        </p:spPr>
      </p:sp>
      <p:sp>
        <p:nvSpPr>
          <p:cNvPr id="21" name="Shape 18"/>
          <p:cNvSpPr/>
          <p:nvPr/>
        </p:nvSpPr>
        <p:spPr>
          <a:xfrm>
            <a:off x="9304020" y="2720340"/>
            <a:ext cx="2057400" cy="2057400"/>
          </a:xfrm>
          <a:prstGeom prst="ellipse">
            <a:avLst/>
          </a:prstGeom>
          <a:solidFill>
            <a:srgbClr val="C1272D">
              <a:alpha val="22000"/>
            </a:srgbClr>
          </a:solidFill>
          <a:ln w="6350">
            <a:solidFill>
              <a:srgbClr val="C1272D">
                <a:alpha val="0"/>
              </a:srgbClr>
            </a:solidFill>
            <a:prstDash val="solid"/>
          </a:ln>
        </p:spPr>
      </p:sp>
      <p:sp>
        <p:nvSpPr>
          <p:cNvPr id="22" name="Shape 19"/>
          <p:cNvSpPr/>
          <p:nvPr/>
        </p:nvSpPr>
        <p:spPr>
          <a:xfrm>
            <a:off x="9619488" y="3035808"/>
            <a:ext cx="1426464" cy="1426464"/>
          </a:xfrm>
          <a:prstGeom prst="ellipse">
            <a:avLst/>
          </a:prstGeom>
          <a:solidFill>
            <a:srgbClr val="C1272D"/>
          </a:solidFill>
          <a:ln w="6350">
            <a:solidFill>
              <a:srgbClr val="C1272D"/>
            </a:solidFill>
            <a:prstDash val="solid"/>
          </a:ln>
        </p:spPr>
      </p:sp>
      <p:sp>
        <p:nvSpPr>
          <p:cNvPr id="23" name="Text 20"/>
          <p:cNvSpPr txBox="1"/>
          <p:nvPr/>
        </p:nvSpPr>
        <p:spPr>
          <a:xfrm>
            <a:off x="8778240" y="5212080"/>
            <a:ext cx="3108960" cy="320040"/>
          </a:xfrm>
          <a:prstGeom prst="rect">
            <a:avLst/>
          </a:prstGeom>
          <a:noFill/>
          <a:ln/>
        </p:spPr>
        <p:txBody>
          <a:bodyPr wrap="square" lIns="0" tIns="0" rIns="0" bIns="0" rtlCol="0" anchor="ctr"/>
          <a:lstStyle/>
          <a:p>
            <a:pPr algn="ctr" indent="0" marL="0">
              <a:buNone/>
            </a:pPr>
            <a:r>
              <a:rPr lang="en-US" sz="1300" b="1" dirty="0">
                <a:solidFill>
                  <a:srgbClr val="3E5C76"/>
                </a:solidFill>
                <a:latin typeface="Calibri" pitchFamily="34" charset="0"/>
                <a:ea typeface="Calibri" pitchFamily="34" charset="-122"/>
                <a:cs typeface="Calibri" pitchFamily="34" charset="-120"/>
              </a:rPr>
              <a:t>Vessel → hours → days</a:t>
            </a:r>
            <a:endParaRPr lang="en-US" sz="1300" dirty="0"/>
          </a:p>
        </p:txBody>
      </p:sp>
      <p:sp>
        <p:nvSpPr>
          <p:cNvPr id="24" name="Text 21"/>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25" name="Shape 22"/>
          <p:cNvSpPr/>
          <p:nvPr/>
        </p:nvSpPr>
        <p:spPr>
          <a:xfrm>
            <a:off x="7360920" y="6460236"/>
            <a:ext cx="118872" cy="118872"/>
          </a:xfrm>
          <a:prstGeom prst="ellipse">
            <a:avLst/>
          </a:prstGeom>
          <a:solidFill>
            <a:srgbClr val="C9D2DE"/>
          </a:solidFill>
          <a:ln w="6350">
            <a:solidFill>
              <a:srgbClr val="C9D2DE"/>
            </a:solidFill>
            <a:prstDash val="solid"/>
          </a:ln>
        </p:spPr>
      </p:sp>
      <p:sp>
        <p:nvSpPr>
          <p:cNvPr id="26" name="Text 23"/>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Vessel</a:t>
            </a:r>
            <a:endParaRPr lang="en-US" sz="1000" dirty="0"/>
          </a:p>
        </p:txBody>
      </p:sp>
      <p:sp>
        <p:nvSpPr>
          <p:cNvPr id="27" name="Shape 24"/>
          <p:cNvSpPr/>
          <p:nvPr/>
        </p:nvSpPr>
        <p:spPr>
          <a:xfrm>
            <a:off x="8275320" y="6460236"/>
            <a:ext cx="118872" cy="118872"/>
          </a:xfrm>
          <a:prstGeom prst="ellipse">
            <a:avLst/>
          </a:prstGeom>
          <a:solidFill>
            <a:srgbClr val="C9D2DE"/>
          </a:solidFill>
          <a:ln w="6350">
            <a:solidFill>
              <a:srgbClr val="C9D2DE"/>
            </a:solidFill>
            <a:prstDash val="solid"/>
          </a:ln>
        </p:spPr>
      </p:sp>
      <p:sp>
        <p:nvSpPr>
          <p:cNvPr id="28" name="Text 25"/>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Hours</a:t>
            </a:r>
            <a:endParaRPr lang="en-US" sz="1000" dirty="0"/>
          </a:p>
        </p:txBody>
      </p:sp>
      <p:sp>
        <p:nvSpPr>
          <p:cNvPr id="29" name="Shape 26"/>
          <p:cNvSpPr/>
          <p:nvPr/>
        </p:nvSpPr>
        <p:spPr>
          <a:xfrm>
            <a:off x="9189720" y="6460236"/>
            <a:ext cx="118872" cy="118872"/>
          </a:xfrm>
          <a:prstGeom prst="ellipse">
            <a:avLst/>
          </a:prstGeom>
          <a:solidFill>
            <a:srgbClr val="C9D2DE"/>
          </a:solidFill>
          <a:ln w="6350">
            <a:solidFill>
              <a:srgbClr val="C9D2DE"/>
            </a:solidFill>
            <a:prstDash val="solid"/>
          </a:ln>
        </p:spPr>
      </p:sp>
      <p:sp>
        <p:nvSpPr>
          <p:cNvPr id="30" name="Text 27"/>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Days</a:t>
            </a:r>
            <a:endParaRPr lang="en-US" sz="1000" dirty="0"/>
          </a:p>
        </p:txBody>
      </p:sp>
      <p:sp>
        <p:nvSpPr>
          <p:cNvPr id="31" name="Shape 28"/>
          <p:cNvSpPr/>
          <p:nvPr/>
        </p:nvSpPr>
        <p:spPr>
          <a:xfrm>
            <a:off x="10104120" y="6460236"/>
            <a:ext cx="118872" cy="118872"/>
          </a:xfrm>
          <a:prstGeom prst="ellipse">
            <a:avLst/>
          </a:prstGeom>
          <a:solidFill>
            <a:srgbClr val="C1272D"/>
          </a:solidFill>
          <a:ln w="6350">
            <a:solidFill>
              <a:srgbClr val="C1272D"/>
            </a:solidFill>
            <a:prstDash val="solid"/>
          </a:ln>
        </p:spPr>
      </p:sp>
      <p:sp>
        <p:nvSpPr>
          <p:cNvPr id="32" name="Text 29"/>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b="1" dirty="0">
                <a:solidFill>
                  <a:srgbClr val="C1272D"/>
                </a:solidFill>
                <a:latin typeface="Calibri" pitchFamily="34" charset="0"/>
                <a:ea typeface="Calibri" pitchFamily="34" charset="-122"/>
                <a:cs typeface="Calibri" pitchFamily="34" charset="-120"/>
              </a:rPr>
              <a:t>Bedside</a:t>
            </a:r>
            <a:endParaRPr lang="en-US" sz="1000" dirty="0"/>
          </a:p>
        </p:txBody>
      </p:sp>
      <p:sp>
        <p:nvSpPr>
          <p:cNvPr id="33" name="Text 30"/>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22</a:t>
            </a:r>
            <a:endParaRPr lang="en-US" sz="1000" dirty="0"/>
          </a:p>
        </p:txBody>
      </p:sp>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13233A"/>
        </a:solidFill>
      </p:bgPr>
    </p:bg>
    <p:spTree>
      <p:nvGrpSpPr>
        <p:cNvPr id="1" name=""/>
        <p:cNvGrpSpPr/>
        <p:nvPr/>
      </p:nvGrpSpPr>
      <p:grpSpPr>
        <a:xfrm>
          <a:off x="0" y="0"/>
          <a:ext cx="0" cy="0"/>
          <a:chOff x="0" y="0"/>
          <a:chExt cx="0" cy="0"/>
        </a:xfrm>
      </p:grpSpPr>
      <p:sp>
        <p:nvSpPr>
          <p:cNvPr id="3" name="Shape 0"/>
          <p:cNvSpPr/>
          <p:nvPr/>
        </p:nvSpPr>
        <p:spPr>
          <a:xfrm>
            <a:off x="6583680" y="685800"/>
            <a:ext cx="5486400" cy="5486400"/>
          </a:xfrm>
          <a:prstGeom prst="ellipse">
            <a:avLst/>
          </a:prstGeom>
          <a:solidFill>
            <a:srgbClr val="FFFFFF">
              <a:alpha val="0"/>
            </a:srgbClr>
          </a:solidFill>
          <a:ln w="12700">
            <a:solidFill>
              <a:srgbClr val="3E5C76"/>
            </a:solidFill>
            <a:prstDash val="solid"/>
          </a:ln>
        </p:spPr>
      </p:sp>
      <p:sp>
        <p:nvSpPr>
          <p:cNvPr id="4" name="Shape 1"/>
          <p:cNvSpPr/>
          <p:nvPr/>
        </p:nvSpPr>
        <p:spPr>
          <a:xfrm>
            <a:off x="6812280" y="914400"/>
            <a:ext cx="5029200" cy="5029200"/>
          </a:xfrm>
          <a:prstGeom prst="ellipse">
            <a:avLst/>
          </a:prstGeom>
          <a:solidFill>
            <a:srgbClr val="C1272D">
              <a:alpha val="10000"/>
            </a:srgbClr>
          </a:solidFill>
          <a:ln w="6350">
            <a:solidFill>
              <a:srgbClr val="C1272D">
                <a:alpha val="0"/>
              </a:srgbClr>
            </a:solidFill>
            <a:prstDash val="solid"/>
          </a:ln>
        </p:spPr>
      </p:sp>
      <p:sp>
        <p:nvSpPr>
          <p:cNvPr id="5" name="Shape 2"/>
          <p:cNvSpPr/>
          <p:nvPr/>
        </p:nvSpPr>
        <p:spPr>
          <a:xfrm>
            <a:off x="7315200" y="1417320"/>
            <a:ext cx="4023360" cy="4023360"/>
          </a:xfrm>
          <a:prstGeom prst="ellipse">
            <a:avLst/>
          </a:prstGeom>
          <a:solidFill>
            <a:srgbClr val="C1272D">
              <a:alpha val="22000"/>
            </a:srgbClr>
          </a:solidFill>
          <a:ln w="6350">
            <a:solidFill>
              <a:srgbClr val="C1272D">
                <a:alpha val="0"/>
              </a:srgbClr>
            </a:solidFill>
            <a:prstDash val="solid"/>
          </a:ln>
        </p:spPr>
      </p:sp>
      <p:sp>
        <p:nvSpPr>
          <p:cNvPr id="6" name="!!bleed"/>
          <p:cNvSpPr/>
          <p:nvPr/>
        </p:nvSpPr>
        <p:spPr>
          <a:xfrm>
            <a:off x="7863840" y="1965960"/>
            <a:ext cx="2926080" cy="2926080"/>
          </a:xfrm>
          <a:prstGeom prst="ellipse">
            <a:avLst/>
          </a:prstGeom>
          <a:solidFill>
            <a:srgbClr val="C1272D"/>
          </a:solidFill>
          <a:ln w="6350">
            <a:solidFill>
              <a:srgbClr val="C1272D"/>
            </a:solidFill>
            <a:prstDash val="solid"/>
          </a:ln>
        </p:spPr>
      </p:sp>
      <p:sp>
        <p:nvSpPr>
          <p:cNvPr id="7" name="Text 4"/>
          <p:cNvSpPr txBox="1"/>
          <p:nvPr/>
        </p:nvSpPr>
        <p:spPr>
          <a:xfrm>
            <a:off x="731520" y="1234440"/>
            <a:ext cx="5486400" cy="320040"/>
          </a:xfrm>
          <a:prstGeom prst="rect">
            <a:avLst/>
          </a:prstGeom>
          <a:noFill/>
          <a:ln/>
        </p:spPr>
        <p:txBody>
          <a:bodyPr wrap="square" lIns="0" tIns="0" rIns="0" bIns="0" rtlCol="0" anchor="ctr"/>
          <a:lstStyle/>
          <a:p>
            <a:pPr indent="0" marL="0">
              <a:buNone/>
            </a:pPr>
            <a:r>
              <a:rPr lang="en-US" sz="1300" b="1" spc="400" kern="0" dirty="0">
                <a:solidFill>
                  <a:srgbClr val="F08A8E"/>
                </a:solidFill>
                <a:latin typeface="Calibri" pitchFamily="34" charset="0"/>
                <a:ea typeface="Calibri" pitchFamily="34" charset="-122"/>
                <a:cs typeface="Calibri" pitchFamily="34" charset="-120"/>
              </a:rPr>
              <a:t>THANK YOU</a:t>
            </a:r>
            <a:endParaRPr lang="en-US" sz="1300" dirty="0"/>
          </a:p>
        </p:txBody>
      </p:sp>
      <p:sp>
        <p:nvSpPr>
          <p:cNvPr id="8" name="Text 5"/>
          <p:cNvSpPr txBox="1"/>
          <p:nvPr/>
        </p:nvSpPr>
        <p:spPr>
          <a:xfrm>
            <a:off x="731520" y="1645920"/>
            <a:ext cx="5852160" cy="146304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Questions and discussion</a:t>
            </a:r>
            <a:endParaRPr lang="en-US" sz="4800" dirty="0"/>
          </a:p>
        </p:txBody>
      </p:sp>
      <p:sp>
        <p:nvSpPr>
          <p:cNvPr id="9" name="Text 6"/>
          <p:cNvSpPr txBox="1"/>
          <p:nvPr/>
        </p:nvSpPr>
        <p:spPr>
          <a:xfrm>
            <a:off x="731520" y="3291840"/>
            <a:ext cx="5669280" cy="822960"/>
          </a:xfrm>
          <a:prstGeom prst="rect">
            <a:avLst/>
          </a:prstGeom>
          <a:noFill/>
          <a:ln/>
        </p:spPr>
        <p:txBody>
          <a:bodyPr wrap="square" lIns="0" tIns="0" rIns="0" bIns="0" rtlCol="0" anchor="t"/>
          <a:lstStyle/>
          <a:p>
            <a:pPr indent="0" marL="0">
              <a:buNone/>
            </a:pPr>
            <a:r>
              <a:rPr lang="en-US" sz="2000" dirty="0">
                <a:solidFill>
                  <a:srgbClr val="C9D3E0"/>
                </a:solidFill>
                <a:latin typeface="Calibri" pitchFamily="34" charset="0"/>
                <a:ea typeface="Calibri" pitchFamily="34" charset="-122"/>
                <a:cs typeface="Calibri" pitchFamily="34" charset="-120"/>
              </a:rPr>
              <a:t>When the vessel breaks, the clock starts: hours for growth, days for toxicity.</a:t>
            </a:r>
            <a:endParaRPr lang="en-US" sz="2000" dirty="0"/>
          </a:p>
        </p:txBody>
      </p:sp>
      <p:sp>
        <p:nvSpPr>
          <p:cNvPr id="10" name="Shape 7"/>
          <p:cNvSpPr/>
          <p:nvPr/>
        </p:nvSpPr>
        <p:spPr>
          <a:xfrm>
            <a:off x="731520" y="4434840"/>
            <a:ext cx="5760720" cy="1371600"/>
          </a:xfrm>
          <a:prstGeom prst="roundRect">
            <a:avLst>
              <a:gd name="adj" fmla="val 6667"/>
            </a:avLst>
          </a:prstGeom>
          <a:solidFill>
            <a:srgbClr val="1E3350"/>
          </a:solidFill>
          <a:ln w="6350">
            <a:solidFill>
              <a:srgbClr val="1E3350"/>
            </a:solidFill>
            <a:prstDash val="solid"/>
          </a:ln>
        </p:spPr>
      </p:sp>
      <p:sp>
        <p:nvSpPr>
          <p:cNvPr id="11" name="Shape 8"/>
          <p:cNvSpPr/>
          <p:nvPr/>
        </p:nvSpPr>
        <p:spPr>
          <a:xfrm>
            <a:off x="1005840" y="4846320"/>
            <a:ext cx="548640" cy="548640"/>
          </a:xfrm>
          <a:prstGeom prst="ellipse">
            <a:avLst/>
          </a:prstGeom>
          <a:solidFill>
            <a:srgbClr val="C1272D"/>
          </a:solidFill>
          <a:ln w="6350">
            <a:solidFill>
              <a:srgbClr val="C1272D"/>
            </a:solidFill>
            <a:prstDash val="solid"/>
          </a:ln>
        </p:spPr>
      </p:sp>
      <p:pic>
        <p:nvPicPr>
          <p:cNvPr id="12" name="Image 0" descr="preencoded.png">    </p:cNvPr>
          <p:cNvPicPr>
            <a:picLocks noChangeAspect="1"/>
          </p:cNvPicPr>
          <p:nvPr/>
        </p:nvPicPr>
        <p:blipFill>
          <a:blip r:embed="rId1"/>
          <a:stretch>
            <a:fillRect/>
          </a:stretch>
        </p:blipFill>
        <p:spPr>
          <a:xfrm>
            <a:off x="1143000" y="4983480"/>
            <a:ext cx="274320" cy="274320"/>
          </a:xfrm>
          <a:prstGeom prst="rect">
            <a:avLst/>
          </a:prstGeom>
        </p:spPr>
      </p:pic>
      <p:sp>
        <p:nvSpPr>
          <p:cNvPr id="13" name="Text 9"/>
          <p:cNvSpPr txBox="1"/>
          <p:nvPr/>
        </p:nvSpPr>
        <p:spPr>
          <a:xfrm>
            <a:off x="1737360" y="4526280"/>
            <a:ext cx="4572000" cy="118872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Which of these windows do we meet most often in our own practice, and are we timing our assessments around it?</a:t>
            </a:r>
            <a:endParaRPr lang="en-US" sz="1600" dirty="0"/>
          </a:p>
        </p:txBody>
      </p:sp>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C1272D"/>
                </a:solidFill>
                <a:latin typeface="Calibri" pitchFamily="34" charset="0"/>
                <a:ea typeface="Calibri" pitchFamily="34" charset="-122"/>
                <a:cs typeface="Calibri" pitchFamily="34" charset="-120"/>
              </a:rPr>
              <a:t>SOURCES</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References</a:t>
            </a:r>
            <a:endParaRPr lang="en-US" sz="3600" dirty="0"/>
          </a:p>
        </p:txBody>
      </p:sp>
      <p:sp>
        <p:nvSpPr>
          <p:cNvPr id="5" name="Text 2"/>
          <p:cNvSpPr txBox="1"/>
          <p:nvPr/>
        </p:nvSpPr>
        <p:spPr>
          <a:xfrm>
            <a:off x="548640" y="1691640"/>
            <a:ext cx="5394960" cy="4526280"/>
          </a:xfrm>
          <a:prstGeom prst="rect">
            <a:avLst/>
          </a:prstGeom>
          <a:noFill/>
          <a:ln/>
        </p:spPr>
        <p:txBody>
          <a:bodyPr wrap="square" lIns="0" tIns="0" rIns="0" bIns="0" rtlCol="0" anchor="t"/>
          <a:lstStyle/>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1. Rossi C, Cordonnier C. Pathophysiology of non-traumatic intracerebral haemorrhage. In: Norrving B, ed. Oxford Textbook of Stroke and Cerebrovascular Disease. Oxford University Press; 2014: chapter 5.</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2. van Asch CJ, et al. Incidence, case fatality, and functional outcome of intracerebral haemorrhage over time. Lancet Neurol 2010;9:167–176.</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3. Macellari F, et al. Neuroimaging in intracerebral hemorrhage. Stroke 2014;45:903–908.</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4. Meretoja A, et al. SMASH-U: a proposal for etiologic classification of intracerebral hemorrhage. Stroke 2012;43:2592–2597.</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5. Cordonnier C, Al-Shahi Salman R, Wardlaw J. Spontaneous brain microbleeds: systematic review. Brain 2007;130:1988–2003.</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6. Knudsen KA, et al. Clinical diagnosis of cerebral amyloid angiopathy: validation of the Boston criteria. Neurology 2001;56:537–539.</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7. Linn J, et al. Prevalence of superficial siderosis in patients with cerebral amyloid angiopathy. Neurology 2010;74:1346–1350.</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8. Zhu XL, Chan MS, Poon WS. Spontaneous intracranial hemorrhage: which patients need diagnostic cerebral angiography? Stroke 1997;28:1406–1409.</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9. Fisher CM. Pathological observations in hypertensive cerebral hemorrhage. J Neuropathol Exp Neurol 1971;30:536–550.</a:t>
            </a:r>
            <a:endParaRPr lang="en-US" sz="1050" dirty="0"/>
          </a:p>
        </p:txBody>
      </p:sp>
      <p:sp>
        <p:nvSpPr>
          <p:cNvPr id="6" name="Text 3"/>
          <p:cNvSpPr txBox="1"/>
          <p:nvPr/>
        </p:nvSpPr>
        <p:spPr>
          <a:xfrm>
            <a:off x="6217920" y="1691640"/>
            <a:ext cx="5394960" cy="4526280"/>
          </a:xfrm>
          <a:prstGeom prst="rect">
            <a:avLst/>
          </a:prstGeom>
          <a:noFill/>
          <a:ln/>
        </p:spPr>
        <p:txBody>
          <a:bodyPr wrap="square" lIns="0" tIns="0" rIns="0" bIns="0" rtlCol="0" anchor="t"/>
          <a:lstStyle/>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10. Brott T, et al. Early hemorrhage growth in patients with intracerebral hemorrhage. Stroke 1997;28:1–5.</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11. Davis SM, et al. Hematoma growth is a determinant of mortality and poor outcome after intracerebral hemorrhage. Neurology 2006;66:1175–1181.</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12. Demchuk AM, et al. Prediction of haematoma growth and outcome using CT angiography spot sign (PREDICT). Lancet Neurol 2012;11:307–314.</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13. Broderick JP, et al. Volume of intracerebral hemorrhage: a powerful and easy-to-use predictor of 30-day mortality. Stroke 1993;24:987–993.</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14. Hanley DF. Intraventricular hemorrhage: severity factor and treatment target in spontaneous intracerebral hemorrhage. Stroke 2009;40:1533–1538.</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15. Gebel JM, et al. Natural history of perihematomal edema in hyperacute spontaneous intracerebral hemorrhage. Stroke 2002;33:2631–2635.</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16. Xi G, Keep RF, Hoff JT. Mechanisms of brain injury after intracerebral haemorrhage. Lancet Neurol 2006;5:53–63.</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17. Zazulia AR, et al. Hypoperfusion without ischemia surrounding acute intracerebral hemorrhage. J Cereb Blood Flow Metab 2001;21:804–810.</a:t>
            </a:r>
            <a:endParaRPr lang="en-US" sz="1050" dirty="0"/>
          </a:p>
          <a:p>
            <a:pPr indent="0" marL="0">
              <a:spcAft>
                <a:spcPts val="500"/>
              </a:spcAft>
              <a:buNone/>
            </a:pPr>
            <a:r>
              <a:rPr lang="en-US" sz="1050" dirty="0">
                <a:solidFill>
                  <a:srgbClr val="1B2230"/>
                </a:solidFill>
                <a:latin typeface="Calibri" pitchFamily="34" charset="0"/>
                <a:ea typeface="Calibri" pitchFamily="34" charset="-122"/>
                <a:cs typeface="Calibri" pitchFamily="34" charset="-120"/>
              </a:rPr>
              <a:t>18. Butcher KS, et al. The Intracerebral Hemorrhage Acutely Decreasing Arterial Pressure Trial (ICH ADAPT). Stroke 2013;44:620–626.</a:t>
            </a:r>
            <a:endParaRPr lang="en-US" sz="1050" dirty="0"/>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show="0">
  <p:cSld name="Slide 25">
    <p:bg>
      <p:bgPr>
        <a:solidFill>
          <a:srgbClr val="FFFFFF"/>
        </a:solidFill>
      </p:bgPr>
    </p:bg>
    <p:spTree>
      <p:nvGrpSpPr>
        <p:cNvPr id="1" name=""/>
        <p:cNvGrpSpPr/>
        <p:nvPr/>
      </p:nvGrpSpPr>
      <p:grpSpPr>
        <a:xfrm>
          <a:off x="0" y="0"/>
          <a:ext cx="0" cy="0"/>
          <a:chOff x="0" y="0"/>
          <a:chExt cx="0" cy="0"/>
        </a:xfrm>
      </p:grpSpPr>
      <p:sp>
        <p:nvSpPr>
          <p:cNvPr id="3" name="Text 0"/>
          <p:cNvSpPr txBox="1"/>
          <p:nvPr/>
        </p:nvSpPr>
        <p:spPr>
          <a:xfrm>
            <a:off x="548640" y="438912"/>
            <a:ext cx="11094415" cy="274320"/>
          </a:xfrm>
          <a:prstGeom prst="rect">
            <a:avLst/>
          </a:prstGeom>
          <a:noFill/>
          <a:ln/>
        </p:spPr>
        <p:txBody>
          <a:bodyPr wrap="square" lIns="0" tIns="0" rIns="0" bIns="0" rtlCol="0" anchor="ctr"/>
          <a:lstStyle/>
          <a:p>
            <a:pPr indent="0" marL="0">
              <a:buNone/>
            </a:pPr>
            <a:r>
              <a:rPr lang="en-US" sz="1200" b="1" spc="300" kern="0" dirty="0">
                <a:solidFill>
                  <a:srgbClr val="3E5C76"/>
                </a:solidFill>
                <a:latin typeface="Calibri" pitchFamily="34" charset="0"/>
                <a:ea typeface="Calibri" pitchFamily="34" charset="-122"/>
                <a:cs typeface="Calibri" pitchFamily="34" charset="-120"/>
              </a:rPr>
              <a:t>BACKUP  ·  BEYOND THE 2014 CHAPTER</a:t>
            </a:r>
            <a:endParaRPr lang="en-US" sz="1200" dirty="0"/>
          </a:p>
        </p:txBody>
      </p:sp>
      <p:sp>
        <p:nvSpPr>
          <p:cNvPr id="4" name="Text 1"/>
          <p:cNvSpPr txBox="1"/>
          <p:nvPr/>
        </p:nvSpPr>
        <p:spPr>
          <a:xfrm>
            <a:off x="548640" y="749808"/>
            <a:ext cx="11094415" cy="1097280"/>
          </a:xfrm>
          <a:prstGeom prst="rect">
            <a:avLst/>
          </a:prstGeom>
          <a:noFill/>
          <a:ln/>
        </p:spPr>
        <p:txBody>
          <a:bodyPr wrap="square" lIns="0" tIns="0" rIns="0" bIns="0" rtlCol="0" anchor="t"/>
          <a:lstStyle/>
          <a:p>
            <a:pPr indent="0" marL="0">
              <a:buNone/>
            </a:pPr>
            <a:r>
              <a:rPr lang="en-US" sz="3600" b="1" dirty="0">
                <a:solidFill>
                  <a:srgbClr val="13233A"/>
                </a:solidFill>
                <a:latin typeface="Cambria" pitchFamily="34" charset="0"/>
                <a:ea typeface="Cambria" pitchFamily="34" charset="-122"/>
                <a:cs typeface="Cambria" pitchFamily="34" charset="-120"/>
              </a:rPr>
              <a:t>What has changed since the book was published</a:t>
            </a:r>
            <a:endParaRPr lang="en-US" sz="3600" dirty="0"/>
          </a:p>
        </p:txBody>
      </p:sp>
      <p:sp>
        <p:nvSpPr>
          <p:cNvPr id="5" name="Shape 2"/>
          <p:cNvSpPr/>
          <p:nvPr/>
        </p:nvSpPr>
        <p:spPr>
          <a:xfrm>
            <a:off x="548640" y="2011680"/>
            <a:ext cx="5410048" cy="1783080"/>
          </a:xfrm>
          <a:prstGeom prst="roundRect">
            <a:avLst>
              <a:gd name="adj" fmla="val 5128"/>
            </a:avLst>
          </a:prstGeom>
          <a:solidFill>
            <a:srgbClr val="E8EDF3"/>
          </a:solidFill>
          <a:ln w="6350">
            <a:solidFill>
              <a:srgbClr val="E8EDF3"/>
            </a:solidFill>
            <a:prstDash val="solid"/>
          </a:ln>
        </p:spPr>
      </p:sp>
      <p:sp>
        <p:nvSpPr>
          <p:cNvPr id="6" name="Shape 3"/>
          <p:cNvSpPr/>
          <p:nvPr/>
        </p:nvSpPr>
        <p:spPr>
          <a:xfrm>
            <a:off x="822960" y="2286000"/>
            <a:ext cx="731520" cy="347472"/>
          </a:xfrm>
          <a:prstGeom prst="roundRect">
            <a:avLst>
              <a:gd name="adj" fmla="val 50000"/>
            </a:avLst>
          </a:prstGeom>
          <a:solidFill>
            <a:srgbClr val="13233A"/>
          </a:solidFill>
          <a:ln w="6350">
            <a:solidFill>
              <a:srgbClr val="13233A"/>
            </a:solidFill>
            <a:prstDash val="solid"/>
          </a:ln>
        </p:spPr>
      </p:sp>
      <p:sp>
        <p:nvSpPr>
          <p:cNvPr id="7" name="Text 4"/>
          <p:cNvSpPr txBox="1"/>
          <p:nvPr/>
        </p:nvSpPr>
        <p:spPr>
          <a:xfrm>
            <a:off x="822960" y="2286000"/>
            <a:ext cx="73152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2022</a:t>
            </a:r>
            <a:endParaRPr lang="en-US" sz="1200" dirty="0"/>
          </a:p>
        </p:txBody>
      </p:sp>
      <p:sp>
        <p:nvSpPr>
          <p:cNvPr id="8" name="Text 5"/>
          <p:cNvSpPr txBox="1"/>
          <p:nvPr/>
        </p:nvSpPr>
        <p:spPr>
          <a:xfrm>
            <a:off x="1737360" y="2258568"/>
            <a:ext cx="3947008" cy="402336"/>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Boston criteria v2.0</a:t>
            </a:r>
            <a:endParaRPr lang="en-US" sz="1800" dirty="0"/>
          </a:p>
        </p:txBody>
      </p:sp>
      <p:sp>
        <p:nvSpPr>
          <p:cNvPr id="9" name="Text 6"/>
          <p:cNvSpPr txBox="1"/>
          <p:nvPr/>
        </p:nvSpPr>
        <p:spPr>
          <a:xfrm>
            <a:off x="822960" y="2788920"/>
            <a:ext cx="4861408" cy="658368"/>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Adds white-matter MRI markers to diagnose CAA in life.</a:t>
            </a:r>
            <a:endParaRPr lang="en-US" sz="1400" dirty="0"/>
          </a:p>
        </p:txBody>
      </p:sp>
      <p:sp>
        <p:nvSpPr>
          <p:cNvPr id="10" name="Text 7"/>
          <p:cNvSpPr txBox="1"/>
          <p:nvPr/>
        </p:nvSpPr>
        <p:spPr>
          <a:xfrm>
            <a:off x="822960" y="3429000"/>
            <a:ext cx="4861408" cy="274320"/>
          </a:xfrm>
          <a:prstGeom prst="rect">
            <a:avLst/>
          </a:prstGeom>
          <a:noFill/>
          <a:ln/>
        </p:spPr>
        <p:txBody>
          <a:bodyPr wrap="square" lIns="0" tIns="0" rIns="0" bIns="0" rtlCol="0" anchor="t"/>
          <a:lstStyle/>
          <a:p>
            <a:pPr indent="0" marL="0">
              <a:buNone/>
            </a:pPr>
            <a:r>
              <a:rPr lang="en-US" sz="1000" i="1" dirty="0">
                <a:solidFill>
                  <a:srgbClr val="667285"/>
                </a:solidFill>
                <a:latin typeface="Calibri" pitchFamily="34" charset="0"/>
                <a:ea typeface="Calibri" pitchFamily="34" charset="-122"/>
                <a:cs typeface="Calibri" pitchFamily="34" charset="-120"/>
              </a:rPr>
              <a:t>Charidimou et al., Lancet Neurol 2022</a:t>
            </a:r>
            <a:endParaRPr lang="en-US" sz="1000" dirty="0"/>
          </a:p>
        </p:txBody>
      </p:sp>
      <p:sp>
        <p:nvSpPr>
          <p:cNvPr id="11" name="Shape 8"/>
          <p:cNvSpPr/>
          <p:nvPr/>
        </p:nvSpPr>
        <p:spPr>
          <a:xfrm>
            <a:off x="6233008" y="2011680"/>
            <a:ext cx="5410048" cy="1783080"/>
          </a:xfrm>
          <a:prstGeom prst="roundRect">
            <a:avLst>
              <a:gd name="adj" fmla="val 5128"/>
            </a:avLst>
          </a:prstGeom>
          <a:solidFill>
            <a:srgbClr val="F3F5F8"/>
          </a:solidFill>
          <a:ln w="6350">
            <a:solidFill>
              <a:srgbClr val="F3F5F8"/>
            </a:solidFill>
            <a:prstDash val="solid"/>
          </a:ln>
        </p:spPr>
      </p:sp>
      <p:sp>
        <p:nvSpPr>
          <p:cNvPr id="12" name="Shape 9"/>
          <p:cNvSpPr/>
          <p:nvPr/>
        </p:nvSpPr>
        <p:spPr>
          <a:xfrm>
            <a:off x="6507328" y="2286000"/>
            <a:ext cx="731520" cy="347472"/>
          </a:xfrm>
          <a:prstGeom prst="roundRect">
            <a:avLst>
              <a:gd name="adj" fmla="val 50000"/>
            </a:avLst>
          </a:prstGeom>
          <a:solidFill>
            <a:srgbClr val="13233A"/>
          </a:solidFill>
          <a:ln w="6350">
            <a:solidFill>
              <a:srgbClr val="13233A"/>
            </a:solidFill>
            <a:prstDash val="solid"/>
          </a:ln>
        </p:spPr>
      </p:sp>
      <p:sp>
        <p:nvSpPr>
          <p:cNvPr id="13" name="Text 10"/>
          <p:cNvSpPr txBox="1"/>
          <p:nvPr/>
        </p:nvSpPr>
        <p:spPr>
          <a:xfrm>
            <a:off x="6507328" y="2286000"/>
            <a:ext cx="73152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2023</a:t>
            </a:r>
            <a:endParaRPr lang="en-US" sz="1200" dirty="0"/>
          </a:p>
        </p:txBody>
      </p:sp>
      <p:sp>
        <p:nvSpPr>
          <p:cNvPr id="14" name="Text 11"/>
          <p:cNvSpPr txBox="1"/>
          <p:nvPr/>
        </p:nvSpPr>
        <p:spPr>
          <a:xfrm>
            <a:off x="7421728" y="2258568"/>
            <a:ext cx="3947008" cy="402336"/>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INTERACT3</a:t>
            </a:r>
            <a:endParaRPr lang="en-US" sz="1800" dirty="0"/>
          </a:p>
        </p:txBody>
      </p:sp>
      <p:sp>
        <p:nvSpPr>
          <p:cNvPr id="15" name="Text 12"/>
          <p:cNvSpPr txBox="1"/>
          <p:nvPr/>
        </p:nvSpPr>
        <p:spPr>
          <a:xfrm>
            <a:off x="6507328" y="2788920"/>
            <a:ext cx="4861408" cy="658368"/>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A care bundle (early BP lowering, glucose and fever control, anticoagulant reversal) improved function at 6 months.</a:t>
            </a:r>
            <a:endParaRPr lang="en-US" sz="1400" dirty="0"/>
          </a:p>
        </p:txBody>
      </p:sp>
      <p:sp>
        <p:nvSpPr>
          <p:cNvPr id="16" name="Text 13"/>
          <p:cNvSpPr txBox="1"/>
          <p:nvPr/>
        </p:nvSpPr>
        <p:spPr>
          <a:xfrm>
            <a:off x="6507328" y="3429000"/>
            <a:ext cx="4861408" cy="274320"/>
          </a:xfrm>
          <a:prstGeom prst="rect">
            <a:avLst/>
          </a:prstGeom>
          <a:noFill/>
          <a:ln/>
        </p:spPr>
        <p:txBody>
          <a:bodyPr wrap="square" lIns="0" tIns="0" rIns="0" bIns="0" rtlCol="0" anchor="t"/>
          <a:lstStyle/>
          <a:p>
            <a:pPr indent="0" marL="0">
              <a:buNone/>
            </a:pPr>
            <a:r>
              <a:rPr lang="en-US" sz="1000" i="1" dirty="0">
                <a:solidFill>
                  <a:srgbClr val="667285"/>
                </a:solidFill>
                <a:latin typeface="Calibri" pitchFamily="34" charset="0"/>
                <a:ea typeface="Calibri" pitchFamily="34" charset="-122"/>
                <a:cs typeface="Calibri" pitchFamily="34" charset="-120"/>
              </a:rPr>
              <a:t>Ma et al., Lancet 2023</a:t>
            </a:r>
            <a:endParaRPr lang="en-US" sz="1000" dirty="0"/>
          </a:p>
        </p:txBody>
      </p:sp>
      <p:sp>
        <p:nvSpPr>
          <p:cNvPr id="17" name="Shape 14"/>
          <p:cNvSpPr/>
          <p:nvPr/>
        </p:nvSpPr>
        <p:spPr>
          <a:xfrm>
            <a:off x="548640" y="3977640"/>
            <a:ext cx="5410048" cy="1783080"/>
          </a:xfrm>
          <a:prstGeom prst="roundRect">
            <a:avLst>
              <a:gd name="adj" fmla="val 5128"/>
            </a:avLst>
          </a:prstGeom>
          <a:solidFill>
            <a:srgbClr val="F3F5F8"/>
          </a:solidFill>
          <a:ln w="6350">
            <a:solidFill>
              <a:srgbClr val="F3F5F8"/>
            </a:solidFill>
            <a:prstDash val="solid"/>
          </a:ln>
        </p:spPr>
      </p:sp>
      <p:sp>
        <p:nvSpPr>
          <p:cNvPr id="18" name="Shape 15"/>
          <p:cNvSpPr/>
          <p:nvPr/>
        </p:nvSpPr>
        <p:spPr>
          <a:xfrm>
            <a:off x="822960" y="4251960"/>
            <a:ext cx="731520" cy="347472"/>
          </a:xfrm>
          <a:prstGeom prst="roundRect">
            <a:avLst>
              <a:gd name="adj" fmla="val 50000"/>
            </a:avLst>
          </a:prstGeom>
          <a:solidFill>
            <a:srgbClr val="13233A"/>
          </a:solidFill>
          <a:ln w="6350">
            <a:solidFill>
              <a:srgbClr val="13233A"/>
            </a:solidFill>
            <a:prstDash val="solid"/>
          </a:ln>
        </p:spPr>
      </p:sp>
      <p:sp>
        <p:nvSpPr>
          <p:cNvPr id="19" name="Text 16"/>
          <p:cNvSpPr txBox="1"/>
          <p:nvPr/>
        </p:nvSpPr>
        <p:spPr>
          <a:xfrm>
            <a:off x="822960" y="4251960"/>
            <a:ext cx="73152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2024</a:t>
            </a:r>
            <a:endParaRPr lang="en-US" sz="1200" dirty="0"/>
          </a:p>
        </p:txBody>
      </p:sp>
      <p:sp>
        <p:nvSpPr>
          <p:cNvPr id="20" name="Text 17"/>
          <p:cNvSpPr txBox="1"/>
          <p:nvPr/>
        </p:nvSpPr>
        <p:spPr>
          <a:xfrm>
            <a:off x="1737360" y="4224528"/>
            <a:ext cx="3947008" cy="402336"/>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ENRICH</a:t>
            </a:r>
            <a:endParaRPr lang="en-US" sz="1800" dirty="0"/>
          </a:p>
        </p:txBody>
      </p:sp>
      <p:sp>
        <p:nvSpPr>
          <p:cNvPr id="21" name="Text 18"/>
          <p:cNvSpPr txBox="1"/>
          <p:nvPr/>
        </p:nvSpPr>
        <p:spPr>
          <a:xfrm>
            <a:off x="822960" y="4754880"/>
            <a:ext cx="4861408" cy="658368"/>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Early minimally invasive clot removal improved outcomes, with the benefit driven by lobar bleeds.</a:t>
            </a:r>
            <a:endParaRPr lang="en-US" sz="1400" dirty="0"/>
          </a:p>
        </p:txBody>
      </p:sp>
      <p:sp>
        <p:nvSpPr>
          <p:cNvPr id="22" name="Text 19"/>
          <p:cNvSpPr txBox="1"/>
          <p:nvPr/>
        </p:nvSpPr>
        <p:spPr>
          <a:xfrm>
            <a:off x="822960" y="5394960"/>
            <a:ext cx="4861408" cy="274320"/>
          </a:xfrm>
          <a:prstGeom prst="rect">
            <a:avLst/>
          </a:prstGeom>
          <a:noFill/>
          <a:ln/>
        </p:spPr>
        <p:txBody>
          <a:bodyPr wrap="square" lIns="0" tIns="0" rIns="0" bIns="0" rtlCol="0" anchor="t"/>
          <a:lstStyle/>
          <a:p>
            <a:pPr indent="0" marL="0">
              <a:buNone/>
            </a:pPr>
            <a:r>
              <a:rPr lang="en-US" sz="1000" i="1" dirty="0">
                <a:solidFill>
                  <a:srgbClr val="667285"/>
                </a:solidFill>
                <a:latin typeface="Calibri" pitchFamily="34" charset="0"/>
                <a:ea typeface="Calibri" pitchFamily="34" charset="-122"/>
                <a:cs typeface="Calibri" pitchFamily="34" charset="-120"/>
              </a:rPr>
              <a:t>Pradilla et al., N Engl J Med 2024</a:t>
            </a:r>
            <a:endParaRPr lang="en-US" sz="1000" dirty="0"/>
          </a:p>
        </p:txBody>
      </p:sp>
      <p:sp>
        <p:nvSpPr>
          <p:cNvPr id="23" name="Shape 20"/>
          <p:cNvSpPr/>
          <p:nvPr/>
        </p:nvSpPr>
        <p:spPr>
          <a:xfrm>
            <a:off x="6233008" y="3977640"/>
            <a:ext cx="5410048" cy="1783080"/>
          </a:xfrm>
          <a:prstGeom prst="roundRect">
            <a:avLst>
              <a:gd name="adj" fmla="val 5128"/>
            </a:avLst>
          </a:prstGeom>
          <a:solidFill>
            <a:srgbClr val="E8EDF3"/>
          </a:solidFill>
          <a:ln w="6350">
            <a:solidFill>
              <a:srgbClr val="E8EDF3"/>
            </a:solidFill>
            <a:prstDash val="solid"/>
          </a:ln>
        </p:spPr>
      </p:sp>
      <p:sp>
        <p:nvSpPr>
          <p:cNvPr id="24" name="Shape 21"/>
          <p:cNvSpPr/>
          <p:nvPr/>
        </p:nvSpPr>
        <p:spPr>
          <a:xfrm>
            <a:off x="6507328" y="4251960"/>
            <a:ext cx="731520" cy="347472"/>
          </a:xfrm>
          <a:prstGeom prst="roundRect">
            <a:avLst>
              <a:gd name="adj" fmla="val 50000"/>
            </a:avLst>
          </a:prstGeom>
          <a:solidFill>
            <a:srgbClr val="13233A"/>
          </a:solidFill>
          <a:ln w="6350">
            <a:solidFill>
              <a:srgbClr val="13233A"/>
            </a:solidFill>
            <a:prstDash val="solid"/>
          </a:ln>
        </p:spPr>
      </p:sp>
      <p:sp>
        <p:nvSpPr>
          <p:cNvPr id="25" name="Text 22"/>
          <p:cNvSpPr txBox="1"/>
          <p:nvPr/>
        </p:nvSpPr>
        <p:spPr>
          <a:xfrm>
            <a:off x="6507328" y="4251960"/>
            <a:ext cx="73152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2024</a:t>
            </a:r>
            <a:endParaRPr lang="en-US" sz="1200" dirty="0"/>
          </a:p>
        </p:txBody>
      </p:sp>
      <p:sp>
        <p:nvSpPr>
          <p:cNvPr id="26" name="Text 23"/>
          <p:cNvSpPr txBox="1"/>
          <p:nvPr/>
        </p:nvSpPr>
        <p:spPr>
          <a:xfrm>
            <a:off x="7421728" y="4224528"/>
            <a:ext cx="3947008" cy="402336"/>
          </a:xfrm>
          <a:prstGeom prst="rect">
            <a:avLst/>
          </a:prstGeom>
          <a:noFill/>
          <a:ln/>
        </p:spPr>
        <p:txBody>
          <a:bodyPr wrap="square" lIns="0" tIns="0" rIns="0" bIns="0" rtlCol="0" anchor="ctr"/>
          <a:lstStyle/>
          <a:p>
            <a:pPr indent="0" marL="0">
              <a:buNone/>
            </a:pPr>
            <a:r>
              <a:rPr lang="en-US" sz="1800" b="1" dirty="0">
                <a:solidFill>
                  <a:srgbClr val="13233A"/>
                </a:solidFill>
                <a:latin typeface="Calibri" pitchFamily="34" charset="0"/>
                <a:ea typeface="Calibri" pitchFamily="34" charset="-122"/>
                <a:cs typeface="Calibri" pitchFamily="34" charset="-120"/>
              </a:rPr>
              <a:t>ANNEXA-I</a:t>
            </a:r>
            <a:endParaRPr lang="en-US" sz="1800" dirty="0"/>
          </a:p>
        </p:txBody>
      </p:sp>
      <p:sp>
        <p:nvSpPr>
          <p:cNvPr id="27" name="Text 24"/>
          <p:cNvSpPr txBox="1"/>
          <p:nvPr/>
        </p:nvSpPr>
        <p:spPr>
          <a:xfrm>
            <a:off x="6507328" y="4754880"/>
            <a:ext cx="4861408" cy="658368"/>
          </a:xfrm>
          <a:prstGeom prst="rect">
            <a:avLst/>
          </a:prstGeom>
          <a:noFill/>
          <a:ln/>
        </p:spPr>
        <p:txBody>
          <a:bodyPr wrap="square" lIns="0" tIns="0" rIns="0" bIns="0" rtlCol="0" anchor="t"/>
          <a:lstStyle/>
          <a:p>
            <a:pPr indent="0" marL="0">
              <a:buNone/>
            </a:pPr>
            <a:r>
              <a:rPr lang="en-US" sz="1400" dirty="0">
                <a:solidFill>
                  <a:srgbClr val="1B2230"/>
                </a:solidFill>
                <a:latin typeface="Calibri" pitchFamily="34" charset="0"/>
                <a:ea typeface="Calibri" pitchFamily="34" charset="-122"/>
                <a:cs typeface="Calibri" pitchFamily="34" charset="-120"/>
              </a:rPr>
              <a:t>Andexanet improved haemostasis in factor Xa inhibitor bleeds, but with more thrombotic events.</a:t>
            </a:r>
            <a:endParaRPr lang="en-US" sz="1400" dirty="0"/>
          </a:p>
        </p:txBody>
      </p:sp>
      <p:sp>
        <p:nvSpPr>
          <p:cNvPr id="28" name="Text 25"/>
          <p:cNvSpPr txBox="1"/>
          <p:nvPr/>
        </p:nvSpPr>
        <p:spPr>
          <a:xfrm>
            <a:off x="6507328" y="5394960"/>
            <a:ext cx="4861408" cy="274320"/>
          </a:xfrm>
          <a:prstGeom prst="rect">
            <a:avLst/>
          </a:prstGeom>
          <a:noFill/>
          <a:ln/>
        </p:spPr>
        <p:txBody>
          <a:bodyPr wrap="square" lIns="0" tIns="0" rIns="0" bIns="0" rtlCol="0" anchor="t"/>
          <a:lstStyle/>
          <a:p>
            <a:pPr indent="0" marL="0">
              <a:buNone/>
            </a:pPr>
            <a:r>
              <a:rPr lang="en-US" sz="1000" i="1" dirty="0">
                <a:solidFill>
                  <a:srgbClr val="667285"/>
                </a:solidFill>
                <a:latin typeface="Calibri" pitchFamily="34" charset="0"/>
                <a:ea typeface="Calibri" pitchFamily="34" charset="-122"/>
                <a:cs typeface="Calibri" pitchFamily="34" charset="-120"/>
              </a:rPr>
              <a:t>Connolly et al., N Engl J Med 2024</a:t>
            </a:r>
            <a:endParaRPr lang="en-US" sz="1000" dirty="0"/>
          </a:p>
        </p:txBody>
      </p:sp>
      <p:sp>
        <p:nvSpPr>
          <p:cNvPr id="29" name="Text 26"/>
          <p:cNvSpPr txBox="1"/>
          <p:nvPr/>
        </p:nvSpPr>
        <p:spPr>
          <a:xfrm>
            <a:off x="548640" y="6382512"/>
            <a:ext cx="50292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Chapter 5  ·  Pathophysiology of non-traumatic ICH</a:t>
            </a:r>
            <a:endParaRPr lang="en-US" sz="1000" dirty="0"/>
          </a:p>
        </p:txBody>
      </p:sp>
      <p:sp>
        <p:nvSpPr>
          <p:cNvPr id="30" name="Shape 27"/>
          <p:cNvSpPr/>
          <p:nvPr/>
        </p:nvSpPr>
        <p:spPr>
          <a:xfrm>
            <a:off x="7360920" y="6460236"/>
            <a:ext cx="118872" cy="118872"/>
          </a:xfrm>
          <a:prstGeom prst="ellipse">
            <a:avLst/>
          </a:prstGeom>
          <a:solidFill>
            <a:srgbClr val="C9D2DE"/>
          </a:solidFill>
          <a:ln w="6350">
            <a:solidFill>
              <a:srgbClr val="C9D2DE"/>
            </a:solidFill>
            <a:prstDash val="solid"/>
          </a:ln>
        </p:spPr>
      </p:sp>
      <p:sp>
        <p:nvSpPr>
          <p:cNvPr id="31" name="Text 28"/>
          <p:cNvSpPr txBox="1"/>
          <p:nvPr/>
        </p:nvSpPr>
        <p:spPr>
          <a:xfrm>
            <a:off x="75438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Vessel</a:t>
            </a:r>
            <a:endParaRPr lang="en-US" sz="1000" dirty="0"/>
          </a:p>
        </p:txBody>
      </p:sp>
      <p:sp>
        <p:nvSpPr>
          <p:cNvPr id="32" name="Shape 29"/>
          <p:cNvSpPr/>
          <p:nvPr/>
        </p:nvSpPr>
        <p:spPr>
          <a:xfrm>
            <a:off x="8275320" y="6460236"/>
            <a:ext cx="118872" cy="118872"/>
          </a:xfrm>
          <a:prstGeom prst="ellipse">
            <a:avLst/>
          </a:prstGeom>
          <a:solidFill>
            <a:srgbClr val="C9D2DE"/>
          </a:solidFill>
          <a:ln w="6350">
            <a:solidFill>
              <a:srgbClr val="C9D2DE"/>
            </a:solidFill>
            <a:prstDash val="solid"/>
          </a:ln>
        </p:spPr>
      </p:sp>
      <p:sp>
        <p:nvSpPr>
          <p:cNvPr id="33" name="Text 30"/>
          <p:cNvSpPr txBox="1"/>
          <p:nvPr/>
        </p:nvSpPr>
        <p:spPr>
          <a:xfrm>
            <a:off x="84582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Hours</a:t>
            </a:r>
            <a:endParaRPr lang="en-US" sz="1000" dirty="0"/>
          </a:p>
        </p:txBody>
      </p:sp>
      <p:sp>
        <p:nvSpPr>
          <p:cNvPr id="34" name="Shape 31"/>
          <p:cNvSpPr/>
          <p:nvPr/>
        </p:nvSpPr>
        <p:spPr>
          <a:xfrm>
            <a:off x="9189720" y="6460236"/>
            <a:ext cx="118872" cy="118872"/>
          </a:xfrm>
          <a:prstGeom prst="ellipse">
            <a:avLst/>
          </a:prstGeom>
          <a:solidFill>
            <a:srgbClr val="C9D2DE"/>
          </a:solidFill>
          <a:ln w="6350">
            <a:solidFill>
              <a:srgbClr val="C9D2DE"/>
            </a:solidFill>
            <a:prstDash val="solid"/>
          </a:ln>
        </p:spPr>
      </p:sp>
      <p:sp>
        <p:nvSpPr>
          <p:cNvPr id="35" name="Text 32"/>
          <p:cNvSpPr txBox="1"/>
          <p:nvPr/>
        </p:nvSpPr>
        <p:spPr>
          <a:xfrm>
            <a:off x="93726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Days</a:t>
            </a:r>
            <a:endParaRPr lang="en-US" sz="1000" dirty="0"/>
          </a:p>
        </p:txBody>
      </p:sp>
      <p:sp>
        <p:nvSpPr>
          <p:cNvPr id="36" name="Shape 33"/>
          <p:cNvSpPr/>
          <p:nvPr/>
        </p:nvSpPr>
        <p:spPr>
          <a:xfrm>
            <a:off x="10104120" y="6460236"/>
            <a:ext cx="118872" cy="118872"/>
          </a:xfrm>
          <a:prstGeom prst="ellipse">
            <a:avLst/>
          </a:prstGeom>
          <a:solidFill>
            <a:srgbClr val="C9D2DE"/>
          </a:solidFill>
          <a:ln w="6350">
            <a:solidFill>
              <a:srgbClr val="C9D2DE"/>
            </a:solidFill>
            <a:prstDash val="solid"/>
          </a:ln>
        </p:spPr>
      </p:sp>
      <p:sp>
        <p:nvSpPr>
          <p:cNvPr id="37" name="Text 34"/>
          <p:cNvSpPr txBox="1"/>
          <p:nvPr/>
        </p:nvSpPr>
        <p:spPr>
          <a:xfrm>
            <a:off x="10287000" y="6382512"/>
            <a:ext cx="685800" cy="274320"/>
          </a:xfrm>
          <a:prstGeom prst="rect">
            <a:avLst/>
          </a:prstGeom>
          <a:noFill/>
          <a:ln/>
        </p:spPr>
        <p:txBody>
          <a:bodyPr wrap="square" lIns="0" tIns="0" rIns="0" bIns="0" rtlCol="0" anchor="ctr"/>
          <a:lstStyle/>
          <a:p>
            <a:pPr indent="0" marL="0">
              <a:buNone/>
            </a:pPr>
            <a:r>
              <a:rPr lang="en-US" sz="1000" dirty="0">
                <a:solidFill>
                  <a:srgbClr val="667285"/>
                </a:solidFill>
                <a:latin typeface="Calibri" pitchFamily="34" charset="0"/>
                <a:ea typeface="Calibri" pitchFamily="34" charset="-122"/>
                <a:cs typeface="Calibri" pitchFamily="34" charset="-120"/>
              </a:rPr>
              <a:t>Bedside</a:t>
            </a:r>
            <a:endParaRPr lang="en-US" sz="1000" dirty="0"/>
          </a:p>
        </p:txBody>
      </p:sp>
      <p:sp>
        <p:nvSpPr>
          <p:cNvPr id="38" name="Text 35"/>
          <p:cNvSpPr txBox="1"/>
          <p:nvPr/>
        </p:nvSpPr>
        <p:spPr>
          <a:xfrm>
            <a:off x="11183112" y="6382512"/>
            <a:ext cx="457200" cy="274320"/>
          </a:xfrm>
          <a:prstGeom prst="rect">
            <a:avLst/>
          </a:prstGeom>
          <a:noFill/>
          <a:ln/>
        </p:spPr>
        <p:txBody>
          <a:bodyPr wrap="square" lIns="0" tIns="0" rIns="0" bIns="0" rtlCol="0" anchor="ctr"/>
          <a:lstStyle/>
          <a:p>
            <a:pPr algn="r" indent="0" marL="0">
              <a:buNone/>
            </a:pPr>
            <a:r>
              <a:rPr lang="en-US" sz="1000" dirty="0">
                <a:solidFill>
                  <a:srgbClr val="667285"/>
                </a:solidFill>
                <a:latin typeface="Calibri" pitchFamily="34" charset="0"/>
                <a:ea typeface="Calibri" pitchFamily="34" charset="-122"/>
                <a:cs typeface="Calibri" pitchFamily="34" charset="-120"/>
              </a:rPr>
              <a:t>25</a:t>
            </a:r>
            <a:endParaRPr lang="en-US" sz="1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When the vessel breaks: pathophysiology of non-traumatic intracerebral haemorrhage</dc:title>
  <dc:subject>PptxGenJS Presentation</dc:subject>
  <dc:creator>Chapter 5 presenter</dc:creator>
  <cp:lastModifiedBy>Chapter 5 presenter</cp:lastModifiedBy>
  <cp:revision>1</cp:revision>
  <dcterms:created xsi:type="dcterms:W3CDTF">2026-09-29T21:58:55Z</dcterms:created>
  <dcterms:modified xsi:type="dcterms:W3CDTF">2026-09-29T21:58:55Z</dcterms:modified>
</cp:coreProperties>
</file>