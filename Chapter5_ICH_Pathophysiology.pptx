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a1ebb4-6d26-da4d-5d4b-c7db6027b7f4}">
          <p14:sldIdLst>
            <p14:sldId id="256"/>
            <p14:sldId id="257"/>
            <p14:sldId id="258"/>
            <p14:sldId id="259"/>
            <p14:sldId id="260"/>
          </p14:sldIdLst>
        </p14:section>
        <p14:section name="01 · The vessel" id="{8e1a54ae-8388-dff2-ce6f-63f9c9109acd}">
          <p14:sldIdLst>
            <p14:sldId id="261"/>
            <p14:sldId id="262"/>
            <p14:sldId id="263"/>
            <p14:sldId id="264"/>
            <p14:sldId id="265"/>
            <p14:sldId id="266"/>
            <p14:sldId id="267"/>
            <p14:sldId id="268"/>
          </p14:sldIdLst>
        </p14:section>
        <p14:section name="02 · The first hours" id="{e3f0368b-617d-77aa-39be-a0bee485904f}">
          <p14:sldIdLst>
            <p14:sldId id="269"/>
            <p14:sldId id="270"/>
            <p14:sldId id="271"/>
            <p14:sldId id="272"/>
            <p14:sldId id="273"/>
            <p14:sldId id="274"/>
          </p14:sldIdLst>
        </p14:section>
        <p14:section name="03 · The days after" id="{9c82bcf9-3c0e-df0c-8731-889d3f6099e9}">
          <p14:sldIdLst>
            <p14:sldId id="275"/>
            <p14:sldId id="276"/>
            <p14:sldId id="277"/>
            <p14:sldId id="278"/>
            <p14:sldId id="279"/>
          </p14:sldIdLst>
        </p14:section>
        <p14:section name="04 · At the bedside" id="{620d8c5c-ae75-432c-5e44-1725eac37970}">
          <p14:sldIdLst>
            <p14:sldId id="280"/>
            <p14:sldId id="281"/>
            <p14:sldId id="282"/>
          </p14:sldIdLst>
        </p14:section>
        <p14:section name="Close" id="{656b90ff-c51b-74f7-7ede-c01be8ecd49c}">
          <p14:sldIdLst>
            <p14:sldId id="283"/>
            <p14:sldId id="284"/>
          </p14:sldIdLst>
        </p14:section>
        <p14:section name="Backup" id="{9dc3ee57-e627-dfdb-6a29-67e4c5be9209}">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Small-vessel disease</c:v>
                </c:pt>
              </c:strCache>
            </c:strRef>
          </c:tx>
          <c:spPr>
            <a:solidFill>
              <a:srgbClr val="C127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Hypertension  35%</c:v>
                  </c:pt>
                  <c:pt idx="1">
                    <c:v>Undetermined  21%</c:v>
                  </c:pt>
                  <c:pt idx="2">
                    <c:v>Amyloid angiopathy  20%</c:v>
                  </c:pt>
                  <c:pt idx="3">
                    <c:v>Anticoagulants  14%</c:v>
                  </c:pt>
                  <c:pt idx="4">
                    <c:v>Structural lesion  5%</c:v>
                  </c:pt>
                  <c:pt idx="5">
                    <c:v>Systemic disease  5%</c:v>
                  </c:pt>
                </c:lvl>
              </c:multiLvlStrCache>
            </c:multiLvlStrRef>
          </c:cat>
          <c:val>
            <c:numRef>
              <c:f>Sheet1!$B$2:$B$7</c:f>
              <c:numCache>
                <c:formatCode>General</c:formatCode>
                <c:ptCount val="6"/>
                <c:pt idx="0">
                  <c:v>35</c:v>
                </c:pt>
                <c:pt idx="1">
                  <c:v>0</c:v>
                </c:pt>
                <c:pt idx="2">
                  <c:v>20</c:v>
                </c:pt>
                <c:pt idx="3">
                  <c:v>0</c:v>
                </c:pt>
                <c:pt idx="4">
                  <c:v>0</c:v>
                </c:pt>
                <c:pt idx="5">
                  <c:v>0</c:v>
                </c:pt>
              </c:numCache>
            </c:numRef>
          </c:val>
        </c:ser>
        <c:ser>
          <c:idx val="1"/>
          <c:order val="1"/>
          <c:tx>
            <c:strRef>
              <c:f>Sheet1!$C$1</c:f>
              <c:strCache>
                <c:ptCount val="1"/>
                <c:pt idx="0">
                  <c:v>Other causes</c:v>
                </c:pt>
              </c:strCache>
            </c:strRef>
          </c:tx>
          <c:spPr>
            <a:solidFill>
              <a:srgbClr val="AEB9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Hypertension  35%</c:v>
                  </c:pt>
                  <c:pt idx="1">
                    <c:v>Undetermined  21%</c:v>
                  </c:pt>
                  <c:pt idx="2">
                    <c:v>Amyloid angiopathy  20%</c:v>
                  </c:pt>
                  <c:pt idx="3">
                    <c:v>Anticoagulants  14%</c:v>
                  </c:pt>
                  <c:pt idx="4">
                    <c:v>Structural lesion  5%</c:v>
                  </c:pt>
                  <c:pt idx="5">
                    <c:v>Systemic disease  5%</c:v>
                  </c:pt>
                </c:lvl>
              </c:multiLvlStrCache>
            </c:multiLvlStrRef>
          </c:cat>
          <c:val>
            <c:numRef>
              <c:f>Sheet1!$C$2:$C$7</c:f>
              <c:numCache>
                <c:formatCode>General</c:formatCode>
                <c:ptCount val="6"/>
                <c:pt idx="0">
                  <c:v>0</c:v>
                </c:pt>
                <c:pt idx="1">
                  <c:v>21</c:v>
                </c:pt>
                <c:pt idx="2">
                  <c:v>0</c:v>
                </c:pt>
                <c:pt idx="3">
                  <c:v>14</c:v>
                </c:pt>
                <c:pt idx="4">
                  <c:v>5</c:v>
                </c:pt>
                <c:pt idx="5">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800" b="0" i="0" u="none" strike="noStrike">
                <a:solidFill>
                  <a:srgbClr val="1B2230"/>
                </a:solidFill>
                <a:latin typeface="Calibri"/>
              </a:defRPr>
            </a:pPr>
            <a:endParaRPr lang="en-US"/>
          </a:p>
        </c:txPr>
        <c:crossAx val="2094734552"/>
        <c:crosses val="autoZero"/>
        <c:auto val="1"/>
        <c:lblAlgn val="ctr"/>
        <c:noMultiLvlLbl val="1"/>
      </c:catAx>
      <c:valAx>
        <c:axId val="2094734552"/>
        <c:scaling>
          <c:orientation val="minMax"/>
          <c:max val="3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Other side</c:v>
                </c:pt>
              </c:strCache>
            </c:strRef>
          </c:tx>
          <c:spPr>
            <a:solidFill>
              <a:srgbClr val="C3CEDB"/>
            </a:solidFill>
            <a:effectLst/>
          </c:spPr>
          <c:invertIfNegative val="0"/>
          <c:dLbls>
            <c:numFmt formatCode="0&quot;%&quot;" sourceLinked="0"/>
            <c:txPr>
              <a:bodyPr/>
              <a:lstStyle/>
              <a:p>
                <a:pPr>
                  <a:defRPr b="1" i="0" strike="noStrike" sz="1800" u="none">
                    <a:solidFill>
                      <a:srgbClr val="1B22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Blood flow</c:v>
                  </c:pt>
                  <c:pt idx="1">
                    <c:v>Oxygen use</c:v>
                  </c:pt>
                </c:lvl>
              </c:multiLvlStrCache>
            </c:multiLvlStrRef>
          </c:cat>
          <c:val>
            <c:numRef>
              <c:f>Sheet1!$B$2:$B$3</c:f>
              <c:numCache>
                <c:formatCode>General</c:formatCode>
                <c:ptCount val="2"/>
                <c:pt idx="0">
                  <c:v>100</c:v>
                </c:pt>
                <c:pt idx="1">
                  <c:v>100</c:v>
                </c:pt>
              </c:numCache>
            </c:numRef>
          </c:val>
        </c:ser>
        <c:ser>
          <c:idx val="1"/>
          <c:order val="1"/>
          <c:tx>
            <c:strRef>
              <c:f>Sheet1!$C$1</c:f>
              <c:strCache>
                <c:ptCount val="1"/>
                <c:pt idx="0">
                  <c:v>Rim around the clot</c:v>
                </c:pt>
              </c:strCache>
            </c:strRef>
          </c:tx>
          <c:spPr>
            <a:solidFill>
              <a:srgbClr val="C1272D"/>
            </a:solidFill>
            <a:effectLst/>
          </c:spPr>
          <c:invertIfNegative val="0"/>
          <c:dLbls>
            <c:numFmt formatCode="0&quot;%&quot;" sourceLinked="0"/>
            <c:txPr>
              <a:bodyPr/>
              <a:lstStyle/>
              <a:p>
                <a:pPr>
                  <a:defRPr b="1" i="0" strike="noStrike" sz="1800" u="none">
                    <a:solidFill>
                      <a:srgbClr val="1B223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Blood flow</c:v>
                  </c:pt>
                  <c:pt idx="1">
                    <c:v>Oxygen use</c:v>
                  </c:pt>
                </c:lvl>
              </c:multiLvlStrCache>
            </c:multiLvlStrRef>
          </c:cat>
          <c:val>
            <c:numRef>
              <c:f>Sheet1!$C$2:$C$3</c:f>
              <c:numCache>
                <c:formatCode>General</c:formatCode>
                <c:ptCount val="2"/>
                <c:pt idx="0">
                  <c:v>56</c:v>
                </c:pt>
                <c:pt idx="1">
                  <c:v>48</c:v>
                </c:pt>
              </c:numCache>
            </c:numRef>
          </c:val>
        </c:ser>
        <c:dLbls>
          <c:numFmt formatCode="0&quot;%&quot;" sourceLinked="0"/>
          <c:txPr>
            <a:bodyPr/>
            <a:lstStyle/>
            <a:p>
              <a:pPr>
                <a:defRPr b="1" i="0" strike="noStrike" sz="1800" u="none">
                  <a:solidFill>
                    <a:srgbClr val="1B223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DE"/>
            </a:solidFill>
            <a:prstDash val="solid"/>
            <a:round/>
          </a:ln>
        </c:spPr>
        <c:txPr>
          <a:bodyPr/>
          <a:lstStyle/>
          <a:p>
            <a:pPr>
              <a:defRPr sz="2000" b="0" i="0" u="none" strike="noStrike">
                <a:solidFill>
                  <a:srgbClr val="1B2230"/>
                </a:solidFill>
                <a:latin typeface="Calibri"/>
              </a:defRPr>
            </a:pPr>
            <a:endParaRPr lang="en-US"/>
          </a:p>
        </c:txPr>
        <c:crossAx val="2094734552"/>
        <c:crosses val="autoZero"/>
        <c:auto val="1"/>
        <c:lblAlgn val="ctr"/>
        <c:noMultiLvlLbl val="1"/>
      </c:catAx>
      <c:valAx>
        <c:axId val="2094734552"/>
        <c:scaling>
          <c:orientation val="minMax"/>
          <c:max val="1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600">
              <a:solidFill>
                <a:srgbClr val="1B22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Do not start talking until you are standing still at the centre.]
Good evening. My chapter is Chapter 5 of the Oxford Textbook of Stroke: the pathophysiology of non-traumatic intracerebral haemorrhage.
I want to start with one person.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Slow. This is a story, not a lecture.]
10 December 1996. Seven in the morning.
A 37-year-old scientist wakes up with a pounding pain behind her left eye. She thinks it's a headache. She climbs onto her exercise machine anyway.
Her name is Jill Bolte Taylor. She is a neuroanatomist at Harvard. She studies the brain for a living.
[PAUSE]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Let the red circle grow on screen before you speak.]
Over the next four hours, she watches her own brain fail. First her balance goes. Then her right arm. Then her speech. She tries to call for help, and the numbers on the phone look like squiggles.
A blood vessel had burst in the left side of her brain.
[ASK] Quick show of hands: who here has looked after someone with a bleed like this?
[Look at the hands and say what you see: "Most of us" or "About half the room".]
Tonight is about what happened inside Jill's head, hour by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Here is why it matters.
[PAUSE, point to the number]
Forty percent. That is how many people die within a month of an intracerebral haemorrhage.
And that number did not move between 1980 and 2008. In the same years, treatment for ischaemic stroke was transformed. For bleeds, outcomes stood still.
Part of the problem is how we think about a bleed. We treat it as one moment. The vessel bursts, the damage is done, and we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your headline. Say the title slowly, then pause.]
Chapter 5 gives us a different view.
ICH is a process, not a moment.
[PAUSE]
It unfolds in three stages. The vessel decides where it bleeds. The first hours decide how big it gets. And over the following days, the blood itself keeps injuring the brain.
Watch the red circles grow. That is the bleed getting bigger with each stage.
Each stage is a window where we can act. We'll take them one at a time, then finish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Stage one. The vessel. Why does a small artery give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Point, pause, explain.]
[Point to the two red bars. Say nothing for two seconds.]
This comes from the SMASH-U study: just over a thousand patients in Helsinki, each sorted by cause.
Two diseases stand out. Hypertension explained 35 percent. Amyloid angiopathy explained 20. Together, that is more than half of all bleeds. Both are diseases of small vessels.
Look at the grey bar second from the top. One in five bleeds had no clear cause, even after a full work-up. We still have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Walk the audience left to right: look, see, imagine.]
Here is what those two diseases do to a small artery.
On the left is a healthy one: a thin wall and a wide channel.
In the middle is hypertension. It attacks the tiny perforating arteries deep in the brain. Years of high pressure make the wall thick and glassy, but also brittle. The little bulge at the top is a Charcot–Bouchard microaneurysm, first described in 1868. Whether these are the true point of rupture is still debated.
On the right is amyloid angiopathy. The dark dots are beta-amyloid. It builds up in arteries on the surface of the brain and replaces the muscle in the wall. The vessel loses its strength. This is mostly a disease of people over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That gives us a rule you can use tomorrow. Where it bleeds tells you why.
[Point to the two deep bleeds.]
These two are deep: the putamen and the thalamus. The pons and cerebellum count too. These are the territories of the perforating arteries. They branch at right angles off big, high-pressure trunks, so they take the full force of the blood pressure. Deep bleed: think hypertension.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new bleed appears near the surface.]
Now look near the surface. This one is lobar: in the cortex and the white matter just beneath it.
In an older adult, a lobar bleed points to amyloid angiopathy.
In a younger person, or when something looks unusual, it should make us suspicious. Keep that thought. We'll come back to Jill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MRI lets us see the footprints of these diseases. Microbleeds are tiny old leaks of blood. They show up as black dots.
Their pattern mirrors the big bleeds. Dots near the surface point to amyloid. Dots deep inside point to hypertension.
A systematic review led by Charlotte Cordonnier, one of this chapter's authors, found microbleeds in 60 percent of people with ICH. In healthy adults it was 5 percent.
The handout has the Boston criteria, which use these dots to diagnose amyloid angiopathy in a living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soft break 1, at about minute 6. Stop talking and let them work.]
Your turn.
Jill was 37. She had no history of high blood pressure. Her bleed was lobar.
[ASK] Primary small-vessel disease, or a secondary cause? Turn to the person next to you. Thirty seconds.
[Count to 30 in your head. Then ask two people for their answer.]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Secondary. Jill was born with an arteriovenous malformation, a tangle of vessels with no capillaries in between. That morning it ruptured.
Her profile was a textbook warning sign. In a prospective study of 206 patients who all had angiography, 65 percent of young, normotensive patients with a lobar bleed had a vascular lesion.
Now flip it. Over 45, hypertensive, with a deep bleed: the yield was zero.
Same test, completely different result. The patient's story tells you where to look. The handout lists the other secondary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Stage two. The first hours. Jill had four of them. Let's see what happens in that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Move left to right.]
One: a diseased vessel ruptures, with arterial pressure behind it.
Two: blood splits the tissue and a haematoma forms.
Three is the surprise. In 1971, Miller Fisher looked at these bleeds under the microscope. He found extra bleeding points around the edge. The growing clot stretches and tears the vessels around it, and they bleed too. He called it an avalanche.
Four: the bleeding stops when the pressure in the tissue and the clotting system finally win.
So how often does the bleeding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Soft break 2, at about minute 9.]
[ASK] Here are 100 patients, all scanned within three hours of onset.
How many of their bleeds keep growing?
Hands up for A, five. [pause] B, fifteen. [pause] C, forty.
[Say what you see: "Most of you went for B."]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Wait for the dots to finish colouring before you speak.]
[PAUSE]
Thirty-eight.
In Brott's study, 26 bleeds grew by more than a third within one hour of the first scan. Another 12 grew within twenty hours. That's 38 in 100, and the growth went with neurological decline.
This is Jill's four hours. The damage kept spreading because the bleed kept growing.
It also changes outcomes. In a later analysis, every 10 percent of growth raised the risk of death by 5 percent. Those at highest risk were people scanned early, those with large bleeds, those on anticoagulants, and those with a spot sign on CT angiography.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PROP MOMENT. Take the golf ball out of your pocket before you say anything. Hold it up. Let them look.]
[PROP] Jill's surgeons removed a clot this size. A golf ball.
A golf ball holds about 40 millilitres.
[Point to the dashed circle.] Now grow it to 60 millilitres. That's the dashed line. It barely looks bigger, does it?
Here is the thing nobody tells you. A clot that grows by a third looks only about 10 percent wider on a scan. Growth that small is easy to miss by eye. The patient still feels every millilitre.
At 60 millilitres, with a Glasgow Coma Scale of 8 or less, the Cincinnati study predicted a 30-day mortality of 91 percent.
[Put the ball down where everyone can still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Why does volume matter so much? Because the skull is a closed box.
[Trace the rings from the centre outwards.] The clot compresses the tissue around it. As the volume grows, the pressure inside the skull rises. If it keeps rising, the brain shifts and can herniate.
Then there are the ventricles. About 45 percent of bleeds break into them. Blood there can block the flow of cerebrospinal fluid and cause hydrocephalus. It also predicts a worse outcome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Stage three. The bleeding has stopped. The injury has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Move along the timeline.]
Swelling around the clot builds in waves.
In the first hours, the clot retracts, like a blood sample settling in a tube, and squeezes serum into the tissue.
Over the first two days, the clotting cascade makes thrombin. Thrombin opens the blood-brain barrier.
From about day three, the red cells break down and release iron.
Over the following weeks, scavenger cells clear the clot and leave a cavity behind.
In one study, oedema grew by about 75 percent in the first 24 hours alone. It can keep building into the second week.
Jill's surgery came 17 days later. Her clot was still pressing on her language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toxins drive this second wave of injury. Most of what we know comes from animal studies, well summarised by Xi, Keep and Hoff.
Thrombin comes first. We need it to stop the bleed, but at high levels it damages the barrier and kills cells.
Iron comes later. Once the red cells burst, iron is released and fuels free radicals.
Inflammation runs through the whole period. Immune cells arrive within hours and stay for days.
[Point to the dark bar.] All three end in the same place: a leaky barrier, more swelling and more dead neurons. That is why patients can get worse days after the bleeding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Soft break 3, at about minute 14.]
[ASK] True or false?
The dark rim around the clot is starving tissue, like the penumbra in an ischaemic stroke.
Hands up for true.
[Count the hands. Say what you see.]
This matters, because for years people worried that lowering blood pressure would starve that rim.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Point, pause, explain.]
False.
Zazulia and colleagues scanned 19 patients with PET, 5 to 22 hours after onset. [Point to the first pair of bars.] Blood flow in the rim was low, at 56 percent of the other side. [Point to the second pair.] But oxygen use was even lower, at 48 percent. The tissue is resting, not starving.
The practical proof came in the ICH ADAPT trial. Lowering systolic pressure below 150 did not reduce blood flow around the clot.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seconds.]
So what do we do with all this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This is the heart of the talk. Slow down.]
Each stage is a window.
The vessel sits before and after the bleed. Blood pressure control is our strongest tool for preventing a first or a second bleed. Antithrombotics need careful review.
The first hours are when the clot grows. That means fast imaging, early blood pressure lowering and urgent reversal of anticoagulants. For every one of us, it means close neuro observations. A falling GCS is not something to watch overnight.
The days after are when the blood is toxic. Expect patients to fluctuate as the swelling peaks. New drowsiness, headache or vomiting means stop and escalate. Reassess before every session and pace therapy to what the brain can handle that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Read each line slowly. Pause between them.]
If you remember three things from tonight:
The vessel decides where it bleeds.
The first hours decide how big it gets.
The blood keeps injuring the brain for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questions. Bookend: return to Jill.]
Back to Jill.
It took her eight years to recover. Then, in 2008, she walked onto the TED stage holding a real human brain and told millions of people what it felt like from the inside.
Her bleed was not a moment. It was a process, and so was her recovery.
ICH is a process, not a moment.
[PAUSE for three full seconds.]
Thank you. What would you like me to clarify?
[If the room is quiet, ask the question on the slide and wait five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if people want the sources. Everything is also on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Type its slide number and press Enter to jump here if someone asks about other causes.]
With every bleed, ask whether something else caused it. Vascular malformations like Jill's AVM. Antithrombotic drugs, which make bleeds bigger and longer-lasting. Tumours. Venous thrombosis. Haemorrhagic transformation of an infarct. And a mixed group: cocaine, amphetamines, vasculitis, reversible vasoconstriction, moyamoya and clotting disorders.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Show only if someone asks what has changed since the book came out in 2014.]
Four updates. In 2022 the Boston criteria moved to version 2.0 and added white-matter MRI markers. In 2023, INTERACT3 showed that a care bundle of early blood pressure lowering, glucose and fever control, and anticoagulant reversal improved function at six months. In 2024, ENRICH showed that early minimally invasive clot removal helped, mainly for lobar bleeds. Also in 2024, ANNEXA-I found andexanet improved haemostasis in factor Xa inhibitor bleeds, but with more thrombotic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6583680" y="685800"/>
            <a:ext cx="5486400" cy="5486400"/>
          </a:xfrm>
          <a:prstGeom prst="ellipse">
            <a:avLst/>
          </a:prstGeom>
          <a:solidFill>
            <a:srgbClr val="FFFFFF">
              <a:alpha val="0"/>
            </a:srgbClr>
          </a:solidFill>
          <a:ln w="12700">
            <a:solidFill>
              <a:srgbClr val="3E5C76"/>
            </a:solidFill>
            <a:prstDash val="solid"/>
          </a:ln>
        </p:spPr>
      </p:sp>
      <p:sp>
        <p:nvSpPr>
          <p:cNvPr id="4" name="!!halo0"/>
          <p:cNvSpPr/>
          <p:nvPr/>
        </p:nvSpPr>
        <p:spPr>
          <a:xfrm>
            <a:off x="6995160" y="1097280"/>
            <a:ext cx="4663440" cy="4663440"/>
          </a:xfrm>
          <a:prstGeom prst="ellipse">
            <a:avLst/>
          </a:prstGeom>
          <a:solidFill>
            <a:srgbClr val="C1272D">
              <a:alpha val="10000"/>
            </a:srgbClr>
          </a:solidFill>
          <a:ln w="6350">
            <a:solidFill>
              <a:srgbClr val="C1272D">
                <a:alpha val="0"/>
              </a:srgbClr>
            </a:solidFill>
            <a:prstDash val="solid"/>
          </a:ln>
        </p:spPr>
      </p:sp>
      <p:sp>
        <p:nvSpPr>
          <p:cNvPr id="5" name="!!halo1"/>
          <p:cNvSpPr/>
          <p:nvPr/>
        </p:nvSpPr>
        <p:spPr>
          <a:xfrm>
            <a:off x="7498080" y="1600200"/>
            <a:ext cx="3657600" cy="3657600"/>
          </a:xfrm>
          <a:prstGeom prst="ellipse">
            <a:avLst/>
          </a:prstGeom>
          <a:solidFill>
            <a:srgbClr val="C1272D">
              <a:alpha val="22000"/>
            </a:srgbClr>
          </a:solidFill>
          <a:ln w="6350">
            <a:solidFill>
              <a:srgbClr val="C1272D">
                <a:alpha val="0"/>
              </a:srgbClr>
            </a:solidFill>
            <a:prstDash val="solid"/>
          </a:ln>
        </p:spPr>
      </p:sp>
      <p:sp>
        <p:nvSpPr>
          <p:cNvPr id="6" name="!!bleed"/>
          <p:cNvSpPr/>
          <p:nvPr/>
        </p:nvSpPr>
        <p:spPr>
          <a:xfrm>
            <a:off x="8001000" y="2103120"/>
            <a:ext cx="2651760" cy="2651760"/>
          </a:xfrm>
          <a:prstGeom prst="ellipse">
            <a:avLst/>
          </a:prstGeom>
          <a:solidFill>
            <a:srgbClr val="C1272D"/>
          </a:solidFill>
          <a:ln w="6350">
            <a:solidFill>
              <a:srgbClr val="C1272D"/>
            </a:solidFill>
            <a:prstDash val="solid"/>
          </a:ln>
        </p:spPr>
      </p:sp>
      <p:sp>
        <p:nvSpPr>
          <p:cNvPr id="7" name="Text 4"/>
          <p:cNvSpPr txBox="1"/>
          <p:nvPr/>
        </p:nvSpPr>
        <p:spPr>
          <a:xfrm>
            <a:off x="731520" y="1234440"/>
            <a:ext cx="5486400" cy="365760"/>
          </a:xfrm>
          <a:prstGeom prst="rect">
            <a:avLst/>
          </a:prstGeom>
          <a:noFill/>
          <a:ln/>
        </p:spPr>
        <p:txBody>
          <a:bodyPr wrap="square" lIns="0" tIns="0" rIns="0" bIns="0" rtlCol="0" anchor="ctr"/>
          <a:lstStyle/>
          <a:p>
            <a:pPr indent="0" marL="0">
              <a:buNone/>
            </a:pPr>
            <a:r>
              <a:rPr lang="en-US" sz="1600" b="1" spc="400" kern="0" dirty="0">
                <a:solidFill>
                  <a:srgbClr val="F08A8E"/>
                </a:solidFill>
                <a:latin typeface="Calibri" pitchFamily="34" charset="0"/>
                <a:ea typeface="Calibri" pitchFamily="34" charset="-122"/>
                <a:cs typeface="Calibri" pitchFamily="34" charset="-120"/>
              </a:rPr>
              <a:t>CHAPTER 5 REVIEW</a:t>
            </a:r>
            <a:endParaRPr lang="en-US" sz="1600" dirty="0"/>
          </a:p>
        </p:txBody>
      </p:sp>
      <p:sp>
        <p:nvSpPr>
          <p:cNvPr id="8" name="Text 5"/>
          <p:cNvSpPr txBox="1"/>
          <p:nvPr/>
        </p:nvSpPr>
        <p:spPr>
          <a:xfrm>
            <a:off x="731520" y="1691640"/>
            <a:ext cx="5852160" cy="19202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When the vessel breaks</a:t>
            </a:r>
            <a:endParaRPr lang="en-US" sz="6000" dirty="0"/>
          </a:p>
        </p:txBody>
      </p:sp>
      <p:sp>
        <p:nvSpPr>
          <p:cNvPr id="9" name="Text 6"/>
          <p:cNvSpPr txBox="1"/>
          <p:nvPr/>
        </p:nvSpPr>
        <p:spPr>
          <a:xfrm>
            <a:off x="731520" y="3657600"/>
            <a:ext cx="5486400" cy="868680"/>
          </a:xfrm>
          <a:prstGeom prst="rect">
            <a:avLst/>
          </a:prstGeom>
          <a:noFill/>
          <a:ln/>
        </p:spPr>
        <p:txBody>
          <a:bodyPr wrap="square" lIns="0" tIns="0" rIns="0" bIns="0" rtlCol="0" anchor="t"/>
          <a:lstStyle/>
          <a:p>
            <a:pPr indent="0" marL="0">
              <a:buNone/>
            </a:pPr>
            <a:r>
              <a:rPr lang="en-US" sz="2400" dirty="0">
                <a:solidFill>
                  <a:srgbClr val="C9D3E0"/>
                </a:solidFill>
                <a:latin typeface="Calibri" pitchFamily="34" charset="0"/>
                <a:ea typeface="Calibri" pitchFamily="34" charset="-122"/>
                <a:cs typeface="Calibri" pitchFamily="34" charset="-120"/>
              </a:rPr>
              <a:t>Pathophysiology of non-traumatic intracerebral haemorrhage</a:t>
            </a:r>
            <a:endParaRPr lang="en-US" sz="2400" dirty="0"/>
          </a:p>
        </p:txBody>
      </p:sp>
      <p:sp>
        <p:nvSpPr>
          <p:cNvPr id="10" name="Text 7"/>
          <p:cNvSpPr txBox="1"/>
          <p:nvPr/>
        </p:nvSpPr>
        <p:spPr>
          <a:xfrm>
            <a:off x="731520" y="4892040"/>
            <a:ext cx="5852160" cy="731520"/>
          </a:xfrm>
          <a:prstGeom prst="rect">
            <a:avLst/>
          </a:prstGeom>
          <a:noFill/>
          <a:ln/>
        </p:spPr>
        <p:txBody>
          <a:bodyPr wrap="square" lIns="0" tIns="0" rIns="0" bIns="0" rtlCol="0" anchor="t"/>
          <a:lstStyle/>
          <a:p>
            <a:pPr indent="0" marL="0">
              <a:spcAft>
                <a:spcPts val="400"/>
              </a:spcAft>
              <a:buNone/>
            </a:pPr>
            <a:r>
              <a:rPr lang="en-US" sz="1400" dirty="0">
                <a:solidFill>
                  <a:srgbClr val="93A6BC"/>
                </a:solidFill>
                <a:latin typeface="Calibri" pitchFamily="34" charset="0"/>
                <a:ea typeface="Calibri" pitchFamily="34" charset="-122"/>
                <a:cs typeface="Calibri" pitchFamily="34" charset="-120"/>
              </a:rPr>
              <a:t>Oxford Textbook of Stroke &amp; Cerebrovascular Disease, OUP 2014</a:t>
            </a:r>
            <a:endParaRPr lang="en-US" sz="1400" dirty="0"/>
          </a:p>
          <a:p>
            <a:pPr indent="0" marL="0">
              <a:spcAft>
                <a:spcPts val="400"/>
              </a:spcAft>
              <a:buNone/>
            </a:pPr>
            <a:r>
              <a:rPr lang="en-US" sz="1400" dirty="0">
                <a:solidFill>
                  <a:srgbClr val="93A6BC"/>
                </a:solidFill>
                <a:latin typeface="Calibri" pitchFamily="34" charset="0"/>
                <a:ea typeface="Calibri" pitchFamily="34" charset="-122"/>
                <a:cs typeface="Calibri" pitchFamily="34" charset="-120"/>
              </a:rPr>
              <a:t>Chapter authors: Constanza Rossi &amp; Charlotte Cordonnier</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33A"/>
        </a:solidFill>
      </p:bgPr>
    </p:bg>
    <p:spTree>
      <p:nvGrpSpPr>
        <p:cNvPr id="1" name=""/>
        <p:cNvGrpSpPr/>
        <p:nvPr/>
      </p:nvGrpSpPr>
      <p:grpSpPr>
        <a:xfrm>
          <a:off x="0" y="0"/>
          <a:ext cx="0" cy="0"/>
          <a:chOff x="0" y="0"/>
          <a:chExt cx="0" cy="0"/>
        </a:xfrm>
      </p:grpSpPr>
      <p:sp>
        <p:nvSpPr>
          <p:cNvPr id="3" name="!!date"/>
          <p:cNvSpPr txBox="1"/>
          <p:nvPr/>
        </p:nvSpPr>
        <p:spPr>
          <a:xfrm>
            <a:off x="731520" y="1097280"/>
            <a:ext cx="71323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10 December 1996</a:t>
            </a:r>
            <a:endParaRPr lang="en-US" sz="5400" dirty="0"/>
          </a:p>
        </p:txBody>
      </p:sp>
      <p:sp>
        <p:nvSpPr>
          <p:cNvPr id="4" name="!!who"/>
          <p:cNvSpPr txBox="1"/>
          <p:nvPr/>
        </p:nvSpPr>
        <p:spPr>
          <a:xfrm>
            <a:off x="731520" y="2057400"/>
            <a:ext cx="7132320" cy="457200"/>
          </a:xfrm>
          <a:prstGeom prst="rect">
            <a:avLst/>
          </a:prstGeom>
          <a:noFill/>
          <a:ln/>
        </p:spPr>
        <p:txBody>
          <a:bodyPr wrap="square" lIns="0" tIns="0" rIns="0" bIns="0" rtlCol="0" anchor="ctr"/>
          <a:lstStyle/>
          <a:p>
            <a:pPr indent="0" marL="0">
              <a:buNone/>
            </a:pPr>
            <a:r>
              <a:rPr lang="en-US" sz="2000" dirty="0">
                <a:solidFill>
                  <a:srgbClr val="F08A8E"/>
                </a:solidFill>
                <a:latin typeface="Calibri" pitchFamily="34" charset="0"/>
                <a:ea typeface="Calibri" pitchFamily="34" charset="-122"/>
                <a:cs typeface="Calibri" pitchFamily="34" charset="-120"/>
              </a:rPr>
              <a:t>7 a.m.  ·  Jill Bolte Taylor, neuroanatomist, aged 37</a:t>
            </a:r>
            <a:endParaRPr lang="en-US" sz="2000" dirty="0"/>
          </a:p>
        </p:txBody>
      </p:sp>
      <p:sp>
        <p:nvSpPr>
          <p:cNvPr id="5" name="!!quote"/>
          <p:cNvSpPr txBox="1"/>
          <p:nvPr/>
        </p:nvSpPr>
        <p:spPr>
          <a:xfrm>
            <a:off x="731520" y="3017520"/>
            <a:ext cx="6766560" cy="1463040"/>
          </a:xfrm>
          <a:prstGeom prst="rect">
            <a:avLst/>
          </a:prstGeom>
          <a:noFill/>
          <a:ln/>
        </p:spPr>
        <p:txBody>
          <a:bodyPr wrap="square" lIns="0" tIns="0" rIns="0" bIns="0" rtlCol="0" anchor="t"/>
          <a:lstStyle/>
          <a:p>
            <a:pPr indent="0" marL="0">
              <a:buNone/>
            </a:pPr>
            <a:r>
              <a:rPr lang="en-US" sz="3200" i="1" dirty="0">
                <a:solidFill>
                  <a:srgbClr val="FFFFFF"/>
                </a:solidFill>
                <a:latin typeface="Cambria" pitchFamily="34" charset="0"/>
                <a:ea typeface="Cambria" pitchFamily="34" charset="-122"/>
                <a:cs typeface="Cambria" pitchFamily="34" charset="-120"/>
              </a:rPr>
              <a:t>“I woke up to a pounding pain behind my left eye.”</a:t>
            </a:r>
            <a:endParaRPr lang="en-US" sz="3200" dirty="0"/>
          </a:p>
        </p:txBody>
      </p:sp>
      <p:sp>
        <p:nvSpPr>
          <p:cNvPr id="6" name="!!skull"/>
          <p:cNvSpPr/>
          <p:nvPr/>
        </p:nvSpPr>
        <p:spPr>
          <a:xfrm>
            <a:off x="7772400" y="1417320"/>
            <a:ext cx="4023360" cy="4023360"/>
          </a:xfrm>
          <a:prstGeom prst="ellipse">
            <a:avLst/>
          </a:prstGeom>
          <a:solidFill>
            <a:srgbClr val="FFFFFF">
              <a:alpha val="0"/>
            </a:srgbClr>
          </a:solidFill>
          <a:ln w="12700">
            <a:solidFill>
              <a:srgbClr val="3E5C76"/>
            </a:solidFill>
            <a:prstDash val="solid"/>
          </a:ln>
        </p:spPr>
      </p:sp>
      <p:sp>
        <p:nvSpPr>
          <p:cNvPr id="7" name="!!bleed"/>
          <p:cNvSpPr/>
          <p:nvPr/>
        </p:nvSpPr>
        <p:spPr>
          <a:xfrm>
            <a:off x="9578340" y="3223260"/>
            <a:ext cx="411480" cy="411480"/>
          </a:xfrm>
          <a:prstGeom prst="ellipse">
            <a:avLst/>
          </a:prstGeom>
          <a:solidFill>
            <a:srgbClr val="C1272D"/>
          </a:solidFill>
          <a:ln w="6350">
            <a:solidFill>
              <a:srgbClr val="C1272D"/>
            </a:solidFill>
            <a:prstDash val="solid"/>
          </a:ln>
        </p:spPr>
      </p:sp>
      <p:sp>
        <p:nvSpPr>
          <p:cNvPr id="8" name="Text 5"/>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93A6BC"/>
                </a:solidFill>
                <a:latin typeface="Calibri" pitchFamily="34" charset="0"/>
                <a:ea typeface="Calibri" pitchFamily="34" charset="-122"/>
                <a:cs typeface="Calibri" pitchFamily="34" charset="-120"/>
              </a:rPr>
              <a:t>Source: Jill Bolte Taylor, "My stroke of insight", TED 2008.</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33A"/>
        </a:solidFill>
      </p:bgPr>
    </p:bg>
    <p:spTree>
      <p:nvGrpSpPr>
        <p:cNvPr id="1" name=""/>
        <p:cNvGrpSpPr/>
        <p:nvPr/>
      </p:nvGrpSpPr>
      <p:grpSpPr>
        <a:xfrm>
          <a:off x="0" y="0"/>
          <a:ext cx="0" cy="0"/>
          <a:chOff x="0" y="0"/>
          <a:chExt cx="0" cy="0"/>
        </a:xfrm>
      </p:grpSpPr>
      <p:sp>
        <p:nvSpPr>
          <p:cNvPr id="3" name="!!date"/>
          <p:cNvSpPr txBox="1"/>
          <p:nvPr/>
        </p:nvSpPr>
        <p:spPr>
          <a:xfrm>
            <a:off x="731520" y="1097280"/>
            <a:ext cx="71323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10 December 1996</a:t>
            </a:r>
            <a:endParaRPr lang="en-US" sz="5400" dirty="0"/>
          </a:p>
        </p:txBody>
      </p:sp>
      <p:sp>
        <p:nvSpPr>
          <p:cNvPr id="4" name="!!who"/>
          <p:cNvSpPr txBox="1"/>
          <p:nvPr/>
        </p:nvSpPr>
        <p:spPr>
          <a:xfrm>
            <a:off x="731520" y="2057400"/>
            <a:ext cx="7132320" cy="457200"/>
          </a:xfrm>
          <a:prstGeom prst="rect">
            <a:avLst/>
          </a:prstGeom>
          <a:noFill/>
          <a:ln/>
        </p:spPr>
        <p:txBody>
          <a:bodyPr wrap="square" lIns="0" tIns="0" rIns="0" bIns="0" rtlCol="0" anchor="ctr"/>
          <a:lstStyle/>
          <a:p>
            <a:pPr indent="0" marL="0">
              <a:buNone/>
            </a:pPr>
            <a:r>
              <a:rPr lang="en-US" sz="2000" dirty="0">
                <a:solidFill>
                  <a:srgbClr val="F08A8E"/>
                </a:solidFill>
                <a:latin typeface="Calibri" pitchFamily="34" charset="0"/>
                <a:ea typeface="Calibri" pitchFamily="34" charset="-122"/>
                <a:cs typeface="Calibri" pitchFamily="34" charset="-120"/>
              </a:rPr>
              <a:t>7 a.m.  ·  Jill Bolte Taylor, neuroanatomist, aged 37</a:t>
            </a:r>
            <a:endParaRPr lang="en-US" sz="2000" dirty="0"/>
          </a:p>
        </p:txBody>
      </p:sp>
      <p:sp>
        <p:nvSpPr>
          <p:cNvPr id="5" name="!!line2"/>
          <p:cNvSpPr txBox="1"/>
          <p:nvPr/>
        </p:nvSpPr>
        <p:spPr>
          <a:xfrm>
            <a:off x="731520" y="3017520"/>
            <a:ext cx="6766560" cy="1463040"/>
          </a:xfrm>
          <a:prstGeom prst="rect">
            <a:avLst/>
          </a:prstGeom>
          <a:noFill/>
          <a:ln/>
        </p:spPr>
        <p:txBody>
          <a:bodyPr wrap="square" lIns="0" tIns="0" rIns="0" bIns="0" rtlCol="0" anchor="t"/>
          <a:lstStyle/>
          <a:p>
            <a:pPr indent="0" marL="0">
              <a:buNone/>
            </a:pPr>
            <a:r>
              <a:rPr lang="en-US" sz="3200" dirty="0">
                <a:solidFill>
                  <a:srgbClr val="FFFFFF"/>
                </a:solidFill>
                <a:latin typeface="Cambria" pitchFamily="34" charset="0"/>
                <a:ea typeface="Cambria" pitchFamily="34" charset="-122"/>
                <a:cs typeface="Cambria" pitchFamily="34" charset="-120"/>
              </a:rPr>
              <a:t>Within four hours she could not </a:t>
            </a:r>
            <a:pPr indent="0" marL="0">
              <a:buNone/>
            </a:pPr>
            <a:r>
              <a:rPr lang="en-US" sz="3200" b="1" dirty="0">
                <a:solidFill>
                  <a:srgbClr val="F08A8E"/>
                </a:solidFill>
                <a:latin typeface="Cambria" pitchFamily="34" charset="0"/>
                <a:ea typeface="Cambria" pitchFamily="34" charset="-122"/>
                <a:cs typeface="Cambria" pitchFamily="34" charset="-120"/>
              </a:rPr>
              <a:t>walk, talk, read or write.</a:t>
            </a:r>
            <a:endParaRPr lang="en-US" sz="3200" dirty="0"/>
          </a:p>
        </p:txBody>
      </p:sp>
      <p:sp>
        <p:nvSpPr>
          <p:cNvPr id="6" name="!!skull"/>
          <p:cNvSpPr/>
          <p:nvPr/>
        </p:nvSpPr>
        <p:spPr>
          <a:xfrm>
            <a:off x="7772400" y="1417320"/>
            <a:ext cx="4023360" cy="4023360"/>
          </a:xfrm>
          <a:prstGeom prst="ellipse">
            <a:avLst/>
          </a:prstGeom>
          <a:solidFill>
            <a:srgbClr val="FFFFFF">
              <a:alpha val="0"/>
            </a:srgbClr>
          </a:solidFill>
          <a:ln w="12700">
            <a:solidFill>
              <a:srgbClr val="3E5C76"/>
            </a:solidFill>
            <a:prstDash val="solid"/>
          </a:ln>
        </p:spPr>
      </p:sp>
      <p:sp>
        <p:nvSpPr>
          <p:cNvPr id="7" name="!!halo0"/>
          <p:cNvSpPr/>
          <p:nvPr/>
        </p:nvSpPr>
        <p:spPr>
          <a:xfrm>
            <a:off x="8229600" y="1874520"/>
            <a:ext cx="3108960" cy="3108960"/>
          </a:xfrm>
          <a:prstGeom prst="ellipse">
            <a:avLst/>
          </a:prstGeom>
          <a:solidFill>
            <a:srgbClr val="C1272D">
              <a:alpha val="18000"/>
            </a:srgbClr>
          </a:solidFill>
          <a:ln w="6350">
            <a:solidFill>
              <a:srgbClr val="C1272D">
                <a:alpha val="0"/>
              </a:srgbClr>
            </a:solidFill>
            <a:prstDash val="solid"/>
          </a:ln>
        </p:spPr>
      </p:sp>
      <p:sp>
        <p:nvSpPr>
          <p:cNvPr id="8" name="!!bleed"/>
          <p:cNvSpPr/>
          <p:nvPr/>
        </p:nvSpPr>
        <p:spPr>
          <a:xfrm>
            <a:off x="8778240" y="2423160"/>
            <a:ext cx="2011680" cy="2011680"/>
          </a:xfrm>
          <a:prstGeom prst="ellipse">
            <a:avLst/>
          </a:prstGeom>
          <a:solidFill>
            <a:srgbClr val="C1272D"/>
          </a:solidFill>
          <a:ln w="6350">
            <a:solidFill>
              <a:srgbClr val="C1272D"/>
            </a:solidFill>
            <a:prstDash val="solid"/>
          </a:ln>
        </p:spPr>
      </p:sp>
      <p:sp>
        <p:nvSpPr>
          <p:cNvPr id="9" name="Text 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93A6BC"/>
                </a:solidFill>
                <a:latin typeface="Calibri" pitchFamily="34" charset="0"/>
                <a:ea typeface="Calibri" pitchFamily="34" charset="-122"/>
                <a:cs typeface="Calibri" pitchFamily="34" charset="-120"/>
              </a:rPr>
              <a:t>Source: Jill Bolte Taylor, "My stroke of insight", TED 2008.</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WHY IT MATTERS</a:t>
            </a:r>
            <a:endParaRPr lang="en-US" sz="1400" dirty="0"/>
          </a:p>
        </p:txBody>
      </p:sp>
      <p:sp>
        <p:nvSpPr>
          <p:cNvPr id="4" name="Text 1"/>
          <p:cNvSpPr txBox="1"/>
          <p:nvPr/>
        </p:nvSpPr>
        <p:spPr>
          <a:xfrm>
            <a:off x="548640" y="1325880"/>
            <a:ext cx="5852160" cy="2743200"/>
          </a:xfrm>
          <a:prstGeom prst="rect">
            <a:avLst/>
          </a:prstGeom>
          <a:noFill/>
          <a:ln/>
        </p:spPr>
        <p:txBody>
          <a:bodyPr wrap="square" lIns="0" tIns="0" rIns="0" bIns="0" rtlCol="0" anchor="ctr"/>
          <a:lstStyle/>
          <a:p>
            <a:pPr indent="0" marL="0">
              <a:buNone/>
            </a:pPr>
            <a:r>
              <a:rPr lang="en-US" sz="20000" b="1" dirty="0">
                <a:solidFill>
                  <a:srgbClr val="C1272D"/>
                </a:solidFill>
                <a:latin typeface="Cambria" pitchFamily="34" charset="0"/>
                <a:ea typeface="Cambria" pitchFamily="34" charset="-122"/>
                <a:cs typeface="Cambria" pitchFamily="34" charset="-120"/>
              </a:rPr>
              <a:t>40%</a:t>
            </a:r>
            <a:endParaRPr lang="en-US" sz="20000" dirty="0"/>
          </a:p>
        </p:txBody>
      </p:sp>
      <p:sp>
        <p:nvSpPr>
          <p:cNvPr id="5" name="Text 2"/>
          <p:cNvSpPr txBox="1"/>
          <p:nvPr/>
        </p:nvSpPr>
        <p:spPr>
          <a:xfrm>
            <a:off x="6400800" y="1920240"/>
            <a:ext cx="5212080" cy="1463040"/>
          </a:xfrm>
          <a:prstGeom prst="rect">
            <a:avLst/>
          </a:prstGeom>
          <a:noFill/>
          <a:ln/>
        </p:spPr>
        <p:txBody>
          <a:bodyPr wrap="square" lIns="0" tIns="0" rIns="0" bIns="0" rtlCol="0" anchor="ctr"/>
          <a:lstStyle/>
          <a:p>
            <a:pPr indent="0" marL="0">
              <a:buNone/>
            </a:pPr>
            <a:r>
              <a:rPr lang="en-US" sz="3200" b="1" dirty="0">
                <a:solidFill>
                  <a:srgbClr val="13233A"/>
                </a:solidFill>
                <a:latin typeface="Calibri" pitchFamily="34" charset="0"/>
                <a:ea typeface="Calibri" pitchFamily="34" charset="-122"/>
                <a:cs typeface="Calibri" pitchFamily="34" charset="-120"/>
              </a:rPr>
              <a:t>die within a month of an intracerebral haemorrhage</a:t>
            </a:r>
            <a:endParaRPr lang="en-US" sz="3200" dirty="0"/>
          </a:p>
        </p:txBody>
      </p:sp>
      <p:sp>
        <p:nvSpPr>
          <p:cNvPr id="6" name="Text 3"/>
          <p:cNvSpPr txBox="1"/>
          <p:nvPr/>
        </p:nvSpPr>
        <p:spPr>
          <a:xfrm>
            <a:off x="6400800" y="3474720"/>
            <a:ext cx="5212080" cy="548640"/>
          </a:xfrm>
          <a:prstGeom prst="rect">
            <a:avLst/>
          </a:prstGeom>
          <a:noFill/>
          <a:ln/>
        </p:spPr>
        <p:txBody>
          <a:bodyPr wrap="square" lIns="0" tIns="0" rIns="0" bIns="0" rtlCol="0" anchor="ctr"/>
          <a:lstStyle/>
          <a:p>
            <a:pPr indent="0" marL="0">
              <a:buNone/>
            </a:pPr>
            <a:r>
              <a:rPr lang="en-US" sz="2400" dirty="0">
                <a:solidFill>
                  <a:srgbClr val="3E5C76"/>
                </a:solidFill>
                <a:latin typeface="Calibri" pitchFamily="34" charset="0"/>
                <a:ea typeface="Calibri" pitchFamily="34" charset="-122"/>
                <a:cs typeface="Calibri" pitchFamily="34" charset="-120"/>
              </a:rPr>
              <a:t>No improvement from 1980 to 2008.</a:t>
            </a:r>
            <a:endParaRPr lang="en-US" sz="2400" dirty="0"/>
          </a:p>
        </p:txBody>
      </p:sp>
      <p:sp>
        <p:nvSpPr>
          <p:cNvPr id="7" name="Text 4"/>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van Asch et al., Lancet Neurol 2010 (36 population studies, 8145 patients): median 1-month case fatality 40.4%.</a:t>
            </a:r>
            <a:endParaRPr lang="en-US" sz="1200" dirty="0"/>
          </a:p>
        </p:txBody>
      </p:sp>
      <p:sp>
        <p:nvSpPr>
          <p:cNvPr id="8" name="Text 5"/>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9"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0"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1"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2"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3"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14"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15"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6"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17"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4</a:t>
            </a:r>
            <a:endParaRPr lang="en-US" sz="11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THE BIG IDEA</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ICH is a process, not a moment</a:t>
            </a:r>
            <a:endParaRPr lang="en-US" sz="4000" dirty="0"/>
          </a:p>
        </p:txBody>
      </p:sp>
      <p:sp>
        <p:nvSpPr>
          <p:cNvPr id="5" name="Shape 2"/>
          <p:cNvSpPr/>
          <p:nvPr/>
        </p:nvSpPr>
        <p:spPr>
          <a:xfrm>
            <a:off x="1554480" y="3246120"/>
            <a:ext cx="7680960" cy="0"/>
          </a:xfrm>
          <a:prstGeom prst="line">
            <a:avLst/>
          </a:prstGeom>
          <a:noFill/>
          <a:ln w="38100">
            <a:solidFill>
              <a:srgbClr val="C9D2DE"/>
            </a:solidFill>
            <a:prstDash val="solid"/>
          </a:ln>
        </p:spPr>
      </p:sp>
      <p:sp>
        <p:nvSpPr>
          <p:cNvPr id="6" name="Shape 3"/>
          <p:cNvSpPr/>
          <p:nvPr/>
        </p:nvSpPr>
        <p:spPr>
          <a:xfrm>
            <a:off x="1188720" y="2880360"/>
            <a:ext cx="731520" cy="731520"/>
          </a:xfrm>
          <a:prstGeom prst="ellipse">
            <a:avLst/>
          </a:prstGeom>
          <a:solidFill>
            <a:srgbClr val="C1272D"/>
          </a:solidFill>
          <a:ln w="6350">
            <a:solidFill>
              <a:srgbClr val="C1272D"/>
            </a:solidFill>
            <a:prstDash val="solid"/>
          </a:ln>
        </p:spPr>
      </p:sp>
      <p:sp>
        <p:nvSpPr>
          <p:cNvPr id="7" name="Text 4"/>
          <p:cNvSpPr txBox="1"/>
          <p:nvPr/>
        </p:nvSpPr>
        <p:spPr>
          <a:xfrm>
            <a:off x="1188720" y="288036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822960" y="4434840"/>
            <a:ext cx="35661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The vessel</a:t>
            </a:r>
            <a:endParaRPr lang="en-US" sz="2800" dirty="0"/>
          </a:p>
        </p:txBody>
      </p:sp>
      <p:sp>
        <p:nvSpPr>
          <p:cNvPr id="9" name="Shape 6"/>
          <p:cNvSpPr/>
          <p:nvPr/>
        </p:nvSpPr>
        <p:spPr>
          <a:xfrm>
            <a:off x="4846320" y="2697480"/>
            <a:ext cx="1097280" cy="1097280"/>
          </a:xfrm>
          <a:prstGeom prst="ellipse">
            <a:avLst/>
          </a:prstGeom>
          <a:solidFill>
            <a:srgbClr val="C1272D"/>
          </a:solidFill>
          <a:ln w="6350">
            <a:solidFill>
              <a:srgbClr val="C1272D"/>
            </a:solidFill>
            <a:prstDash val="solid"/>
          </a:ln>
        </p:spPr>
      </p:sp>
      <p:sp>
        <p:nvSpPr>
          <p:cNvPr id="10" name="Text 7"/>
          <p:cNvSpPr txBox="1"/>
          <p:nvPr/>
        </p:nvSpPr>
        <p:spPr>
          <a:xfrm>
            <a:off x="4846320" y="2697480"/>
            <a:ext cx="1097280" cy="10972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1" name="Text 8"/>
          <p:cNvSpPr txBox="1"/>
          <p:nvPr/>
        </p:nvSpPr>
        <p:spPr>
          <a:xfrm>
            <a:off x="4663440" y="4434840"/>
            <a:ext cx="35661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The first hours</a:t>
            </a:r>
            <a:endParaRPr lang="en-US" sz="2800" dirty="0"/>
          </a:p>
        </p:txBody>
      </p:sp>
      <p:sp>
        <p:nvSpPr>
          <p:cNvPr id="12" name="Shape 9"/>
          <p:cNvSpPr/>
          <p:nvPr/>
        </p:nvSpPr>
        <p:spPr>
          <a:xfrm>
            <a:off x="8183880" y="2194560"/>
            <a:ext cx="2103120" cy="2103120"/>
          </a:xfrm>
          <a:prstGeom prst="ellipse">
            <a:avLst/>
          </a:prstGeom>
          <a:solidFill>
            <a:srgbClr val="C1272D">
              <a:alpha val="18000"/>
            </a:srgbClr>
          </a:solidFill>
          <a:ln w="6350">
            <a:solidFill>
              <a:srgbClr val="C1272D">
                <a:alpha val="0"/>
              </a:srgbClr>
            </a:solidFill>
            <a:prstDash val="solid"/>
          </a:ln>
        </p:spPr>
      </p:sp>
      <p:sp>
        <p:nvSpPr>
          <p:cNvPr id="13" name="Shape 10"/>
          <p:cNvSpPr/>
          <p:nvPr/>
        </p:nvSpPr>
        <p:spPr>
          <a:xfrm>
            <a:off x="8503920" y="2514600"/>
            <a:ext cx="1463040" cy="1463040"/>
          </a:xfrm>
          <a:prstGeom prst="ellipse">
            <a:avLst/>
          </a:prstGeom>
          <a:solidFill>
            <a:srgbClr val="C1272D"/>
          </a:solidFill>
          <a:ln w="6350">
            <a:solidFill>
              <a:srgbClr val="C1272D"/>
            </a:solidFill>
            <a:prstDash val="solid"/>
          </a:ln>
        </p:spPr>
      </p:sp>
      <p:sp>
        <p:nvSpPr>
          <p:cNvPr id="14" name="Text 11"/>
          <p:cNvSpPr txBox="1"/>
          <p:nvPr/>
        </p:nvSpPr>
        <p:spPr>
          <a:xfrm>
            <a:off x="8503920" y="2514600"/>
            <a:ext cx="1463040" cy="14630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5" name="Text 12"/>
          <p:cNvSpPr txBox="1"/>
          <p:nvPr/>
        </p:nvSpPr>
        <p:spPr>
          <a:xfrm>
            <a:off x="8503920" y="4434840"/>
            <a:ext cx="35661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The days after</a:t>
            </a:r>
            <a:endParaRPr lang="en-US" sz="2800" dirty="0"/>
          </a:p>
        </p:txBody>
      </p:sp>
      <p:sp>
        <p:nvSpPr>
          <p:cNvPr id="16" name="Text 13"/>
          <p:cNvSpPr txBox="1"/>
          <p:nvPr/>
        </p:nvSpPr>
        <p:spPr>
          <a:xfrm>
            <a:off x="822960" y="5120640"/>
            <a:ext cx="9144000" cy="502920"/>
          </a:xfrm>
          <a:prstGeom prst="rect">
            <a:avLst/>
          </a:prstGeom>
          <a:noFill/>
          <a:ln/>
        </p:spPr>
        <p:txBody>
          <a:bodyPr wrap="square" lIns="0" tIns="0" rIns="0" bIns="0" rtlCol="0" anchor="t"/>
          <a:lstStyle/>
          <a:p>
            <a:pPr indent="0" marL="0">
              <a:buNone/>
            </a:pPr>
            <a:r>
              <a:rPr lang="en-US" sz="2400" dirty="0">
                <a:solidFill>
                  <a:srgbClr val="3E5C76"/>
                </a:solidFill>
                <a:latin typeface="Calibri" pitchFamily="34" charset="0"/>
                <a:ea typeface="Calibri" pitchFamily="34" charset="-122"/>
                <a:cs typeface="Calibri" pitchFamily="34" charset="-120"/>
              </a:rPr>
              <a:t>Each stage is a window to act.</a:t>
            </a:r>
            <a:endParaRPr lang="en-US" sz="2400" dirty="0"/>
          </a:p>
        </p:txBody>
      </p:sp>
      <p:sp>
        <p:nvSpPr>
          <p:cNvPr id="17" name="Text 14"/>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8"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9"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0"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1"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2"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3"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24"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25"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6"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5</a:t>
            </a:r>
            <a:endParaRPr lang="en-US" sz="11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6583680" y="685800"/>
            <a:ext cx="5486400" cy="5486400"/>
          </a:xfrm>
          <a:prstGeom prst="ellipse">
            <a:avLst/>
          </a:prstGeom>
          <a:solidFill>
            <a:srgbClr val="FFFFFF">
              <a:alpha val="0"/>
            </a:srgbClr>
          </a:solidFill>
          <a:ln w="12700">
            <a:solidFill>
              <a:srgbClr val="3E5C76"/>
            </a:solidFill>
            <a:prstDash val="solid"/>
          </a:ln>
        </p:spPr>
      </p:sp>
      <p:sp>
        <p:nvSpPr>
          <p:cNvPr id="4" name="!!bleed"/>
          <p:cNvSpPr/>
          <p:nvPr/>
        </p:nvSpPr>
        <p:spPr>
          <a:xfrm>
            <a:off x="8686800" y="2788920"/>
            <a:ext cx="1280160" cy="1280160"/>
          </a:xfrm>
          <a:prstGeom prst="ellipse">
            <a:avLst/>
          </a:prstGeom>
          <a:solidFill>
            <a:srgbClr val="C1272D"/>
          </a:solidFill>
          <a:ln w="6350">
            <a:solidFill>
              <a:srgbClr val="C1272D"/>
            </a:solidFill>
            <a:prstDash val="solid"/>
          </a:ln>
        </p:spPr>
      </p:sp>
      <p:sp>
        <p:nvSpPr>
          <p:cNvPr id="5" name="Text 2"/>
          <p:cNvSpPr txBox="1"/>
          <p:nvPr/>
        </p:nvSpPr>
        <p:spPr>
          <a:xfrm>
            <a:off x="731520" y="1325880"/>
            <a:ext cx="2743200" cy="1463040"/>
          </a:xfrm>
          <a:prstGeom prst="rect">
            <a:avLst/>
          </a:prstGeom>
          <a:noFill/>
          <a:ln/>
        </p:spPr>
        <p:txBody>
          <a:bodyPr wrap="square" lIns="0" tIns="0" rIns="0" bIns="0" rtlCol="0" anchor="b"/>
          <a:lstStyle/>
          <a:p>
            <a:pPr indent="0" marL="0">
              <a:buNone/>
            </a:pPr>
            <a:r>
              <a:rPr lang="en-US" sz="11000" b="1" dirty="0">
                <a:solidFill>
                  <a:srgbClr val="E0474C"/>
                </a:solidFill>
                <a:latin typeface="Cambria" pitchFamily="34" charset="0"/>
                <a:ea typeface="Cambria" pitchFamily="34" charset="-122"/>
                <a:cs typeface="Cambria" pitchFamily="34" charset="-120"/>
              </a:rPr>
              <a:t>01</a:t>
            </a:r>
            <a:endParaRPr lang="en-US" sz="11000" dirty="0"/>
          </a:p>
        </p:txBody>
      </p:sp>
      <p:sp>
        <p:nvSpPr>
          <p:cNvPr id="6" name="Text 3"/>
          <p:cNvSpPr txBox="1"/>
          <p:nvPr/>
        </p:nvSpPr>
        <p:spPr>
          <a:xfrm>
            <a:off x="731520" y="2926080"/>
            <a:ext cx="62179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vessel</a:t>
            </a:r>
            <a:endParaRPr lang="en-US" sz="5400" dirty="0"/>
          </a:p>
        </p:txBody>
      </p:sp>
      <p:sp>
        <p:nvSpPr>
          <p:cNvPr id="7" name="Text 4"/>
          <p:cNvSpPr txBox="1"/>
          <p:nvPr/>
        </p:nvSpPr>
        <p:spPr>
          <a:xfrm>
            <a:off x="731520" y="3931920"/>
            <a:ext cx="5760720" cy="82296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Why does a small artery give way?</a:t>
            </a:r>
            <a:endParaRPr lang="en-US" sz="2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01 · THE VESSEL</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Hypertension and amyloid cause over half</a:t>
            </a:r>
            <a:endParaRPr lang="en-US" sz="4000" dirty="0"/>
          </a:p>
        </p:txBody>
      </p:sp>
      <p:graphicFrame>
        <p:nvGraphicFramePr>
          <p:cNvPr id="5" name="Chart 0" descr=""/>
          <p:cNvGraphicFramePr/>
          <p:nvPr/>
        </p:nvGraphicFramePr>
        <p:xfrm>
          <a:off x="548640" y="1691640"/>
          <a:ext cx="7589520" cy="41148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503920" y="1828800"/>
            <a:ext cx="3139135" cy="3931920"/>
          </a:xfrm>
          <a:prstGeom prst="roundRect">
            <a:avLst>
              <a:gd name="adj" fmla="val 2913"/>
            </a:avLst>
          </a:prstGeom>
          <a:solidFill>
            <a:srgbClr val="F6DCDD"/>
          </a:solidFill>
          <a:ln w="6350">
            <a:solidFill>
              <a:srgbClr val="F6DCDD"/>
            </a:solidFill>
            <a:prstDash val="solid"/>
          </a:ln>
        </p:spPr>
      </p:sp>
      <p:sp>
        <p:nvSpPr>
          <p:cNvPr id="7" name="Text 3"/>
          <p:cNvSpPr txBox="1"/>
          <p:nvPr/>
        </p:nvSpPr>
        <p:spPr>
          <a:xfrm>
            <a:off x="8823960" y="2606040"/>
            <a:ext cx="2499055" cy="1280160"/>
          </a:xfrm>
          <a:prstGeom prst="rect">
            <a:avLst/>
          </a:prstGeom>
          <a:noFill/>
          <a:ln/>
        </p:spPr>
        <p:txBody>
          <a:bodyPr wrap="square" lIns="0" tIns="0" rIns="0" bIns="0" rtlCol="0" anchor="ctr"/>
          <a:lstStyle/>
          <a:p>
            <a:pPr indent="0" marL="0">
              <a:buNone/>
            </a:pPr>
            <a:r>
              <a:rPr lang="en-US" sz="8000" b="1" dirty="0">
                <a:solidFill>
                  <a:srgbClr val="C1272D"/>
                </a:solidFill>
                <a:latin typeface="Cambria" pitchFamily="34" charset="0"/>
                <a:ea typeface="Cambria" pitchFamily="34" charset="-122"/>
                <a:cs typeface="Cambria" pitchFamily="34" charset="-120"/>
              </a:rPr>
              <a:t>55%</a:t>
            </a:r>
            <a:endParaRPr lang="en-US" sz="8000" dirty="0"/>
          </a:p>
        </p:txBody>
      </p:sp>
      <p:sp>
        <p:nvSpPr>
          <p:cNvPr id="8" name="Text 4"/>
          <p:cNvSpPr txBox="1"/>
          <p:nvPr/>
        </p:nvSpPr>
        <p:spPr>
          <a:xfrm>
            <a:off x="8823960" y="3931920"/>
            <a:ext cx="2499055" cy="1005840"/>
          </a:xfrm>
          <a:prstGeom prst="rect">
            <a:avLst/>
          </a:prstGeom>
          <a:noFill/>
          <a:ln/>
        </p:spPr>
        <p:txBody>
          <a:bodyPr wrap="square" lIns="0" tIns="0" rIns="0" bIns="0" rtlCol="0" anchor="t"/>
          <a:lstStyle/>
          <a:p>
            <a:pPr indent="0" marL="0">
              <a:buNone/>
            </a:pPr>
            <a:r>
              <a:rPr lang="en-US" sz="2600" b="1" dirty="0">
                <a:solidFill>
                  <a:srgbClr val="8E1B1F"/>
                </a:solidFill>
                <a:latin typeface="Calibri" pitchFamily="34" charset="0"/>
                <a:ea typeface="Calibri" pitchFamily="34" charset="-122"/>
                <a:cs typeface="Calibri" pitchFamily="34" charset="-120"/>
              </a:rPr>
              <a:t>two small-vessel diseases</a:t>
            </a:r>
            <a:endParaRPr lang="en-US" sz="2600" dirty="0"/>
          </a:p>
        </p:txBody>
      </p:sp>
      <p:sp>
        <p:nvSpPr>
          <p:cNvPr id="9" name="Text 5"/>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SMASH-U: Meretoja et al., Stroke 2012 (n = 1013, Helsinki). Full breakdown on the handout.</a:t>
            </a:r>
            <a:endParaRPr lang="en-US" sz="1200" dirty="0"/>
          </a:p>
        </p:txBody>
      </p:sp>
      <p:sp>
        <p:nvSpPr>
          <p:cNvPr id="10" name="Text 6"/>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1"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12"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13"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4"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5"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16"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17"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8"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19"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7</a:t>
            </a:r>
            <a:endParaRPr lang="en-US" sz="11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01 · THE VESSEL</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Two diseases, two sets of vessels</a:t>
            </a:r>
            <a:endParaRPr lang="en-US" sz="4000" dirty="0"/>
          </a:p>
        </p:txBody>
      </p:sp>
      <p:sp>
        <p:nvSpPr>
          <p:cNvPr id="5" name="Shape 2"/>
          <p:cNvSpPr/>
          <p:nvPr/>
        </p:nvSpPr>
        <p:spPr>
          <a:xfrm>
            <a:off x="548640" y="1737360"/>
            <a:ext cx="3515258" cy="4069080"/>
          </a:xfrm>
          <a:prstGeom prst="roundRect">
            <a:avLst>
              <a:gd name="adj" fmla="val 2601"/>
            </a:avLst>
          </a:prstGeom>
          <a:solidFill>
            <a:srgbClr val="F3F5F8"/>
          </a:solidFill>
          <a:ln w="6350">
            <a:solidFill>
              <a:srgbClr val="F3F5F8"/>
            </a:solidFill>
            <a:prstDash val="solid"/>
          </a:ln>
        </p:spPr>
      </p:sp>
      <p:sp>
        <p:nvSpPr>
          <p:cNvPr id="6" name="Shape 3"/>
          <p:cNvSpPr/>
          <p:nvPr/>
        </p:nvSpPr>
        <p:spPr>
          <a:xfrm>
            <a:off x="1346149" y="2011680"/>
            <a:ext cx="1920240" cy="1920240"/>
          </a:xfrm>
          <a:prstGeom prst="ellipse">
            <a:avLst/>
          </a:prstGeom>
          <a:solidFill>
            <a:srgbClr val="C3CEDB"/>
          </a:solidFill>
          <a:ln w="6350">
            <a:solidFill>
              <a:srgbClr val="C3CEDB"/>
            </a:solidFill>
            <a:prstDash val="solid"/>
          </a:ln>
        </p:spPr>
      </p:sp>
      <p:sp>
        <p:nvSpPr>
          <p:cNvPr id="7" name="Shape 4"/>
          <p:cNvSpPr/>
          <p:nvPr/>
        </p:nvSpPr>
        <p:spPr>
          <a:xfrm>
            <a:off x="1557376" y="2222906"/>
            <a:ext cx="1497787" cy="1497787"/>
          </a:xfrm>
          <a:prstGeom prst="ellipse">
            <a:avLst/>
          </a:prstGeom>
          <a:solidFill>
            <a:srgbClr val="C1272D"/>
          </a:solidFill>
          <a:ln w="6350">
            <a:solidFill>
              <a:srgbClr val="C1272D"/>
            </a:solidFill>
            <a:prstDash val="solid"/>
          </a:ln>
        </p:spPr>
      </p:sp>
      <p:sp>
        <p:nvSpPr>
          <p:cNvPr id="8" name="Text 5"/>
          <p:cNvSpPr txBox="1"/>
          <p:nvPr/>
        </p:nvSpPr>
        <p:spPr>
          <a:xfrm>
            <a:off x="868680" y="4206240"/>
            <a:ext cx="2875178" cy="502920"/>
          </a:xfrm>
          <a:prstGeom prst="rect">
            <a:avLst/>
          </a:prstGeom>
          <a:noFill/>
          <a:ln/>
        </p:spPr>
        <p:txBody>
          <a:bodyPr wrap="square" lIns="0" tIns="0" rIns="0" bIns="0" rtlCol="0" anchor="t"/>
          <a:lstStyle/>
          <a:p>
            <a:pPr indent="0" marL="0">
              <a:buNone/>
            </a:pPr>
            <a:r>
              <a:rPr lang="en-US" sz="2600" b="1" dirty="0">
                <a:solidFill>
                  <a:srgbClr val="3E5C76"/>
                </a:solidFill>
                <a:latin typeface="Calibri" pitchFamily="34" charset="0"/>
                <a:ea typeface="Calibri" pitchFamily="34" charset="-122"/>
                <a:cs typeface="Calibri" pitchFamily="34" charset="-120"/>
              </a:rPr>
              <a:t>Healthy</a:t>
            </a:r>
            <a:endParaRPr lang="en-US" sz="2600" dirty="0"/>
          </a:p>
        </p:txBody>
      </p:sp>
      <p:sp>
        <p:nvSpPr>
          <p:cNvPr id="9" name="Text 6"/>
          <p:cNvSpPr txBox="1"/>
          <p:nvPr/>
        </p:nvSpPr>
        <p:spPr>
          <a:xfrm>
            <a:off x="868680" y="4754880"/>
            <a:ext cx="2966618" cy="86868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Thin wall, wide channel</a:t>
            </a:r>
            <a:endParaRPr lang="en-US" sz="2000" dirty="0"/>
          </a:p>
        </p:txBody>
      </p:sp>
      <p:sp>
        <p:nvSpPr>
          <p:cNvPr id="10" name="Shape 7"/>
          <p:cNvSpPr/>
          <p:nvPr/>
        </p:nvSpPr>
        <p:spPr>
          <a:xfrm>
            <a:off x="4338218" y="1737360"/>
            <a:ext cx="3515258" cy="4069080"/>
          </a:xfrm>
          <a:prstGeom prst="roundRect">
            <a:avLst>
              <a:gd name="adj" fmla="val 2601"/>
            </a:avLst>
          </a:prstGeom>
          <a:solidFill>
            <a:srgbClr val="E8EDF3"/>
          </a:solidFill>
          <a:ln w="6350">
            <a:solidFill>
              <a:srgbClr val="E8EDF3"/>
            </a:solidFill>
            <a:prstDash val="solid"/>
          </a:ln>
        </p:spPr>
      </p:sp>
      <p:sp>
        <p:nvSpPr>
          <p:cNvPr id="11" name="Shape 8"/>
          <p:cNvSpPr/>
          <p:nvPr/>
        </p:nvSpPr>
        <p:spPr>
          <a:xfrm>
            <a:off x="6461441" y="1914921"/>
            <a:ext cx="691286" cy="691286"/>
          </a:xfrm>
          <a:prstGeom prst="ellipse">
            <a:avLst/>
          </a:prstGeom>
          <a:solidFill>
            <a:srgbClr val="C3CEDB"/>
          </a:solidFill>
          <a:ln w="6350">
            <a:solidFill>
              <a:srgbClr val="C3CEDB"/>
            </a:solidFill>
            <a:prstDash val="solid"/>
          </a:ln>
        </p:spPr>
      </p:sp>
      <p:sp>
        <p:nvSpPr>
          <p:cNvPr id="12" name="Shape 9"/>
          <p:cNvSpPr/>
          <p:nvPr/>
        </p:nvSpPr>
        <p:spPr>
          <a:xfrm>
            <a:off x="5135728" y="2011680"/>
            <a:ext cx="1920240" cy="1920240"/>
          </a:xfrm>
          <a:prstGeom prst="ellipse">
            <a:avLst/>
          </a:prstGeom>
          <a:solidFill>
            <a:srgbClr val="C3CEDB"/>
          </a:solidFill>
          <a:ln w="6350">
            <a:solidFill>
              <a:srgbClr val="C3CEDB"/>
            </a:solidFill>
            <a:prstDash val="solid"/>
          </a:ln>
        </p:spPr>
      </p:sp>
      <p:sp>
        <p:nvSpPr>
          <p:cNvPr id="13" name="Shape 10"/>
          <p:cNvSpPr/>
          <p:nvPr/>
        </p:nvSpPr>
        <p:spPr>
          <a:xfrm>
            <a:off x="5279746" y="2155698"/>
            <a:ext cx="1632204" cy="1632204"/>
          </a:xfrm>
          <a:prstGeom prst="ellipse">
            <a:avLst/>
          </a:prstGeom>
          <a:solidFill>
            <a:srgbClr val="F1F3F6"/>
          </a:solidFill>
          <a:ln w="12700">
            <a:solidFill>
              <a:srgbClr val="AEB9C7"/>
            </a:solidFill>
            <a:prstDash val="dash"/>
          </a:ln>
        </p:spPr>
      </p:sp>
      <p:sp>
        <p:nvSpPr>
          <p:cNvPr id="14" name="Shape 11"/>
          <p:cNvSpPr/>
          <p:nvPr/>
        </p:nvSpPr>
        <p:spPr>
          <a:xfrm>
            <a:off x="5807812" y="2683764"/>
            <a:ext cx="576072" cy="576072"/>
          </a:xfrm>
          <a:prstGeom prst="ellipse">
            <a:avLst/>
          </a:prstGeom>
          <a:solidFill>
            <a:srgbClr val="C1272D"/>
          </a:solidFill>
          <a:ln w="6350">
            <a:solidFill>
              <a:srgbClr val="C1272D"/>
            </a:solidFill>
            <a:prstDash val="solid"/>
          </a:ln>
        </p:spPr>
      </p:sp>
      <p:sp>
        <p:nvSpPr>
          <p:cNvPr id="15" name="Shape 12"/>
          <p:cNvSpPr/>
          <p:nvPr/>
        </p:nvSpPr>
        <p:spPr>
          <a:xfrm>
            <a:off x="6586256" y="2039736"/>
            <a:ext cx="441655" cy="441655"/>
          </a:xfrm>
          <a:prstGeom prst="ellipse">
            <a:avLst/>
          </a:prstGeom>
          <a:solidFill>
            <a:srgbClr val="C1272D"/>
          </a:solidFill>
          <a:ln w="6350">
            <a:solidFill>
              <a:srgbClr val="C1272D"/>
            </a:solidFill>
            <a:prstDash val="solid"/>
          </a:ln>
        </p:spPr>
      </p:sp>
      <p:sp>
        <p:nvSpPr>
          <p:cNvPr id="16" name="Text 13"/>
          <p:cNvSpPr txBox="1"/>
          <p:nvPr/>
        </p:nvSpPr>
        <p:spPr>
          <a:xfrm>
            <a:off x="4658258" y="4206240"/>
            <a:ext cx="2875178" cy="502920"/>
          </a:xfrm>
          <a:prstGeom prst="rect">
            <a:avLst/>
          </a:prstGeom>
          <a:noFill/>
          <a:ln/>
        </p:spPr>
        <p:txBody>
          <a:bodyPr wrap="square" lIns="0" tIns="0" rIns="0" bIns="0" rtlCol="0" anchor="t"/>
          <a:lstStyle/>
          <a:p>
            <a:pPr indent="0" marL="0">
              <a:buNone/>
            </a:pPr>
            <a:r>
              <a:rPr lang="en-US" sz="2600" b="1" dirty="0">
                <a:solidFill>
                  <a:srgbClr val="13233A"/>
                </a:solidFill>
                <a:latin typeface="Calibri" pitchFamily="34" charset="0"/>
                <a:ea typeface="Calibri" pitchFamily="34" charset="-122"/>
                <a:cs typeface="Calibri" pitchFamily="34" charset="-120"/>
              </a:rPr>
              <a:t>Hypertension</a:t>
            </a:r>
            <a:endParaRPr lang="en-US" sz="2600" dirty="0"/>
          </a:p>
        </p:txBody>
      </p:sp>
      <p:sp>
        <p:nvSpPr>
          <p:cNvPr id="17" name="Text 14"/>
          <p:cNvSpPr txBox="1"/>
          <p:nvPr/>
        </p:nvSpPr>
        <p:spPr>
          <a:xfrm>
            <a:off x="4658258" y="4754880"/>
            <a:ext cx="2966618" cy="86868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Deep arteries: thick, brittle wall</a:t>
            </a:r>
            <a:endParaRPr lang="en-US" sz="2000" dirty="0"/>
          </a:p>
        </p:txBody>
      </p:sp>
      <p:sp>
        <p:nvSpPr>
          <p:cNvPr id="18" name="Shape 15"/>
          <p:cNvSpPr/>
          <p:nvPr/>
        </p:nvSpPr>
        <p:spPr>
          <a:xfrm>
            <a:off x="8127797" y="1737360"/>
            <a:ext cx="3515258" cy="4069080"/>
          </a:xfrm>
          <a:prstGeom prst="roundRect">
            <a:avLst>
              <a:gd name="adj" fmla="val 2601"/>
            </a:avLst>
          </a:prstGeom>
          <a:solidFill>
            <a:srgbClr val="E8EDF3"/>
          </a:solidFill>
          <a:ln w="6350">
            <a:solidFill>
              <a:srgbClr val="E8EDF3"/>
            </a:solidFill>
            <a:prstDash val="solid"/>
          </a:ln>
        </p:spPr>
      </p:sp>
      <p:sp>
        <p:nvSpPr>
          <p:cNvPr id="19" name="Shape 16"/>
          <p:cNvSpPr/>
          <p:nvPr/>
        </p:nvSpPr>
        <p:spPr>
          <a:xfrm>
            <a:off x="8925306" y="2011680"/>
            <a:ext cx="1920240" cy="1920240"/>
          </a:xfrm>
          <a:prstGeom prst="ellipse">
            <a:avLst/>
          </a:prstGeom>
          <a:solidFill>
            <a:srgbClr val="C3CEDB"/>
          </a:solidFill>
          <a:ln w="6350">
            <a:solidFill>
              <a:srgbClr val="C3CEDB"/>
            </a:solidFill>
            <a:prstDash val="solid"/>
          </a:ln>
        </p:spPr>
      </p:sp>
      <p:sp>
        <p:nvSpPr>
          <p:cNvPr id="20" name="Shape 17"/>
          <p:cNvSpPr/>
          <p:nvPr/>
        </p:nvSpPr>
        <p:spPr>
          <a:xfrm>
            <a:off x="9232544" y="2318918"/>
            <a:ext cx="1305763" cy="1305763"/>
          </a:xfrm>
          <a:prstGeom prst="ellipse">
            <a:avLst/>
          </a:prstGeom>
          <a:solidFill>
            <a:srgbClr val="C1272D"/>
          </a:solidFill>
          <a:ln w="6350">
            <a:solidFill>
              <a:srgbClr val="C1272D"/>
            </a:solidFill>
            <a:prstDash val="solid"/>
          </a:ln>
        </p:spPr>
      </p:sp>
      <p:sp>
        <p:nvSpPr>
          <p:cNvPr id="21" name="Shape 18"/>
          <p:cNvSpPr/>
          <p:nvPr/>
        </p:nvSpPr>
        <p:spPr>
          <a:xfrm>
            <a:off x="10641289" y="3059954"/>
            <a:ext cx="163220" cy="163220"/>
          </a:xfrm>
          <a:prstGeom prst="ellipse">
            <a:avLst/>
          </a:prstGeom>
          <a:solidFill>
            <a:srgbClr val="13233A"/>
          </a:solidFill>
          <a:ln w="6350">
            <a:solidFill>
              <a:srgbClr val="13233A"/>
            </a:solidFill>
            <a:prstDash val="solid"/>
          </a:ln>
        </p:spPr>
      </p:sp>
      <p:sp>
        <p:nvSpPr>
          <p:cNvPr id="22" name="Shape 19"/>
          <p:cNvSpPr/>
          <p:nvPr/>
        </p:nvSpPr>
        <p:spPr>
          <a:xfrm>
            <a:off x="10473413" y="3305454"/>
            <a:ext cx="134417" cy="134417"/>
          </a:xfrm>
          <a:prstGeom prst="ellipse">
            <a:avLst/>
          </a:prstGeom>
          <a:solidFill>
            <a:srgbClr val="13233A"/>
          </a:solidFill>
          <a:ln w="6350">
            <a:solidFill>
              <a:srgbClr val="13233A"/>
            </a:solidFill>
            <a:prstDash val="solid"/>
          </a:ln>
        </p:spPr>
      </p:sp>
      <p:sp>
        <p:nvSpPr>
          <p:cNvPr id="23" name="Shape 20"/>
          <p:cNvSpPr/>
          <p:nvPr/>
        </p:nvSpPr>
        <p:spPr>
          <a:xfrm>
            <a:off x="10350637" y="3572956"/>
            <a:ext cx="134417" cy="134417"/>
          </a:xfrm>
          <a:prstGeom prst="ellipse">
            <a:avLst/>
          </a:prstGeom>
          <a:solidFill>
            <a:srgbClr val="13233A"/>
          </a:solidFill>
          <a:ln w="6350">
            <a:solidFill>
              <a:srgbClr val="13233A"/>
            </a:solidFill>
            <a:prstDash val="solid"/>
          </a:ln>
        </p:spPr>
      </p:sp>
      <p:sp>
        <p:nvSpPr>
          <p:cNvPr id="24" name="Shape 21"/>
          <p:cNvSpPr/>
          <p:nvPr/>
        </p:nvSpPr>
        <p:spPr>
          <a:xfrm>
            <a:off x="10048055" y="3618419"/>
            <a:ext cx="163220" cy="163220"/>
          </a:xfrm>
          <a:prstGeom prst="ellipse">
            <a:avLst/>
          </a:prstGeom>
          <a:solidFill>
            <a:srgbClr val="13233A"/>
          </a:solidFill>
          <a:ln w="6350">
            <a:solidFill>
              <a:srgbClr val="13233A"/>
            </a:solidFill>
            <a:prstDash val="solid"/>
          </a:ln>
        </p:spPr>
      </p:sp>
      <p:sp>
        <p:nvSpPr>
          <p:cNvPr id="25" name="Shape 22"/>
          <p:cNvSpPr/>
          <p:nvPr/>
        </p:nvSpPr>
        <p:spPr>
          <a:xfrm>
            <a:off x="9796458" y="3758821"/>
            <a:ext cx="134417" cy="134417"/>
          </a:xfrm>
          <a:prstGeom prst="ellipse">
            <a:avLst/>
          </a:prstGeom>
          <a:solidFill>
            <a:srgbClr val="13233A"/>
          </a:solidFill>
          <a:ln w="6350">
            <a:solidFill>
              <a:srgbClr val="13233A"/>
            </a:solidFill>
            <a:prstDash val="solid"/>
          </a:ln>
        </p:spPr>
      </p:sp>
      <p:sp>
        <p:nvSpPr>
          <p:cNvPr id="26" name="Shape 23"/>
          <p:cNvSpPr/>
          <p:nvPr/>
        </p:nvSpPr>
        <p:spPr>
          <a:xfrm>
            <a:off x="9537219" y="3619442"/>
            <a:ext cx="134417" cy="134417"/>
          </a:xfrm>
          <a:prstGeom prst="ellipse">
            <a:avLst/>
          </a:prstGeom>
          <a:solidFill>
            <a:srgbClr val="13233A"/>
          </a:solidFill>
          <a:ln w="6350">
            <a:solidFill>
              <a:srgbClr val="13233A"/>
            </a:solidFill>
            <a:prstDash val="solid"/>
          </a:ln>
        </p:spPr>
      </p:sp>
      <p:sp>
        <p:nvSpPr>
          <p:cNvPr id="27" name="Shape 24"/>
          <p:cNvSpPr/>
          <p:nvPr/>
        </p:nvSpPr>
        <p:spPr>
          <a:xfrm>
            <a:off x="9238059" y="3530581"/>
            <a:ext cx="163220" cy="163220"/>
          </a:xfrm>
          <a:prstGeom prst="ellipse">
            <a:avLst/>
          </a:prstGeom>
          <a:solidFill>
            <a:srgbClr val="13233A"/>
          </a:solidFill>
          <a:ln w="6350">
            <a:solidFill>
              <a:srgbClr val="13233A"/>
            </a:solidFill>
            <a:prstDash val="solid"/>
          </a:ln>
        </p:spPr>
      </p:sp>
      <p:sp>
        <p:nvSpPr>
          <p:cNvPr id="28" name="Shape 25"/>
          <p:cNvSpPr/>
          <p:nvPr/>
        </p:nvSpPr>
        <p:spPr>
          <a:xfrm>
            <a:off x="9143463" y="3271576"/>
            <a:ext cx="134417" cy="134417"/>
          </a:xfrm>
          <a:prstGeom prst="ellipse">
            <a:avLst/>
          </a:prstGeom>
          <a:solidFill>
            <a:srgbClr val="13233A"/>
          </a:solidFill>
          <a:ln w="6350">
            <a:solidFill>
              <a:srgbClr val="13233A"/>
            </a:solidFill>
            <a:prstDash val="solid"/>
          </a:ln>
        </p:spPr>
      </p:sp>
      <p:sp>
        <p:nvSpPr>
          <p:cNvPr id="29" name="Shape 26"/>
          <p:cNvSpPr/>
          <p:nvPr/>
        </p:nvSpPr>
        <p:spPr>
          <a:xfrm>
            <a:off x="8973187" y="3031498"/>
            <a:ext cx="134417" cy="134417"/>
          </a:xfrm>
          <a:prstGeom prst="ellipse">
            <a:avLst/>
          </a:prstGeom>
          <a:solidFill>
            <a:srgbClr val="13233A"/>
          </a:solidFill>
          <a:ln w="6350">
            <a:solidFill>
              <a:srgbClr val="13233A"/>
            </a:solidFill>
            <a:prstDash val="solid"/>
          </a:ln>
        </p:spPr>
      </p:sp>
      <p:sp>
        <p:nvSpPr>
          <p:cNvPr id="30" name="Shape 27"/>
          <p:cNvSpPr/>
          <p:nvPr/>
        </p:nvSpPr>
        <p:spPr>
          <a:xfrm>
            <a:off x="9051031" y="2737593"/>
            <a:ext cx="163220" cy="163220"/>
          </a:xfrm>
          <a:prstGeom prst="ellipse">
            <a:avLst/>
          </a:prstGeom>
          <a:solidFill>
            <a:srgbClr val="13233A"/>
          </a:solidFill>
          <a:ln w="6350">
            <a:solidFill>
              <a:srgbClr val="13233A"/>
            </a:solidFill>
            <a:prstDash val="solid"/>
          </a:ln>
        </p:spPr>
      </p:sp>
      <p:sp>
        <p:nvSpPr>
          <p:cNvPr id="31" name="Shape 28"/>
          <p:cNvSpPr/>
          <p:nvPr/>
        </p:nvSpPr>
        <p:spPr>
          <a:xfrm>
            <a:off x="9089313" y="2458633"/>
            <a:ext cx="134417" cy="134417"/>
          </a:xfrm>
          <a:prstGeom prst="ellipse">
            <a:avLst/>
          </a:prstGeom>
          <a:solidFill>
            <a:srgbClr val="13233A"/>
          </a:solidFill>
          <a:ln w="6350">
            <a:solidFill>
              <a:srgbClr val="13233A"/>
            </a:solidFill>
            <a:prstDash val="solid"/>
          </a:ln>
        </p:spPr>
      </p:sp>
      <p:sp>
        <p:nvSpPr>
          <p:cNvPr id="32" name="Shape 29"/>
          <p:cNvSpPr/>
          <p:nvPr/>
        </p:nvSpPr>
        <p:spPr>
          <a:xfrm>
            <a:off x="9339638" y="2303814"/>
            <a:ext cx="134417" cy="134417"/>
          </a:xfrm>
          <a:prstGeom prst="ellipse">
            <a:avLst/>
          </a:prstGeom>
          <a:solidFill>
            <a:srgbClr val="13233A"/>
          </a:solidFill>
          <a:ln w="6350">
            <a:solidFill>
              <a:srgbClr val="13233A"/>
            </a:solidFill>
            <a:prstDash val="solid"/>
          </a:ln>
        </p:spPr>
      </p:sp>
      <p:sp>
        <p:nvSpPr>
          <p:cNvPr id="33" name="Shape 30"/>
          <p:cNvSpPr/>
          <p:nvPr/>
        </p:nvSpPr>
        <p:spPr>
          <a:xfrm>
            <a:off x="9532099" y="2080034"/>
            <a:ext cx="163220" cy="163220"/>
          </a:xfrm>
          <a:prstGeom prst="ellipse">
            <a:avLst/>
          </a:prstGeom>
          <a:solidFill>
            <a:srgbClr val="13233A"/>
          </a:solidFill>
          <a:ln w="6350">
            <a:solidFill>
              <a:srgbClr val="13233A"/>
            </a:solidFill>
            <a:prstDash val="solid"/>
          </a:ln>
        </p:spPr>
      </p:sp>
      <p:sp>
        <p:nvSpPr>
          <p:cNvPr id="34" name="Shape 31"/>
          <p:cNvSpPr/>
          <p:nvPr/>
        </p:nvSpPr>
        <p:spPr>
          <a:xfrm>
            <a:off x="9837777" y="2136745"/>
            <a:ext cx="134417" cy="134417"/>
          </a:xfrm>
          <a:prstGeom prst="ellipse">
            <a:avLst/>
          </a:prstGeom>
          <a:solidFill>
            <a:srgbClr val="13233A"/>
          </a:solidFill>
          <a:ln w="6350">
            <a:solidFill>
              <a:srgbClr val="13233A"/>
            </a:solidFill>
            <a:prstDash val="solid"/>
          </a:ln>
        </p:spPr>
      </p:sp>
      <p:sp>
        <p:nvSpPr>
          <p:cNvPr id="35" name="Shape 32"/>
          <p:cNvSpPr/>
          <p:nvPr/>
        </p:nvSpPr>
        <p:spPr>
          <a:xfrm>
            <a:off x="10130829" y="2109320"/>
            <a:ext cx="134417" cy="134417"/>
          </a:xfrm>
          <a:prstGeom prst="ellipse">
            <a:avLst/>
          </a:prstGeom>
          <a:solidFill>
            <a:srgbClr val="13233A"/>
          </a:solidFill>
          <a:ln w="6350">
            <a:solidFill>
              <a:srgbClr val="13233A"/>
            </a:solidFill>
            <a:prstDash val="solid"/>
          </a:ln>
        </p:spPr>
      </p:sp>
      <p:sp>
        <p:nvSpPr>
          <p:cNvPr id="36" name="Shape 33"/>
          <p:cNvSpPr/>
          <p:nvPr/>
        </p:nvSpPr>
        <p:spPr>
          <a:xfrm>
            <a:off x="10312361" y="2314557"/>
            <a:ext cx="163220" cy="163220"/>
          </a:xfrm>
          <a:prstGeom prst="ellipse">
            <a:avLst/>
          </a:prstGeom>
          <a:solidFill>
            <a:srgbClr val="13233A"/>
          </a:solidFill>
          <a:ln w="6350">
            <a:solidFill>
              <a:srgbClr val="13233A"/>
            </a:solidFill>
            <a:prstDash val="solid"/>
          </a:ln>
        </p:spPr>
      </p:sp>
      <p:sp>
        <p:nvSpPr>
          <p:cNvPr id="37" name="Shape 34"/>
          <p:cNvSpPr/>
          <p:nvPr/>
        </p:nvSpPr>
        <p:spPr>
          <a:xfrm>
            <a:off x="10568882" y="2496321"/>
            <a:ext cx="134417" cy="134417"/>
          </a:xfrm>
          <a:prstGeom prst="ellipse">
            <a:avLst/>
          </a:prstGeom>
          <a:solidFill>
            <a:srgbClr val="13233A"/>
          </a:solidFill>
          <a:ln w="6350">
            <a:solidFill>
              <a:srgbClr val="13233A"/>
            </a:solidFill>
            <a:prstDash val="solid"/>
          </a:ln>
        </p:spPr>
      </p:sp>
      <p:sp>
        <p:nvSpPr>
          <p:cNvPr id="38" name="Shape 35"/>
          <p:cNvSpPr/>
          <p:nvPr/>
        </p:nvSpPr>
        <p:spPr>
          <a:xfrm>
            <a:off x="10577796" y="2790518"/>
            <a:ext cx="134417" cy="134417"/>
          </a:xfrm>
          <a:prstGeom prst="ellipse">
            <a:avLst/>
          </a:prstGeom>
          <a:solidFill>
            <a:srgbClr val="13233A"/>
          </a:solidFill>
          <a:ln w="6350">
            <a:solidFill>
              <a:srgbClr val="13233A"/>
            </a:solidFill>
            <a:prstDash val="solid"/>
          </a:ln>
        </p:spPr>
      </p:sp>
      <p:sp>
        <p:nvSpPr>
          <p:cNvPr id="39" name="Text 36"/>
          <p:cNvSpPr txBox="1"/>
          <p:nvPr/>
        </p:nvSpPr>
        <p:spPr>
          <a:xfrm>
            <a:off x="8447837" y="4206240"/>
            <a:ext cx="2875178" cy="502920"/>
          </a:xfrm>
          <a:prstGeom prst="rect">
            <a:avLst/>
          </a:prstGeom>
          <a:noFill/>
          <a:ln/>
        </p:spPr>
        <p:txBody>
          <a:bodyPr wrap="square" lIns="0" tIns="0" rIns="0" bIns="0" rtlCol="0" anchor="t"/>
          <a:lstStyle/>
          <a:p>
            <a:pPr indent="0" marL="0">
              <a:buNone/>
            </a:pPr>
            <a:r>
              <a:rPr lang="en-US" sz="2600" b="1" dirty="0">
                <a:solidFill>
                  <a:srgbClr val="13233A"/>
                </a:solidFill>
                <a:latin typeface="Calibri" pitchFamily="34" charset="0"/>
                <a:ea typeface="Calibri" pitchFamily="34" charset="-122"/>
                <a:cs typeface="Calibri" pitchFamily="34" charset="-120"/>
              </a:rPr>
              <a:t>Amyloid angiopathy</a:t>
            </a:r>
            <a:endParaRPr lang="en-US" sz="2600" dirty="0"/>
          </a:p>
        </p:txBody>
      </p:sp>
      <p:sp>
        <p:nvSpPr>
          <p:cNvPr id="40" name="Text 37"/>
          <p:cNvSpPr txBox="1"/>
          <p:nvPr/>
        </p:nvSpPr>
        <p:spPr>
          <a:xfrm>
            <a:off x="8447837" y="4754880"/>
            <a:ext cx="2966618" cy="86868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Surface arteries: amyloid replaces muscle</a:t>
            </a:r>
            <a:endParaRPr lang="en-US" sz="2000" dirty="0"/>
          </a:p>
        </p:txBody>
      </p:sp>
      <p:sp>
        <p:nvSpPr>
          <p:cNvPr id="41" name="Text 38"/>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42"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43"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44"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45"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46"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47"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48"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49"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50"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8</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01 · THE VESSEL</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Where it bleeds tells you why</a:t>
            </a:r>
            <a:endParaRPr lang="en-US" sz="4000" dirty="0"/>
          </a:p>
        </p:txBody>
      </p:sp>
      <p:pic>
        <p:nvPicPr>
          <p:cNvPr id="5" name="!!brain" descr="preencoded.png">    </p:cNvPr>
          <p:cNvPicPr>
            <a:picLocks noChangeAspect="1"/>
          </p:cNvPicPr>
          <p:nvPr/>
        </p:nvPicPr>
        <p:blipFill>
          <a:blip r:embed="rId1"/>
          <a:stretch>
            <a:fillRect/>
          </a:stretch>
        </p:blipFill>
        <p:spPr>
          <a:xfrm>
            <a:off x="822960" y="1691640"/>
            <a:ext cx="3566160" cy="4160520"/>
          </a:xfrm>
          <a:prstGeom prst="rect">
            <a:avLst/>
          </a:prstGeom>
        </p:spPr>
      </p:pic>
      <p:sp>
        <p:nvSpPr>
          <p:cNvPr id="6" name="!!deepcard"/>
          <p:cNvSpPr/>
          <p:nvPr/>
        </p:nvSpPr>
        <p:spPr>
          <a:xfrm>
            <a:off x="5120640" y="1783080"/>
            <a:ext cx="6522415" cy="1828800"/>
          </a:xfrm>
          <a:prstGeom prst="roundRect">
            <a:avLst>
              <a:gd name="adj" fmla="val 5000"/>
            </a:avLst>
          </a:prstGeom>
          <a:solidFill>
            <a:srgbClr val="E8EDF3"/>
          </a:solidFill>
          <a:ln w="6350">
            <a:solidFill>
              <a:srgbClr val="E8EDF3"/>
            </a:solidFill>
            <a:prstDash val="solid"/>
          </a:ln>
        </p:spPr>
      </p:sp>
      <p:sp>
        <p:nvSpPr>
          <p:cNvPr id="7" name="!!deept"/>
          <p:cNvSpPr txBox="1"/>
          <p:nvPr/>
        </p:nvSpPr>
        <p:spPr>
          <a:xfrm>
            <a:off x="5486400" y="1920240"/>
            <a:ext cx="2743200" cy="73152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Deep</a:t>
            </a:r>
            <a:endParaRPr lang="en-US" sz="4000" dirty="0"/>
          </a:p>
        </p:txBody>
      </p:sp>
      <p:sp>
        <p:nvSpPr>
          <p:cNvPr id="8" name="!!deeph"/>
          <p:cNvSpPr txBox="1"/>
          <p:nvPr/>
        </p:nvSpPr>
        <p:spPr>
          <a:xfrm>
            <a:off x="7863840" y="1920240"/>
            <a:ext cx="3657600" cy="731520"/>
          </a:xfrm>
          <a:prstGeom prst="rect">
            <a:avLst/>
          </a:prstGeom>
          <a:noFill/>
          <a:ln/>
        </p:spPr>
        <p:txBody>
          <a:bodyPr wrap="square" lIns="0" tIns="0" rIns="0" bIns="0" rtlCol="0" anchor="ctr"/>
          <a:lstStyle/>
          <a:p>
            <a:pPr indent="0" marL="0">
              <a:buNone/>
            </a:pPr>
            <a:r>
              <a:rPr lang="en-US" sz="3000" b="1" dirty="0">
                <a:solidFill>
                  <a:srgbClr val="13233A"/>
                </a:solidFill>
                <a:latin typeface="Calibri" pitchFamily="34" charset="0"/>
                <a:ea typeface="Calibri" pitchFamily="34" charset="-122"/>
                <a:cs typeface="Calibri" pitchFamily="34" charset="-120"/>
              </a:rPr>
              <a:t>→ hypertension</a:t>
            </a:r>
            <a:endParaRPr lang="en-US" sz="3000" dirty="0"/>
          </a:p>
        </p:txBody>
      </p:sp>
      <p:sp>
        <p:nvSpPr>
          <p:cNvPr id="9" name="!!deeps"/>
          <p:cNvSpPr txBox="1"/>
          <p:nvPr/>
        </p:nvSpPr>
        <p:spPr>
          <a:xfrm>
            <a:off x="5486400" y="2743200"/>
            <a:ext cx="5943600" cy="548640"/>
          </a:xfrm>
          <a:prstGeom prst="rect">
            <a:avLst/>
          </a:prstGeom>
          <a:noFill/>
          <a:ln/>
        </p:spPr>
        <p:txBody>
          <a:bodyPr wrap="square" lIns="0" tIns="0" rIns="0" bIns="0" rtlCol="0" anchor="ctr"/>
          <a:lstStyle/>
          <a:p>
            <a:pPr indent="0" marL="0">
              <a:buNone/>
            </a:pPr>
            <a:r>
              <a:rPr lang="en-US" sz="2000" dirty="0">
                <a:solidFill>
                  <a:srgbClr val="3E5C76"/>
                </a:solidFill>
                <a:latin typeface="Calibri" pitchFamily="34" charset="0"/>
                <a:ea typeface="Calibri" pitchFamily="34" charset="-122"/>
                <a:cs typeface="Calibri" pitchFamily="34" charset="-120"/>
              </a:rPr>
              <a:t>putamen · thalamus · pons · cerebellum</a:t>
            </a:r>
            <a:endParaRPr lang="en-US" sz="2000" dirty="0"/>
          </a:p>
        </p:txBody>
      </p:sp>
      <p:sp>
        <p:nvSpPr>
          <p:cNvPr id="10" name="Text 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Schematic axial slice. The pons and cerebellum sit below this level.</a:t>
            </a:r>
            <a:endParaRPr lang="en-US" sz="1200" dirty="0"/>
          </a:p>
        </p:txBody>
      </p:sp>
      <p:sp>
        <p:nvSpPr>
          <p:cNvPr id="11" name="Text 7"/>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2"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13"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14"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5"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6"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17"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18"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9"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0"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9</a:t>
            </a:r>
            <a:endParaRPr lang="en-US" sz="11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01 · THE VESSEL</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Where it bleeds tells you why</a:t>
            </a:r>
            <a:endParaRPr lang="en-US" sz="4000" dirty="0"/>
          </a:p>
        </p:txBody>
      </p:sp>
      <p:pic>
        <p:nvPicPr>
          <p:cNvPr id="5" name="!!brain" descr="preencoded.png">    </p:cNvPr>
          <p:cNvPicPr>
            <a:picLocks noChangeAspect="1"/>
          </p:cNvPicPr>
          <p:nvPr/>
        </p:nvPicPr>
        <p:blipFill>
          <a:blip r:embed="rId1"/>
          <a:stretch>
            <a:fillRect/>
          </a:stretch>
        </p:blipFill>
        <p:spPr>
          <a:xfrm>
            <a:off x="822960" y="1691640"/>
            <a:ext cx="3566160" cy="4160520"/>
          </a:xfrm>
          <a:prstGeom prst="rect">
            <a:avLst/>
          </a:prstGeom>
        </p:spPr>
      </p:pic>
      <p:sp>
        <p:nvSpPr>
          <p:cNvPr id="6" name="!!deepcard"/>
          <p:cNvSpPr/>
          <p:nvPr/>
        </p:nvSpPr>
        <p:spPr>
          <a:xfrm>
            <a:off x="5120640" y="1783080"/>
            <a:ext cx="6522415" cy="1828800"/>
          </a:xfrm>
          <a:prstGeom prst="roundRect">
            <a:avLst>
              <a:gd name="adj" fmla="val 5000"/>
            </a:avLst>
          </a:prstGeom>
          <a:solidFill>
            <a:srgbClr val="E8EDF3"/>
          </a:solidFill>
          <a:ln w="6350">
            <a:solidFill>
              <a:srgbClr val="E8EDF3"/>
            </a:solidFill>
            <a:prstDash val="solid"/>
          </a:ln>
        </p:spPr>
      </p:sp>
      <p:sp>
        <p:nvSpPr>
          <p:cNvPr id="7" name="!!deept"/>
          <p:cNvSpPr txBox="1"/>
          <p:nvPr/>
        </p:nvSpPr>
        <p:spPr>
          <a:xfrm>
            <a:off x="5486400" y="1920240"/>
            <a:ext cx="2743200" cy="73152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Deep</a:t>
            </a:r>
            <a:endParaRPr lang="en-US" sz="4000" dirty="0"/>
          </a:p>
        </p:txBody>
      </p:sp>
      <p:sp>
        <p:nvSpPr>
          <p:cNvPr id="8" name="!!deeph"/>
          <p:cNvSpPr txBox="1"/>
          <p:nvPr/>
        </p:nvSpPr>
        <p:spPr>
          <a:xfrm>
            <a:off x="7863840" y="1920240"/>
            <a:ext cx="3657600" cy="731520"/>
          </a:xfrm>
          <a:prstGeom prst="rect">
            <a:avLst/>
          </a:prstGeom>
          <a:noFill/>
          <a:ln/>
        </p:spPr>
        <p:txBody>
          <a:bodyPr wrap="square" lIns="0" tIns="0" rIns="0" bIns="0" rtlCol="0" anchor="ctr"/>
          <a:lstStyle/>
          <a:p>
            <a:pPr indent="0" marL="0">
              <a:buNone/>
            </a:pPr>
            <a:r>
              <a:rPr lang="en-US" sz="3000" b="1" dirty="0">
                <a:solidFill>
                  <a:srgbClr val="13233A"/>
                </a:solidFill>
                <a:latin typeface="Calibri" pitchFamily="34" charset="0"/>
                <a:ea typeface="Calibri" pitchFamily="34" charset="-122"/>
                <a:cs typeface="Calibri" pitchFamily="34" charset="-120"/>
              </a:rPr>
              <a:t>→ hypertension</a:t>
            </a:r>
            <a:endParaRPr lang="en-US" sz="3000" dirty="0"/>
          </a:p>
        </p:txBody>
      </p:sp>
      <p:sp>
        <p:nvSpPr>
          <p:cNvPr id="9" name="!!deeps"/>
          <p:cNvSpPr txBox="1"/>
          <p:nvPr/>
        </p:nvSpPr>
        <p:spPr>
          <a:xfrm>
            <a:off x="5486400" y="2743200"/>
            <a:ext cx="5943600" cy="548640"/>
          </a:xfrm>
          <a:prstGeom prst="rect">
            <a:avLst/>
          </a:prstGeom>
          <a:noFill/>
          <a:ln/>
        </p:spPr>
        <p:txBody>
          <a:bodyPr wrap="square" lIns="0" tIns="0" rIns="0" bIns="0" rtlCol="0" anchor="ctr"/>
          <a:lstStyle/>
          <a:p>
            <a:pPr indent="0" marL="0">
              <a:buNone/>
            </a:pPr>
            <a:r>
              <a:rPr lang="en-US" sz="2000" dirty="0">
                <a:solidFill>
                  <a:srgbClr val="3E5C76"/>
                </a:solidFill>
                <a:latin typeface="Calibri" pitchFamily="34" charset="0"/>
                <a:ea typeface="Calibri" pitchFamily="34" charset="-122"/>
                <a:cs typeface="Calibri" pitchFamily="34" charset="-120"/>
              </a:rPr>
              <a:t>putamen · thalamus · pons · cerebellum</a:t>
            </a:r>
            <a:endParaRPr lang="en-US" sz="2000" dirty="0"/>
          </a:p>
        </p:txBody>
      </p:sp>
      <p:sp>
        <p:nvSpPr>
          <p:cNvPr id="10" name="Shape 6"/>
          <p:cNvSpPr/>
          <p:nvPr/>
        </p:nvSpPr>
        <p:spPr>
          <a:xfrm>
            <a:off x="5120640" y="3840480"/>
            <a:ext cx="6522415" cy="1920240"/>
          </a:xfrm>
          <a:prstGeom prst="roundRect">
            <a:avLst>
              <a:gd name="adj" fmla="val 4762"/>
            </a:avLst>
          </a:prstGeom>
          <a:solidFill>
            <a:srgbClr val="F6DCDD"/>
          </a:solidFill>
          <a:ln w="6350">
            <a:solidFill>
              <a:srgbClr val="F6DCDD"/>
            </a:solidFill>
            <a:prstDash val="solid"/>
          </a:ln>
        </p:spPr>
      </p:sp>
      <p:sp>
        <p:nvSpPr>
          <p:cNvPr id="11" name="Text 7"/>
          <p:cNvSpPr txBox="1"/>
          <p:nvPr/>
        </p:nvSpPr>
        <p:spPr>
          <a:xfrm>
            <a:off x="5486400" y="3977640"/>
            <a:ext cx="2743200" cy="731520"/>
          </a:xfrm>
          <a:prstGeom prst="rect">
            <a:avLst/>
          </a:prstGeom>
          <a:noFill/>
          <a:ln/>
        </p:spPr>
        <p:txBody>
          <a:bodyPr wrap="square" lIns="0" tIns="0" rIns="0" bIns="0" rtlCol="0" anchor="ctr"/>
          <a:lstStyle/>
          <a:p>
            <a:pPr indent="0" marL="0">
              <a:buNone/>
            </a:pPr>
            <a:r>
              <a:rPr lang="en-US" sz="4000" b="1" dirty="0">
                <a:solidFill>
                  <a:srgbClr val="8E1B1F"/>
                </a:solidFill>
                <a:latin typeface="Cambria" pitchFamily="34" charset="0"/>
                <a:ea typeface="Cambria" pitchFamily="34" charset="-122"/>
                <a:cs typeface="Cambria" pitchFamily="34" charset="-120"/>
              </a:rPr>
              <a:t>Lobar</a:t>
            </a:r>
            <a:endParaRPr lang="en-US" sz="4000" dirty="0"/>
          </a:p>
        </p:txBody>
      </p:sp>
      <p:sp>
        <p:nvSpPr>
          <p:cNvPr id="12" name="Text 8"/>
          <p:cNvSpPr txBox="1"/>
          <p:nvPr/>
        </p:nvSpPr>
        <p:spPr>
          <a:xfrm>
            <a:off x="7863840" y="3977640"/>
            <a:ext cx="3840480" cy="731520"/>
          </a:xfrm>
          <a:prstGeom prst="rect">
            <a:avLst/>
          </a:prstGeom>
          <a:noFill/>
          <a:ln/>
        </p:spPr>
        <p:txBody>
          <a:bodyPr wrap="square" lIns="0" tIns="0" rIns="0" bIns="0" rtlCol="0" anchor="ctr"/>
          <a:lstStyle/>
          <a:p>
            <a:pPr indent="0" marL="0">
              <a:buNone/>
            </a:pPr>
            <a:r>
              <a:rPr lang="en-US" sz="2600" b="1" dirty="0">
                <a:solidFill>
                  <a:srgbClr val="8E1B1F"/>
                </a:solidFill>
                <a:latin typeface="Calibri" pitchFamily="34" charset="0"/>
                <a:ea typeface="Calibri" pitchFamily="34" charset="-122"/>
                <a:cs typeface="Calibri" pitchFamily="34" charset="-120"/>
              </a:rPr>
              <a:t>→ amyloid (older adults)</a:t>
            </a:r>
            <a:endParaRPr lang="en-US" sz="2600" dirty="0"/>
          </a:p>
        </p:txBody>
      </p:sp>
      <p:sp>
        <p:nvSpPr>
          <p:cNvPr id="13" name="Text 9"/>
          <p:cNvSpPr txBox="1"/>
          <p:nvPr/>
        </p:nvSpPr>
        <p:spPr>
          <a:xfrm>
            <a:off x="5486400" y="4800600"/>
            <a:ext cx="5943600" cy="548640"/>
          </a:xfrm>
          <a:prstGeom prst="rect">
            <a:avLst/>
          </a:prstGeom>
          <a:noFill/>
          <a:ln/>
        </p:spPr>
        <p:txBody>
          <a:bodyPr wrap="square" lIns="0" tIns="0" rIns="0" bIns="0" rtlCol="0" anchor="ctr"/>
          <a:lstStyle/>
          <a:p>
            <a:pPr indent="0" marL="0">
              <a:buNone/>
            </a:pPr>
            <a:r>
              <a:rPr lang="en-US" sz="2000" dirty="0">
                <a:solidFill>
                  <a:srgbClr val="8E1B1F"/>
                </a:solidFill>
                <a:latin typeface="Calibri" pitchFamily="34" charset="0"/>
                <a:ea typeface="Calibri" pitchFamily="34" charset="-122"/>
                <a:cs typeface="Calibri" pitchFamily="34" charset="-120"/>
              </a:rPr>
              <a:t>Young or atypical? Look for a lesion.</a:t>
            </a:r>
            <a:endParaRPr lang="en-US" sz="2000" dirty="0"/>
          </a:p>
        </p:txBody>
      </p:sp>
      <p:sp>
        <p:nvSpPr>
          <p:cNvPr id="14" name="Text 10"/>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Schematic axial slice. The pons and cerebellum sit below this level.</a:t>
            </a:r>
            <a:endParaRPr lang="en-US" sz="1200" dirty="0"/>
          </a:p>
        </p:txBody>
      </p:sp>
      <p:sp>
        <p:nvSpPr>
          <p:cNvPr id="15" name="Text 11"/>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6"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17"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18"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9"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0"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1"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22"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23"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4"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10</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01 · THE VESSEL</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Microbleeds are the footprints</a:t>
            </a:r>
            <a:endParaRPr lang="en-US" sz="4000" dirty="0"/>
          </a:p>
        </p:txBody>
      </p:sp>
      <p:pic>
        <p:nvPicPr>
          <p:cNvPr id="5" name="Image 0" descr="preencoded.png">    </p:cNvPr>
          <p:cNvPicPr>
            <a:picLocks noChangeAspect="1"/>
          </p:cNvPicPr>
          <p:nvPr/>
        </p:nvPicPr>
        <p:blipFill>
          <a:blip r:embed="rId1"/>
          <a:stretch>
            <a:fillRect/>
          </a:stretch>
        </p:blipFill>
        <p:spPr>
          <a:xfrm>
            <a:off x="731520" y="1691640"/>
            <a:ext cx="2651760" cy="3093720"/>
          </a:xfrm>
          <a:prstGeom prst="rect">
            <a:avLst/>
          </a:prstGeom>
        </p:spPr>
      </p:pic>
      <p:pic>
        <p:nvPicPr>
          <p:cNvPr id="6" name="Image 1" descr="preencoded.png">    </p:cNvPr>
          <p:cNvPicPr>
            <a:picLocks noChangeAspect="1"/>
          </p:cNvPicPr>
          <p:nvPr/>
        </p:nvPicPr>
        <p:blipFill>
          <a:blip r:embed="rId2"/>
          <a:stretch>
            <a:fillRect/>
          </a:stretch>
        </p:blipFill>
        <p:spPr>
          <a:xfrm>
            <a:off x="3749040" y="1691640"/>
            <a:ext cx="2651760" cy="3093720"/>
          </a:xfrm>
          <a:prstGeom prst="rect">
            <a:avLst/>
          </a:prstGeom>
        </p:spPr>
      </p:pic>
      <p:sp>
        <p:nvSpPr>
          <p:cNvPr id="7" name="Text 2"/>
          <p:cNvSpPr txBox="1"/>
          <p:nvPr/>
        </p:nvSpPr>
        <p:spPr>
          <a:xfrm>
            <a:off x="822960" y="4892040"/>
            <a:ext cx="2651760" cy="82296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Surface</a:t>
            </a:r>
            <a:endParaRPr lang="en-US" sz="2200" dirty="0"/>
          </a:p>
          <a:p>
            <a:pPr indent="0" marL="0">
              <a:buNone/>
            </a:pPr>
            <a:r>
              <a:rPr lang="en-US" sz="2200" dirty="0">
                <a:solidFill>
                  <a:srgbClr val="3E5C76"/>
                </a:solidFill>
                <a:latin typeface="Calibri" pitchFamily="34" charset="0"/>
                <a:ea typeface="Calibri" pitchFamily="34" charset="-122"/>
                <a:cs typeface="Calibri" pitchFamily="34" charset="-120"/>
              </a:rPr>
              <a:t>→ amyloid</a:t>
            </a:r>
            <a:endParaRPr lang="en-US" sz="2200" dirty="0"/>
          </a:p>
        </p:txBody>
      </p:sp>
      <p:sp>
        <p:nvSpPr>
          <p:cNvPr id="8" name="Text 3"/>
          <p:cNvSpPr txBox="1"/>
          <p:nvPr/>
        </p:nvSpPr>
        <p:spPr>
          <a:xfrm>
            <a:off x="3840480" y="4892040"/>
            <a:ext cx="2651760" cy="82296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Deep</a:t>
            </a:r>
            <a:endParaRPr lang="en-US" sz="2200" dirty="0"/>
          </a:p>
          <a:p>
            <a:pPr indent="0" marL="0">
              <a:buNone/>
            </a:pPr>
            <a:r>
              <a:rPr lang="en-US" sz="2200" dirty="0">
                <a:solidFill>
                  <a:srgbClr val="3E5C76"/>
                </a:solidFill>
                <a:latin typeface="Calibri" pitchFamily="34" charset="0"/>
                <a:ea typeface="Calibri" pitchFamily="34" charset="-122"/>
                <a:cs typeface="Calibri" pitchFamily="34" charset="-120"/>
              </a:rPr>
              <a:t>→ hypertension</a:t>
            </a:r>
            <a:endParaRPr lang="en-US" sz="2200" dirty="0"/>
          </a:p>
        </p:txBody>
      </p:sp>
      <p:sp>
        <p:nvSpPr>
          <p:cNvPr id="9" name="Shape 4"/>
          <p:cNvSpPr/>
          <p:nvPr/>
        </p:nvSpPr>
        <p:spPr>
          <a:xfrm>
            <a:off x="6949440" y="1828800"/>
            <a:ext cx="4693615" cy="3931920"/>
          </a:xfrm>
          <a:prstGeom prst="roundRect">
            <a:avLst>
              <a:gd name="adj" fmla="val 2326"/>
            </a:avLst>
          </a:prstGeom>
          <a:solidFill>
            <a:srgbClr val="E8EDF3"/>
          </a:solidFill>
          <a:ln w="6350">
            <a:solidFill>
              <a:srgbClr val="E8EDF3"/>
            </a:solidFill>
            <a:prstDash val="solid"/>
          </a:ln>
        </p:spPr>
      </p:sp>
      <p:sp>
        <p:nvSpPr>
          <p:cNvPr id="10" name="Text 5"/>
          <p:cNvSpPr txBox="1"/>
          <p:nvPr/>
        </p:nvSpPr>
        <p:spPr>
          <a:xfrm>
            <a:off x="7315200" y="2194560"/>
            <a:ext cx="3962095" cy="1371600"/>
          </a:xfrm>
          <a:prstGeom prst="rect">
            <a:avLst/>
          </a:prstGeom>
          <a:noFill/>
          <a:ln/>
        </p:spPr>
        <p:txBody>
          <a:bodyPr wrap="square" lIns="0" tIns="0" rIns="0" bIns="0" rtlCol="0" anchor="ctr"/>
          <a:lstStyle/>
          <a:p>
            <a:pPr indent="0" marL="0">
              <a:buNone/>
            </a:pPr>
            <a:r>
              <a:rPr lang="en-US" sz="8800" b="1" dirty="0">
                <a:solidFill>
                  <a:srgbClr val="C1272D"/>
                </a:solidFill>
                <a:latin typeface="Cambria" pitchFamily="34" charset="0"/>
                <a:ea typeface="Cambria" pitchFamily="34" charset="-122"/>
                <a:cs typeface="Cambria" pitchFamily="34" charset="-120"/>
              </a:rPr>
              <a:t>60%</a:t>
            </a:r>
            <a:endParaRPr lang="en-US" sz="8800" dirty="0"/>
          </a:p>
        </p:txBody>
      </p:sp>
      <p:sp>
        <p:nvSpPr>
          <p:cNvPr id="11" name="Text 6"/>
          <p:cNvSpPr txBox="1"/>
          <p:nvPr/>
        </p:nvSpPr>
        <p:spPr>
          <a:xfrm>
            <a:off x="7315200" y="3611880"/>
            <a:ext cx="3962095" cy="1005840"/>
          </a:xfrm>
          <a:prstGeom prst="rect">
            <a:avLst/>
          </a:prstGeom>
          <a:noFill/>
          <a:ln/>
        </p:spPr>
        <p:txBody>
          <a:bodyPr wrap="square" lIns="0" tIns="0" rIns="0" bIns="0" rtlCol="0" anchor="t"/>
          <a:lstStyle/>
          <a:p>
            <a:pPr indent="0" marL="0">
              <a:buNone/>
            </a:pPr>
            <a:r>
              <a:rPr lang="en-US" sz="2400" b="1" dirty="0">
                <a:solidFill>
                  <a:srgbClr val="13233A"/>
                </a:solidFill>
                <a:latin typeface="Calibri" pitchFamily="34" charset="0"/>
                <a:ea typeface="Calibri" pitchFamily="34" charset="-122"/>
                <a:cs typeface="Calibri" pitchFamily="34" charset="-120"/>
              </a:rPr>
              <a:t>of people with ICH have microbleeds on MRI</a:t>
            </a:r>
            <a:endParaRPr lang="en-US" sz="2400" dirty="0"/>
          </a:p>
        </p:txBody>
      </p:sp>
      <p:sp>
        <p:nvSpPr>
          <p:cNvPr id="12" name="Text 7"/>
          <p:cNvSpPr txBox="1"/>
          <p:nvPr/>
        </p:nvSpPr>
        <p:spPr>
          <a:xfrm>
            <a:off x="7315200" y="4800600"/>
            <a:ext cx="3962095" cy="457200"/>
          </a:xfrm>
          <a:prstGeom prst="rect">
            <a:avLst/>
          </a:prstGeom>
          <a:noFill/>
          <a:ln/>
        </p:spPr>
        <p:txBody>
          <a:bodyPr wrap="square" lIns="0" tIns="0" rIns="0" bIns="0" rtlCol="0" anchor="t"/>
          <a:lstStyle/>
          <a:p>
            <a:pPr indent="0" marL="0">
              <a:buNone/>
            </a:pPr>
            <a:r>
              <a:rPr lang="en-US" sz="2000" dirty="0">
                <a:solidFill>
                  <a:srgbClr val="3E5C76"/>
                </a:solidFill>
                <a:latin typeface="Calibri" pitchFamily="34" charset="0"/>
                <a:ea typeface="Calibri" pitchFamily="34" charset="-122"/>
                <a:cs typeface="Calibri" pitchFamily="34" charset="-120"/>
              </a:rPr>
              <a:t>Healthy adults: 5%</a:t>
            </a:r>
            <a:endParaRPr lang="en-US" sz="2000" dirty="0"/>
          </a:p>
        </p:txBody>
      </p:sp>
      <p:sp>
        <p:nvSpPr>
          <p:cNvPr id="13" name="Text 8"/>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Cordonnier, Al-Shahi Salman &amp; Wardlaw, Brain 2007 (systematic review). Boston criteria on the handout.</a:t>
            </a:r>
            <a:endParaRPr lang="en-US" sz="1200" dirty="0"/>
          </a:p>
        </p:txBody>
      </p:sp>
      <p:sp>
        <p:nvSpPr>
          <p:cNvPr id="14" name="Text 9"/>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5"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16"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17"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8"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9"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0"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21"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22"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3"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11</a:t>
            </a:r>
            <a:endParaRPr lang="en-US" sz="11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30 SECONDS WITH YOUR NEIGHBOUR</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Jill: primary or secondary?</a:t>
            </a:r>
            <a:endParaRPr lang="en-US" sz="4000" dirty="0"/>
          </a:p>
        </p:txBody>
      </p:sp>
      <p:sp>
        <p:nvSpPr>
          <p:cNvPr id="5" name="!!chip0"/>
          <p:cNvSpPr/>
          <p:nvPr/>
        </p:nvSpPr>
        <p:spPr>
          <a:xfrm>
            <a:off x="548640" y="2240280"/>
            <a:ext cx="3515258" cy="914400"/>
          </a:xfrm>
          <a:prstGeom prst="roundRect">
            <a:avLst>
              <a:gd name="adj" fmla="val 10000"/>
            </a:avLst>
          </a:prstGeom>
          <a:solidFill>
            <a:srgbClr val="E8EDF3"/>
          </a:solidFill>
          <a:ln w="6350">
            <a:solidFill>
              <a:srgbClr val="E8EDF3"/>
            </a:solidFill>
            <a:prstDash val="solid"/>
          </a:ln>
        </p:spPr>
      </p:sp>
      <p:sp>
        <p:nvSpPr>
          <p:cNvPr id="6" name="!!chipI0c"/>
          <p:cNvSpPr/>
          <p:nvPr/>
        </p:nvSpPr>
        <p:spPr>
          <a:xfrm>
            <a:off x="749808" y="2395728"/>
            <a:ext cx="603504" cy="603504"/>
          </a:xfrm>
          <a:prstGeom prst="ellipse">
            <a:avLst/>
          </a:prstGeom>
          <a:solidFill>
            <a:srgbClr val="13233A"/>
          </a:solidFill>
          <a:ln w="6350">
            <a:solidFill>
              <a:srgbClr val="13233A"/>
            </a:solidFill>
            <a:prstDash val="solid"/>
          </a:ln>
        </p:spPr>
      </p:sp>
      <p:pic>
        <p:nvPicPr>
          <p:cNvPr id="7" name="!!chipI0i" descr="preencoded.png">    </p:cNvPr>
          <p:cNvPicPr>
            <a:picLocks noChangeAspect="1"/>
          </p:cNvPicPr>
          <p:nvPr/>
        </p:nvPicPr>
        <p:blipFill>
          <a:blip r:embed="rId1"/>
          <a:stretch>
            <a:fillRect/>
          </a:stretch>
        </p:blipFill>
        <p:spPr>
          <a:xfrm>
            <a:off x="900684" y="2546604"/>
            <a:ext cx="301752" cy="301752"/>
          </a:xfrm>
          <a:prstGeom prst="rect">
            <a:avLst/>
          </a:prstGeom>
        </p:spPr>
      </p:pic>
      <p:sp>
        <p:nvSpPr>
          <p:cNvPr id="8" name="!!chipT0"/>
          <p:cNvSpPr txBox="1"/>
          <p:nvPr/>
        </p:nvSpPr>
        <p:spPr>
          <a:xfrm>
            <a:off x="1508760" y="22402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37 years old</a:t>
            </a:r>
            <a:endParaRPr lang="en-US" sz="2400" dirty="0"/>
          </a:p>
        </p:txBody>
      </p:sp>
      <p:sp>
        <p:nvSpPr>
          <p:cNvPr id="9" name="!!chip1"/>
          <p:cNvSpPr/>
          <p:nvPr/>
        </p:nvSpPr>
        <p:spPr>
          <a:xfrm>
            <a:off x="4338218" y="2240280"/>
            <a:ext cx="3515258" cy="914400"/>
          </a:xfrm>
          <a:prstGeom prst="roundRect">
            <a:avLst>
              <a:gd name="adj" fmla="val 10000"/>
            </a:avLst>
          </a:prstGeom>
          <a:solidFill>
            <a:srgbClr val="E8EDF3"/>
          </a:solidFill>
          <a:ln w="6350">
            <a:solidFill>
              <a:srgbClr val="E8EDF3"/>
            </a:solidFill>
            <a:prstDash val="solid"/>
          </a:ln>
        </p:spPr>
      </p:sp>
      <p:sp>
        <p:nvSpPr>
          <p:cNvPr id="10" name="!!chipI1c"/>
          <p:cNvSpPr/>
          <p:nvPr/>
        </p:nvSpPr>
        <p:spPr>
          <a:xfrm>
            <a:off x="4539386" y="2395728"/>
            <a:ext cx="603504" cy="603504"/>
          </a:xfrm>
          <a:prstGeom prst="ellipse">
            <a:avLst/>
          </a:prstGeom>
          <a:solidFill>
            <a:srgbClr val="13233A"/>
          </a:solidFill>
          <a:ln w="6350">
            <a:solidFill>
              <a:srgbClr val="13233A"/>
            </a:solidFill>
            <a:prstDash val="solid"/>
          </a:ln>
        </p:spPr>
      </p:sp>
      <p:pic>
        <p:nvPicPr>
          <p:cNvPr id="11" name="!!chipI1i" descr="preencoded.png">    </p:cNvPr>
          <p:cNvPicPr>
            <a:picLocks noChangeAspect="1"/>
          </p:cNvPicPr>
          <p:nvPr/>
        </p:nvPicPr>
        <p:blipFill>
          <a:blip r:embed="rId2"/>
          <a:stretch>
            <a:fillRect/>
          </a:stretch>
        </p:blipFill>
        <p:spPr>
          <a:xfrm>
            <a:off x="4690262" y="2546604"/>
            <a:ext cx="301752" cy="301752"/>
          </a:xfrm>
          <a:prstGeom prst="rect">
            <a:avLst/>
          </a:prstGeom>
        </p:spPr>
      </p:pic>
      <p:sp>
        <p:nvSpPr>
          <p:cNvPr id="12" name="!!chipT1"/>
          <p:cNvSpPr txBox="1"/>
          <p:nvPr/>
        </p:nvSpPr>
        <p:spPr>
          <a:xfrm>
            <a:off x="5298338" y="22402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No hypertension</a:t>
            </a:r>
            <a:endParaRPr lang="en-US" sz="2400" dirty="0"/>
          </a:p>
        </p:txBody>
      </p:sp>
      <p:sp>
        <p:nvSpPr>
          <p:cNvPr id="13" name="!!chip2"/>
          <p:cNvSpPr/>
          <p:nvPr/>
        </p:nvSpPr>
        <p:spPr>
          <a:xfrm>
            <a:off x="8127797" y="2240280"/>
            <a:ext cx="3515258" cy="914400"/>
          </a:xfrm>
          <a:prstGeom prst="roundRect">
            <a:avLst>
              <a:gd name="adj" fmla="val 10000"/>
            </a:avLst>
          </a:prstGeom>
          <a:solidFill>
            <a:srgbClr val="E8EDF3"/>
          </a:solidFill>
          <a:ln w="6350">
            <a:solidFill>
              <a:srgbClr val="E8EDF3"/>
            </a:solidFill>
            <a:prstDash val="solid"/>
          </a:ln>
        </p:spPr>
      </p:sp>
      <p:sp>
        <p:nvSpPr>
          <p:cNvPr id="14" name="!!chipI2c"/>
          <p:cNvSpPr/>
          <p:nvPr/>
        </p:nvSpPr>
        <p:spPr>
          <a:xfrm>
            <a:off x="8328965" y="2395728"/>
            <a:ext cx="603504" cy="603504"/>
          </a:xfrm>
          <a:prstGeom prst="ellipse">
            <a:avLst/>
          </a:prstGeom>
          <a:solidFill>
            <a:srgbClr val="13233A"/>
          </a:solidFill>
          <a:ln w="6350">
            <a:solidFill>
              <a:srgbClr val="13233A"/>
            </a:solidFill>
            <a:prstDash val="solid"/>
          </a:ln>
        </p:spPr>
      </p:sp>
      <p:pic>
        <p:nvPicPr>
          <p:cNvPr id="15" name="!!chipI2i" descr="preencoded.png">    </p:cNvPr>
          <p:cNvPicPr>
            <a:picLocks noChangeAspect="1"/>
          </p:cNvPicPr>
          <p:nvPr/>
        </p:nvPicPr>
        <p:blipFill>
          <a:blip r:embed="rId3"/>
          <a:stretch>
            <a:fillRect/>
          </a:stretch>
        </p:blipFill>
        <p:spPr>
          <a:xfrm>
            <a:off x="8479841" y="2546604"/>
            <a:ext cx="301752" cy="301752"/>
          </a:xfrm>
          <a:prstGeom prst="rect">
            <a:avLst/>
          </a:prstGeom>
        </p:spPr>
      </p:pic>
      <p:sp>
        <p:nvSpPr>
          <p:cNvPr id="16" name="!!chipT2"/>
          <p:cNvSpPr txBox="1"/>
          <p:nvPr/>
        </p:nvSpPr>
        <p:spPr>
          <a:xfrm>
            <a:off x="9087917" y="22402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Lobar bleed</a:t>
            </a:r>
            <a:endParaRPr lang="en-US" sz="2400" dirty="0"/>
          </a:p>
        </p:txBody>
      </p:sp>
      <p:sp>
        <p:nvSpPr>
          <p:cNvPr id="17" name="Text 11"/>
          <p:cNvSpPr txBox="1"/>
          <p:nvPr/>
        </p:nvSpPr>
        <p:spPr>
          <a:xfrm>
            <a:off x="548640" y="3429000"/>
            <a:ext cx="11094415" cy="2194560"/>
          </a:xfrm>
          <a:prstGeom prst="rect">
            <a:avLst/>
          </a:prstGeom>
          <a:noFill/>
          <a:ln/>
        </p:spPr>
        <p:txBody>
          <a:bodyPr wrap="square" lIns="0" tIns="0" rIns="0" bIns="0" rtlCol="0" anchor="ctr"/>
          <a:lstStyle/>
          <a:p>
            <a:pPr algn="ctr" indent="0" marL="0">
              <a:buNone/>
            </a:pPr>
            <a:r>
              <a:rPr lang="en-US" sz="15000" b="1" dirty="0">
                <a:solidFill>
                  <a:srgbClr val="C9D2DE"/>
                </a:solidFill>
                <a:latin typeface="Cambria" pitchFamily="34" charset="0"/>
                <a:ea typeface="Cambria" pitchFamily="34" charset="-122"/>
                <a:cs typeface="Cambria" pitchFamily="34" charset="-120"/>
              </a:rPr>
              <a:t>?</a:t>
            </a:r>
            <a:endParaRPr lang="en-US" sz="15000" dirty="0"/>
          </a:p>
        </p:txBody>
      </p:sp>
      <p:sp>
        <p:nvSpPr>
          <p:cNvPr id="18" name="Text 12"/>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9"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20"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21"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2"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3"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4"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25"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26"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7"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12</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30 SECONDS WITH YOUR NEIGHBOUR</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C1272D"/>
                </a:solidFill>
                <a:latin typeface="Cambria" pitchFamily="34" charset="0"/>
                <a:ea typeface="Cambria" pitchFamily="34" charset="-122"/>
                <a:cs typeface="Cambria" pitchFamily="34" charset="-120"/>
              </a:rPr>
              <a:t>Secondary: an arteriovenous malformation</a:t>
            </a:r>
            <a:endParaRPr lang="en-US" sz="4000" dirty="0"/>
          </a:p>
        </p:txBody>
      </p:sp>
      <p:sp>
        <p:nvSpPr>
          <p:cNvPr id="5" name="!!chip0"/>
          <p:cNvSpPr/>
          <p:nvPr/>
        </p:nvSpPr>
        <p:spPr>
          <a:xfrm>
            <a:off x="548640" y="1783080"/>
            <a:ext cx="3515258" cy="914400"/>
          </a:xfrm>
          <a:prstGeom prst="roundRect">
            <a:avLst>
              <a:gd name="adj" fmla="val 10000"/>
            </a:avLst>
          </a:prstGeom>
          <a:solidFill>
            <a:srgbClr val="E8EDF3"/>
          </a:solidFill>
          <a:ln w="6350">
            <a:solidFill>
              <a:srgbClr val="E8EDF3"/>
            </a:solidFill>
            <a:prstDash val="solid"/>
          </a:ln>
        </p:spPr>
      </p:sp>
      <p:sp>
        <p:nvSpPr>
          <p:cNvPr id="6" name="!!chipI0c"/>
          <p:cNvSpPr/>
          <p:nvPr/>
        </p:nvSpPr>
        <p:spPr>
          <a:xfrm>
            <a:off x="749808" y="1938528"/>
            <a:ext cx="603504" cy="603504"/>
          </a:xfrm>
          <a:prstGeom prst="ellipse">
            <a:avLst/>
          </a:prstGeom>
          <a:solidFill>
            <a:srgbClr val="13233A"/>
          </a:solidFill>
          <a:ln w="6350">
            <a:solidFill>
              <a:srgbClr val="13233A"/>
            </a:solidFill>
            <a:prstDash val="solid"/>
          </a:ln>
        </p:spPr>
      </p:sp>
      <p:pic>
        <p:nvPicPr>
          <p:cNvPr id="7" name="!!chipI0i" descr="preencoded.png">    </p:cNvPr>
          <p:cNvPicPr>
            <a:picLocks noChangeAspect="1"/>
          </p:cNvPicPr>
          <p:nvPr/>
        </p:nvPicPr>
        <p:blipFill>
          <a:blip r:embed="rId1"/>
          <a:stretch>
            <a:fillRect/>
          </a:stretch>
        </p:blipFill>
        <p:spPr>
          <a:xfrm>
            <a:off x="900684" y="2089404"/>
            <a:ext cx="301752" cy="301752"/>
          </a:xfrm>
          <a:prstGeom prst="rect">
            <a:avLst/>
          </a:prstGeom>
        </p:spPr>
      </p:pic>
      <p:sp>
        <p:nvSpPr>
          <p:cNvPr id="8" name="!!chipT0"/>
          <p:cNvSpPr txBox="1"/>
          <p:nvPr/>
        </p:nvSpPr>
        <p:spPr>
          <a:xfrm>
            <a:off x="1508760" y="17830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37 years old</a:t>
            </a:r>
            <a:endParaRPr lang="en-US" sz="2400" dirty="0"/>
          </a:p>
        </p:txBody>
      </p:sp>
      <p:sp>
        <p:nvSpPr>
          <p:cNvPr id="9" name="!!chip1"/>
          <p:cNvSpPr/>
          <p:nvPr/>
        </p:nvSpPr>
        <p:spPr>
          <a:xfrm>
            <a:off x="4338218" y="1783080"/>
            <a:ext cx="3515258" cy="914400"/>
          </a:xfrm>
          <a:prstGeom prst="roundRect">
            <a:avLst>
              <a:gd name="adj" fmla="val 10000"/>
            </a:avLst>
          </a:prstGeom>
          <a:solidFill>
            <a:srgbClr val="E8EDF3"/>
          </a:solidFill>
          <a:ln w="6350">
            <a:solidFill>
              <a:srgbClr val="E8EDF3"/>
            </a:solidFill>
            <a:prstDash val="solid"/>
          </a:ln>
        </p:spPr>
      </p:sp>
      <p:sp>
        <p:nvSpPr>
          <p:cNvPr id="10" name="!!chipI1c"/>
          <p:cNvSpPr/>
          <p:nvPr/>
        </p:nvSpPr>
        <p:spPr>
          <a:xfrm>
            <a:off x="4539386" y="1938528"/>
            <a:ext cx="603504" cy="603504"/>
          </a:xfrm>
          <a:prstGeom prst="ellipse">
            <a:avLst/>
          </a:prstGeom>
          <a:solidFill>
            <a:srgbClr val="13233A"/>
          </a:solidFill>
          <a:ln w="6350">
            <a:solidFill>
              <a:srgbClr val="13233A"/>
            </a:solidFill>
            <a:prstDash val="solid"/>
          </a:ln>
        </p:spPr>
      </p:sp>
      <p:pic>
        <p:nvPicPr>
          <p:cNvPr id="11" name="!!chipI1i" descr="preencoded.png">    </p:cNvPr>
          <p:cNvPicPr>
            <a:picLocks noChangeAspect="1"/>
          </p:cNvPicPr>
          <p:nvPr/>
        </p:nvPicPr>
        <p:blipFill>
          <a:blip r:embed="rId2"/>
          <a:stretch>
            <a:fillRect/>
          </a:stretch>
        </p:blipFill>
        <p:spPr>
          <a:xfrm>
            <a:off x="4690262" y="2089404"/>
            <a:ext cx="301752" cy="301752"/>
          </a:xfrm>
          <a:prstGeom prst="rect">
            <a:avLst/>
          </a:prstGeom>
        </p:spPr>
      </p:pic>
      <p:sp>
        <p:nvSpPr>
          <p:cNvPr id="12" name="!!chipT1"/>
          <p:cNvSpPr txBox="1"/>
          <p:nvPr/>
        </p:nvSpPr>
        <p:spPr>
          <a:xfrm>
            <a:off x="5298338" y="17830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No hypertension</a:t>
            </a:r>
            <a:endParaRPr lang="en-US" sz="2400" dirty="0"/>
          </a:p>
        </p:txBody>
      </p:sp>
      <p:sp>
        <p:nvSpPr>
          <p:cNvPr id="13" name="!!chip2"/>
          <p:cNvSpPr/>
          <p:nvPr/>
        </p:nvSpPr>
        <p:spPr>
          <a:xfrm>
            <a:off x="8127797" y="1783080"/>
            <a:ext cx="3515258" cy="914400"/>
          </a:xfrm>
          <a:prstGeom prst="roundRect">
            <a:avLst>
              <a:gd name="adj" fmla="val 10000"/>
            </a:avLst>
          </a:prstGeom>
          <a:solidFill>
            <a:srgbClr val="E8EDF3"/>
          </a:solidFill>
          <a:ln w="6350">
            <a:solidFill>
              <a:srgbClr val="E8EDF3"/>
            </a:solidFill>
            <a:prstDash val="solid"/>
          </a:ln>
        </p:spPr>
      </p:sp>
      <p:sp>
        <p:nvSpPr>
          <p:cNvPr id="14" name="!!chipI2c"/>
          <p:cNvSpPr/>
          <p:nvPr/>
        </p:nvSpPr>
        <p:spPr>
          <a:xfrm>
            <a:off x="8328965" y="1938528"/>
            <a:ext cx="603504" cy="603504"/>
          </a:xfrm>
          <a:prstGeom prst="ellipse">
            <a:avLst/>
          </a:prstGeom>
          <a:solidFill>
            <a:srgbClr val="13233A"/>
          </a:solidFill>
          <a:ln w="6350">
            <a:solidFill>
              <a:srgbClr val="13233A"/>
            </a:solidFill>
            <a:prstDash val="solid"/>
          </a:ln>
        </p:spPr>
      </p:sp>
      <p:pic>
        <p:nvPicPr>
          <p:cNvPr id="15" name="!!chipI2i" descr="preencoded.png">    </p:cNvPr>
          <p:cNvPicPr>
            <a:picLocks noChangeAspect="1"/>
          </p:cNvPicPr>
          <p:nvPr/>
        </p:nvPicPr>
        <p:blipFill>
          <a:blip r:embed="rId3"/>
          <a:stretch>
            <a:fillRect/>
          </a:stretch>
        </p:blipFill>
        <p:spPr>
          <a:xfrm>
            <a:off x="8479841" y="2089404"/>
            <a:ext cx="301752" cy="301752"/>
          </a:xfrm>
          <a:prstGeom prst="rect">
            <a:avLst/>
          </a:prstGeom>
        </p:spPr>
      </p:pic>
      <p:sp>
        <p:nvSpPr>
          <p:cNvPr id="16" name="!!chipT2"/>
          <p:cNvSpPr txBox="1"/>
          <p:nvPr/>
        </p:nvSpPr>
        <p:spPr>
          <a:xfrm>
            <a:off x="9087917" y="1783080"/>
            <a:ext cx="2463698" cy="914400"/>
          </a:xfrm>
          <a:prstGeom prst="rect">
            <a:avLst/>
          </a:prstGeom>
          <a:noFill/>
          <a:ln/>
        </p:spPr>
        <p:txBody>
          <a:bodyPr wrap="square" lIns="0" tIns="0" rIns="0" bIns="0" rtlCol="0" anchor="ctr"/>
          <a:lstStyle/>
          <a:p>
            <a:pPr indent="0" marL="0">
              <a:buNone/>
            </a:pPr>
            <a:r>
              <a:rPr lang="en-US" sz="2400" b="1" dirty="0">
                <a:solidFill>
                  <a:srgbClr val="13233A"/>
                </a:solidFill>
                <a:latin typeface="Calibri" pitchFamily="34" charset="0"/>
                <a:ea typeface="Calibri" pitchFamily="34" charset="-122"/>
                <a:cs typeface="Calibri" pitchFamily="34" charset="-120"/>
              </a:rPr>
              <a:t>Lobar bleed</a:t>
            </a:r>
            <a:endParaRPr lang="en-US" sz="2400" dirty="0"/>
          </a:p>
        </p:txBody>
      </p:sp>
      <p:sp>
        <p:nvSpPr>
          <p:cNvPr id="17" name="Shape 11"/>
          <p:cNvSpPr/>
          <p:nvPr/>
        </p:nvSpPr>
        <p:spPr>
          <a:xfrm>
            <a:off x="548640" y="2971800"/>
            <a:ext cx="5410048" cy="2788920"/>
          </a:xfrm>
          <a:prstGeom prst="roundRect">
            <a:avLst>
              <a:gd name="adj" fmla="val 3279"/>
            </a:avLst>
          </a:prstGeom>
          <a:solidFill>
            <a:srgbClr val="F6DCDD"/>
          </a:solidFill>
          <a:ln w="6350">
            <a:solidFill>
              <a:srgbClr val="F6DCDD"/>
            </a:solidFill>
            <a:prstDash val="solid"/>
          </a:ln>
        </p:spPr>
      </p:sp>
      <p:sp>
        <p:nvSpPr>
          <p:cNvPr id="18" name="Text 12"/>
          <p:cNvSpPr txBox="1"/>
          <p:nvPr/>
        </p:nvSpPr>
        <p:spPr>
          <a:xfrm>
            <a:off x="914400" y="3154680"/>
            <a:ext cx="4678528" cy="1188720"/>
          </a:xfrm>
          <a:prstGeom prst="rect">
            <a:avLst/>
          </a:prstGeom>
          <a:noFill/>
          <a:ln/>
        </p:spPr>
        <p:txBody>
          <a:bodyPr wrap="square" lIns="0" tIns="0" rIns="0" bIns="0" rtlCol="0" anchor="ctr"/>
          <a:lstStyle/>
          <a:p>
            <a:pPr indent="0" marL="0">
              <a:buNone/>
            </a:pPr>
            <a:r>
              <a:rPr lang="en-US" sz="8000" b="1" dirty="0">
                <a:solidFill>
                  <a:srgbClr val="C1272D"/>
                </a:solidFill>
                <a:latin typeface="Cambria" pitchFamily="34" charset="0"/>
                <a:ea typeface="Cambria" pitchFamily="34" charset="-122"/>
                <a:cs typeface="Cambria" pitchFamily="34" charset="-120"/>
              </a:rPr>
              <a:t>65%</a:t>
            </a:r>
            <a:endParaRPr lang="en-US" sz="8000" dirty="0"/>
          </a:p>
        </p:txBody>
      </p:sp>
      <p:sp>
        <p:nvSpPr>
          <p:cNvPr id="19" name="Text 13"/>
          <p:cNvSpPr txBox="1"/>
          <p:nvPr/>
        </p:nvSpPr>
        <p:spPr>
          <a:xfrm>
            <a:off x="914400" y="4389120"/>
            <a:ext cx="4678528" cy="1097280"/>
          </a:xfrm>
          <a:prstGeom prst="rect">
            <a:avLst/>
          </a:prstGeom>
          <a:noFill/>
          <a:ln/>
        </p:spPr>
        <p:txBody>
          <a:bodyPr wrap="square" lIns="0" tIns="0" rIns="0" bIns="0" rtlCol="0" anchor="t"/>
          <a:lstStyle/>
          <a:p>
            <a:pPr indent="0" marL="0">
              <a:buNone/>
            </a:pPr>
            <a:r>
              <a:rPr lang="en-US" sz="2400" b="1" dirty="0">
                <a:solidFill>
                  <a:srgbClr val="8E1B1F"/>
                </a:solidFill>
                <a:latin typeface="Calibri" pitchFamily="34" charset="0"/>
                <a:ea typeface="Calibri" pitchFamily="34" charset="-122"/>
                <a:cs typeface="Calibri" pitchFamily="34" charset="-120"/>
              </a:rPr>
              <a:t>of patients like Jill had a lesion on angiography</a:t>
            </a:r>
            <a:endParaRPr lang="en-US" sz="2400" dirty="0"/>
          </a:p>
        </p:txBody>
      </p:sp>
      <p:sp>
        <p:nvSpPr>
          <p:cNvPr id="20" name="Shape 14"/>
          <p:cNvSpPr/>
          <p:nvPr/>
        </p:nvSpPr>
        <p:spPr>
          <a:xfrm>
            <a:off x="6233008" y="2971800"/>
            <a:ext cx="5410048" cy="2788920"/>
          </a:xfrm>
          <a:prstGeom prst="roundRect">
            <a:avLst>
              <a:gd name="adj" fmla="val 3279"/>
            </a:avLst>
          </a:prstGeom>
          <a:solidFill>
            <a:srgbClr val="F3F5F8"/>
          </a:solidFill>
          <a:ln w="6350">
            <a:solidFill>
              <a:srgbClr val="F3F5F8"/>
            </a:solidFill>
            <a:prstDash val="solid"/>
          </a:ln>
        </p:spPr>
      </p:sp>
      <p:sp>
        <p:nvSpPr>
          <p:cNvPr id="21" name="Text 15"/>
          <p:cNvSpPr txBox="1"/>
          <p:nvPr/>
        </p:nvSpPr>
        <p:spPr>
          <a:xfrm>
            <a:off x="6598768" y="3154680"/>
            <a:ext cx="4678528" cy="1188720"/>
          </a:xfrm>
          <a:prstGeom prst="rect">
            <a:avLst/>
          </a:prstGeom>
          <a:noFill/>
          <a:ln/>
        </p:spPr>
        <p:txBody>
          <a:bodyPr wrap="square" lIns="0" tIns="0" rIns="0" bIns="0" rtlCol="0" anchor="ctr"/>
          <a:lstStyle/>
          <a:p>
            <a:pPr indent="0" marL="0">
              <a:buNone/>
            </a:pPr>
            <a:r>
              <a:rPr lang="en-US" sz="8000" b="1" dirty="0">
                <a:solidFill>
                  <a:srgbClr val="13233A"/>
                </a:solidFill>
                <a:latin typeface="Cambria" pitchFamily="34" charset="0"/>
                <a:ea typeface="Cambria" pitchFamily="34" charset="-122"/>
                <a:cs typeface="Cambria" pitchFamily="34" charset="-120"/>
              </a:rPr>
              <a:t>0%</a:t>
            </a:r>
            <a:endParaRPr lang="en-US" sz="8000" dirty="0"/>
          </a:p>
        </p:txBody>
      </p:sp>
      <p:sp>
        <p:nvSpPr>
          <p:cNvPr id="22" name="Text 16"/>
          <p:cNvSpPr txBox="1"/>
          <p:nvPr/>
        </p:nvSpPr>
        <p:spPr>
          <a:xfrm>
            <a:off x="6598768" y="4389120"/>
            <a:ext cx="4678528" cy="1097280"/>
          </a:xfrm>
          <a:prstGeom prst="rect">
            <a:avLst/>
          </a:prstGeom>
          <a:noFill/>
          <a:ln/>
        </p:spPr>
        <p:txBody>
          <a:bodyPr wrap="square" lIns="0" tIns="0" rIns="0" bIns="0" rtlCol="0" anchor="t"/>
          <a:lstStyle/>
          <a:p>
            <a:pPr indent="0" marL="0">
              <a:buNone/>
            </a:pPr>
            <a:r>
              <a:rPr lang="en-US" sz="2400" b="1" dirty="0">
                <a:solidFill>
                  <a:srgbClr val="13233A"/>
                </a:solidFill>
                <a:latin typeface="Calibri" pitchFamily="34" charset="0"/>
                <a:ea typeface="Calibri" pitchFamily="34" charset="-122"/>
                <a:cs typeface="Calibri" pitchFamily="34" charset="-120"/>
              </a:rPr>
              <a:t>if over 45, hypertensive, with a deep bleed</a:t>
            </a:r>
            <a:endParaRPr lang="en-US" sz="2400" dirty="0"/>
          </a:p>
        </p:txBody>
      </p:sp>
      <p:sp>
        <p:nvSpPr>
          <p:cNvPr id="23" name="Text 17"/>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Zhu et al., Stroke 1997 (prospective; 206 patients, all had catheter angiography). Other secondary causes on the handout.</a:t>
            </a:r>
            <a:endParaRPr lang="en-US" sz="1200" dirty="0"/>
          </a:p>
        </p:txBody>
      </p:sp>
      <p:sp>
        <p:nvSpPr>
          <p:cNvPr id="24" name="Text 18"/>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5"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26"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27"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8"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9"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30"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31"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32"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33"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13</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6583680" y="685800"/>
            <a:ext cx="5486400" cy="5486400"/>
          </a:xfrm>
          <a:prstGeom prst="ellipse">
            <a:avLst/>
          </a:prstGeom>
          <a:solidFill>
            <a:srgbClr val="FFFFFF">
              <a:alpha val="0"/>
            </a:srgbClr>
          </a:solidFill>
          <a:ln w="12700">
            <a:solidFill>
              <a:srgbClr val="3E5C76"/>
            </a:solidFill>
            <a:prstDash val="solid"/>
          </a:ln>
        </p:spPr>
      </p:sp>
      <p:sp>
        <p:nvSpPr>
          <p:cNvPr id="4" name="!!halo0"/>
          <p:cNvSpPr/>
          <p:nvPr/>
        </p:nvSpPr>
        <p:spPr>
          <a:xfrm>
            <a:off x="8001000" y="2103120"/>
            <a:ext cx="2651760" cy="2651760"/>
          </a:xfrm>
          <a:prstGeom prst="ellipse">
            <a:avLst/>
          </a:prstGeom>
          <a:solidFill>
            <a:srgbClr val="C1272D">
              <a:alpha val="15000"/>
            </a:srgbClr>
          </a:solidFill>
          <a:ln w="6350">
            <a:solidFill>
              <a:srgbClr val="C1272D">
                <a:alpha val="0"/>
              </a:srgbClr>
            </a:solidFill>
            <a:prstDash val="solid"/>
          </a:ln>
        </p:spPr>
      </p:sp>
      <p:sp>
        <p:nvSpPr>
          <p:cNvPr id="5" name="!!bleed"/>
          <p:cNvSpPr/>
          <p:nvPr/>
        </p:nvSpPr>
        <p:spPr>
          <a:xfrm>
            <a:off x="8321040" y="2423160"/>
            <a:ext cx="2011680" cy="2011680"/>
          </a:xfrm>
          <a:prstGeom prst="ellipse">
            <a:avLst/>
          </a:prstGeom>
          <a:solidFill>
            <a:srgbClr val="C1272D"/>
          </a:solidFill>
          <a:ln w="6350">
            <a:solidFill>
              <a:srgbClr val="C1272D"/>
            </a:solidFill>
            <a:prstDash val="solid"/>
          </a:ln>
        </p:spPr>
      </p:sp>
      <p:sp>
        <p:nvSpPr>
          <p:cNvPr id="6" name="Text 3"/>
          <p:cNvSpPr txBox="1"/>
          <p:nvPr/>
        </p:nvSpPr>
        <p:spPr>
          <a:xfrm>
            <a:off x="731520" y="1325880"/>
            <a:ext cx="2743200" cy="1463040"/>
          </a:xfrm>
          <a:prstGeom prst="rect">
            <a:avLst/>
          </a:prstGeom>
          <a:noFill/>
          <a:ln/>
        </p:spPr>
        <p:txBody>
          <a:bodyPr wrap="square" lIns="0" tIns="0" rIns="0" bIns="0" rtlCol="0" anchor="b"/>
          <a:lstStyle/>
          <a:p>
            <a:pPr indent="0" marL="0">
              <a:buNone/>
            </a:pPr>
            <a:r>
              <a:rPr lang="en-US" sz="11000" b="1" dirty="0">
                <a:solidFill>
                  <a:srgbClr val="E0474C"/>
                </a:solidFill>
                <a:latin typeface="Cambria" pitchFamily="34" charset="0"/>
                <a:ea typeface="Cambria" pitchFamily="34" charset="-122"/>
                <a:cs typeface="Cambria" pitchFamily="34" charset="-120"/>
              </a:rPr>
              <a:t>02</a:t>
            </a:r>
            <a:endParaRPr lang="en-US" sz="11000" dirty="0"/>
          </a:p>
        </p:txBody>
      </p:sp>
      <p:sp>
        <p:nvSpPr>
          <p:cNvPr id="7" name="Text 4"/>
          <p:cNvSpPr txBox="1"/>
          <p:nvPr/>
        </p:nvSpPr>
        <p:spPr>
          <a:xfrm>
            <a:off x="731520" y="2926080"/>
            <a:ext cx="62179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first hours</a:t>
            </a:r>
            <a:endParaRPr lang="en-US" sz="5400" dirty="0"/>
          </a:p>
        </p:txBody>
      </p:sp>
      <p:sp>
        <p:nvSpPr>
          <p:cNvPr id="8" name="Text 5"/>
          <p:cNvSpPr txBox="1"/>
          <p:nvPr/>
        </p:nvSpPr>
        <p:spPr>
          <a:xfrm>
            <a:off x="731520" y="3931920"/>
            <a:ext cx="5760720" cy="82296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Rupture, growth and pressure</a:t>
            </a:r>
            <a:endParaRPr lang="en-US" sz="2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02 · THE FIRST HOURS</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One rupture can trigger more</a:t>
            </a:r>
            <a:endParaRPr lang="en-US" sz="4000" dirty="0"/>
          </a:p>
        </p:txBody>
      </p:sp>
      <p:sp>
        <p:nvSpPr>
          <p:cNvPr id="5" name="Shape 2"/>
          <p:cNvSpPr/>
          <p:nvPr/>
        </p:nvSpPr>
        <p:spPr>
          <a:xfrm>
            <a:off x="548640" y="1783080"/>
            <a:ext cx="2567864" cy="2926080"/>
          </a:xfrm>
          <a:prstGeom prst="roundRect">
            <a:avLst>
              <a:gd name="adj" fmla="val 3561"/>
            </a:avLst>
          </a:prstGeom>
          <a:solidFill>
            <a:srgbClr val="F3F5F8"/>
          </a:solidFill>
          <a:ln w="6350">
            <a:solidFill>
              <a:srgbClr val="F3F5F8"/>
            </a:solidFill>
            <a:prstDash val="solid"/>
          </a:ln>
        </p:spPr>
      </p:sp>
      <p:sp>
        <p:nvSpPr>
          <p:cNvPr id="6" name="Shape 3"/>
          <p:cNvSpPr/>
          <p:nvPr/>
        </p:nvSpPr>
        <p:spPr>
          <a:xfrm>
            <a:off x="822960" y="3063240"/>
            <a:ext cx="2019224" cy="365760"/>
          </a:xfrm>
          <a:prstGeom prst="rect">
            <a:avLst/>
          </a:prstGeom>
          <a:solidFill>
            <a:srgbClr val="C1272D"/>
          </a:solidFill>
          <a:ln w="50800">
            <a:solidFill>
              <a:srgbClr val="C3CEDB"/>
            </a:solidFill>
            <a:prstDash val="solid"/>
          </a:ln>
        </p:spPr>
      </p:sp>
      <p:sp>
        <p:nvSpPr>
          <p:cNvPr id="7" name="Shape 4"/>
          <p:cNvSpPr/>
          <p:nvPr/>
        </p:nvSpPr>
        <p:spPr>
          <a:xfrm>
            <a:off x="1530820" y="2468880"/>
            <a:ext cx="603504" cy="603504"/>
          </a:xfrm>
          <a:prstGeom prst="ellipse">
            <a:avLst/>
          </a:prstGeom>
          <a:solidFill>
            <a:srgbClr val="C1272D"/>
          </a:solidFill>
          <a:ln w="6350">
            <a:solidFill>
              <a:srgbClr val="C1272D"/>
            </a:solidFill>
            <a:prstDash val="solid"/>
          </a:ln>
        </p:spPr>
      </p:sp>
      <p:sp>
        <p:nvSpPr>
          <p:cNvPr id="8" name="Shape 5"/>
          <p:cNvSpPr/>
          <p:nvPr/>
        </p:nvSpPr>
        <p:spPr>
          <a:xfrm>
            <a:off x="2106892" y="2286000"/>
            <a:ext cx="219456" cy="219456"/>
          </a:xfrm>
          <a:prstGeom prst="ellipse">
            <a:avLst/>
          </a:prstGeom>
          <a:solidFill>
            <a:srgbClr val="C1272D"/>
          </a:solidFill>
          <a:ln w="6350">
            <a:solidFill>
              <a:srgbClr val="C1272D"/>
            </a:solidFill>
            <a:prstDash val="solid"/>
          </a:ln>
        </p:spPr>
      </p:sp>
      <p:sp>
        <p:nvSpPr>
          <p:cNvPr id="9" name="Shape 6"/>
          <p:cNvSpPr/>
          <p:nvPr/>
        </p:nvSpPr>
        <p:spPr>
          <a:xfrm>
            <a:off x="1329652" y="2350008"/>
            <a:ext cx="155448" cy="155448"/>
          </a:xfrm>
          <a:prstGeom prst="ellipse">
            <a:avLst/>
          </a:prstGeom>
          <a:solidFill>
            <a:srgbClr val="C1272D"/>
          </a:solidFill>
          <a:ln w="6350">
            <a:solidFill>
              <a:srgbClr val="C1272D"/>
            </a:solidFill>
            <a:prstDash val="solid"/>
          </a:ln>
        </p:spPr>
      </p:sp>
      <p:sp>
        <p:nvSpPr>
          <p:cNvPr id="10" name="Text 7"/>
          <p:cNvSpPr txBox="1"/>
          <p:nvPr/>
        </p:nvSpPr>
        <p:spPr>
          <a:xfrm>
            <a:off x="3134792" y="2880360"/>
            <a:ext cx="237744" cy="640080"/>
          </a:xfrm>
          <a:prstGeom prst="rect">
            <a:avLst/>
          </a:prstGeom>
          <a:noFill/>
          <a:ln/>
        </p:spPr>
        <p:txBody>
          <a:bodyPr wrap="square" lIns="0" tIns="0" rIns="0" bIns="0" rtlCol="0" anchor="ctr"/>
          <a:lstStyle/>
          <a:p>
            <a:pPr algn="ctr" indent="0" marL="0">
              <a:buNone/>
            </a:pPr>
            <a:r>
              <a:rPr lang="en-US" sz="4000" b="1" dirty="0">
                <a:solidFill>
                  <a:srgbClr val="C9D2DE"/>
                </a:solidFill>
                <a:latin typeface="Calibri" pitchFamily="34" charset="0"/>
                <a:ea typeface="Calibri" pitchFamily="34" charset="-122"/>
                <a:cs typeface="Calibri" pitchFamily="34" charset="-120"/>
              </a:rPr>
              <a:t>›</a:t>
            </a:r>
            <a:endParaRPr lang="en-US" sz="4000" dirty="0"/>
          </a:p>
        </p:txBody>
      </p:sp>
      <p:sp>
        <p:nvSpPr>
          <p:cNvPr id="11" name="Shape 8"/>
          <p:cNvSpPr/>
          <p:nvPr/>
        </p:nvSpPr>
        <p:spPr>
          <a:xfrm>
            <a:off x="548640" y="4983480"/>
            <a:ext cx="512064" cy="512064"/>
          </a:xfrm>
          <a:prstGeom prst="ellipse">
            <a:avLst/>
          </a:prstGeom>
          <a:solidFill>
            <a:srgbClr val="C1272D"/>
          </a:solidFill>
          <a:ln w="6350">
            <a:solidFill>
              <a:srgbClr val="C1272D"/>
            </a:solidFill>
            <a:prstDash val="solid"/>
          </a:ln>
        </p:spPr>
      </p:sp>
      <p:sp>
        <p:nvSpPr>
          <p:cNvPr id="12" name="Text 9"/>
          <p:cNvSpPr txBox="1"/>
          <p:nvPr/>
        </p:nvSpPr>
        <p:spPr>
          <a:xfrm>
            <a:off x="548640" y="49834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3" name="Text 10"/>
          <p:cNvSpPr txBox="1"/>
          <p:nvPr/>
        </p:nvSpPr>
        <p:spPr>
          <a:xfrm>
            <a:off x="1188720" y="4983480"/>
            <a:ext cx="1927784"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Rupture</a:t>
            </a:r>
            <a:endParaRPr lang="en-US" sz="2600" dirty="0"/>
          </a:p>
        </p:txBody>
      </p:sp>
      <p:sp>
        <p:nvSpPr>
          <p:cNvPr id="14" name="Shape 11"/>
          <p:cNvSpPr/>
          <p:nvPr/>
        </p:nvSpPr>
        <p:spPr>
          <a:xfrm>
            <a:off x="3390824" y="1783080"/>
            <a:ext cx="2567864" cy="2926080"/>
          </a:xfrm>
          <a:prstGeom prst="roundRect">
            <a:avLst>
              <a:gd name="adj" fmla="val 3561"/>
            </a:avLst>
          </a:prstGeom>
          <a:solidFill>
            <a:srgbClr val="F3F5F8"/>
          </a:solidFill>
          <a:ln w="6350">
            <a:solidFill>
              <a:srgbClr val="F3F5F8"/>
            </a:solidFill>
            <a:prstDash val="solid"/>
          </a:ln>
        </p:spPr>
      </p:sp>
      <p:sp>
        <p:nvSpPr>
          <p:cNvPr id="15" name="Shape 12"/>
          <p:cNvSpPr/>
          <p:nvPr/>
        </p:nvSpPr>
        <p:spPr>
          <a:xfrm>
            <a:off x="3619424" y="3246120"/>
            <a:ext cx="438112" cy="0"/>
          </a:xfrm>
          <a:prstGeom prst="line">
            <a:avLst/>
          </a:prstGeom>
          <a:noFill/>
          <a:ln w="63500">
            <a:solidFill>
              <a:srgbClr val="C3CEDB"/>
            </a:solidFill>
            <a:prstDash val="solid"/>
          </a:ln>
        </p:spPr>
      </p:sp>
      <p:sp>
        <p:nvSpPr>
          <p:cNvPr id="16" name="Shape 13"/>
          <p:cNvSpPr/>
          <p:nvPr/>
        </p:nvSpPr>
        <p:spPr>
          <a:xfrm>
            <a:off x="4057536" y="2628900"/>
            <a:ext cx="1234440" cy="1234440"/>
          </a:xfrm>
          <a:prstGeom prst="ellipse">
            <a:avLst/>
          </a:prstGeom>
          <a:solidFill>
            <a:srgbClr val="C1272D"/>
          </a:solidFill>
          <a:ln w="6350">
            <a:solidFill>
              <a:srgbClr val="C1272D"/>
            </a:solidFill>
            <a:prstDash val="solid"/>
          </a:ln>
        </p:spPr>
      </p:sp>
      <p:sp>
        <p:nvSpPr>
          <p:cNvPr id="17" name="Text 14"/>
          <p:cNvSpPr txBox="1"/>
          <p:nvPr/>
        </p:nvSpPr>
        <p:spPr>
          <a:xfrm>
            <a:off x="5976976" y="2880360"/>
            <a:ext cx="237744" cy="640080"/>
          </a:xfrm>
          <a:prstGeom prst="rect">
            <a:avLst/>
          </a:prstGeom>
          <a:noFill/>
          <a:ln/>
        </p:spPr>
        <p:txBody>
          <a:bodyPr wrap="square" lIns="0" tIns="0" rIns="0" bIns="0" rtlCol="0" anchor="ctr"/>
          <a:lstStyle/>
          <a:p>
            <a:pPr algn="ctr" indent="0" marL="0">
              <a:buNone/>
            </a:pPr>
            <a:r>
              <a:rPr lang="en-US" sz="4000" b="1" dirty="0">
                <a:solidFill>
                  <a:srgbClr val="C9D2DE"/>
                </a:solidFill>
                <a:latin typeface="Calibri" pitchFamily="34" charset="0"/>
                <a:ea typeface="Calibri" pitchFamily="34" charset="-122"/>
                <a:cs typeface="Calibri" pitchFamily="34" charset="-120"/>
              </a:rPr>
              <a:t>›</a:t>
            </a:r>
            <a:endParaRPr lang="en-US" sz="4000" dirty="0"/>
          </a:p>
        </p:txBody>
      </p:sp>
      <p:sp>
        <p:nvSpPr>
          <p:cNvPr id="18" name="Shape 15"/>
          <p:cNvSpPr/>
          <p:nvPr/>
        </p:nvSpPr>
        <p:spPr>
          <a:xfrm>
            <a:off x="3390824" y="4983480"/>
            <a:ext cx="512064" cy="512064"/>
          </a:xfrm>
          <a:prstGeom prst="ellipse">
            <a:avLst/>
          </a:prstGeom>
          <a:solidFill>
            <a:srgbClr val="C1272D"/>
          </a:solidFill>
          <a:ln w="6350">
            <a:solidFill>
              <a:srgbClr val="C1272D"/>
            </a:solidFill>
            <a:prstDash val="solid"/>
          </a:ln>
        </p:spPr>
      </p:sp>
      <p:sp>
        <p:nvSpPr>
          <p:cNvPr id="19" name="Text 16"/>
          <p:cNvSpPr txBox="1"/>
          <p:nvPr/>
        </p:nvSpPr>
        <p:spPr>
          <a:xfrm>
            <a:off x="3390824" y="49834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0" name="Text 17"/>
          <p:cNvSpPr txBox="1"/>
          <p:nvPr/>
        </p:nvSpPr>
        <p:spPr>
          <a:xfrm>
            <a:off x="4030904" y="4983480"/>
            <a:ext cx="1927784"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Haematoma</a:t>
            </a:r>
            <a:endParaRPr lang="en-US" sz="2600" dirty="0"/>
          </a:p>
        </p:txBody>
      </p:sp>
      <p:sp>
        <p:nvSpPr>
          <p:cNvPr id="21" name="Shape 18"/>
          <p:cNvSpPr/>
          <p:nvPr/>
        </p:nvSpPr>
        <p:spPr>
          <a:xfrm>
            <a:off x="6233008" y="1783080"/>
            <a:ext cx="2567864" cy="2926080"/>
          </a:xfrm>
          <a:prstGeom prst="roundRect">
            <a:avLst>
              <a:gd name="adj" fmla="val 3561"/>
            </a:avLst>
          </a:prstGeom>
          <a:solidFill>
            <a:srgbClr val="F3F5F8"/>
          </a:solidFill>
          <a:ln w="6350">
            <a:solidFill>
              <a:srgbClr val="F3F5F8"/>
            </a:solidFill>
            <a:prstDash val="solid"/>
          </a:ln>
        </p:spPr>
      </p:sp>
      <p:sp>
        <p:nvSpPr>
          <p:cNvPr id="22" name="Shape 19"/>
          <p:cNvSpPr/>
          <p:nvPr/>
        </p:nvSpPr>
        <p:spPr>
          <a:xfrm>
            <a:off x="8106492" y="3495379"/>
            <a:ext cx="378998" cy="142434"/>
          </a:xfrm>
          <a:prstGeom prst="line">
            <a:avLst/>
          </a:prstGeom>
          <a:noFill/>
          <a:ln w="38100">
            <a:solidFill>
              <a:srgbClr val="C3CEDB"/>
            </a:solidFill>
            <a:prstDash val="solid"/>
          </a:ln>
        </p:spPr>
      </p:sp>
      <p:sp>
        <p:nvSpPr>
          <p:cNvPr id="23" name="Shape 20"/>
          <p:cNvSpPr/>
          <p:nvPr/>
        </p:nvSpPr>
        <p:spPr>
          <a:xfrm>
            <a:off x="8384906" y="3537229"/>
            <a:ext cx="201168" cy="201168"/>
          </a:xfrm>
          <a:prstGeom prst="ellipse">
            <a:avLst/>
          </a:prstGeom>
          <a:solidFill>
            <a:srgbClr val="C1272D"/>
          </a:solidFill>
          <a:ln w="6350">
            <a:solidFill>
              <a:srgbClr val="C1272D"/>
            </a:solidFill>
            <a:prstDash val="solid"/>
          </a:ln>
        </p:spPr>
      </p:sp>
      <p:sp>
        <p:nvSpPr>
          <p:cNvPr id="24" name="Shape 21"/>
          <p:cNvSpPr/>
          <p:nvPr/>
        </p:nvSpPr>
        <p:spPr>
          <a:xfrm>
            <a:off x="7689641" y="3862461"/>
            <a:ext cx="111022" cy="352195"/>
          </a:xfrm>
          <a:prstGeom prst="line">
            <a:avLst/>
          </a:prstGeom>
          <a:noFill/>
          <a:ln w="38100">
            <a:solidFill>
              <a:srgbClr val="C3CEDB"/>
            </a:solidFill>
            <a:prstDash val="solid"/>
          </a:ln>
        </p:spPr>
      </p:sp>
      <p:sp>
        <p:nvSpPr>
          <p:cNvPr id="25" name="Shape 22"/>
          <p:cNvSpPr/>
          <p:nvPr/>
        </p:nvSpPr>
        <p:spPr>
          <a:xfrm>
            <a:off x="7700080" y="4114072"/>
            <a:ext cx="201168" cy="201168"/>
          </a:xfrm>
          <a:prstGeom prst="ellipse">
            <a:avLst/>
          </a:prstGeom>
          <a:solidFill>
            <a:srgbClr val="C1272D"/>
          </a:solidFill>
          <a:ln w="6350">
            <a:solidFill>
              <a:srgbClr val="C1272D"/>
            </a:solidFill>
            <a:prstDash val="solid"/>
          </a:ln>
        </p:spPr>
      </p:sp>
      <p:sp>
        <p:nvSpPr>
          <p:cNvPr id="26" name="Shape 23"/>
          <p:cNvSpPr/>
          <p:nvPr/>
        </p:nvSpPr>
        <p:spPr>
          <a:xfrm flipH="1">
            <a:off x="6902187" y="3765426"/>
            <a:ext cx="240555" cy="296746"/>
          </a:xfrm>
          <a:prstGeom prst="line">
            <a:avLst/>
          </a:prstGeom>
          <a:noFill/>
          <a:ln w="38100">
            <a:solidFill>
              <a:srgbClr val="C3CEDB"/>
            </a:solidFill>
            <a:prstDash val="solid"/>
          </a:ln>
        </p:spPr>
      </p:sp>
      <p:sp>
        <p:nvSpPr>
          <p:cNvPr id="27" name="Shape 24"/>
          <p:cNvSpPr/>
          <p:nvPr/>
        </p:nvSpPr>
        <p:spPr>
          <a:xfrm>
            <a:off x="6801603" y="3961588"/>
            <a:ext cx="201168" cy="201168"/>
          </a:xfrm>
          <a:prstGeom prst="ellipse">
            <a:avLst/>
          </a:prstGeom>
          <a:solidFill>
            <a:srgbClr val="C1272D"/>
          </a:solidFill>
          <a:ln w="6350">
            <a:solidFill>
              <a:srgbClr val="C1272D"/>
            </a:solidFill>
            <a:prstDash val="solid"/>
          </a:ln>
        </p:spPr>
      </p:sp>
      <p:sp>
        <p:nvSpPr>
          <p:cNvPr id="28" name="Shape 25"/>
          <p:cNvSpPr/>
          <p:nvPr/>
        </p:nvSpPr>
        <p:spPr>
          <a:xfrm flipH="1">
            <a:off x="6466631" y="3277343"/>
            <a:ext cx="410990" cy="17842"/>
          </a:xfrm>
          <a:prstGeom prst="line">
            <a:avLst/>
          </a:prstGeom>
          <a:noFill/>
          <a:ln w="38100">
            <a:solidFill>
              <a:srgbClr val="C3CEDB"/>
            </a:solidFill>
            <a:prstDash val="solid"/>
          </a:ln>
        </p:spPr>
      </p:sp>
      <p:sp>
        <p:nvSpPr>
          <p:cNvPr id="29" name="Shape 26"/>
          <p:cNvSpPr/>
          <p:nvPr/>
        </p:nvSpPr>
        <p:spPr>
          <a:xfrm>
            <a:off x="6366047" y="3194600"/>
            <a:ext cx="201168" cy="201168"/>
          </a:xfrm>
          <a:prstGeom prst="ellipse">
            <a:avLst/>
          </a:prstGeom>
          <a:solidFill>
            <a:srgbClr val="C1272D"/>
          </a:solidFill>
          <a:ln w="6350">
            <a:solidFill>
              <a:srgbClr val="C1272D"/>
            </a:solidFill>
            <a:prstDash val="solid"/>
          </a:ln>
        </p:spPr>
      </p:sp>
      <p:sp>
        <p:nvSpPr>
          <p:cNvPr id="30" name="Shape 27"/>
          <p:cNvSpPr/>
          <p:nvPr/>
        </p:nvSpPr>
        <p:spPr>
          <a:xfrm flipH="1" flipV="1">
            <a:off x="6821979" y="2491250"/>
            <a:ext cx="271941" cy="274498"/>
          </a:xfrm>
          <a:prstGeom prst="line">
            <a:avLst/>
          </a:prstGeom>
          <a:noFill/>
          <a:ln w="38100">
            <a:solidFill>
              <a:srgbClr val="C3CEDB"/>
            </a:solidFill>
            <a:prstDash val="solid"/>
          </a:ln>
        </p:spPr>
      </p:sp>
      <p:sp>
        <p:nvSpPr>
          <p:cNvPr id="31" name="Shape 28"/>
          <p:cNvSpPr/>
          <p:nvPr/>
        </p:nvSpPr>
        <p:spPr>
          <a:xfrm>
            <a:off x="6721395" y="2390666"/>
            <a:ext cx="201168" cy="201168"/>
          </a:xfrm>
          <a:prstGeom prst="ellipse">
            <a:avLst/>
          </a:prstGeom>
          <a:solidFill>
            <a:srgbClr val="C1272D"/>
          </a:solidFill>
          <a:ln w="6350">
            <a:solidFill>
              <a:srgbClr val="C1272D"/>
            </a:solidFill>
            <a:prstDash val="solid"/>
          </a:ln>
        </p:spPr>
      </p:sp>
      <p:sp>
        <p:nvSpPr>
          <p:cNvPr id="32" name="Shape 29"/>
          <p:cNvSpPr/>
          <p:nvPr/>
        </p:nvSpPr>
        <p:spPr>
          <a:xfrm flipV="1">
            <a:off x="7628761" y="2255748"/>
            <a:ext cx="71885" cy="360135"/>
          </a:xfrm>
          <a:prstGeom prst="line">
            <a:avLst/>
          </a:prstGeom>
          <a:noFill/>
          <a:ln w="38100">
            <a:solidFill>
              <a:srgbClr val="C3CEDB"/>
            </a:solidFill>
            <a:prstDash val="solid"/>
          </a:ln>
        </p:spPr>
      </p:sp>
      <p:sp>
        <p:nvSpPr>
          <p:cNvPr id="33" name="Shape 30"/>
          <p:cNvSpPr/>
          <p:nvPr/>
        </p:nvSpPr>
        <p:spPr>
          <a:xfrm>
            <a:off x="7600062" y="2155164"/>
            <a:ext cx="201168" cy="201168"/>
          </a:xfrm>
          <a:prstGeom prst="ellipse">
            <a:avLst/>
          </a:prstGeom>
          <a:solidFill>
            <a:srgbClr val="C1272D"/>
          </a:solidFill>
          <a:ln w="6350">
            <a:solidFill>
              <a:srgbClr val="C1272D"/>
            </a:solidFill>
            <a:prstDash val="solid"/>
          </a:ln>
        </p:spPr>
      </p:sp>
      <p:sp>
        <p:nvSpPr>
          <p:cNvPr id="34" name="Shape 31"/>
          <p:cNvSpPr/>
          <p:nvPr/>
        </p:nvSpPr>
        <p:spPr>
          <a:xfrm flipV="1">
            <a:off x="8079398" y="2766016"/>
            <a:ext cx="361581" cy="174583"/>
          </a:xfrm>
          <a:prstGeom prst="line">
            <a:avLst/>
          </a:prstGeom>
          <a:noFill/>
          <a:ln w="38100">
            <a:solidFill>
              <a:srgbClr val="C3CEDB"/>
            </a:solidFill>
            <a:prstDash val="solid"/>
          </a:ln>
        </p:spPr>
      </p:sp>
      <p:sp>
        <p:nvSpPr>
          <p:cNvPr id="35" name="Shape 32"/>
          <p:cNvSpPr/>
          <p:nvPr/>
        </p:nvSpPr>
        <p:spPr>
          <a:xfrm>
            <a:off x="8340395" y="2665432"/>
            <a:ext cx="201168" cy="201168"/>
          </a:xfrm>
          <a:prstGeom prst="ellipse">
            <a:avLst/>
          </a:prstGeom>
          <a:solidFill>
            <a:srgbClr val="C1272D"/>
          </a:solidFill>
          <a:ln w="6350">
            <a:solidFill>
              <a:srgbClr val="C1272D"/>
            </a:solidFill>
            <a:prstDash val="solid"/>
          </a:ln>
        </p:spPr>
      </p:sp>
      <p:sp>
        <p:nvSpPr>
          <p:cNvPr id="36" name="Shape 33"/>
          <p:cNvSpPr/>
          <p:nvPr/>
        </p:nvSpPr>
        <p:spPr>
          <a:xfrm>
            <a:off x="6831140" y="2560320"/>
            <a:ext cx="1371600" cy="1371600"/>
          </a:xfrm>
          <a:prstGeom prst="ellipse">
            <a:avLst/>
          </a:prstGeom>
          <a:solidFill>
            <a:srgbClr val="C1272D"/>
          </a:solidFill>
          <a:ln w="6350">
            <a:solidFill>
              <a:srgbClr val="C1272D"/>
            </a:solidFill>
            <a:prstDash val="solid"/>
          </a:ln>
        </p:spPr>
      </p:sp>
      <p:sp>
        <p:nvSpPr>
          <p:cNvPr id="37" name="Text 34"/>
          <p:cNvSpPr txBox="1"/>
          <p:nvPr/>
        </p:nvSpPr>
        <p:spPr>
          <a:xfrm>
            <a:off x="8819159" y="2880360"/>
            <a:ext cx="237744" cy="640080"/>
          </a:xfrm>
          <a:prstGeom prst="rect">
            <a:avLst/>
          </a:prstGeom>
          <a:noFill/>
          <a:ln/>
        </p:spPr>
        <p:txBody>
          <a:bodyPr wrap="square" lIns="0" tIns="0" rIns="0" bIns="0" rtlCol="0" anchor="ctr"/>
          <a:lstStyle/>
          <a:p>
            <a:pPr algn="ctr" indent="0" marL="0">
              <a:buNone/>
            </a:pPr>
            <a:r>
              <a:rPr lang="en-US" sz="4000" b="1" dirty="0">
                <a:solidFill>
                  <a:srgbClr val="C9D2DE"/>
                </a:solidFill>
                <a:latin typeface="Calibri" pitchFamily="34" charset="0"/>
                <a:ea typeface="Calibri" pitchFamily="34" charset="-122"/>
                <a:cs typeface="Calibri" pitchFamily="34" charset="-120"/>
              </a:rPr>
              <a:t>›</a:t>
            </a:r>
            <a:endParaRPr lang="en-US" sz="4000" dirty="0"/>
          </a:p>
        </p:txBody>
      </p:sp>
      <p:sp>
        <p:nvSpPr>
          <p:cNvPr id="38" name="Shape 35"/>
          <p:cNvSpPr/>
          <p:nvPr/>
        </p:nvSpPr>
        <p:spPr>
          <a:xfrm>
            <a:off x="6233008" y="4983480"/>
            <a:ext cx="512064" cy="512064"/>
          </a:xfrm>
          <a:prstGeom prst="ellipse">
            <a:avLst/>
          </a:prstGeom>
          <a:solidFill>
            <a:srgbClr val="C1272D"/>
          </a:solidFill>
          <a:ln w="6350">
            <a:solidFill>
              <a:srgbClr val="C1272D"/>
            </a:solidFill>
            <a:prstDash val="solid"/>
          </a:ln>
        </p:spPr>
      </p:sp>
      <p:sp>
        <p:nvSpPr>
          <p:cNvPr id="39" name="Text 36"/>
          <p:cNvSpPr txBox="1"/>
          <p:nvPr/>
        </p:nvSpPr>
        <p:spPr>
          <a:xfrm>
            <a:off x="6233008" y="49834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0" name="Text 37"/>
          <p:cNvSpPr txBox="1"/>
          <p:nvPr/>
        </p:nvSpPr>
        <p:spPr>
          <a:xfrm>
            <a:off x="6873088" y="4983480"/>
            <a:ext cx="1927784"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Avalanche</a:t>
            </a:r>
            <a:endParaRPr lang="en-US" sz="2600" dirty="0"/>
          </a:p>
        </p:txBody>
      </p:sp>
      <p:sp>
        <p:nvSpPr>
          <p:cNvPr id="41" name="Shape 38"/>
          <p:cNvSpPr/>
          <p:nvPr/>
        </p:nvSpPr>
        <p:spPr>
          <a:xfrm>
            <a:off x="9075191" y="1783080"/>
            <a:ext cx="2567864" cy="2926080"/>
          </a:xfrm>
          <a:prstGeom prst="roundRect">
            <a:avLst>
              <a:gd name="adj" fmla="val 3561"/>
            </a:avLst>
          </a:prstGeom>
          <a:solidFill>
            <a:srgbClr val="F3F5F8"/>
          </a:solidFill>
          <a:ln w="6350">
            <a:solidFill>
              <a:srgbClr val="F3F5F8"/>
            </a:solidFill>
            <a:prstDash val="solid"/>
          </a:ln>
        </p:spPr>
      </p:sp>
      <p:sp>
        <p:nvSpPr>
          <p:cNvPr id="42" name="Shape 39"/>
          <p:cNvSpPr/>
          <p:nvPr/>
        </p:nvSpPr>
        <p:spPr>
          <a:xfrm>
            <a:off x="9463011" y="2350008"/>
            <a:ext cx="1792224" cy="1792224"/>
          </a:xfrm>
          <a:prstGeom prst="ellipse">
            <a:avLst/>
          </a:prstGeom>
          <a:solidFill>
            <a:srgbClr val="FFFFFF">
              <a:alpha val="0"/>
            </a:srgbClr>
          </a:solidFill>
          <a:ln w="31750">
            <a:solidFill>
              <a:srgbClr val="13233A"/>
            </a:solidFill>
            <a:prstDash val="dash"/>
          </a:ln>
        </p:spPr>
      </p:sp>
      <p:sp>
        <p:nvSpPr>
          <p:cNvPr id="43" name="Shape 40"/>
          <p:cNvSpPr/>
          <p:nvPr/>
        </p:nvSpPr>
        <p:spPr>
          <a:xfrm>
            <a:off x="9673323" y="2560320"/>
            <a:ext cx="1371600" cy="1371600"/>
          </a:xfrm>
          <a:prstGeom prst="ellipse">
            <a:avLst/>
          </a:prstGeom>
          <a:solidFill>
            <a:srgbClr val="C1272D"/>
          </a:solidFill>
          <a:ln w="6350">
            <a:solidFill>
              <a:srgbClr val="C1272D"/>
            </a:solidFill>
            <a:prstDash val="solid"/>
          </a:ln>
        </p:spPr>
      </p:sp>
      <p:sp>
        <p:nvSpPr>
          <p:cNvPr id="44" name="Shape 41"/>
          <p:cNvSpPr/>
          <p:nvPr/>
        </p:nvSpPr>
        <p:spPr>
          <a:xfrm>
            <a:off x="9075191" y="4983480"/>
            <a:ext cx="512064" cy="512064"/>
          </a:xfrm>
          <a:prstGeom prst="ellipse">
            <a:avLst/>
          </a:prstGeom>
          <a:solidFill>
            <a:srgbClr val="C1272D"/>
          </a:solidFill>
          <a:ln w="6350">
            <a:solidFill>
              <a:srgbClr val="C1272D"/>
            </a:solidFill>
            <a:prstDash val="solid"/>
          </a:ln>
        </p:spPr>
      </p:sp>
      <p:sp>
        <p:nvSpPr>
          <p:cNvPr id="45" name="Text 42"/>
          <p:cNvSpPr txBox="1"/>
          <p:nvPr/>
        </p:nvSpPr>
        <p:spPr>
          <a:xfrm>
            <a:off x="9075191" y="498348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6" name="Text 43"/>
          <p:cNvSpPr txBox="1"/>
          <p:nvPr/>
        </p:nvSpPr>
        <p:spPr>
          <a:xfrm>
            <a:off x="9715271" y="4983480"/>
            <a:ext cx="1927784"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Tamponade</a:t>
            </a:r>
            <a:endParaRPr lang="en-US" sz="2600" dirty="0"/>
          </a:p>
        </p:txBody>
      </p:sp>
      <p:sp>
        <p:nvSpPr>
          <p:cNvPr id="47" name="Text 44"/>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Fisher CM, J Neuropathol Exp Neurol 1971: secondary bleeding points at the edge of the haematoma.</a:t>
            </a:r>
            <a:endParaRPr lang="en-US" sz="1200" dirty="0"/>
          </a:p>
        </p:txBody>
      </p:sp>
      <p:sp>
        <p:nvSpPr>
          <p:cNvPr id="48" name="Text 45"/>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49"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50"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51" name="trk1"/>
          <p:cNvSpPr/>
          <p:nvPr/>
        </p:nvSpPr>
        <p:spPr>
          <a:xfrm>
            <a:off x="8211312" y="6460236"/>
            <a:ext cx="128016" cy="128016"/>
          </a:xfrm>
          <a:prstGeom prst="ellipse">
            <a:avLst/>
          </a:prstGeom>
          <a:solidFill>
            <a:srgbClr val="C1272D"/>
          </a:solidFill>
          <a:ln w="6350">
            <a:solidFill>
              <a:srgbClr val="C1272D"/>
            </a:solidFill>
            <a:prstDash val="solid"/>
          </a:ln>
        </p:spPr>
      </p:sp>
      <p:sp>
        <p:nvSpPr>
          <p:cNvPr id="52"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Hours</a:t>
            </a:r>
            <a:endParaRPr lang="en-US" sz="1100" dirty="0"/>
          </a:p>
        </p:txBody>
      </p:sp>
      <p:sp>
        <p:nvSpPr>
          <p:cNvPr id="53"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54"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55"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56"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57"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15</a:t>
            </a:r>
            <a:endParaRPr lang="en-US" sz="11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HANDS UP</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How many bleeds keep growing?</a:t>
            </a:r>
            <a:endParaRPr lang="en-US" sz="4000" dirty="0"/>
          </a:p>
        </p:txBody>
      </p:sp>
      <p:sp>
        <p:nvSpPr>
          <p:cNvPr id="5" name="!!d00"/>
          <p:cNvSpPr/>
          <p:nvPr/>
        </p:nvSpPr>
        <p:spPr>
          <a:xfrm>
            <a:off x="777240" y="1783080"/>
            <a:ext cx="292608" cy="292608"/>
          </a:xfrm>
          <a:prstGeom prst="ellipse">
            <a:avLst/>
          </a:prstGeom>
          <a:solidFill>
            <a:srgbClr val="D5DCE5"/>
          </a:solidFill>
          <a:ln w="6350">
            <a:solidFill>
              <a:srgbClr val="D5DCE5"/>
            </a:solidFill>
            <a:prstDash val="solid"/>
          </a:ln>
        </p:spPr>
      </p:sp>
      <p:sp>
        <p:nvSpPr>
          <p:cNvPr id="6" name="!!d01"/>
          <p:cNvSpPr/>
          <p:nvPr/>
        </p:nvSpPr>
        <p:spPr>
          <a:xfrm>
            <a:off x="1143000" y="1783080"/>
            <a:ext cx="292608" cy="292608"/>
          </a:xfrm>
          <a:prstGeom prst="ellipse">
            <a:avLst/>
          </a:prstGeom>
          <a:solidFill>
            <a:srgbClr val="D5DCE5"/>
          </a:solidFill>
          <a:ln w="6350">
            <a:solidFill>
              <a:srgbClr val="D5DCE5"/>
            </a:solidFill>
            <a:prstDash val="solid"/>
          </a:ln>
        </p:spPr>
      </p:sp>
      <p:sp>
        <p:nvSpPr>
          <p:cNvPr id="7" name="!!d02"/>
          <p:cNvSpPr/>
          <p:nvPr/>
        </p:nvSpPr>
        <p:spPr>
          <a:xfrm>
            <a:off x="1508760" y="1783080"/>
            <a:ext cx="292608" cy="292608"/>
          </a:xfrm>
          <a:prstGeom prst="ellipse">
            <a:avLst/>
          </a:prstGeom>
          <a:solidFill>
            <a:srgbClr val="D5DCE5"/>
          </a:solidFill>
          <a:ln w="6350">
            <a:solidFill>
              <a:srgbClr val="D5DCE5"/>
            </a:solidFill>
            <a:prstDash val="solid"/>
          </a:ln>
        </p:spPr>
      </p:sp>
      <p:sp>
        <p:nvSpPr>
          <p:cNvPr id="8" name="!!d03"/>
          <p:cNvSpPr/>
          <p:nvPr/>
        </p:nvSpPr>
        <p:spPr>
          <a:xfrm>
            <a:off x="1874520" y="1783080"/>
            <a:ext cx="292608" cy="292608"/>
          </a:xfrm>
          <a:prstGeom prst="ellipse">
            <a:avLst/>
          </a:prstGeom>
          <a:solidFill>
            <a:srgbClr val="D5DCE5"/>
          </a:solidFill>
          <a:ln w="6350">
            <a:solidFill>
              <a:srgbClr val="D5DCE5"/>
            </a:solidFill>
            <a:prstDash val="solid"/>
          </a:ln>
        </p:spPr>
      </p:sp>
      <p:sp>
        <p:nvSpPr>
          <p:cNvPr id="9" name="!!d04"/>
          <p:cNvSpPr/>
          <p:nvPr/>
        </p:nvSpPr>
        <p:spPr>
          <a:xfrm>
            <a:off x="2240280" y="1783080"/>
            <a:ext cx="292608" cy="292608"/>
          </a:xfrm>
          <a:prstGeom prst="ellipse">
            <a:avLst/>
          </a:prstGeom>
          <a:solidFill>
            <a:srgbClr val="D5DCE5"/>
          </a:solidFill>
          <a:ln w="6350">
            <a:solidFill>
              <a:srgbClr val="D5DCE5"/>
            </a:solidFill>
            <a:prstDash val="solid"/>
          </a:ln>
        </p:spPr>
      </p:sp>
      <p:sp>
        <p:nvSpPr>
          <p:cNvPr id="10" name="!!d05"/>
          <p:cNvSpPr/>
          <p:nvPr/>
        </p:nvSpPr>
        <p:spPr>
          <a:xfrm>
            <a:off x="2606040" y="1783080"/>
            <a:ext cx="292608" cy="292608"/>
          </a:xfrm>
          <a:prstGeom prst="ellipse">
            <a:avLst/>
          </a:prstGeom>
          <a:solidFill>
            <a:srgbClr val="D5DCE5"/>
          </a:solidFill>
          <a:ln w="6350">
            <a:solidFill>
              <a:srgbClr val="D5DCE5"/>
            </a:solidFill>
            <a:prstDash val="solid"/>
          </a:ln>
        </p:spPr>
      </p:sp>
      <p:sp>
        <p:nvSpPr>
          <p:cNvPr id="11" name="!!d06"/>
          <p:cNvSpPr/>
          <p:nvPr/>
        </p:nvSpPr>
        <p:spPr>
          <a:xfrm>
            <a:off x="2971800" y="1783080"/>
            <a:ext cx="292608" cy="292608"/>
          </a:xfrm>
          <a:prstGeom prst="ellipse">
            <a:avLst/>
          </a:prstGeom>
          <a:solidFill>
            <a:srgbClr val="D5DCE5"/>
          </a:solidFill>
          <a:ln w="6350">
            <a:solidFill>
              <a:srgbClr val="D5DCE5"/>
            </a:solidFill>
            <a:prstDash val="solid"/>
          </a:ln>
        </p:spPr>
      </p:sp>
      <p:sp>
        <p:nvSpPr>
          <p:cNvPr id="12" name="!!d07"/>
          <p:cNvSpPr/>
          <p:nvPr/>
        </p:nvSpPr>
        <p:spPr>
          <a:xfrm>
            <a:off x="3337560" y="1783080"/>
            <a:ext cx="292608" cy="292608"/>
          </a:xfrm>
          <a:prstGeom prst="ellipse">
            <a:avLst/>
          </a:prstGeom>
          <a:solidFill>
            <a:srgbClr val="D5DCE5"/>
          </a:solidFill>
          <a:ln w="6350">
            <a:solidFill>
              <a:srgbClr val="D5DCE5"/>
            </a:solidFill>
            <a:prstDash val="solid"/>
          </a:ln>
        </p:spPr>
      </p:sp>
      <p:sp>
        <p:nvSpPr>
          <p:cNvPr id="13" name="!!d08"/>
          <p:cNvSpPr/>
          <p:nvPr/>
        </p:nvSpPr>
        <p:spPr>
          <a:xfrm>
            <a:off x="3703320" y="1783080"/>
            <a:ext cx="292608" cy="292608"/>
          </a:xfrm>
          <a:prstGeom prst="ellipse">
            <a:avLst/>
          </a:prstGeom>
          <a:solidFill>
            <a:srgbClr val="D5DCE5"/>
          </a:solidFill>
          <a:ln w="6350">
            <a:solidFill>
              <a:srgbClr val="D5DCE5"/>
            </a:solidFill>
            <a:prstDash val="solid"/>
          </a:ln>
        </p:spPr>
      </p:sp>
      <p:sp>
        <p:nvSpPr>
          <p:cNvPr id="14" name="!!d09"/>
          <p:cNvSpPr/>
          <p:nvPr/>
        </p:nvSpPr>
        <p:spPr>
          <a:xfrm>
            <a:off x="4069080" y="1783080"/>
            <a:ext cx="292608" cy="292608"/>
          </a:xfrm>
          <a:prstGeom prst="ellipse">
            <a:avLst/>
          </a:prstGeom>
          <a:solidFill>
            <a:srgbClr val="D5DCE5"/>
          </a:solidFill>
          <a:ln w="6350">
            <a:solidFill>
              <a:srgbClr val="D5DCE5"/>
            </a:solidFill>
            <a:prstDash val="solid"/>
          </a:ln>
        </p:spPr>
      </p:sp>
      <p:sp>
        <p:nvSpPr>
          <p:cNvPr id="15" name="!!d10"/>
          <p:cNvSpPr/>
          <p:nvPr/>
        </p:nvSpPr>
        <p:spPr>
          <a:xfrm>
            <a:off x="777240" y="2148840"/>
            <a:ext cx="292608" cy="292608"/>
          </a:xfrm>
          <a:prstGeom prst="ellipse">
            <a:avLst/>
          </a:prstGeom>
          <a:solidFill>
            <a:srgbClr val="D5DCE5"/>
          </a:solidFill>
          <a:ln w="6350">
            <a:solidFill>
              <a:srgbClr val="D5DCE5"/>
            </a:solidFill>
            <a:prstDash val="solid"/>
          </a:ln>
        </p:spPr>
      </p:sp>
      <p:sp>
        <p:nvSpPr>
          <p:cNvPr id="16" name="!!d11"/>
          <p:cNvSpPr/>
          <p:nvPr/>
        </p:nvSpPr>
        <p:spPr>
          <a:xfrm>
            <a:off x="1143000" y="2148840"/>
            <a:ext cx="292608" cy="292608"/>
          </a:xfrm>
          <a:prstGeom prst="ellipse">
            <a:avLst/>
          </a:prstGeom>
          <a:solidFill>
            <a:srgbClr val="D5DCE5"/>
          </a:solidFill>
          <a:ln w="6350">
            <a:solidFill>
              <a:srgbClr val="D5DCE5"/>
            </a:solidFill>
            <a:prstDash val="solid"/>
          </a:ln>
        </p:spPr>
      </p:sp>
      <p:sp>
        <p:nvSpPr>
          <p:cNvPr id="17" name="!!d12"/>
          <p:cNvSpPr/>
          <p:nvPr/>
        </p:nvSpPr>
        <p:spPr>
          <a:xfrm>
            <a:off x="1508760" y="2148840"/>
            <a:ext cx="292608" cy="292608"/>
          </a:xfrm>
          <a:prstGeom prst="ellipse">
            <a:avLst/>
          </a:prstGeom>
          <a:solidFill>
            <a:srgbClr val="D5DCE5"/>
          </a:solidFill>
          <a:ln w="6350">
            <a:solidFill>
              <a:srgbClr val="D5DCE5"/>
            </a:solidFill>
            <a:prstDash val="solid"/>
          </a:ln>
        </p:spPr>
      </p:sp>
      <p:sp>
        <p:nvSpPr>
          <p:cNvPr id="18" name="!!d13"/>
          <p:cNvSpPr/>
          <p:nvPr/>
        </p:nvSpPr>
        <p:spPr>
          <a:xfrm>
            <a:off x="1874520" y="2148840"/>
            <a:ext cx="292608" cy="292608"/>
          </a:xfrm>
          <a:prstGeom prst="ellipse">
            <a:avLst/>
          </a:prstGeom>
          <a:solidFill>
            <a:srgbClr val="D5DCE5"/>
          </a:solidFill>
          <a:ln w="6350">
            <a:solidFill>
              <a:srgbClr val="D5DCE5"/>
            </a:solidFill>
            <a:prstDash val="solid"/>
          </a:ln>
        </p:spPr>
      </p:sp>
      <p:sp>
        <p:nvSpPr>
          <p:cNvPr id="19" name="!!d14"/>
          <p:cNvSpPr/>
          <p:nvPr/>
        </p:nvSpPr>
        <p:spPr>
          <a:xfrm>
            <a:off x="2240280" y="2148840"/>
            <a:ext cx="292608" cy="292608"/>
          </a:xfrm>
          <a:prstGeom prst="ellipse">
            <a:avLst/>
          </a:prstGeom>
          <a:solidFill>
            <a:srgbClr val="D5DCE5"/>
          </a:solidFill>
          <a:ln w="6350">
            <a:solidFill>
              <a:srgbClr val="D5DCE5"/>
            </a:solidFill>
            <a:prstDash val="solid"/>
          </a:ln>
        </p:spPr>
      </p:sp>
      <p:sp>
        <p:nvSpPr>
          <p:cNvPr id="20" name="!!d15"/>
          <p:cNvSpPr/>
          <p:nvPr/>
        </p:nvSpPr>
        <p:spPr>
          <a:xfrm>
            <a:off x="2606040" y="2148840"/>
            <a:ext cx="292608" cy="292608"/>
          </a:xfrm>
          <a:prstGeom prst="ellipse">
            <a:avLst/>
          </a:prstGeom>
          <a:solidFill>
            <a:srgbClr val="D5DCE5"/>
          </a:solidFill>
          <a:ln w="6350">
            <a:solidFill>
              <a:srgbClr val="D5DCE5"/>
            </a:solidFill>
            <a:prstDash val="solid"/>
          </a:ln>
        </p:spPr>
      </p:sp>
      <p:sp>
        <p:nvSpPr>
          <p:cNvPr id="21" name="!!d16"/>
          <p:cNvSpPr/>
          <p:nvPr/>
        </p:nvSpPr>
        <p:spPr>
          <a:xfrm>
            <a:off x="2971800" y="2148840"/>
            <a:ext cx="292608" cy="292608"/>
          </a:xfrm>
          <a:prstGeom prst="ellipse">
            <a:avLst/>
          </a:prstGeom>
          <a:solidFill>
            <a:srgbClr val="D5DCE5"/>
          </a:solidFill>
          <a:ln w="6350">
            <a:solidFill>
              <a:srgbClr val="D5DCE5"/>
            </a:solidFill>
            <a:prstDash val="solid"/>
          </a:ln>
        </p:spPr>
      </p:sp>
      <p:sp>
        <p:nvSpPr>
          <p:cNvPr id="22" name="!!d17"/>
          <p:cNvSpPr/>
          <p:nvPr/>
        </p:nvSpPr>
        <p:spPr>
          <a:xfrm>
            <a:off x="3337560" y="2148840"/>
            <a:ext cx="292608" cy="292608"/>
          </a:xfrm>
          <a:prstGeom prst="ellipse">
            <a:avLst/>
          </a:prstGeom>
          <a:solidFill>
            <a:srgbClr val="D5DCE5"/>
          </a:solidFill>
          <a:ln w="6350">
            <a:solidFill>
              <a:srgbClr val="D5DCE5"/>
            </a:solidFill>
            <a:prstDash val="solid"/>
          </a:ln>
        </p:spPr>
      </p:sp>
      <p:sp>
        <p:nvSpPr>
          <p:cNvPr id="23" name="!!d18"/>
          <p:cNvSpPr/>
          <p:nvPr/>
        </p:nvSpPr>
        <p:spPr>
          <a:xfrm>
            <a:off x="3703320" y="2148840"/>
            <a:ext cx="292608" cy="292608"/>
          </a:xfrm>
          <a:prstGeom prst="ellipse">
            <a:avLst/>
          </a:prstGeom>
          <a:solidFill>
            <a:srgbClr val="D5DCE5"/>
          </a:solidFill>
          <a:ln w="6350">
            <a:solidFill>
              <a:srgbClr val="D5DCE5"/>
            </a:solidFill>
            <a:prstDash val="solid"/>
          </a:ln>
        </p:spPr>
      </p:sp>
      <p:sp>
        <p:nvSpPr>
          <p:cNvPr id="24" name="!!d19"/>
          <p:cNvSpPr/>
          <p:nvPr/>
        </p:nvSpPr>
        <p:spPr>
          <a:xfrm>
            <a:off x="4069080" y="2148840"/>
            <a:ext cx="292608" cy="292608"/>
          </a:xfrm>
          <a:prstGeom prst="ellipse">
            <a:avLst/>
          </a:prstGeom>
          <a:solidFill>
            <a:srgbClr val="D5DCE5"/>
          </a:solidFill>
          <a:ln w="6350">
            <a:solidFill>
              <a:srgbClr val="D5DCE5"/>
            </a:solidFill>
            <a:prstDash val="solid"/>
          </a:ln>
        </p:spPr>
      </p:sp>
      <p:sp>
        <p:nvSpPr>
          <p:cNvPr id="25" name="!!d20"/>
          <p:cNvSpPr/>
          <p:nvPr/>
        </p:nvSpPr>
        <p:spPr>
          <a:xfrm>
            <a:off x="777240" y="2514600"/>
            <a:ext cx="292608" cy="292608"/>
          </a:xfrm>
          <a:prstGeom prst="ellipse">
            <a:avLst/>
          </a:prstGeom>
          <a:solidFill>
            <a:srgbClr val="D5DCE5"/>
          </a:solidFill>
          <a:ln w="6350">
            <a:solidFill>
              <a:srgbClr val="D5DCE5"/>
            </a:solidFill>
            <a:prstDash val="solid"/>
          </a:ln>
        </p:spPr>
      </p:sp>
      <p:sp>
        <p:nvSpPr>
          <p:cNvPr id="26" name="!!d21"/>
          <p:cNvSpPr/>
          <p:nvPr/>
        </p:nvSpPr>
        <p:spPr>
          <a:xfrm>
            <a:off x="1143000" y="2514600"/>
            <a:ext cx="292608" cy="292608"/>
          </a:xfrm>
          <a:prstGeom prst="ellipse">
            <a:avLst/>
          </a:prstGeom>
          <a:solidFill>
            <a:srgbClr val="D5DCE5"/>
          </a:solidFill>
          <a:ln w="6350">
            <a:solidFill>
              <a:srgbClr val="D5DCE5"/>
            </a:solidFill>
            <a:prstDash val="solid"/>
          </a:ln>
        </p:spPr>
      </p:sp>
      <p:sp>
        <p:nvSpPr>
          <p:cNvPr id="27" name="!!d22"/>
          <p:cNvSpPr/>
          <p:nvPr/>
        </p:nvSpPr>
        <p:spPr>
          <a:xfrm>
            <a:off x="1508760" y="2514600"/>
            <a:ext cx="292608" cy="292608"/>
          </a:xfrm>
          <a:prstGeom prst="ellipse">
            <a:avLst/>
          </a:prstGeom>
          <a:solidFill>
            <a:srgbClr val="D5DCE5"/>
          </a:solidFill>
          <a:ln w="6350">
            <a:solidFill>
              <a:srgbClr val="D5DCE5"/>
            </a:solidFill>
            <a:prstDash val="solid"/>
          </a:ln>
        </p:spPr>
      </p:sp>
      <p:sp>
        <p:nvSpPr>
          <p:cNvPr id="28" name="!!d23"/>
          <p:cNvSpPr/>
          <p:nvPr/>
        </p:nvSpPr>
        <p:spPr>
          <a:xfrm>
            <a:off x="1874520" y="2514600"/>
            <a:ext cx="292608" cy="292608"/>
          </a:xfrm>
          <a:prstGeom prst="ellipse">
            <a:avLst/>
          </a:prstGeom>
          <a:solidFill>
            <a:srgbClr val="D5DCE5"/>
          </a:solidFill>
          <a:ln w="6350">
            <a:solidFill>
              <a:srgbClr val="D5DCE5"/>
            </a:solidFill>
            <a:prstDash val="solid"/>
          </a:ln>
        </p:spPr>
      </p:sp>
      <p:sp>
        <p:nvSpPr>
          <p:cNvPr id="29" name="!!d24"/>
          <p:cNvSpPr/>
          <p:nvPr/>
        </p:nvSpPr>
        <p:spPr>
          <a:xfrm>
            <a:off x="2240280" y="2514600"/>
            <a:ext cx="292608" cy="292608"/>
          </a:xfrm>
          <a:prstGeom prst="ellipse">
            <a:avLst/>
          </a:prstGeom>
          <a:solidFill>
            <a:srgbClr val="D5DCE5"/>
          </a:solidFill>
          <a:ln w="6350">
            <a:solidFill>
              <a:srgbClr val="D5DCE5"/>
            </a:solidFill>
            <a:prstDash val="solid"/>
          </a:ln>
        </p:spPr>
      </p:sp>
      <p:sp>
        <p:nvSpPr>
          <p:cNvPr id="30" name="!!d25"/>
          <p:cNvSpPr/>
          <p:nvPr/>
        </p:nvSpPr>
        <p:spPr>
          <a:xfrm>
            <a:off x="2606040" y="2514600"/>
            <a:ext cx="292608" cy="292608"/>
          </a:xfrm>
          <a:prstGeom prst="ellipse">
            <a:avLst/>
          </a:prstGeom>
          <a:solidFill>
            <a:srgbClr val="D5DCE5"/>
          </a:solidFill>
          <a:ln w="6350">
            <a:solidFill>
              <a:srgbClr val="D5DCE5"/>
            </a:solidFill>
            <a:prstDash val="solid"/>
          </a:ln>
        </p:spPr>
      </p:sp>
      <p:sp>
        <p:nvSpPr>
          <p:cNvPr id="31" name="!!d26"/>
          <p:cNvSpPr/>
          <p:nvPr/>
        </p:nvSpPr>
        <p:spPr>
          <a:xfrm>
            <a:off x="2971800" y="2514600"/>
            <a:ext cx="292608" cy="292608"/>
          </a:xfrm>
          <a:prstGeom prst="ellipse">
            <a:avLst/>
          </a:prstGeom>
          <a:solidFill>
            <a:srgbClr val="D5DCE5"/>
          </a:solidFill>
          <a:ln w="6350">
            <a:solidFill>
              <a:srgbClr val="D5DCE5"/>
            </a:solidFill>
            <a:prstDash val="solid"/>
          </a:ln>
        </p:spPr>
      </p:sp>
      <p:sp>
        <p:nvSpPr>
          <p:cNvPr id="32" name="!!d27"/>
          <p:cNvSpPr/>
          <p:nvPr/>
        </p:nvSpPr>
        <p:spPr>
          <a:xfrm>
            <a:off x="3337560" y="2514600"/>
            <a:ext cx="292608" cy="292608"/>
          </a:xfrm>
          <a:prstGeom prst="ellipse">
            <a:avLst/>
          </a:prstGeom>
          <a:solidFill>
            <a:srgbClr val="D5DCE5"/>
          </a:solidFill>
          <a:ln w="6350">
            <a:solidFill>
              <a:srgbClr val="D5DCE5"/>
            </a:solidFill>
            <a:prstDash val="solid"/>
          </a:ln>
        </p:spPr>
      </p:sp>
      <p:sp>
        <p:nvSpPr>
          <p:cNvPr id="33" name="!!d28"/>
          <p:cNvSpPr/>
          <p:nvPr/>
        </p:nvSpPr>
        <p:spPr>
          <a:xfrm>
            <a:off x="3703320" y="2514600"/>
            <a:ext cx="292608" cy="292608"/>
          </a:xfrm>
          <a:prstGeom prst="ellipse">
            <a:avLst/>
          </a:prstGeom>
          <a:solidFill>
            <a:srgbClr val="D5DCE5"/>
          </a:solidFill>
          <a:ln w="6350">
            <a:solidFill>
              <a:srgbClr val="D5DCE5"/>
            </a:solidFill>
            <a:prstDash val="solid"/>
          </a:ln>
        </p:spPr>
      </p:sp>
      <p:sp>
        <p:nvSpPr>
          <p:cNvPr id="34" name="!!d29"/>
          <p:cNvSpPr/>
          <p:nvPr/>
        </p:nvSpPr>
        <p:spPr>
          <a:xfrm>
            <a:off x="4069080" y="2514600"/>
            <a:ext cx="292608" cy="292608"/>
          </a:xfrm>
          <a:prstGeom prst="ellipse">
            <a:avLst/>
          </a:prstGeom>
          <a:solidFill>
            <a:srgbClr val="D5DCE5"/>
          </a:solidFill>
          <a:ln w="6350">
            <a:solidFill>
              <a:srgbClr val="D5DCE5"/>
            </a:solidFill>
            <a:prstDash val="solid"/>
          </a:ln>
        </p:spPr>
      </p:sp>
      <p:sp>
        <p:nvSpPr>
          <p:cNvPr id="35" name="!!d30"/>
          <p:cNvSpPr/>
          <p:nvPr/>
        </p:nvSpPr>
        <p:spPr>
          <a:xfrm>
            <a:off x="777240" y="2880360"/>
            <a:ext cx="292608" cy="292608"/>
          </a:xfrm>
          <a:prstGeom prst="ellipse">
            <a:avLst/>
          </a:prstGeom>
          <a:solidFill>
            <a:srgbClr val="D5DCE5"/>
          </a:solidFill>
          <a:ln w="6350">
            <a:solidFill>
              <a:srgbClr val="D5DCE5"/>
            </a:solidFill>
            <a:prstDash val="solid"/>
          </a:ln>
        </p:spPr>
      </p:sp>
      <p:sp>
        <p:nvSpPr>
          <p:cNvPr id="36" name="!!d31"/>
          <p:cNvSpPr/>
          <p:nvPr/>
        </p:nvSpPr>
        <p:spPr>
          <a:xfrm>
            <a:off x="1143000" y="2880360"/>
            <a:ext cx="292608" cy="292608"/>
          </a:xfrm>
          <a:prstGeom prst="ellipse">
            <a:avLst/>
          </a:prstGeom>
          <a:solidFill>
            <a:srgbClr val="D5DCE5"/>
          </a:solidFill>
          <a:ln w="6350">
            <a:solidFill>
              <a:srgbClr val="D5DCE5"/>
            </a:solidFill>
            <a:prstDash val="solid"/>
          </a:ln>
        </p:spPr>
      </p:sp>
      <p:sp>
        <p:nvSpPr>
          <p:cNvPr id="37" name="!!d32"/>
          <p:cNvSpPr/>
          <p:nvPr/>
        </p:nvSpPr>
        <p:spPr>
          <a:xfrm>
            <a:off x="1508760" y="2880360"/>
            <a:ext cx="292608" cy="292608"/>
          </a:xfrm>
          <a:prstGeom prst="ellipse">
            <a:avLst/>
          </a:prstGeom>
          <a:solidFill>
            <a:srgbClr val="D5DCE5"/>
          </a:solidFill>
          <a:ln w="6350">
            <a:solidFill>
              <a:srgbClr val="D5DCE5"/>
            </a:solidFill>
            <a:prstDash val="solid"/>
          </a:ln>
        </p:spPr>
      </p:sp>
      <p:sp>
        <p:nvSpPr>
          <p:cNvPr id="38" name="!!d33"/>
          <p:cNvSpPr/>
          <p:nvPr/>
        </p:nvSpPr>
        <p:spPr>
          <a:xfrm>
            <a:off x="1874520" y="2880360"/>
            <a:ext cx="292608" cy="292608"/>
          </a:xfrm>
          <a:prstGeom prst="ellipse">
            <a:avLst/>
          </a:prstGeom>
          <a:solidFill>
            <a:srgbClr val="D5DCE5"/>
          </a:solidFill>
          <a:ln w="6350">
            <a:solidFill>
              <a:srgbClr val="D5DCE5"/>
            </a:solidFill>
            <a:prstDash val="solid"/>
          </a:ln>
        </p:spPr>
      </p:sp>
      <p:sp>
        <p:nvSpPr>
          <p:cNvPr id="39" name="!!d34"/>
          <p:cNvSpPr/>
          <p:nvPr/>
        </p:nvSpPr>
        <p:spPr>
          <a:xfrm>
            <a:off x="2240280" y="2880360"/>
            <a:ext cx="292608" cy="292608"/>
          </a:xfrm>
          <a:prstGeom prst="ellipse">
            <a:avLst/>
          </a:prstGeom>
          <a:solidFill>
            <a:srgbClr val="D5DCE5"/>
          </a:solidFill>
          <a:ln w="6350">
            <a:solidFill>
              <a:srgbClr val="D5DCE5"/>
            </a:solidFill>
            <a:prstDash val="solid"/>
          </a:ln>
        </p:spPr>
      </p:sp>
      <p:sp>
        <p:nvSpPr>
          <p:cNvPr id="40" name="!!d35"/>
          <p:cNvSpPr/>
          <p:nvPr/>
        </p:nvSpPr>
        <p:spPr>
          <a:xfrm>
            <a:off x="2606040" y="2880360"/>
            <a:ext cx="292608" cy="292608"/>
          </a:xfrm>
          <a:prstGeom prst="ellipse">
            <a:avLst/>
          </a:prstGeom>
          <a:solidFill>
            <a:srgbClr val="D5DCE5"/>
          </a:solidFill>
          <a:ln w="6350">
            <a:solidFill>
              <a:srgbClr val="D5DCE5"/>
            </a:solidFill>
            <a:prstDash val="solid"/>
          </a:ln>
        </p:spPr>
      </p:sp>
      <p:sp>
        <p:nvSpPr>
          <p:cNvPr id="41" name="!!d36"/>
          <p:cNvSpPr/>
          <p:nvPr/>
        </p:nvSpPr>
        <p:spPr>
          <a:xfrm>
            <a:off x="2971800" y="2880360"/>
            <a:ext cx="292608" cy="292608"/>
          </a:xfrm>
          <a:prstGeom prst="ellipse">
            <a:avLst/>
          </a:prstGeom>
          <a:solidFill>
            <a:srgbClr val="D5DCE5"/>
          </a:solidFill>
          <a:ln w="6350">
            <a:solidFill>
              <a:srgbClr val="D5DCE5"/>
            </a:solidFill>
            <a:prstDash val="solid"/>
          </a:ln>
        </p:spPr>
      </p:sp>
      <p:sp>
        <p:nvSpPr>
          <p:cNvPr id="42" name="!!d37"/>
          <p:cNvSpPr/>
          <p:nvPr/>
        </p:nvSpPr>
        <p:spPr>
          <a:xfrm>
            <a:off x="3337560" y="2880360"/>
            <a:ext cx="292608" cy="292608"/>
          </a:xfrm>
          <a:prstGeom prst="ellipse">
            <a:avLst/>
          </a:prstGeom>
          <a:solidFill>
            <a:srgbClr val="D5DCE5"/>
          </a:solidFill>
          <a:ln w="6350">
            <a:solidFill>
              <a:srgbClr val="D5DCE5"/>
            </a:solidFill>
            <a:prstDash val="solid"/>
          </a:ln>
        </p:spPr>
      </p:sp>
      <p:sp>
        <p:nvSpPr>
          <p:cNvPr id="43" name="!!d38"/>
          <p:cNvSpPr/>
          <p:nvPr/>
        </p:nvSpPr>
        <p:spPr>
          <a:xfrm>
            <a:off x="3703320" y="2880360"/>
            <a:ext cx="292608" cy="292608"/>
          </a:xfrm>
          <a:prstGeom prst="ellipse">
            <a:avLst/>
          </a:prstGeom>
          <a:solidFill>
            <a:srgbClr val="D5DCE5"/>
          </a:solidFill>
          <a:ln w="6350">
            <a:solidFill>
              <a:srgbClr val="D5DCE5"/>
            </a:solidFill>
            <a:prstDash val="solid"/>
          </a:ln>
        </p:spPr>
      </p:sp>
      <p:sp>
        <p:nvSpPr>
          <p:cNvPr id="44" name="!!d39"/>
          <p:cNvSpPr/>
          <p:nvPr/>
        </p:nvSpPr>
        <p:spPr>
          <a:xfrm>
            <a:off x="4069080" y="2880360"/>
            <a:ext cx="292608" cy="292608"/>
          </a:xfrm>
          <a:prstGeom prst="ellipse">
            <a:avLst/>
          </a:prstGeom>
          <a:solidFill>
            <a:srgbClr val="D5DCE5"/>
          </a:solidFill>
          <a:ln w="6350">
            <a:solidFill>
              <a:srgbClr val="D5DCE5"/>
            </a:solidFill>
            <a:prstDash val="solid"/>
          </a:ln>
        </p:spPr>
      </p:sp>
      <p:sp>
        <p:nvSpPr>
          <p:cNvPr id="45" name="!!d40"/>
          <p:cNvSpPr/>
          <p:nvPr/>
        </p:nvSpPr>
        <p:spPr>
          <a:xfrm>
            <a:off x="777240" y="3246120"/>
            <a:ext cx="292608" cy="292608"/>
          </a:xfrm>
          <a:prstGeom prst="ellipse">
            <a:avLst/>
          </a:prstGeom>
          <a:solidFill>
            <a:srgbClr val="D5DCE5"/>
          </a:solidFill>
          <a:ln w="6350">
            <a:solidFill>
              <a:srgbClr val="D5DCE5"/>
            </a:solidFill>
            <a:prstDash val="solid"/>
          </a:ln>
        </p:spPr>
      </p:sp>
      <p:sp>
        <p:nvSpPr>
          <p:cNvPr id="46" name="!!d41"/>
          <p:cNvSpPr/>
          <p:nvPr/>
        </p:nvSpPr>
        <p:spPr>
          <a:xfrm>
            <a:off x="1143000" y="3246120"/>
            <a:ext cx="292608" cy="292608"/>
          </a:xfrm>
          <a:prstGeom prst="ellipse">
            <a:avLst/>
          </a:prstGeom>
          <a:solidFill>
            <a:srgbClr val="D5DCE5"/>
          </a:solidFill>
          <a:ln w="6350">
            <a:solidFill>
              <a:srgbClr val="D5DCE5"/>
            </a:solidFill>
            <a:prstDash val="solid"/>
          </a:ln>
        </p:spPr>
      </p:sp>
      <p:sp>
        <p:nvSpPr>
          <p:cNvPr id="47" name="!!d42"/>
          <p:cNvSpPr/>
          <p:nvPr/>
        </p:nvSpPr>
        <p:spPr>
          <a:xfrm>
            <a:off x="1508760" y="3246120"/>
            <a:ext cx="292608" cy="292608"/>
          </a:xfrm>
          <a:prstGeom prst="ellipse">
            <a:avLst/>
          </a:prstGeom>
          <a:solidFill>
            <a:srgbClr val="D5DCE5"/>
          </a:solidFill>
          <a:ln w="6350">
            <a:solidFill>
              <a:srgbClr val="D5DCE5"/>
            </a:solidFill>
            <a:prstDash val="solid"/>
          </a:ln>
        </p:spPr>
      </p:sp>
      <p:sp>
        <p:nvSpPr>
          <p:cNvPr id="48" name="!!d43"/>
          <p:cNvSpPr/>
          <p:nvPr/>
        </p:nvSpPr>
        <p:spPr>
          <a:xfrm>
            <a:off x="1874520" y="3246120"/>
            <a:ext cx="292608" cy="292608"/>
          </a:xfrm>
          <a:prstGeom prst="ellipse">
            <a:avLst/>
          </a:prstGeom>
          <a:solidFill>
            <a:srgbClr val="D5DCE5"/>
          </a:solidFill>
          <a:ln w="6350">
            <a:solidFill>
              <a:srgbClr val="D5DCE5"/>
            </a:solidFill>
            <a:prstDash val="solid"/>
          </a:ln>
        </p:spPr>
      </p:sp>
      <p:sp>
        <p:nvSpPr>
          <p:cNvPr id="49" name="!!d44"/>
          <p:cNvSpPr/>
          <p:nvPr/>
        </p:nvSpPr>
        <p:spPr>
          <a:xfrm>
            <a:off x="2240280" y="3246120"/>
            <a:ext cx="292608" cy="292608"/>
          </a:xfrm>
          <a:prstGeom prst="ellipse">
            <a:avLst/>
          </a:prstGeom>
          <a:solidFill>
            <a:srgbClr val="D5DCE5"/>
          </a:solidFill>
          <a:ln w="6350">
            <a:solidFill>
              <a:srgbClr val="D5DCE5"/>
            </a:solidFill>
            <a:prstDash val="solid"/>
          </a:ln>
        </p:spPr>
      </p:sp>
      <p:sp>
        <p:nvSpPr>
          <p:cNvPr id="50" name="!!d45"/>
          <p:cNvSpPr/>
          <p:nvPr/>
        </p:nvSpPr>
        <p:spPr>
          <a:xfrm>
            <a:off x="2606040" y="3246120"/>
            <a:ext cx="292608" cy="292608"/>
          </a:xfrm>
          <a:prstGeom prst="ellipse">
            <a:avLst/>
          </a:prstGeom>
          <a:solidFill>
            <a:srgbClr val="D5DCE5"/>
          </a:solidFill>
          <a:ln w="6350">
            <a:solidFill>
              <a:srgbClr val="D5DCE5"/>
            </a:solidFill>
            <a:prstDash val="solid"/>
          </a:ln>
        </p:spPr>
      </p:sp>
      <p:sp>
        <p:nvSpPr>
          <p:cNvPr id="51" name="!!d46"/>
          <p:cNvSpPr/>
          <p:nvPr/>
        </p:nvSpPr>
        <p:spPr>
          <a:xfrm>
            <a:off x="2971800" y="3246120"/>
            <a:ext cx="292608" cy="292608"/>
          </a:xfrm>
          <a:prstGeom prst="ellipse">
            <a:avLst/>
          </a:prstGeom>
          <a:solidFill>
            <a:srgbClr val="D5DCE5"/>
          </a:solidFill>
          <a:ln w="6350">
            <a:solidFill>
              <a:srgbClr val="D5DCE5"/>
            </a:solidFill>
            <a:prstDash val="solid"/>
          </a:ln>
        </p:spPr>
      </p:sp>
      <p:sp>
        <p:nvSpPr>
          <p:cNvPr id="52" name="!!d47"/>
          <p:cNvSpPr/>
          <p:nvPr/>
        </p:nvSpPr>
        <p:spPr>
          <a:xfrm>
            <a:off x="3337560" y="3246120"/>
            <a:ext cx="292608" cy="292608"/>
          </a:xfrm>
          <a:prstGeom prst="ellipse">
            <a:avLst/>
          </a:prstGeom>
          <a:solidFill>
            <a:srgbClr val="D5DCE5"/>
          </a:solidFill>
          <a:ln w="6350">
            <a:solidFill>
              <a:srgbClr val="D5DCE5"/>
            </a:solidFill>
            <a:prstDash val="solid"/>
          </a:ln>
        </p:spPr>
      </p:sp>
      <p:sp>
        <p:nvSpPr>
          <p:cNvPr id="53" name="!!d48"/>
          <p:cNvSpPr/>
          <p:nvPr/>
        </p:nvSpPr>
        <p:spPr>
          <a:xfrm>
            <a:off x="3703320" y="3246120"/>
            <a:ext cx="292608" cy="292608"/>
          </a:xfrm>
          <a:prstGeom prst="ellipse">
            <a:avLst/>
          </a:prstGeom>
          <a:solidFill>
            <a:srgbClr val="D5DCE5"/>
          </a:solidFill>
          <a:ln w="6350">
            <a:solidFill>
              <a:srgbClr val="D5DCE5"/>
            </a:solidFill>
            <a:prstDash val="solid"/>
          </a:ln>
        </p:spPr>
      </p:sp>
      <p:sp>
        <p:nvSpPr>
          <p:cNvPr id="54" name="!!d49"/>
          <p:cNvSpPr/>
          <p:nvPr/>
        </p:nvSpPr>
        <p:spPr>
          <a:xfrm>
            <a:off x="4069080" y="3246120"/>
            <a:ext cx="292608" cy="292608"/>
          </a:xfrm>
          <a:prstGeom prst="ellipse">
            <a:avLst/>
          </a:prstGeom>
          <a:solidFill>
            <a:srgbClr val="D5DCE5"/>
          </a:solidFill>
          <a:ln w="6350">
            <a:solidFill>
              <a:srgbClr val="D5DCE5"/>
            </a:solidFill>
            <a:prstDash val="solid"/>
          </a:ln>
        </p:spPr>
      </p:sp>
      <p:sp>
        <p:nvSpPr>
          <p:cNvPr id="55" name="!!d50"/>
          <p:cNvSpPr/>
          <p:nvPr/>
        </p:nvSpPr>
        <p:spPr>
          <a:xfrm>
            <a:off x="777240" y="3611880"/>
            <a:ext cx="292608" cy="292608"/>
          </a:xfrm>
          <a:prstGeom prst="ellipse">
            <a:avLst/>
          </a:prstGeom>
          <a:solidFill>
            <a:srgbClr val="D5DCE5"/>
          </a:solidFill>
          <a:ln w="6350">
            <a:solidFill>
              <a:srgbClr val="D5DCE5"/>
            </a:solidFill>
            <a:prstDash val="solid"/>
          </a:ln>
        </p:spPr>
      </p:sp>
      <p:sp>
        <p:nvSpPr>
          <p:cNvPr id="56" name="!!d51"/>
          <p:cNvSpPr/>
          <p:nvPr/>
        </p:nvSpPr>
        <p:spPr>
          <a:xfrm>
            <a:off x="1143000" y="3611880"/>
            <a:ext cx="292608" cy="292608"/>
          </a:xfrm>
          <a:prstGeom prst="ellipse">
            <a:avLst/>
          </a:prstGeom>
          <a:solidFill>
            <a:srgbClr val="D5DCE5"/>
          </a:solidFill>
          <a:ln w="6350">
            <a:solidFill>
              <a:srgbClr val="D5DCE5"/>
            </a:solidFill>
            <a:prstDash val="solid"/>
          </a:ln>
        </p:spPr>
      </p:sp>
      <p:sp>
        <p:nvSpPr>
          <p:cNvPr id="57" name="!!d52"/>
          <p:cNvSpPr/>
          <p:nvPr/>
        </p:nvSpPr>
        <p:spPr>
          <a:xfrm>
            <a:off x="1508760" y="3611880"/>
            <a:ext cx="292608" cy="292608"/>
          </a:xfrm>
          <a:prstGeom prst="ellipse">
            <a:avLst/>
          </a:prstGeom>
          <a:solidFill>
            <a:srgbClr val="D5DCE5"/>
          </a:solidFill>
          <a:ln w="6350">
            <a:solidFill>
              <a:srgbClr val="D5DCE5"/>
            </a:solidFill>
            <a:prstDash val="solid"/>
          </a:ln>
        </p:spPr>
      </p:sp>
      <p:sp>
        <p:nvSpPr>
          <p:cNvPr id="58" name="!!d53"/>
          <p:cNvSpPr/>
          <p:nvPr/>
        </p:nvSpPr>
        <p:spPr>
          <a:xfrm>
            <a:off x="1874520" y="3611880"/>
            <a:ext cx="292608" cy="292608"/>
          </a:xfrm>
          <a:prstGeom prst="ellipse">
            <a:avLst/>
          </a:prstGeom>
          <a:solidFill>
            <a:srgbClr val="D5DCE5"/>
          </a:solidFill>
          <a:ln w="6350">
            <a:solidFill>
              <a:srgbClr val="D5DCE5"/>
            </a:solidFill>
            <a:prstDash val="solid"/>
          </a:ln>
        </p:spPr>
      </p:sp>
      <p:sp>
        <p:nvSpPr>
          <p:cNvPr id="59" name="!!d54"/>
          <p:cNvSpPr/>
          <p:nvPr/>
        </p:nvSpPr>
        <p:spPr>
          <a:xfrm>
            <a:off x="2240280" y="3611880"/>
            <a:ext cx="292608" cy="292608"/>
          </a:xfrm>
          <a:prstGeom prst="ellipse">
            <a:avLst/>
          </a:prstGeom>
          <a:solidFill>
            <a:srgbClr val="D5DCE5"/>
          </a:solidFill>
          <a:ln w="6350">
            <a:solidFill>
              <a:srgbClr val="D5DCE5"/>
            </a:solidFill>
            <a:prstDash val="solid"/>
          </a:ln>
        </p:spPr>
      </p:sp>
      <p:sp>
        <p:nvSpPr>
          <p:cNvPr id="60" name="!!d55"/>
          <p:cNvSpPr/>
          <p:nvPr/>
        </p:nvSpPr>
        <p:spPr>
          <a:xfrm>
            <a:off x="2606040" y="3611880"/>
            <a:ext cx="292608" cy="292608"/>
          </a:xfrm>
          <a:prstGeom prst="ellipse">
            <a:avLst/>
          </a:prstGeom>
          <a:solidFill>
            <a:srgbClr val="D5DCE5"/>
          </a:solidFill>
          <a:ln w="6350">
            <a:solidFill>
              <a:srgbClr val="D5DCE5"/>
            </a:solidFill>
            <a:prstDash val="solid"/>
          </a:ln>
        </p:spPr>
      </p:sp>
      <p:sp>
        <p:nvSpPr>
          <p:cNvPr id="61" name="!!d56"/>
          <p:cNvSpPr/>
          <p:nvPr/>
        </p:nvSpPr>
        <p:spPr>
          <a:xfrm>
            <a:off x="2971800" y="3611880"/>
            <a:ext cx="292608" cy="292608"/>
          </a:xfrm>
          <a:prstGeom prst="ellipse">
            <a:avLst/>
          </a:prstGeom>
          <a:solidFill>
            <a:srgbClr val="D5DCE5"/>
          </a:solidFill>
          <a:ln w="6350">
            <a:solidFill>
              <a:srgbClr val="D5DCE5"/>
            </a:solidFill>
            <a:prstDash val="solid"/>
          </a:ln>
        </p:spPr>
      </p:sp>
      <p:sp>
        <p:nvSpPr>
          <p:cNvPr id="62" name="!!d57"/>
          <p:cNvSpPr/>
          <p:nvPr/>
        </p:nvSpPr>
        <p:spPr>
          <a:xfrm>
            <a:off x="3337560" y="3611880"/>
            <a:ext cx="292608" cy="292608"/>
          </a:xfrm>
          <a:prstGeom prst="ellipse">
            <a:avLst/>
          </a:prstGeom>
          <a:solidFill>
            <a:srgbClr val="D5DCE5"/>
          </a:solidFill>
          <a:ln w="6350">
            <a:solidFill>
              <a:srgbClr val="D5DCE5"/>
            </a:solidFill>
            <a:prstDash val="solid"/>
          </a:ln>
        </p:spPr>
      </p:sp>
      <p:sp>
        <p:nvSpPr>
          <p:cNvPr id="63" name="!!d58"/>
          <p:cNvSpPr/>
          <p:nvPr/>
        </p:nvSpPr>
        <p:spPr>
          <a:xfrm>
            <a:off x="3703320" y="3611880"/>
            <a:ext cx="292608" cy="292608"/>
          </a:xfrm>
          <a:prstGeom prst="ellipse">
            <a:avLst/>
          </a:prstGeom>
          <a:solidFill>
            <a:srgbClr val="D5DCE5"/>
          </a:solidFill>
          <a:ln w="6350">
            <a:solidFill>
              <a:srgbClr val="D5DCE5"/>
            </a:solidFill>
            <a:prstDash val="solid"/>
          </a:ln>
        </p:spPr>
      </p:sp>
      <p:sp>
        <p:nvSpPr>
          <p:cNvPr id="64" name="!!d59"/>
          <p:cNvSpPr/>
          <p:nvPr/>
        </p:nvSpPr>
        <p:spPr>
          <a:xfrm>
            <a:off x="4069080" y="3611880"/>
            <a:ext cx="292608" cy="292608"/>
          </a:xfrm>
          <a:prstGeom prst="ellipse">
            <a:avLst/>
          </a:prstGeom>
          <a:solidFill>
            <a:srgbClr val="D5DCE5"/>
          </a:solidFill>
          <a:ln w="6350">
            <a:solidFill>
              <a:srgbClr val="D5DCE5"/>
            </a:solidFill>
            <a:prstDash val="solid"/>
          </a:ln>
        </p:spPr>
      </p:sp>
      <p:sp>
        <p:nvSpPr>
          <p:cNvPr id="65" name="!!d60"/>
          <p:cNvSpPr/>
          <p:nvPr/>
        </p:nvSpPr>
        <p:spPr>
          <a:xfrm>
            <a:off x="777240" y="3977640"/>
            <a:ext cx="292608" cy="292608"/>
          </a:xfrm>
          <a:prstGeom prst="ellipse">
            <a:avLst/>
          </a:prstGeom>
          <a:solidFill>
            <a:srgbClr val="D5DCE5"/>
          </a:solidFill>
          <a:ln w="6350">
            <a:solidFill>
              <a:srgbClr val="D5DCE5"/>
            </a:solidFill>
            <a:prstDash val="solid"/>
          </a:ln>
        </p:spPr>
      </p:sp>
      <p:sp>
        <p:nvSpPr>
          <p:cNvPr id="66" name="!!d61"/>
          <p:cNvSpPr/>
          <p:nvPr/>
        </p:nvSpPr>
        <p:spPr>
          <a:xfrm>
            <a:off x="1143000" y="3977640"/>
            <a:ext cx="292608" cy="292608"/>
          </a:xfrm>
          <a:prstGeom prst="ellipse">
            <a:avLst/>
          </a:prstGeom>
          <a:solidFill>
            <a:srgbClr val="D5DCE5"/>
          </a:solidFill>
          <a:ln w="6350">
            <a:solidFill>
              <a:srgbClr val="D5DCE5"/>
            </a:solidFill>
            <a:prstDash val="solid"/>
          </a:ln>
        </p:spPr>
      </p:sp>
      <p:sp>
        <p:nvSpPr>
          <p:cNvPr id="67" name="!!d62"/>
          <p:cNvSpPr/>
          <p:nvPr/>
        </p:nvSpPr>
        <p:spPr>
          <a:xfrm>
            <a:off x="1508760" y="3977640"/>
            <a:ext cx="292608" cy="292608"/>
          </a:xfrm>
          <a:prstGeom prst="ellipse">
            <a:avLst/>
          </a:prstGeom>
          <a:solidFill>
            <a:srgbClr val="D5DCE5"/>
          </a:solidFill>
          <a:ln w="6350">
            <a:solidFill>
              <a:srgbClr val="D5DCE5"/>
            </a:solidFill>
            <a:prstDash val="solid"/>
          </a:ln>
        </p:spPr>
      </p:sp>
      <p:sp>
        <p:nvSpPr>
          <p:cNvPr id="68" name="!!d63"/>
          <p:cNvSpPr/>
          <p:nvPr/>
        </p:nvSpPr>
        <p:spPr>
          <a:xfrm>
            <a:off x="1874520" y="3977640"/>
            <a:ext cx="292608" cy="292608"/>
          </a:xfrm>
          <a:prstGeom prst="ellipse">
            <a:avLst/>
          </a:prstGeom>
          <a:solidFill>
            <a:srgbClr val="D5DCE5"/>
          </a:solidFill>
          <a:ln w="6350">
            <a:solidFill>
              <a:srgbClr val="D5DCE5"/>
            </a:solidFill>
            <a:prstDash val="solid"/>
          </a:ln>
        </p:spPr>
      </p:sp>
      <p:sp>
        <p:nvSpPr>
          <p:cNvPr id="69" name="!!d64"/>
          <p:cNvSpPr/>
          <p:nvPr/>
        </p:nvSpPr>
        <p:spPr>
          <a:xfrm>
            <a:off x="2240280" y="3977640"/>
            <a:ext cx="292608" cy="292608"/>
          </a:xfrm>
          <a:prstGeom prst="ellipse">
            <a:avLst/>
          </a:prstGeom>
          <a:solidFill>
            <a:srgbClr val="D5DCE5"/>
          </a:solidFill>
          <a:ln w="6350">
            <a:solidFill>
              <a:srgbClr val="D5DCE5"/>
            </a:solidFill>
            <a:prstDash val="solid"/>
          </a:ln>
        </p:spPr>
      </p:sp>
      <p:sp>
        <p:nvSpPr>
          <p:cNvPr id="70" name="!!d65"/>
          <p:cNvSpPr/>
          <p:nvPr/>
        </p:nvSpPr>
        <p:spPr>
          <a:xfrm>
            <a:off x="2606040" y="3977640"/>
            <a:ext cx="292608" cy="292608"/>
          </a:xfrm>
          <a:prstGeom prst="ellipse">
            <a:avLst/>
          </a:prstGeom>
          <a:solidFill>
            <a:srgbClr val="D5DCE5"/>
          </a:solidFill>
          <a:ln w="6350">
            <a:solidFill>
              <a:srgbClr val="D5DCE5"/>
            </a:solidFill>
            <a:prstDash val="solid"/>
          </a:ln>
        </p:spPr>
      </p:sp>
      <p:sp>
        <p:nvSpPr>
          <p:cNvPr id="71" name="!!d66"/>
          <p:cNvSpPr/>
          <p:nvPr/>
        </p:nvSpPr>
        <p:spPr>
          <a:xfrm>
            <a:off x="2971800" y="3977640"/>
            <a:ext cx="292608" cy="292608"/>
          </a:xfrm>
          <a:prstGeom prst="ellipse">
            <a:avLst/>
          </a:prstGeom>
          <a:solidFill>
            <a:srgbClr val="D5DCE5"/>
          </a:solidFill>
          <a:ln w="6350">
            <a:solidFill>
              <a:srgbClr val="D5DCE5"/>
            </a:solidFill>
            <a:prstDash val="solid"/>
          </a:ln>
        </p:spPr>
      </p:sp>
      <p:sp>
        <p:nvSpPr>
          <p:cNvPr id="72" name="!!d67"/>
          <p:cNvSpPr/>
          <p:nvPr/>
        </p:nvSpPr>
        <p:spPr>
          <a:xfrm>
            <a:off x="3337560" y="3977640"/>
            <a:ext cx="292608" cy="292608"/>
          </a:xfrm>
          <a:prstGeom prst="ellipse">
            <a:avLst/>
          </a:prstGeom>
          <a:solidFill>
            <a:srgbClr val="D5DCE5"/>
          </a:solidFill>
          <a:ln w="6350">
            <a:solidFill>
              <a:srgbClr val="D5DCE5"/>
            </a:solidFill>
            <a:prstDash val="solid"/>
          </a:ln>
        </p:spPr>
      </p:sp>
      <p:sp>
        <p:nvSpPr>
          <p:cNvPr id="73" name="!!d68"/>
          <p:cNvSpPr/>
          <p:nvPr/>
        </p:nvSpPr>
        <p:spPr>
          <a:xfrm>
            <a:off x="3703320" y="3977640"/>
            <a:ext cx="292608" cy="292608"/>
          </a:xfrm>
          <a:prstGeom prst="ellipse">
            <a:avLst/>
          </a:prstGeom>
          <a:solidFill>
            <a:srgbClr val="D5DCE5"/>
          </a:solidFill>
          <a:ln w="6350">
            <a:solidFill>
              <a:srgbClr val="D5DCE5"/>
            </a:solidFill>
            <a:prstDash val="solid"/>
          </a:ln>
        </p:spPr>
      </p:sp>
      <p:sp>
        <p:nvSpPr>
          <p:cNvPr id="74" name="!!d69"/>
          <p:cNvSpPr/>
          <p:nvPr/>
        </p:nvSpPr>
        <p:spPr>
          <a:xfrm>
            <a:off x="4069080" y="3977640"/>
            <a:ext cx="292608" cy="292608"/>
          </a:xfrm>
          <a:prstGeom prst="ellipse">
            <a:avLst/>
          </a:prstGeom>
          <a:solidFill>
            <a:srgbClr val="D5DCE5"/>
          </a:solidFill>
          <a:ln w="6350">
            <a:solidFill>
              <a:srgbClr val="D5DCE5"/>
            </a:solidFill>
            <a:prstDash val="solid"/>
          </a:ln>
        </p:spPr>
      </p:sp>
      <p:sp>
        <p:nvSpPr>
          <p:cNvPr id="75" name="!!d70"/>
          <p:cNvSpPr/>
          <p:nvPr/>
        </p:nvSpPr>
        <p:spPr>
          <a:xfrm>
            <a:off x="777240" y="4343400"/>
            <a:ext cx="292608" cy="292608"/>
          </a:xfrm>
          <a:prstGeom prst="ellipse">
            <a:avLst/>
          </a:prstGeom>
          <a:solidFill>
            <a:srgbClr val="D5DCE5"/>
          </a:solidFill>
          <a:ln w="6350">
            <a:solidFill>
              <a:srgbClr val="D5DCE5"/>
            </a:solidFill>
            <a:prstDash val="solid"/>
          </a:ln>
        </p:spPr>
      </p:sp>
      <p:sp>
        <p:nvSpPr>
          <p:cNvPr id="76" name="!!d71"/>
          <p:cNvSpPr/>
          <p:nvPr/>
        </p:nvSpPr>
        <p:spPr>
          <a:xfrm>
            <a:off x="1143000" y="4343400"/>
            <a:ext cx="292608" cy="292608"/>
          </a:xfrm>
          <a:prstGeom prst="ellipse">
            <a:avLst/>
          </a:prstGeom>
          <a:solidFill>
            <a:srgbClr val="D5DCE5"/>
          </a:solidFill>
          <a:ln w="6350">
            <a:solidFill>
              <a:srgbClr val="D5DCE5"/>
            </a:solidFill>
            <a:prstDash val="solid"/>
          </a:ln>
        </p:spPr>
      </p:sp>
      <p:sp>
        <p:nvSpPr>
          <p:cNvPr id="77" name="!!d72"/>
          <p:cNvSpPr/>
          <p:nvPr/>
        </p:nvSpPr>
        <p:spPr>
          <a:xfrm>
            <a:off x="1508760" y="4343400"/>
            <a:ext cx="292608" cy="292608"/>
          </a:xfrm>
          <a:prstGeom prst="ellipse">
            <a:avLst/>
          </a:prstGeom>
          <a:solidFill>
            <a:srgbClr val="D5DCE5"/>
          </a:solidFill>
          <a:ln w="6350">
            <a:solidFill>
              <a:srgbClr val="D5DCE5"/>
            </a:solidFill>
            <a:prstDash val="solid"/>
          </a:ln>
        </p:spPr>
      </p:sp>
      <p:sp>
        <p:nvSpPr>
          <p:cNvPr id="78" name="!!d73"/>
          <p:cNvSpPr/>
          <p:nvPr/>
        </p:nvSpPr>
        <p:spPr>
          <a:xfrm>
            <a:off x="1874520" y="4343400"/>
            <a:ext cx="292608" cy="292608"/>
          </a:xfrm>
          <a:prstGeom prst="ellipse">
            <a:avLst/>
          </a:prstGeom>
          <a:solidFill>
            <a:srgbClr val="D5DCE5"/>
          </a:solidFill>
          <a:ln w="6350">
            <a:solidFill>
              <a:srgbClr val="D5DCE5"/>
            </a:solidFill>
            <a:prstDash val="solid"/>
          </a:ln>
        </p:spPr>
      </p:sp>
      <p:sp>
        <p:nvSpPr>
          <p:cNvPr id="79" name="!!d74"/>
          <p:cNvSpPr/>
          <p:nvPr/>
        </p:nvSpPr>
        <p:spPr>
          <a:xfrm>
            <a:off x="2240280" y="4343400"/>
            <a:ext cx="292608" cy="292608"/>
          </a:xfrm>
          <a:prstGeom prst="ellipse">
            <a:avLst/>
          </a:prstGeom>
          <a:solidFill>
            <a:srgbClr val="D5DCE5"/>
          </a:solidFill>
          <a:ln w="6350">
            <a:solidFill>
              <a:srgbClr val="D5DCE5"/>
            </a:solidFill>
            <a:prstDash val="solid"/>
          </a:ln>
        </p:spPr>
      </p:sp>
      <p:sp>
        <p:nvSpPr>
          <p:cNvPr id="80" name="!!d75"/>
          <p:cNvSpPr/>
          <p:nvPr/>
        </p:nvSpPr>
        <p:spPr>
          <a:xfrm>
            <a:off x="2606040" y="4343400"/>
            <a:ext cx="292608" cy="292608"/>
          </a:xfrm>
          <a:prstGeom prst="ellipse">
            <a:avLst/>
          </a:prstGeom>
          <a:solidFill>
            <a:srgbClr val="D5DCE5"/>
          </a:solidFill>
          <a:ln w="6350">
            <a:solidFill>
              <a:srgbClr val="D5DCE5"/>
            </a:solidFill>
            <a:prstDash val="solid"/>
          </a:ln>
        </p:spPr>
      </p:sp>
      <p:sp>
        <p:nvSpPr>
          <p:cNvPr id="81" name="!!d76"/>
          <p:cNvSpPr/>
          <p:nvPr/>
        </p:nvSpPr>
        <p:spPr>
          <a:xfrm>
            <a:off x="2971800" y="4343400"/>
            <a:ext cx="292608" cy="292608"/>
          </a:xfrm>
          <a:prstGeom prst="ellipse">
            <a:avLst/>
          </a:prstGeom>
          <a:solidFill>
            <a:srgbClr val="D5DCE5"/>
          </a:solidFill>
          <a:ln w="6350">
            <a:solidFill>
              <a:srgbClr val="D5DCE5"/>
            </a:solidFill>
            <a:prstDash val="solid"/>
          </a:ln>
        </p:spPr>
      </p:sp>
      <p:sp>
        <p:nvSpPr>
          <p:cNvPr id="82" name="!!d77"/>
          <p:cNvSpPr/>
          <p:nvPr/>
        </p:nvSpPr>
        <p:spPr>
          <a:xfrm>
            <a:off x="3337560" y="4343400"/>
            <a:ext cx="292608" cy="292608"/>
          </a:xfrm>
          <a:prstGeom prst="ellipse">
            <a:avLst/>
          </a:prstGeom>
          <a:solidFill>
            <a:srgbClr val="D5DCE5"/>
          </a:solidFill>
          <a:ln w="6350">
            <a:solidFill>
              <a:srgbClr val="D5DCE5"/>
            </a:solidFill>
            <a:prstDash val="solid"/>
          </a:ln>
        </p:spPr>
      </p:sp>
      <p:sp>
        <p:nvSpPr>
          <p:cNvPr id="83" name="!!d78"/>
          <p:cNvSpPr/>
          <p:nvPr/>
        </p:nvSpPr>
        <p:spPr>
          <a:xfrm>
            <a:off x="3703320" y="4343400"/>
            <a:ext cx="292608" cy="292608"/>
          </a:xfrm>
          <a:prstGeom prst="ellipse">
            <a:avLst/>
          </a:prstGeom>
          <a:solidFill>
            <a:srgbClr val="D5DCE5"/>
          </a:solidFill>
          <a:ln w="6350">
            <a:solidFill>
              <a:srgbClr val="D5DCE5"/>
            </a:solidFill>
            <a:prstDash val="solid"/>
          </a:ln>
        </p:spPr>
      </p:sp>
      <p:sp>
        <p:nvSpPr>
          <p:cNvPr id="84" name="!!d79"/>
          <p:cNvSpPr/>
          <p:nvPr/>
        </p:nvSpPr>
        <p:spPr>
          <a:xfrm>
            <a:off x="4069080" y="4343400"/>
            <a:ext cx="292608" cy="292608"/>
          </a:xfrm>
          <a:prstGeom prst="ellipse">
            <a:avLst/>
          </a:prstGeom>
          <a:solidFill>
            <a:srgbClr val="D5DCE5"/>
          </a:solidFill>
          <a:ln w="6350">
            <a:solidFill>
              <a:srgbClr val="D5DCE5"/>
            </a:solidFill>
            <a:prstDash val="solid"/>
          </a:ln>
        </p:spPr>
      </p:sp>
      <p:sp>
        <p:nvSpPr>
          <p:cNvPr id="85" name="!!d80"/>
          <p:cNvSpPr/>
          <p:nvPr/>
        </p:nvSpPr>
        <p:spPr>
          <a:xfrm>
            <a:off x="777240" y="4709160"/>
            <a:ext cx="292608" cy="292608"/>
          </a:xfrm>
          <a:prstGeom prst="ellipse">
            <a:avLst/>
          </a:prstGeom>
          <a:solidFill>
            <a:srgbClr val="D5DCE5"/>
          </a:solidFill>
          <a:ln w="6350">
            <a:solidFill>
              <a:srgbClr val="D5DCE5"/>
            </a:solidFill>
            <a:prstDash val="solid"/>
          </a:ln>
        </p:spPr>
      </p:sp>
      <p:sp>
        <p:nvSpPr>
          <p:cNvPr id="86" name="!!d81"/>
          <p:cNvSpPr/>
          <p:nvPr/>
        </p:nvSpPr>
        <p:spPr>
          <a:xfrm>
            <a:off x="1143000" y="4709160"/>
            <a:ext cx="292608" cy="292608"/>
          </a:xfrm>
          <a:prstGeom prst="ellipse">
            <a:avLst/>
          </a:prstGeom>
          <a:solidFill>
            <a:srgbClr val="D5DCE5"/>
          </a:solidFill>
          <a:ln w="6350">
            <a:solidFill>
              <a:srgbClr val="D5DCE5"/>
            </a:solidFill>
            <a:prstDash val="solid"/>
          </a:ln>
        </p:spPr>
      </p:sp>
      <p:sp>
        <p:nvSpPr>
          <p:cNvPr id="87" name="!!d82"/>
          <p:cNvSpPr/>
          <p:nvPr/>
        </p:nvSpPr>
        <p:spPr>
          <a:xfrm>
            <a:off x="1508760" y="4709160"/>
            <a:ext cx="292608" cy="292608"/>
          </a:xfrm>
          <a:prstGeom prst="ellipse">
            <a:avLst/>
          </a:prstGeom>
          <a:solidFill>
            <a:srgbClr val="D5DCE5"/>
          </a:solidFill>
          <a:ln w="6350">
            <a:solidFill>
              <a:srgbClr val="D5DCE5"/>
            </a:solidFill>
            <a:prstDash val="solid"/>
          </a:ln>
        </p:spPr>
      </p:sp>
      <p:sp>
        <p:nvSpPr>
          <p:cNvPr id="88" name="!!d83"/>
          <p:cNvSpPr/>
          <p:nvPr/>
        </p:nvSpPr>
        <p:spPr>
          <a:xfrm>
            <a:off x="1874520" y="4709160"/>
            <a:ext cx="292608" cy="292608"/>
          </a:xfrm>
          <a:prstGeom prst="ellipse">
            <a:avLst/>
          </a:prstGeom>
          <a:solidFill>
            <a:srgbClr val="D5DCE5"/>
          </a:solidFill>
          <a:ln w="6350">
            <a:solidFill>
              <a:srgbClr val="D5DCE5"/>
            </a:solidFill>
            <a:prstDash val="solid"/>
          </a:ln>
        </p:spPr>
      </p:sp>
      <p:sp>
        <p:nvSpPr>
          <p:cNvPr id="89" name="!!d84"/>
          <p:cNvSpPr/>
          <p:nvPr/>
        </p:nvSpPr>
        <p:spPr>
          <a:xfrm>
            <a:off x="2240280" y="4709160"/>
            <a:ext cx="292608" cy="292608"/>
          </a:xfrm>
          <a:prstGeom prst="ellipse">
            <a:avLst/>
          </a:prstGeom>
          <a:solidFill>
            <a:srgbClr val="D5DCE5"/>
          </a:solidFill>
          <a:ln w="6350">
            <a:solidFill>
              <a:srgbClr val="D5DCE5"/>
            </a:solidFill>
            <a:prstDash val="solid"/>
          </a:ln>
        </p:spPr>
      </p:sp>
      <p:sp>
        <p:nvSpPr>
          <p:cNvPr id="90" name="!!d85"/>
          <p:cNvSpPr/>
          <p:nvPr/>
        </p:nvSpPr>
        <p:spPr>
          <a:xfrm>
            <a:off x="2606040" y="4709160"/>
            <a:ext cx="292608" cy="292608"/>
          </a:xfrm>
          <a:prstGeom prst="ellipse">
            <a:avLst/>
          </a:prstGeom>
          <a:solidFill>
            <a:srgbClr val="D5DCE5"/>
          </a:solidFill>
          <a:ln w="6350">
            <a:solidFill>
              <a:srgbClr val="D5DCE5"/>
            </a:solidFill>
            <a:prstDash val="solid"/>
          </a:ln>
        </p:spPr>
      </p:sp>
      <p:sp>
        <p:nvSpPr>
          <p:cNvPr id="91" name="!!d86"/>
          <p:cNvSpPr/>
          <p:nvPr/>
        </p:nvSpPr>
        <p:spPr>
          <a:xfrm>
            <a:off x="2971800" y="4709160"/>
            <a:ext cx="292608" cy="292608"/>
          </a:xfrm>
          <a:prstGeom prst="ellipse">
            <a:avLst/>
          </a:prstGeom>
          <a:solidFill>
            <a:srgbClr val="D5DCE5"/>
          </a:solidFill>
          <a:ln w="6350">
            <a:solidFill>
              <a:srgbClr val="D5DCE5"/>
            </a:solidFill>
            <a:prstDash val="solid"/>
          </a:ln>
        </p:spPr>
      </p:sp>
      <p:sp>
        <p:nvSpPr>
          <p:cNvPr id="92" name="!!d87"/>
          <p:cNvSpPr/>
          <p:nvPr/>
        </p:nvSpPr>
        <p:spPr>
          <a:xfrm>
            <a:off x="3337560" y="4709160"/>
            <a:ext cx="292608" cy="292608"/>
          </a:xfrm>
          <a:prstGeom prst="ellipse">
            <a:avLst/>
          </a:prstGeom>
          <a:solidFill>
            <a:srgbClr val="D5DCE5"/>
          </a:solidFill>
          <a:ln w="6350">
            <a:solidFill>
              <a:srgbClr val="D5DCE5"/>
            </a:solidFill>
            <a:prstDash val="solid"/>
          </a:ln>
        </p:spPr>
      </p:sp>
      <p:sp>
        <p:nvSpPr>
          <p:cNvPr id="93" name="!!d88"/>
          <p:cNvSpPr/>
          <p:nvPr/>
        </p:nvSpPr>
        <p:spPr>
          <a:xfrm>
            <a:off x="3703320" y="4709160"/>
            <a:ext cx="292608" cy="292608"/>
          </a:xfrm>
          <a:prstGeom prst="ellipse">
            <a:avLst/>
          </a:prstGeom>
          <a:solidFill>
            <a:srgbClr val="D5DCE5"/>
          </a:solidFill>
          <a:ln w="6350">
            <a:solidFill>
              <a:srgbClr val="D5DCE5"/>
            </a:solidFill>
            <a:prstDash val="solid"/>
          </a:ln>
        </p:spPr>
      </p:sp>
      <p:sp>
        <p:nvSpPr>
          <p:cNvPr id="94" name="!!d89"/>
          <p:cNvSpPr/>
          <p:nvPr/>
        </p:nvSpPr>
        <p:spPr>
          <a:xfrm>
            <a:off x="4069080" y="4709160"/>
            <a:ext cx="292608" cy="292608"/>
          </a:xfrm>
          <a:prstGeom prst="ellipse">
            <a:avLst/>
          </a:prstGeom>
          <a:solidFill>
            <a:srgbClr val="D5DCE5"/>
          </a:solidFill>
          <a:ln w="6350">
            <a:solidFill>
              <a:srgbClr val="D5DCE5"/>
            </a:solidFill>
            <a:prstDash val="solid"/>
          </a:ln>
        </p:spPr>
      </p:sp>
      <p:sp>
        <p:nvSpPr>
          <p:cNvPr id="95" name="!!d90"/>
          <p:cNvSpPr/>
          <p:nvPr/>
        </p:nvSpPr>
        <p:spPr>
          <a:xfrm>
            <a:off x="777240" y="5074920"/>
            <a:ext cx="292608" cy="292608"/>
          </a:xfrm>
          <a:prstGeom prst="ellipse">
            <a:avLst/>
          </a:prstGeom>
          <a:solidFill>
            <a:srgbClr val="D5DCE5"/>
          </a:solidFill>
          <a:ln w="6350">
            <a:solidFill>
              <a:srgbClr val="D5DCE5"/>
            </a:solidFill>
            <a:prstDash val="solid"/>
          </a:ln>
        </p:spPr>
      </p:sp>
      <p:sp>
        <p:nvSpPr>
          <p:cNvPr id="96" name="!!d91"/>
          <p:cNvSpPr/>
          <p:nvPr/>
        </p:nvSpPr>
        <p:spPr>
          <a:xfrm>
            <a:off x="1143000" y="5074920"/>
            <a:ext cx="292608" cy="292608"/>
          </a:xfrm>
          <a:prstGeom prst="ellipse">
            <a:avLst/>
          </a:prstGeom>
          <a:solidFill>
            <a:srgbClr val="D5DCE5"/>
          </a:solidFill>
          <a:ln w="6350">
            <a:solidFill>
              <a:srgbClr val="D5DCE5"/>
            </a:solidFill>
            <a:prstDash val="solid"/>
          </a:ln>
        </p:spPr>
      </p:sp>
      <p:sp>
        <p:nvSpPr>
          <p:cNvPr id="97" name="!!d92"/>
          <p:cNvSpPr/>
          <p:nvPr/>
        </p:nvSpPr>
        <p:spPr>
          <a:xfrm>
            <a:off x="1508760" y="5074920"/>
            <a:ext cx="292608" cy="292608"/>
          </a:xfrm>
          <a:prstGeom prst="ellipse">
            <a:avLst/>
          </a:prstGeom>
          <a:solidFill>
            <a:srgbClr val="D5DCE5"/>
          </a:solidFill>
          <a:ln w="6350">
            <a:solidFill>
              <a:srgbClr val="D5DCE5"/>
            </a:solidFill>
            <a:prstDash val="solid"/>
          </a:ln>
        </p:spPr>
      </p:sp>
      <p:sp>
        <p:nvSpPr>
          <p:cNvPr id="98" name="!!d93"/>
          <p:cNvSpPr/>
          <p:nvPr/>
        </p:nvSpPr>
        <p:spPr>
          <a:xfrm>
            <a:off x="1874520" y="5074920"/>
            <a:ext cx="292608" cy="292608"/>
          </a:xfrm>
          <a:prstGeom prst="ellipse">
            <a:avLst/>
          </a:prstGeom>
          <a:solidFill>
            <a:srgbClr val="D5DCE5"/>
          </a:solidFill>
          <a:ln w="6350">
            <a:solidFill>
              <a:srgbClr val="D5DCE5"/>
            </a:solidFill>
            <a:prstDash val="solid"/>
          </a:ln>
        </p:spPr>
      </p:sp>
      <p:sp>
        <p:nvSpPr>
          <p:cNvPr id="99" name="!!d94"/>
          <p:cNvSpPr/>
          <p:nvPr/>
        </p:nvSpPr>
        <p:spPr>
          <a:xfrm>
            <a:off x="2240280" y="5074920"/>
            <a:ext cx="292608" cy="292608"/>
          </a:xfrm>
          <a:prstGeom prst="ellipse">
            <a:avLst/>
          </a:prstGeom>
          <a:solidFill>
            <a:srgbClr val="D5DCE5"/>
          </a:solidFill>
          <a:ln w="6350">
            <a:solidFill>
              <a:srgbClr val="D5DCE5"/>
            </a:solidFill>
            <a:prstDash val="solid"/>
          </a:ln>
        </p:spPr>
      </p:sp>
      <p:sp>
        <p:nvSpPr>
          <p:cNvPr id="100" name="!!d95"/>
          <p:cNvSpPr/>
          <p:nvPr/>
        </p:nvSpPr>
        <p:spPr>
          <a:xfrm>
            <a:off x="2606040" y="5074920"/>
            <a:ext cx="292608" cy="292608"/>
          </a:xfrm>
          <a:prstGeom prst="ellipse">
            <a:avLst/>
          </a:prstGeom>
          <a:solidFill>
            <a:srgbClr val="D5DCE5"/>
          </a:solidFill>
          <a:ln w="6350">
            <a:solidFill>
              <a:srgbClr val="D5DCE5"/>
            </a:solidFill>
            <a:prstDash val="solid"/>
          </a:ln>
        </p:spPr>
      </p:sp>
      <p:sp>
        <p:nvSpPr>
          <p:cNvPr id="101" name="!!d96"/>
          <p:cNvSpPr/>
          <p:nvPr/>
        </p:nvSpPr>
        <p:spPr>
          <a:xfrm>
            <a:off x="2971800" y="5074920"/>
            <a:ext cx="292608" cy="292608"/>
          </a:xfrm>
          <a:prstGeom prst="ellipse">
            <a:avLst/>
          </a:prstGeom>
          <a:solidFill>
            <a:srgbClr val="D5DCE5"/>
          </a:solidFill>
          <a:ln w="6350">
            <a:solidFill>
              <a:srgbClr val="D5DCE5"/>
            </a:solidFill>
            <a:prstDash val="solid"/>
          </a:ln>
        </p:spPr>
      </p:sp>
      <p:sp>
        <p:nvSpPr>
          <p:cNvPr id="102" name="!!d97"/>
          <p:cNvSpPr/>
          <p:nvPr/>
        </p:nvSpPr>
        <p:spPr>
          <a:xfrm>
            <a:off x="3337560" y="5074920"/>
            <a:ext cx="292608" cy="292608"/>
          </a:xfrm>
          <a:prstGeom prst="ellipse">
            <a:avLst/>
          </a:prstGeom>
          <a:solidFill>
            <a:srgbClr val="D5DCE5"/>
          </a:solidFill>
          <a:ln w="6350">
            <a:solidFill>
              <a:srgbClr val="D5DCE5"/>
            </a:solidFill>
            <a:prstDash val="solid"/>
          </a:ln>
        </p:spPr>
      </p:sp>
      <p:sp>
        <p:nvSpPr>
          <p:cNvPr id="103" name="!!d98"/>
          <p:cNvSpPr/>
          <p:nvPr/>
        </p:nvSpPr>
        <p:spPr>
          <a:xfrm>
            <a:off x="3703320" y="5074920"/>
            <a:ext cx="292608" cy="292608"/>
          </a:xfrm>
          <a:prstGeom prst="ellipse">
            <a:avLst/>
          </a:prstGeom>
          <a:solidFill>
            <a:srgbClr val="D5DCE5"/>
          </a:solidFill>
          <a:ln w="6350">
            <a:solidFill>
              <a:srgbClr val="D5DCE5"/>
            </a:solidFill>
            <a:prstDash val="solid"/>
          </a:ln>
        </p:spPr>
      </p:sp>
      <p:sp>
        <p:nvSpPr>
          <p:cNvPr id="104" name="!!d99"/>
          <p:cNvSpPr/>
          <p:nvPr/>
        </p:nvSpPr>
        <p:spPr>
          <a:xfrm>
            <a:off x="4069080" y="5074920"/>
            <a:ext cx="292608" cy="292608"/>
          </a:xfrm>
          <a:prstGeom prst="ellipse">
            <a:avLst/>
          </a:prstGeom>
          <a:solidFill>
            <a:srgbClr val="D5DCE5"/>
          </a:solidFill>
          <a:ln w="6350">
            <a:solidFill>
              <a:srgbClr val="D5DCE5"/>
            </a:solidFill>
            <a:prstDash val="solid"/>
          </a:ln>
        </p:spPr>
      </p:sp>
      <p:sp>
        <p:nvSpPr>
          <p:cNvPr id="105" name="!!dotcap"/>
          <p:cNvSpPr txBox="1"/>
          <p:nvPr/>
        </p:nvSpPr>
        <p:spPr>
          <a:xfrm>
            <a:off x="777240" y="5486400"/>
            <a:ext cx="4023360"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Each dot = one patient, scanned within 3 hours of onset</a:t>
            </a:r>
            <a:endParaRPr lang="en-US" sz="1200" dirty="0"/>
          </a:p>
        </p:txBody>
      </p:sp>
      <p:sp>
        <p:nvSpPr>
          <p:cNvPr id="106" name="Shape 103"/>
          <p:cNvSpPr/>
          <p:nvPr/>
        </p:nvSpPr>
        <p:spPr>
          <a:xfrm>
            <a:off x="5669280" y="1920240"/>
            <a:ext cx="5120640" cy="960120"/>
          </a:xfrm>
          <a:prstGeom prst="roundRect">
            <a:avLst>
              <a:gd name="adj" fmla="val 9524"/>
            </a:avLst>
          </a:prstGeom>
          <a:solidFill>
            <a:srgbClr val="E8EDF3"/>
          </a:solidFill>
          <a:ln w="6350">
            <a:solidFill>
              <a:srgbClr val="E8EDF3"/>
            </a:solidFill>
            <a:prstDash val="solid"/>
          </a:ln>
        </p:spPr>
      </p:sp>
      <p:sp>
        <p:nvSpPr>
          <p:cNvPr id="107" name="Shape 104"/>
          <p:cNvSpPr/>
          <p:nvPr/>
        </p:nvSpPr>
        <p:spPr>
          <a:xfrm>
            <a:off x="5897880" y="2103120"/>
            <a:ext cx="594360" cy="594360"/>
          </a:xfrm>
          <a:prstGeom prst="ellipse">
            <a:avLst/>
          </a:prstGeom>
          <a:solidFill>
            <a:srgbClr val="13233A"/>
          </a:solidFill>
          <a:ln w="6350">
            <a:solidFill>
              <a:srgbClr val="13233A"/>
            </a:solidFill>
            <a:prstDash val="solid"/>
          </a:ln>
        </p:spPr>
      </p:sp>
      <p:sp>
        <p:nvSpPr>
          <p:cNvPr id="108" name="Text 105"/>
          <p:cNvSpPr txBox="1"/>
          <p:nvPr/>
        </p:nvSpPr>
        <p:spPr>
          <a:xfrm>
            <a:off x="5897880" y="210312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109" name="Text 106"/>
          <p:cNvSpPr txBox="1"/>
          <p:nvPr/>
        </p:nvSpPr>
        <p:spPr>
          <a:xfrm>
            <a:off x="6766560" y="1920240"/>
            <a:ext cx="3657600" cy="960120"/>
          </a:xfrm>
          <a:prstGeom prst="rect">
            <a:avLst/>
          </a:prstGeom>
          <a:noFill/>
          <a:ln/>
        </p:spPr>
        <p:txBody>
          <a:bodyPr wrap="square" lIns="0" tIns="0" rIns="0" bIns="0" rtlCol="0" anchor="ctr"/>
          <a:lstStyle/>
          <a:p>
            <a:pPr indent="0" marL="0">
              <a:buNone/>
            </a:pPr>
            <a:r>
              <a:rPr lang="en-US" sz="3200" b="1" dirty="0">
                <a:solidFill>
                  <a:srgbClr val="13233A"/>
                </a:solidFill>
                <a:latin typeface="Calibri" pitchFamily="34" charset="0"/>
                <a:ea typeface="Calibri" pitchFamily="34" charset="-122"/>
                <a:cs typeface="Calibri" pitchFamily="34" charset="-120"/>
              </a:rPr>
              <a:t>5 in 100</a:t>
            </a:r>
            <a:endParaRPr lang="en-US" sz="3200" dirty="0"/>
          </a:p>
        </p:txBody>
      </p:sp>
      <p:sp>
        <p:nvSpPr>
          <p:cNvPr id="110" name="Shape 107"/>
          <p:cNvSpPr/>
          <p:nvPr/>
        </p:nvSpPr>
        <p:spPr>
          <a:xfrm>
            <a:off x="5669280" y="3108960"/>
            <a:ext cx="5120640" cy="960120"/>
          </a:xfrm>
          <a:prstGeom prst="roundRect">
            <a:avLst>
              <a:gd name="adj" fmla="val 9524"/>
            </a:avLst>
          </a:prstGeom>
          <a:solidFill>
            <a:srgbClr val="E8EDF3"/>
          </a:solidFill>
          <a:ln w="6350">
            <a:solidFill>
              <a:srgbClr val="E8EDF3"/>
            </a:solidFill>
            <a:prstDash val="solid"/>
          </a:ln>
        </p:spPr>
      </p:sp>
      <p:sp>
        <p:nvSpPr>
          <p:cNvPr id="111" name="Shape 108"/>
          <p:cNvSpPr/>
          <p:nvPr/>
        </p:nvSpPr>
        <p:spPr>
          <a:xfrm>
            <a:off x="5897880" y="3291840"/>
            <a:ext cx="594360" cy="594360"/>
          </a:xfrm>
          <a:prstGeom prst="ellipse">
            <a:avLst/>
          </a:prstGeom>
          <a:solidFill>
            <a:srgbClr val="13233A"/>
          </a:solidFill>
          <a:ln w="6350">
            <a:solidFill>
              <a:srgbClr val="13233A"/>
            </a:solidFill>
            <a:prstDash val="solid"/>
          </a:ln>
        </p:spPr>
      </p:sp>
      <p:sp>
        <p:nvSpPr>
          <p:cNvPr id="112" name="Text 109"/>
          <p:cNvSpPr txBox="1"/>
          <p:nvPr/>
        </p:nvSpPr>
        <p:spPr>
          <a:xfrm>
            <a:off x="5897880" y="32918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13" name="Text 110"/>
          <p:cNvSpPr txBox="1"/>
          <p:nvPr/>
        </p:nvSpPr>
        <p:spPr>
          <a:xfrm>
            <a:off x="6766560" y="3108960"/>
            <a:ext cx="3657600" cy="960120"/>
          </a:xfrm>
          <a:prstGeom prst="rect">
            <a:avLst/>
          </a:prstGeom>
          <a:noFill/>
          <a:ln/>
        </p:spPr>
        <p:txBody>
          <a:bodyPr wrap="square" lIns="0" tIns="0" rIns="0" bIns="0" rtlCol="0" anchor="ctr"/>
          <a:lstStyle/>
          <a:p>
            <a:pPr indent="0" marL="0">
              <a:buNone/>
            </a:pPr>
            <a:r>
              <a:rPr lang="en-US" sz="3200" b="1" dirty="0">
                <a:solidFill>
                  <a:srgbClr val="13233A"/>
                </a:solidFill>
                <a:latin typeface="Calibri" pitchFamily="34" charset="0"/>
                <a:ea typeface="Calibri" pitchFamily="34" charset="-122"/>
                <a:cs typeface="Calibri" pitchFamily="34" charset="-120"/>
              </a:rPr>
              <a:t>15 in 100</a:t>
            </a:r>
            <a:endParaRPr lang="en-US" sz="3200" dirty="0"/>
          </a:p>
        </p:txBody>
      </p:sp>
      <p:sp>
        <p:nvSpPr>
          <p:cNvPr id="114" name="Shape 111"/>
          <p:cNvSpPr/>
          <p:nvPr/>
        </p:nvSpPr>
        <p:spPr>
          <a:xfrm>
            <a:off x="5669280" y="4297680"/>
            <a:ext cx="5120640" cy="960120"/>
          </a:xfrm>
          <a:prstGeom prst="roundRect">
            <a:avLst>
              <a:gd name="adj" fmla="val 9524"/>
            </a:avLst>
          </a:prstGeom>
          <a:solidFill>
            <a:srgbClr val="E8EDF3"/>
          </a:solidFill>
          <a:ln w="6350">
            <a:solidFill>
              <a:srgbClr val="E8EDF3"/>
            </a:solidFill>
            <a:prstDash val="solid"/>
          </a:ln>
        </p:spPr>
      </p:sp>
      <p:sp>
        <p:nvSpPr>
          <p:cNvPr id="115" name="Shape 112"/>
          <p:cNvSpPr/>
          <p:nvPr/>
        </p:nvSpPr>
        <p:spPr>
          <a:xfrm>
            <a:off x="5897880" y="4480560"/>
            <a:ext cx="594360" cy="594360"/>
          </a:xfrm>
          <a:prstGeom prst="ellipse">
            <a:avLst/>
          </a:prstGeom>
          <a:solidFill>
            <a:srgbClr val="13233A"/>
          </a:solidFill>
          <a:ln w="6350">
            <a:solidFill>
              <a:srgbClr val="13233A"/>
            </a:solidFill>
            <a:prstDash val="solid"/>
          </a:ln>
        </p:spPr>
      </p:sp>
      <p:sp>
        <p:nvSpPr>
          <p:cNvPr id="116" name="Text 113"/>
          <p:cNvSpPr txBox="1"/>
          <p:nvPr/>
        </p:nvSpPr>
        <p:spPr>
          <a:xfrm>
            <a:off x="5897880" y="4480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17" name="Text 114"/>
          <p:cNvSpPr txBox="1"/>
          <p:nvPr/>
        </p:nvSpPr>
        <p:spPr>
          <a:xfrm>
            <a:off x="6766560" y="4297680"/>
            <a:ext cx="3657600" cy="960120"/>
          </a:xfrm>
          <a:prstGeom prst="rect">
            <a:avLst/>
          </a:prstGeom>
          <a:noFill/>
          <a:ln/>
        </p:spPr>
        <p:txBody>
          <a:bodyPr wrap="square" lIns="0" tIns="0" rIns="0" bIns="0" rtlCol="0" anchor="ctr"/>
          <a:lstStyle/>
          <a:p>
            <a:pPr indent="0" marL="0">
              <a:buNone/>
            </a:pPr>
            <a:r>
              <a:rPr lang="en-US" sz="3200" b="1" dirty="0">
                <a:solidFill>
                  <a:srgbClr val="13233A"/>
                </a:solidFill>
                <a:latin typeface="Calibri" pitchFamily="34" charset="0"/>
                <a:ea typeface="Calibri" pitchFamily="34" charset="-122"/>
                <a:cs typeface="Calibri" pitchFamily="34" charset="-120"/>
              </a:rPr>
              <a:t>40 in 100</a:t>
            </a:r>
            <a:endParaRPr lang="en-US" sz="3200" dirty="0"/>
          </a:p>
        </p:txBody>
      </p:sp>
      <p:sp>
        <p:nvSpPr>
          <p:cNvPr id="118" name="Text 115"/>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19"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20"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21" name="trk1"/>
          <p:cNvSpPr/>
          <p:nvPr/>
        </p:nvSpPr>
        <p:spPr>
          <a:xfrm>
            <a:off x="8211312" y="6460236"/>
            <a:ext cx="128016" cy="128016"/>
          </a:xfrm>
          <a:prstGeom prst="ellipse">
            <a:avLst/>
          </a:prstGeom>
          <a:solidFill>
            <a:srgbClr val="C1272D"/>
          </a:solidFill>
          <a:ln w="6350">
            <a:solidFill>
              <a:srgbClr val="C1272D"/>
            </a:solidFill>
            <a:prstDash val="solid"/>
          </a:ln>
        </p:spPr>
      </p:sp>
      <p:sp>
        <p:nvSpPr>
          <p:cNvPr id="122"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Hours</a:t>
            </a:r>
            <a:endParaRPr lang="en-US" sz="1100" dirty="0"/>
          </a:p>
        </p:txBody>
      </p:sp>
      <p:sp>
        <p:nvSpPr>
          <p:cNvPr id="123"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124"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125"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26"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127"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16</a:t>
            </a:r>
            <a:endParaRPr lang="en-US" sz="11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HANDS UP</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C1272D"/>
                </a:solidFill>
                <a:latin typeface="Cambria" pitchFamily="34" charset="0"/>
                <a:ea typeface="Cambria" pitchFamily="34" charset="-122"/>
                <a:cs typeface="Cambria" pitchFamily="34" charset="-120"/>
              </a:rPr>
              <a:t>38 in 100 keep growing</a:t>
            </a:r>
            <a:endParaRPr lang="en-US" sz="4000" dirty="0"/>
          </a:p>
        </p:txBody>
      </p:sp>
      <p:sp>
        <p:nvSpPr>
          <p:cNvPr id="5" name="!!d00"/>
          <p:cNvSpPr/>
          <p:nvPr/>
        </p:nvSpPr>
        <p:spPr>
          <a:xfrm>
            <a:off x="777240" y="1783080"/>
            <a:ext cx="292608" cy="292608"/>
          </a:xfrm>
          <a:prstGeom prst="ellipse">
            <a:avLst/>
          </a:prstGeom>
          <a:solidFill>
            <a:srgbClr val="8E1B1F"/>
          </a:solidFill>
          <a:ln w="6350">
            <a:solidFill>
              <a:srgbClr val="8E1B1F"/>
            </a:solidFill>
            <a:prstDash val="solid"/>
          </a:ln>
        </p:spPr>
      </p:sp>
      <p:sp>
        <p:nvSpPr>
          <p:cNvPr id="6" name="!!d01"/>
          <p:cNvSpPr/>
          <p:nvPr/>
        </p:nvSpPr>
        <p:spPr>
          <a:xfrm>
            <a:off x="1143000" y="1783080"/>
            <a:ext cx="292608" cy="292608"/>
          </a:xfrm>
          <a:prstGeom prst="ellipse">
            <a:avLst/>
          </a:prstGeom>
          <a:solidFill>
            <a:srgbClr val="8E1B1F"/>
          </a:solidFill>
          <a:ln w="6350">
            <a:solidFill>
              <a:srgbClr val="8E1B1F"/>
            </a:solidFill>
            <a:prstDash val="solid"/>
          </a:ln>
        </p:spPr>
      </p:sp>
      <p:sp>
        <p:nvSpPr>
          <p:cNvPr id="7" name="!!d02"/>
          <p:cNvSpPr/>
          <p:nvPr/>
        </p:nvSpPr>
        <p:spPr>
          <a:xfrm>
            <a:off x="1508760" y="1783080"/>
            <a:ext cx="292608" cy="292608"/>
          </a:xfrm>
          <a:prstGeom prst="ellipse">
            <a:avLst/>
          </a:prstGeom>
          <a:solidFill>
            <a:srgbClr val="8E1B1F"/>
          </a:solidFill>
          <a:ln w="6350">
            <a:solidFill>
              <a:srgbClr val="8E1B1F"/>
            </a:solidFill>
            <a:prstDash val="solid"/>
          </a:ln>
        </p:spPr>
      </p:sp>
      <p:sp>
        <p:nvSpPr>
          <p:cNvPr id="8" name="!!d03"/>
          <p:cNvSpPr/>
          <p:nvPr/>
        </p:nvSpPr>
        <p:spPr>
          <a:xfrm>
            <a:off x="1874520" y="1783080"/>
            <a:ext cx="292608" cy="292608"/>
          </a:xfrm>
          <a:prstGeom prst="ellipse">
            <a:avLst/>
          </a:prstGeom>
          <a:solidFill>
            <a:srgbClr val="8E1B1F"/>
          </a:solidFill>
          <a:ln w="6350">
            <a:solidFill>
              <a:srgbClr val="8E1B1F"/>
            </a:solidFill>
            <a:prstDash val="solid"/>
          </a:ln>
        </p:spPr>
      </p:sp>
      <p:sp>
        <p:nvSpPr>
          <p:cNvPr id="9" name="!!d04"/>
          <p:cNvSpPr/>
          <p:nvPr/>
        </p:nvSpPr>
        <p:spPr>
          <a:xfrm>
            <a:off x="2240280" y="1783080"/>
            <a:ext cx="292608" cy="292608"/>
          </a:xfrm>
          <a:prstGeom prst="ellipse">
            <a:avLst/>
          </a:prstGeom>
          <a:solidFill>
            <a:srgbClr val="8E1B1F"/>
          </a:solidFill>
          <a:ln w="6350">
            <a:solidFill>
              <a:srgbClr val="8E1B1F"/>
            </a:solidFill>
            <a:prstDash val="solid"/>
          </a:ln>
        </p:spPr>
      </p:sp>
      <p:sp>
        <p:nvSpPr>
          <p:cNvPr id="10" name="!!d05"/>
          <p:cNvSpPr/>
          <p:nvPr/>
        </p:nvSpPr>
        <p:spPr>
          <a:xfrm>
            <a:off x="2606040" y="1783080"/>
            <a:ext cx="292608" cy="292608"/>
          </a:xfrm>
          <a:prstGeom prst="ellipse">
            <a:avLst/>
          </a:prstGeom>
          <a:solidFill>
            <a:srgbClr val="8E1B1F"/>
          </a:solidFill>
          <a:ln w="6350">
            <a:solidFill>
              <a:srgbClr val="8E1B1F"/>
            </a:solidFill>
            <a:prstDash val="solid"/>
          </a:ln>
        </p:spPr>
      </p:sp>
      <p:sp>
        <p:nvSpPr>
          <p:cNvPr id="11" name="!!d06"/>
          <p:cNvSpPr/>
          <p:nvPr/>
        </p:nvSpPr>
        <p:spPr>
          <a:xfrm>
            <a:off x="2971800" y="1783080"/>
            <a:ext cx="292608" cy="292608"/>
          </a:xfrm>
          <a:prstGeom prst="ellipse">
            <a:avLst/>
          </a:prstGeom>
          <a:solidFill>
            <a:srgbClr val="8E1B1F"/>
          </a:solidFill>
          <a:ln w="6350">
            <a:solidFill>
              <a:srgbClr val="8E1B1F"/>
            </a:solidFill>
            <a:prstDash val="solid"/>
          </a:ln>
        </p:spPr>
      </p:sp>
      <p:sp>
        <p:nvSpPr>
          <p:cNvPr id="12" name="!!d07"/>
          <p:cNvSpPr/>
          <p:nvPr/>
        </p:nvSpPr>
        <p:spPr>
          <a:xfrm>
            <a:off x="3337560" y="1783080"/>
            <a:ext cx="292608" cy="292608"/>
          </a:xfrm>
          <a:prstGeom prst="ellipse">
            <a:avLst/>
          </a:prstGeom>
          <a:solidFill>
            <a:srgbClr val="8E1B1F"/>
          </a:solidFill>
          <a:ln w="6350">
            <a:solidFill>
              <a:srgbClr val="8E1B1F"/>
            </a:solidFill>
            <a:prstDash val="solid"/>
          </a:ln>
        </p:spPr>
      </p:sp>
      <p:sp>
        <p:nvSpPr>
          <p:cNvPr id="13" name="!!d08"/>
          <p:cNvSpPr/>
          <p:nvPr/>
        </p:nvSpPr>
        <p:spPr>
          <a:xfrm>
            <a:off x="3703320" y="1783080"/>
            <a:ext cx="292608" cy="292608"/>
          </a:xfrm>
          <a:prstGeom prst="ellipse">
            <a:avLst/>
          </a:prstGeom>
          <a:solidFill>
            <a:srgbClr val="8E1B1F"/>
          </a:solidFill>
          <a:ln w="6350">
            <a:solidFill>
              <a:srgbClr val="8E1B1F"/>
            </a:solidFill>
            <a:prstDash val="solid"/>
          </a:ln>
        </p:spPr>
      </p:sp>
      <p:sp>
        <p:nvSpPr>
          <p:cNvPr id="14" name="!!d09"/>
          <p:cNvSpPr/>
          <p:nvPr/>
        </p:nvSpPr>
        <p:spPr>
          <a:xfrm>
            <a:off x="4069080" y="1783080"/>
            <a:ext cx="292608" cy="292608"/>
          </a:xfrm>
          <a:prstGeom prst="ellipse">
            <a:avLst/>
          </a:prstGeom>
          <a:solidFill>
            <a:srgbClr val="8E1B1F"/>
          </a:solidFill>
          <a:ln w="6350">
            <a:solidFill>
              <a:srgbClr val="8E1B1F"/>
            </a:solidFill>
            <a:prstDash val="solid"/>
          </a:ln>
        </p:spPr>
      </p:sp>
      <p:sp>
        <p:nvSpPr>
          <p:cNvPr id="15" name="!!d10"/>
          <p:cNvSpPr/>
          <p:nvPr/>
        </p:nvSpPr>
        <p:spPr>
          <a:xfrm>
            <a:off x="777240" y="2148840"/>
            <a:ext cx="292608" cy="292608"/>
          </a:xfrm>
          <a:prstGeom prst="ellipse">
            <a:avLst/>
          </a:prstGeom>
          <a:solidFill>
            <a:srgbClr val="8E1B1F"/>
          </a:solidFill>
          <a:ln w="6350">
            <a:solidFill>
              <a:srgbClr val="8E1B1F"/>
            </a:solidFill>
            <a:prstDash val="solid"/>
          </a:ln>
        </p:spPr>
      </p:sp>
      <p:sp>
        <p:nvSpPr>
          <p:cNvPr id="16" name="!!d11"/>
          <p:cNvSpPr/>
          <p:nvPr/>
        </p:nvSpPr>
        <p:spPr>
          <a:xfrm>
            <a:off x="1143000" y="2148840"/>
            <a:ext cx="292608" cy="292608"/>
          </a:xfrm>
          <a:prstGeom prst="ellipse">
            <a:avLst/>
          </a:prstGeom>
          <a:solidFill>
            <a:srgbClr val="8E1B1F"/>
          </a:solidFill>
          <a:ln w="6350">
            <a:solidFill>
              <a:srgbClr val="8E1B1F"/>
            </a:solidFill>
            <a:prstDash val="solid"/>
          </a:ln>
        </p:spPr>
      </p:sp>
      <p:sp>
        <p:nvSpPr>
          <p:cNvPr id="17" name="!!d12"/>
          <p:cNvSpPr/>
          <p:nvPr/>
        </p:nvSpPr>
        <p:spPr>
          <a:xfrm>
            <a:off x="1508760" y="2148840"/>
            <a:ext cx="292608" cy="292608"/>
          </a:xfrm>
          <a:prstGeom prst="ellipse">
            <a:avLst/>
          </a:prstGeom>
          <a:solidFill>
            <a:srgbClr val="8E1B1F"/>
          </a:solidFill>
          <a:ln w="6350">
            <a:solidFill>
              <a:srgbClr val="8E1B1F"/>
            </a:solidFill>
            <a:prstDash val="solid"/>
          </a:ln>
        </p:spPr>
      </p:sp>
      <p:sp>
        <p:nvSpPr>
          <p:cNvPr id="18" name="!!d13"/>
          <p:cNvSpPr/>
          <p:nvPr/>
        </p:nvSpPr>
        <p:spPr>
          <a:xfrm>
            <a:off x="1874520" y="2148840"/>
            <a:ext cx="292608" cy="292608"/>
          </a:xfrm>
          <a:prstGeom prst="ellipse">
            <a:avLst/>
          </a:prstGeom>
          <a:solidFill>
            <a:srgbClr val="8E1B1F"/>
          </a:solidFill>
          <a:ln w="6350">
            <a:solidFill>
              <a:srgbClr val="8E1B1F"/>
            </a:solidFill>
            <a:prstDash val="solid"/>
          </a:ln>
        </p:spPr>
      </p:sp>
      <p:sp>
        <p:nvSpPr>
          <p:cNvPr id="19" name="!!d14"/>
          <p:cNvSpPr/>
          <p:nvPr/>
        </p:nvSpPr>
        <p:spPr>
          <a:xfrm>
            <a:off x="2240280" y="2148840"/>
            <a:ext cx="292608" cy="292608"/>
          </a:xfrm>
          <a:prstGeom prst="ellipse">
            <a:avLst/>
          </a:prstGeom>
          <a:solidFill>
            <a:srgbClr val="8E1B1F"/>
          </a:solidFill>
          <a:ln w="6350">
            <a:solidFill>
              <a:srgbClr val="8E1B1F"/>
            </a:solidFill>
            <a:prstDash val="solid"/>
          </a:ln>
        </p:spPr>
      </p:sp>
      <p:sp>
        <p:nvSpPr>
          <p:cNvPr id="20" name="!!d15"/>
          <p:cNvSpPr/>
          <p:nvPr/>
        </p:nvSpPr>
        <p:spPr>
          <a:xfrm>
            <a:off x="2606040" y="2148840"/>
            <a:ext cx="292608" cy="292608"/>
          </a:xfrm>
          <a:prstGeom prst="ellipse">
            <a:avLst/>
          </a:prstGeom>
          <a:solidFill>
            <a:srgbClr val="8E1B1F"/>
          </a:solidFill>
          <a:ln w="6350">
            <a:solidFill>
              <a:srgbClr val="8E1B1F"/>
            </a:solidFill>
            <a:prstDash val="solid"/>
          </a:ln>
        </p:spPr>
      </p:sp>
      <p:sp>
        <p:nvSpPr>
          <p:cNvPr id="21" name="!!d16"/>
          <p:cNvSpPr/>
          <p:nvPr/>
        </p:nvSpPr>
        <p:spPr>
          <a:xfrm>
            <a:off x="2971800" y="2148840"/>
            <a:ext cx="292608" cy="292608"/>
          </a:xfrm>
          <a:prstGeom prst="ellipse">
            <a:avLst/>
          </a:prstGeom>
          <a:solidFill>
            <a:srgbClr val="8E1B1F"/>
          </a:solidFill>
          <a:ln w="6350">
            <a:solidFill>
              <a:srgbClr val="8E1B1F"/>
            </a:solidFill>
            <a:prstDash val="solid"/>
          </a:ln>
        </p:spPr>
      </p:sp>
      <p:sp>
        <p:nvSpPr>
          <p:cNvPr id="22" name="!!d17"/>
          <p:cNvSpPr/>
          <p:nvPr/>
        </p:nvSpPr>
        <p:spPr>
          <a:xfrm>
            <a:off x="3337560" y="2148840"/>
            <a:ext cx="292608" cy="292608"/>
          </a:xfrm>
          <a:prstGeom prst="ellipse">
            <a:avLst/>
          </a:prstGeom>
          <a:solidFill>
            <a:srgbClr val="8E1B1F"/>
          </a:solidFill>
          <a:ln w="6350">
            <a:solidFill>
              <a:srgbClr val="8E1B1F"/>
            </a:solidFill>
            <a:prstDash val="solid"/>
          </a:ln>
        </p:spPr>
      </p:sp>
      <p:sp>
        <p:nvSpPr>
          <p:cNvPr id="23" name="!!d18"/>
          <p:cNvSpPr/>
          <p:nvPr/>
        </p:nvSpPr>
        <p:spPr>
          <a:xfrm>
            <a:off x="3703320" y="2148840"/>
            <a:ext cx="292608" cy="292608"/>
          </a:xfrm>
          <a:prstGeom prst="ellipse">
            <a:avLst/>
          </a:prstGeom>
          <a:solidFill>
            <a:srgbClr val="8E1B1F"/>
          </a:solidFill>
          <a:ln w="6350">
            <a:solidFill>
              <a:srgbClr val="8E1B1F"/>
            </a:solidFill>
            <a:prstDash val="solid"/>
          </a:ln>
        </p:spPr>
      </p:sp>
      <p:sp>
        <p:nvSpPr>
          <p:cNvPr id="24" name="!!d19"/>
          <p:cNvSpPr/>
          <p:nvPr/>
        </p:nvSpPr>
        <p:spPr>
          <a:xfrm>
            <a:off x="4069080" y="2148840"/>
            <a:ext cx="292608" cy="292608"/>
          </a:xfrm>
          <a:prstGeom prst="ellipse">
            <a:avLst/>
          </a:prstGeom>
          <a:solidFill>
            <a:srgbClr val="8E1B1F"/>
          </a:solidFill>
          <a:ln w="6350">
            <a:solidFill>
              <a:srgbClr val="8E1B1F"/>
            </a:solidFill>
            <a:prstDash val="solid"/>
          </a:ln>
        </p:spPr>
      </p:sp>
      <p:sp>
        <p:nvSpPr>
          <p:cNvPr id="25" name="!!d20"/>
          <p:cNvSpPr/>
          <p:nvPr/>
        </p:nvSpPr>
        <p:spPr>
          <a:xfrm>
            <a:off x="777240" y="2514600"/>
            <a:ext cx="292608" cy="292608"/>
          </a:xfrm>
          <a:prstGeom prst="ellipse">
            <a:avLst/>
          </a:prstGeom>
          <a:solidFill>
            <a:srgbClr val="8E1B1F"/>
          </a:solidFill>
          <a:ln w="6350">
            <a:solidFill>
              <a:srgbClr val="8E1B1F"/>
            </a:solidFill>
            <a:prstDash val="solid"/>
          </a:ln>
        </p:spPr>
      </p:sp>
      <p:sp>
        <p:nvSpPr>
          <p:cNvPr id="26" name="!!d21"/>
          <p:cNvSpPr/>
          <p:nvPr/>
        </p:nvSpPr>
        <p:spPr>
          <a:xfrm>
            <a:off x="1143000" y="2514600"/>
            <a:ext cx="292608" cy="292608"/>
          </a:xfrm>
          <a:prstGeom prst="ellipse">
            <a:avLst/>
          </a:prstGeom>
          <a:solidFill>
            <a:srgbClr val="8E1B1F"/>
          </a:solidFill>
          <a:ln w="6350">
            <a:solidFill>
              <a:srgbClr val="8E1B1F"/>
            </a:solidFill>
            <a:prstDash val="solid"/>
          </a:ln>
        </p:spPr>
      </p:sp>
      <p:sp>
        <p:nvSpPr>
          <p:cNvPr id="27" name="!!d22"/>
          <p:cNvSpPr/>
          <p:nvPr/>
        </p:nvSpPr>
        <p:spPr>
          <a:xfrm>
            <a:off x="1508760" y="2514600"/>
            <a:ext cx="292608" cy="292608"/>
          </a:xfrm>
          <a:prstGeom prst="ellipse">
            <a:avLst/>
          </a:prstGeom>
          <a:solidFill>
            <a:srgbClr val="8E1B1F"/>
          </a:solidFill>
          <a:ln w="6350">
            <a:solidFill>
              <a:srgbClr val="8E1B1F"/>
            </a:solidFill>
            <a:prstDash val="solid"/>
          </a:ln>
        </p:spPr>
      </p:sp>
      <p:sp>
        <p:nvSpPr>
          <p:cNvPr id="28" name="!!d23"/>
          <p:cNvSpPr/>
          <p:nvPr/>
        </p:nvSpPr>
        <p:spPr>
          <a:xfrm>
            <a:off x="1874520" y="2514600"/>
            <a:ext cx="292608" cy="292608"/>
          </a:xfrm>
          <a:prstGeom prst="ellipse">
            <a:avLst/>
          </a:prstGeom>
          <a:solidFill>
            <a:srgbClr val="8E1B1F"/>
          </a:solidFill>
          <a:ln w="6350">
            <a:solidFill>
              <a:srgbClr val="8E1B1F"/>
            </a:solidFill>
            <a:prstDash val="solid"/>
          </a:ln>
        </p:spPr>
      </p:sp>
      <p:sp>
        <p:nvSpPr>
          <p:cNvPr id="29" name="!!d24"/>
          <p:cNvSpPr/>
          <p:nvPr/>
        </p:nvSpPr>
        <p:spPr>
          <a:xfrm>
            <a:off x="2240280" y="2514600"/>
            <a:ext cx="292608" cy="292608"/>
          </a:xfrm>
          <a:prstGeom prst="ellipse">
            <a:avLst/>
          </a:prstGeom>
          <a:solidFill>
            <a:srgbClr val="8E1B1F"/>
          </a:solidFill>
          <a:ln w="6350">
            <a:solidFill>
              <a:srgbClr val="8E1B1F"/>
            </a:solidFill>
            <a:prstDash val="solid"/>
          </a:ln>
        </p:spPr>
      </p:sp>
      <p:sp>
        <p:nvSpPr>
          <p:cNvPr id="30" name="!!d25"/>
          <p:cNvSpPr/>
          <p:nvPr/>
        </p:nvSpPr>
        <p:spPr>
          <a:xfrm>
            <a:off x="2606040" y="2514600"/>
            <a:ext cx="292608" cy="292608"/>
          </a:xfrm>
          <a:prstGeom prst="ellipse">
            <a:avLst/>
          </a:prstGeom>
          <a:solidFill>
            <a:srgbClr val="8E1B1F"/>
          </a:solidFill>
          <a:ln w="6350">
            <a:solidFill>
              <a:srgbClr val="8E1B1F"/>
            </a:solidFill>
            <a:prstDash val="solid"/>
          </a:ln>
        </p:spPr>
      </p:sp>
      <p:sp>
        <p:nvSpPr>
          <p:cNvPr id="31" name="!!d26"/>
          <p:cNvSpPr/>
          <p:nvPr/>
        </p:nvSpPr>
        <p:spPr>
          <a:xfrm>
            <a:off x="2971800" y="2514600"/>
            <a:ext cx="292608" cy="292608"/>
          </a:xfrm>
          <a:prstGeom prst="ellipse">
            <a:avLst/>
          </a:prstGeom>
          <a:solidFill>
            <a:srgbClr val="E88A8E"/>
          </a:solidFill>
          <a:ln w="6350">
            <a:solidFill>
              <a:srgbClr val="E88A8E"/>
            </a:solidFill>
            <a:prstDash val="solid"/>
          </a:ln>
        </p:spPr>
      </p:sp>
      <p:sp>
        <p:nvSpPr>
          <p:cNvPr id="32" name="!!d27"/>
          <p:cNvSpPr/>
          <p:nvPr/>
        </p:nvSpPr>
        <p:spPr>
          <a:xfrm>
            <a:off x="3337560" y="2514600"/>
            <a:ext cx="292608" cy="292608"/>
          </a:xfrm>
          <a:prstGeom prst="ellipse">
            <a:avLst/>
          </a:prstGeom>
          <a:solidFill>
            <a:srgbClr val="E88A8E"/>
          </a:solidFill>
          <a:ln w="6350">
            <a:solidFill>
              <a:srgbClr val="E88A8E"/>
            </a:solidFill>
            <a:prstDash val="solid"/>
          </a:ln>
        </p:spPr>
      </p:sp>
      <p:sp>
        <p:nvSpPr>
          <p:cNvPr id="33" name="!!d28"/>
          <p:cNvSpPr/>
          <p:nvPr/>
        </p:nvSpPr>
        <p:spPr>
          <a:xfrm>
            <a:off x="3703320" y="2514600"/>
            <a:ext cx="292608" cy="292608"/>
          </a:xfrm>
          <a:prstGeom prst="ellipse">
            <a:avLst/>
          </a:prstGeom>
          <a:solidFill>
            <a:srgbClr val="E88A8E"/>
          </a:solidFill>
          <a:ln w="6350">
            <a:solidFill>
              <a:srgbClr val="E88A8E"/>
            </a:solidFill>
            <a:prstDash val="solid"/>
          </a:ln>
        </p:spPr>
      </p:sp>
      <p:sp>
        <p:nvSpPr>
          <p:cNvPr id="34" name="!!d29"/>
          <p:cNvSpPr/>
          <p:nvPr/>
        </p:nvSpPr>
        <p:spPr>
          <a:xfrm>
            <a:off x="4069080" y="2514600"/>
            <a:ext cx="292608" cy="292608"/>
          </a:xfrm>
          <a:prstGeom prst="ellipse">
            <a:avLst/>
          </a:prstGeom>
          <a:solidFill>
            <a:srgbClr val="E88A8E"/>
          </a:solidFill>
          <a:ln w="6350">
            <a:solidFill>
              <a:srgbClr val="E88A8E"/>
            </a:solidFill>
            <a:prstDash val="solid"/>
          </a:ln>
        </p:spPr>
      </p:sp>
      <p:sp>
        <p:nvSpPr>
          <p:cNvPr id="35" name="!!d30"/>
          <p:cNvSpPr/>
          <p:nvPr/>
        </p:nvSpPr>
        <p:spPr>
          <a:xfrm>
            <a:off x="777240" y="2880360"/>
            <a:ext cx="292608" cy="292608"/>
          </a:xfrm>
          <a:prstGeom prst="ellipse">
            <a:avLst/>
          </a:prstGeom>
          <a:solidFill>
            <a:srgbClr val="E88A8E"/>
          </a:solidFill>
          <a:ln w="6350">
            <a:solidFill>
              <a:srgbClr val="E88A8E"/>
            </a:solidFill>
            <a:prstDash val="solid"/>
          </a:ln>
        </p:spPr>
      </p:sp>
      <p:sp>
        <p:nvSpPr>
          <p:cNvPr id="36" name="!!d31"/>
          <p:cNvSpPr/>
          <p:nvPr/>
        </p:nvSpPr>
        <p:spPr>
          <a:xfrm>
            <a:off x="1143000" y="2880360"/>
            <a:ext cx="292608" cy="292608"/>
          </a:xfrm>
          <a:prstGeom prst="ellipse">
            <a:avLst/>
          </a:prstGeom>
          <a:solidFill>
            <a:srgbClr val="E88A8E"/>
          </a:solidFill>
          <a:ln w="6350">
            <a:solidFill>
              <a:srgbClr val="E88A8E"/>
            </a:solidFill>
            <a:prstDash val="solid"/>
          </a:ln>
        </p:spPr>
      </p:sp>
      <p:sp>
        <p:nvSpPr>
          <p:cNvPr id="37" name="!!d32"/>
          <p:cNvSpPr/>
          <p:nvPr/>
        </p:nvSpPr>
        <p:spPr>
          <a:xfrm>
            <a:off x="1508760" y="2880360"/>
            <a:ext cx="292608" cy="292608"/>
          </a:xfrm>
          <a:prstGeom prst="ellipse">
            <a:avLst/>
          </a:prstGeom>
          <a:solidFill>
            <a:srgbClr val="E88A8E"/>
          </a:solidFill>
          <a:ln w="6350">
            <a:solidFill>
              <a:srgbClr val="E88A8E"/>
            </a:solidFill>
            <a:prstDash val="solid"/>
          </a:ln>
        </p:spPr>
      </p:sp>
      <p:sp>
        <p:nvSpPr>
          <p:cNvPr id="38" name="!!d33"/>
          <p:cNvSpPr/>
          <p:nvPr/>
        </p:nvSpPr>
        <p:spPr>
          <a:xfrm>
            <a:off x="1874520" y="2880360"/>
            <a:ext cx="292608" cy="292608"/>
          </a:xfrm>
          <a:prstGeom prst="ellipse">
            <a:avLst/>
          </a:prstGeom>
          <a:solidFill>
            <a:srgbClr val="E88A8E"/>
          </a:solidFill>
          <a:ln w="6350">
            <a:solidFill>
              <a:srgbClr val="E88A8E"/>
            </a:solidFill>
            <a:prstDash val="solid"/>
          </a:ln>
        </p:spPr>
      </p:sp>
      <p:sp>
        <p:nvSpPr>
          <p:cNvPr id="39" name="!!d34"/>
          <p:cNvSpPr/>
          <p:nvPr/>
        </p:nvSpPr>
        <p:spPr>
          <a:xfrm>
            <a:off x="2240280" y="2880360"/>
            <a:ext cx="292608" cy="292608"/>
          </a:xfrm>
          <a:prstGeom prst="ellipse">
            <a:avLst/>
          </a:prstGeom>
          <a:solidFill>
            <a:srgbClr val="E88A8E"/>
          </a:solidFill>
          <a:ln w="6350">
            <a:solidFill>
              <a:srgbClr val="E88A8E"/>
            </a:solidFill>
            <a:prstDash val="solid"/>
          </a:ln>
        </p:spPr>
      </p:sp>
      <p:sp>
        <p:nvSpPr>
          <p:cNvPr id="40" name="!!d35"/>
          <p:cNvSpPr/>
          <p:nvPr/>
        </p:nvSpPr>
        <p:spPr>
          <a:xfrm>
            <a:off x="2606040" y="2880360"/>
            <a:ext cx="292608" cy="292608"/>
          </a:xfrm>
          <a:prstGeom prst="ellipse">
            <a:avLst/>
          </a:prstGeom>
          <a:solidFill>
            <a:srgbClr val="E88A8E"/>
          </a:solidFill>
          <a:ln w="6350">
            <a:solidFill>
              <a:srgbClr val="E88A8E"/>
            </a:solidFill>
            <a:prstDash val="solid"/>
          </a:ln>
        </p:spPr>
      </p:sp>
      <p:sp>
        <p:nvSpPr>
          <p:cNvPr id="41" name="!!d36"/>
          <p:cNvSpPr/>
          <p:nvPr/>
        </p:nvSpPr>
        <p:spPr>
          <a:xfrm>
            <a:off x="2971800" y="2880360"/>
            <a:ext cx="292608" cy="292608"/>
          </a:xfrm>
          <a:prstGeom prst="ellipse">
            <a:avLst/>
          </a:prstGeom>
          <a:solidFill>
            <a:srgbClr val="E88A8E"/>
          </a:solidFill>
          <a:ln w="6350">
            <a:solidFill>
              <a:srgbClr val="E88A8E"/>
            </a:solidFill>
            <a:prstDash val="solid"/>
          </a:ln>
        </p:spPr>
      </p:sp>
      <p:sp>
        <p:nvSpPr>
          <p:cNvPr id="42" name="!!d37"/>
          <p:cNvSpPr/>
          <p:nvPr/>
        </p:nvSpPr>
        <p:spPr>
          <a:xfrm>
            <a:off x="3337560" y="2880360"/>
            <a:ext cx="292608" cy="292608"/>
          </a:xfrm>
          <a:prstGeom prst="ellipse">
            <a:avLst/>
          </a:prstGeom>
          <a:solidFill>
            <a:srgbClr val="E88A8E"/>
          </a:solidFill>
          <a:ln w="6350">
            <a:solidFill>
              <a:srgbClr val="E88A8E"/>
            </a:solidFill>
            <a:prstDash val="solid"/>
          </a:ln>
        </p:spPr>
      </p:sp>
      <p:sp>
        <p:nvSpPr>
          <p:cNvPr id="43" name="!!d38"/>
          <p:cNvSpPr/>
          <p:nvPr/>
        </p:nvSpPr>
        <p:spPr>
          <a:xfrm>
            <a:off x="3703320" y="2880360"/>
            <a:ext cx="292608" cy="292608"/>
          </a:xfrm>
          <a:prstGeom prst="ellipse">
            <a:avLst/>
          </a:prstGeom>
          <a:solidFill>
            <a:srgbClr val="D5DCE5"/>
          </a:solidFill>
          <a:ln w="6350">
            <a:solidFill>
              <a:srgbClr val="D5DCE5"/>
            </a:solidFill>
            <a:prstDash val="solid"/>
          </a:ln>
        </p:spPr>
      </p:sp>
      <p:sp>
        <p:nvSpPr>
          <p:cNvPr id="44" name="!!d39"/>
          <p:cNvSpPr/>
          <p:nvPr/>
        </p:nvSpPr>
        <p:spPr>
          <a:xfrm>
            <a:off x="4069080" y="2880360"/>
            <a:ext cx="292608" cy="292608"/>
          </a:xfrm>
          <a:prstGeom prst="ellipse">
            <a:avLst/>
          </a:prstGeom>
          <a:solidFill>
            <a:srgbClr val="D5DCE5"/>
          </a:solidFill>
          <a:ln w="6350">
            <a:solidFill>
              <a:srgbClr val="D5DCE5"/>
            </a:solidFill>
            <a:prstDash val="solid"/>
          </a:ln>
        </p:spPr>
      </p:sp>
      <p:sp>
        <p:nvSpPr>
          <p:cNvPr id="45" name="!!d40"/>
          <p:cNvSpPr/>
          <p:nvPr/>
        </p:nvSpPr>
        <p:spPr>
          <a:xfrm>
            <a:off x="777240" y="3246120"/>
            <a:ext cx="292608" cy="292608"/>
          </a:xfrm>
          <a:prstGeom prst="ellipse">
            <a:avLst/>
          </a:prstGeom>
          <a:solidFill>
            <a:srgbClr val="D5DCE5"/>
          </a:solidFill>
          <a:ln w="6350">
            <a:solidFill>
              <a:srgbClr val="D5DCE5"/>
            </a:solidFill>
            <a:prstDash val="solid"/>
          </a:ln>
        </p:spPr>
      </p:sp>
      <p:sp>
        <p:nvSpPr>
          <p:cNvPr id="46" name="!!d41"/>
          <p:cNvSpPr/>
          <p:nvPr/>
        </p:nvSpPr>
        <p:spPr>
          <a:xfrm>
            <a:off x="1143000" y="3246120"/>
            <a:ext cx="292608" cy="292608"/>
          </a:xfrm>
          <a:prstGeom prst="ellipse">
            <a:avLst/>
          </a:prstGeom>
          <a:solidFill>
            <a:srgbClr val="D5DCE5"/>
          </a:solidFill>
          <a:ln w="6350">
            <a:solidFill>
              <a:srgbClr val="D5DCE5"/>
            </a:solidFill>
            <a:prstDash val="solid"/>
          </a:ln>
        </p:spPr>
      </p:sp>
      <p:sp>
        <p:nvSpPr>
          <p:cNvPr id="47" name="!!d42"/>
          <p:cNvSpPr/>
          <p:nvPr/>
        </p:nvSpPr>
        <p:spPr>
          <a:xfrm>
            <a:off x="1508760" y="3246120"/>
            <a:ext cx="292608" cy="292608"/>
          </a:xfrm>
          <a:prstGeom prst="ellipse">
            <a:avLst/>
          </a:prstGeom>
          <a:solidFill>
            <a:srgbClr val="D5DCE5"/>
          </a:solidFill>
          <a:ln w="6350">
            <a:solidFill>
              <a:srgbClr val="D5DCE5"/>
            </a:solidFill>
            <a:prstDash val="solid"/>
          </a:ln>
        </p:spPr>
      </p:sp>
      <p:sp>
        <p:nvSpPr>
          <p:cNvPr id="48" name="!!d43"/>
          <p:cNvSpPr/>
          <p:nvPr/>
        </p:nvSpPr>
        <p:spPr>
          <a:xfrm>
            <a:off x="1874520" y="3246120"/>
            <a:ext cx="292608" cy="292608"/>
          </a:xfrm>
          <a:prstGeom prst="ellipse">
            <a:avLst/>
          </a:prstGeom>
          <a:solidFill>
            <a:srgbClr val="D5DCE5"/>
          </a:solidFill>
          <a:ln w="6350">
            <a:solidFill>
              <a:srgbClr val="D5DCE5"/>
            </a:solidFill>
            <a:prstDash val="solid"/>
          </a:ln>
        </p:spPr>
      </p:sp>
      <p:sp>
        <p:nvSpPr>
          <p:cNvPr id="49" name="!!d44"/>
          <p:cNvSpPr/>
          <p:nvPr/>
        </p:nvSpPr>
        <p:spPr>
          <a:xfrm>
            <a:off x="2240280" y="3246120"/>
            <a:ext cx="292608" cy="292608"/>
          </a:xfrm>
          <a:prstGeom prst="ellipse">
            <a:avLst/>
          </a:prstGeom>
          <a:solidFill>
            <a:srgbClr val="D5DCE5"/>
          </a:solidFill>
          <a:ln w="6350">
            <a:solidFill>
              <a:srgbClr val="D5DCE5"/>
            </a:solidFill>
            <a:prstDash val="solid"/>
          </a:ln>
        </p:spPr>
      </p:sp>
      <p:sp>
        <p:nvSpPr>
          <p:cNvPr id="50" name="!!d45"/>
          <p:cNvSpPr/>
          <p:nvPr/>
        </p:nvSpPr>
        <p:spPr>
          <a:xfrm>
            <a:off x="2606040" y="3246120"/>
            <a:ext cx="292608" cy="292608"/>
          </a:xfrm>
          <a:prstGeom prst="ellipse">
            <a:avLst/>
          </a:prstGeom>
          <a:solidFill>
            <a:srgbClr val="D5DCE5"/>
          </a:solidFill>
          <a:ln w="6350">
            <a:solidFill>
              <a:srgbClr val="D5DCE5"/>
            </a:solidFill>
            <a:prstDash val="solid"/>
          </a:ln>
        </p:spPr>
      </p:sp>
      <p:sp>
        <p:nvSpPr>
          <p:cNvPr id="51" name="!!d46"/>
          <p:cNvSpPr/>
          <p:nvPr/>
        </p:nvSpPr>
        <p:spPr>
          <a:xfrm>
            <a:off x="2971800" y="3246120"/>
            <a:ext cx="292608" cy="292608"/>
          </a:xfrm>
          <a:prstGeom prst="ellipse">
            <a:avLst/>
          </a:prstGeom>
          <a:solidFill>
            <a:srgbClr val="D5DCE5"/>
          </a:solidFill>
          <a:ln w="6350">
            <a:solidFill>
              <a:srgbClr val="D5DCE5"/>
            </a:solidFill>
            <a:prstDash val="solid"/>
          </a:ln>
        </p:spPr>
      </p:sp>
      <p:sp>
        <p:nvSpPr>
          <p:cNvPr id="52" name="!!d47"/>
          <p:cNvSpPr/>
          <p:nvPr/>
        </p:nvSpPr>
        <p:spPr>
          <a:xfrm>
            <a:off x="3337560" y="3246120"/>
            <a:ext cx="292608" cy="292608"/>
          </a:xfrm>
          <a:prstGeom prst="ellipse">
            <a:avLst/>
          </a:prstGeom>
          <a:solidFill>
            <a:srgbClr val="D5DCE5"/>
          </a:solidFill>
          <a:ln w="6350">
            <a:solidFill>
              <a:srgbClr val="D5DCE5"/>
            </a:solidFill>
            <a:prstDash val="solid"/>
          </a:ln>
        </p:spPr>
      </p:sp>
      <p:sp>
        <p:nvSpPr>
          <p:cNvPr id="53" name="!!d48"/>
          <p:cNvSpPr/>
          <p:nvPr/>
        </p:nvSpPr>
        <p:spPr>
          <a:xfrm>
            <a:off x="3703320" y="3246120"/>
            <a:ext cx="292608" cy="292608"/>
          </a:xfrm>
          <a:prstGeom prst="ellipse">
            <a:avLst/>
          </a:prstGeom>
          <a:solidFill>
            <a:srgbClr val="D5DCE5"/>
          </a:solidFill>
          <a:ln w="6350">
            <a:solidFill>
              <a:srgbClr val="D5DCE5"/>
            </a:solidFill>
            <a:prstDash val="solid"/>
          </a:ln>
        </p:spPr>
      </p:sp>
      <p:sp>
        <p:nvSpPr>
          <p:cNvPr id="54" name="!!d49"/>
          <p:cNvSpPr/>
          <p:nvPr/>
        </p:nvSpPr>
        <p:spPr>
          <a:xfrm>
            <a:off x="4069080" y="3246120"/>
            <a:ext cx="292608" cy="292608"/>
          </a:xfrm>
          <a:prstGeom prst="ellipse">
            <a:avLst/>
          </a:prstGeom>
          <a:solidFill>
            <a:srgbClr val="D5DCE5"/>
          </a:solidFill>
          <a:ln w="6350">
            <a:solidFill>
              <a:srgbClr val="D5DCE5"/>
            </a:solidFill>
            <a:prstDash val="solid"/>
          </a:ln>
        </p:spPr>
      </p:sp>
      <p:sp>
        <p:nvSpPr>
          <p:cNvPr id="55" name="!!d50"/>
          <p:cNvSpPr/>
          <p:nvPr/>
        </p:nvSpPr>
        <p:spPr>
          <a:xfrm>
            <a:off x="777240" y="3611880"/>
            <a:ext cx="292608" cy="292608"/>
          </a:xfrm>
          <a:prstGeom prst="ellipse">
            <a:avLst/>
          </a:prstGeom>
          <a:solidFill>
            <a:srgbClr val="D5DCE5"/>
          </a:solidFill>
          <a:ln w="6350">
            <a:solidFill>
              <a:srgbClr val="D5DCE5"/>
            </a:solidFill>
            <a:prstDash val="solid"/>
          </a:ln>
        </p:spPr>
      </p:sp>
      <p:sp>
        <p:nvSpPr>
          <p:cNvPr id="56" name="!!d51"/>
          <p:cNvSpPr/>
          <p:nvPr/>
        </p:nvSpPr>
        <p:spPr>
          <a:xfrm>
            <a:off x="1143000" y="3611880"/>
            <a:ext cx="292608" cy="292608"/>
          </a:xfrm>
          <a:prstGeom prst="ellipse">
            <a:avLst/>
          </a:prstGeom>
          <a:solidFill>
            <a:srgbClr val="D5DCE5"/>
          </a:solidFill>
          <a:ln w="6350">
            <a:solidFill>
              <a:srgbClr val="D5DCE5"/>
            </a:solidFill>
            <a:prstDash val="solid"/>
          </a:ln>
        </p:spPr>
      </p:sp>
      <p:sp>
        <p:nvSpPr>
          <p:cNvPr id="57" name="!!d52"/>
          <p:cNvSpPr/>
          <p:nvPr/>
        </p:nvSpPr>
        <p:spPr>
          <a:xfrm>
            <a:off x="1508760" y="3611880"/>
            <a:ext cx="292608" cy="292608"/>
          </a:xfrm>
          <a:prstGeom prst="ellipse">
            <a:avLst/>
          </a:prstGeom>
          <a:solidFill>
            <a:srgbClr val="D5DCE5"/>
          </a:solidFill>
          <a:ln w="6350">
            <a:solidFill>
              <a:srgbClr val="D5DCE5"/>
            </a:solidFill>
            <a:prstDash val="solid"/>
          </a:ln>
        </p:spPr>
      </p:sp>
      <p:sp>
        <p:nvSpPr>
          <p:cNvPr id="58" name="!!d53"/>
          <p:cNvSpPr/>
          <p:nvPr/>
        </p:nvSpPr>
        <p:spPr>
          <a:xfrm>
            <a:off x="1874520" y="3611880"/>
            <a:ext cx="292608" cy="292608"/>
          </a:xfrm>
          <a:prstGeom prst="ellipse">
            <a:avLst/>
          </a:prstGeom>
          <a:solidFill>
            <a:srgbClr val="D5DCE5"/>
          </a:solidFill>
          <a:ln w="6350">
            <a:solidFill>
              <a:srgbClr val="D5DCE5"/>
            </a:solidFill>
            <a:prstDash val="solid"/>
          </a:ln>
        </p:spPr>
      </p:sp>
      <p:sp>
        <p:nvSpPr>
          <p:cNvPr id="59" name="!!d54"/>
          <p:cNvSpPr/>
          <p:nvPr/>
        </p:nvSpPr>
        <p:spPr>
          <a:xfrm>
            <a:off x="2240280" y="3611880"/>
            <a:ext cx="292608" cy="292608"/>
          </a:xfrm>
          <a:prstGeom prst="ellipse">
            <a:avLst/>
          </a:prstGeom>
          <a:solidFill>
            <a:srgbClr val="D5DCE5"/>
          </a:solidFill>
          <a:ln w="6350">
            <a:solidFill>
              <a:srgbClr val="D5DCE5"/>
            </a:solidFill>
            <a:prstDash val="solid"/>
          </a:ln>
        </p:spPr>
      </p:sp>
      <p:sp>
        <p:nvSpPr>
          <p:cNvPr id="60" name="!!d55"/>
          <p:cNvSpPr/>
          <p:nvPr/>
        </p:nvSpPr>
        <p:spPr>
          <a:xfrm>
            <a:off x="2606040" y="3611880"/>
            <a:ext cx="292608" cy="292608"/>
          </a:xfrm>
          <a:prstGeom prst="ellipse">
            <a:avLst/>
          </a:prstGeom>
          <a:solidFill>
            <a:srgbClr val="D5DCE5"/>
          </a:solidFill>
          <a:ln w="6350">
            <a:solidFill>
              <a:srgbClr val="D5DCE5"/>
            </a:solidFill>
            <a:prstDash val="solid"/>
          </a:ln>
        </p:spPr>
      </p:sp>
      <p:sp>
        <p:nvSpPr>
          <p:cNvPr id="61" name="!!d56"/>
          <p:cNvSpPr/>
          <p:nvPr/>
        </p:nvSpPr>
        <p:spPr>
          <a:xfrm>
            <a:off x="2971800" y="3611880"/>
            <a:ext cx="292608" cy="292608"/>
          </a:xfrm>
          <a:prstGeom prst="ellipse">
            <a:avLst/>
          </a:prstGeom>
          <a:solidFill>
            <a:srgbClr val="D5DCE5"/>
          </a:solidFill>
          <a:ln w="6350">
            <a:solidFill>
              <a:srgbClr val="D5DCE5"/>
            </a:solidFill>
            <a:prstDash val="solid"/>
          </a:ln>
        </p:spPr>
      </p:sp>
      <p:sp>
        <p:nvSpPr>
          <p:cNvPr id="62" name="!!d57"/>
          <p:cNvSpPr/>
          <p:nvPr/>
        </p:nvSpPr>
        <p:spPr>
          <a:xfrm>
            <a:off x="3337560" y="3611880"/>
            <a:ext cx="292608" cy="292608"/>
          </a:xfrm>
          <a:prstGeom prst="ellipse">
            <a:avLst/>
          </a:prstGeom>
          <a:solidFill>
            <a:srgbClr val="D5DCE5"/>
          </a:solidFill>
          <a:ln w="6350">
            <a:solidFill>
              <a:srgbClr val="D5DCE5"/>
            </a:solidFill>
            <a:prstDash val="solid"/>
          </a:ln>
        </p:spPr>
      </p:sp>
      <p:sp>
        <p:nvSpPr>
          <p:cNvPr id="63" name="!!d58"/>
          <p:cNvSpPr/>
          <p:nvPr/>
        </p:nvSpPr>
        <p:spPr>
          <a:xfrm>
            <a:off x="3703320" y="3611880"/>
            <a:ext cx="292608" cy="292608"/>
          </a:xfrm>
          <a:prstGeom prst="ellipse">
            <a:avLst/>
          </a:prstGeom>
          <a:solidFill>
            <a:srgbClr val="D5DCE5"/>
          </a:solidFill>
          <a:ln w="6350">
            <a:solidFill>
              <a:srgbClr val="D5DCE5"/>
            </a:solidFill>
            <a:prstDash val="solid"/>
          </a:ln>
        </p:spPr>
      </p:sp>
      <p:sp>
        <p:nvSpPr>
          <p:cNvPr id="64" name="!!d59"/>
          <p:cNvSpPr/>
          <p:nvPr/>
        </p:nvSpPr>
        <p:spPr>
          <a:xfrm>
            <a:off x="4069080" y="3611880"/>
            <a:ext cx="292608" cy="292608"/>
          </a:xfrm>
          <a:prstGeom prst="ellipse">
            <a:avLst/>
          </a:prstGeom>
          <a:solidFill>
            <a:srgbClr val="D5DCE5"/>
          </a:solidFill>
          <a:ln w="6350">
            <a:solidFill>
              <a:srgbClr val="D5DCE5"/>
            </a:solidFill>
            <a:prstDash val="solid"/>
          </a:ln>
        </p:spPr>
      </p:sp>
      <p:sp>
        <p:nvSpPr>
          <p:cNvPr id="65" name="!!d60"/>
          <p:cNvSpPr/>
          <p:nvPr/>
        </p:nvSpPr>
        <p:spPr>
          <a:xfrm>
            <a:off x="777240" y="3977640"/>
            <a:ext cx="292608" cy="292608"/>
          </a:xfrm>
          <a:prstGeom prst="ellipse">
            <a:avLst/>
          </a:prstGeom>
          <a:solidFill>
            <a:srgbClr val="D5DCE5"/>
          </a:solidFill>
          <a:ln w="6350">
            <a:solidFill>
              <a:srgbClr val="D5DCE5"/>
            </a:solidFill>
            <a:prstDash val="solid"/>
          </a:ln>
        </p:spPr>
      </p:sp>
      <p:sp>
        <p:nvSpPr>
          <p:cNvPr id="66" name="!!d61"/>
          <p:cNvSpPr/>
          <p:nvPr/>
        </p:nvSpPr>
        <p:spPr>
          <a:xfrm>
            <a:off x="1143000" y="3977640"/>
            <a:ext cx="292608" cy="292608"/>
          </a:xfrm>
          <a:prstGeom prst="ellipse">
            <a:avLst/>
          </a:prstGeom>
          <a:solidFill>
            <a:srgbClr val="D5DCE5"/>
          </a:solidFill>
          <a:ln w="6350">
            <a:solidFill>
              <a:srgbClr val="D5DCE5"/>
            </a:solidFill>
            <a:prstDash val="solid"/>
          </a:ln>
        </p:spPr>
      </p:sp>
      <p:sp>
        <p:nvSpPr>
          <p:cNvPr id="67" name="!!d62"/>
          <p:cNvSpPr/>
          <p:nvPr/>
        </p:nvSpPr>
        <p:spPr>
          <a:xfrm>
            <a:off x="1508760" y="3977640"/>
            <a:ext cx="292608" cy="292608"/>
          </a:xfrm>
          <a:prstGeom prst="ellipse">
            <a:avLst/>
          </a:prstGeom>
          <a:solidFill>
            <a:srgbClr val="D5DCE5"/>
          </a:solidFill>
          <a:ln w="6350">
            <a:solidFill>
              <a:srgbClr val="D5DCE5"/>
            </a:solidFill>
            <a:prstDash val="solid"/>
          </a:ln>
        </p:spPr>
      </p:sp>
      <p:sp>
        <p:nvSpPr>
          <p:cNvPr id="68" name="!!d63"/>
          <p:cNvSpPr/>
          <p:nvPr/>
        </p:nvSpPr>
        <p:spPr>
          <a:xfrm>
            <a:off x="1874520" y="3977640"/>
            <a:ext cx="292608" cy="292608"/>
          </a:xfrm>
          <a:prstGeom prst="ellipse">
            <a:avLst/>
          </a:prstGeom>
          <a:solidFill>
            <a:srgbClr val="D5DCE5"/>
          </a:solidFill>
          <a:ln w="6350">
            <a:solidFill>
              <a:srgbClr val="D5DCE5"/>
            </a:solidFill>
            <a:prstDash val="solid"/>
          </a:ln>
        </p:spPr>
      </p:sp>
      <p:sp>
        <p:nvSpPr>
          <p:cNvPr id="69" name="!!d64"/>
          <p:cNvSpPr/>
          <p:nvPr/>
        </p:nvSpPr>
        <p:spPr>
          <a:xfrm>
            <a:off x="2240280" y="3977640"/>
            <a:ext cx="292608" cy="292608"/>
          </a:xfrm>
          <a:prstGeom prst="ellipse">
            <a:avLst/>
          </a:prstGeom>
          <a:solidFill>
            <a:srgbClr val="D5DCE5"/>
          </a:solidFill>
          <a:ln w="6350">
            <a:solidFill>
              <a:srgbClr val="D5DCE5"/>
            </a:solidFill>
            <a:prstDash val="solid"/>
          </a:ln>
        </p:spPr>
      </p:sp>
      <p:sp>
        <p:nvSpPr>
          <p:cNvPr id="70" name="!!d65"/>
          <p:cNvSpPr/>
          <p:nvPr/>
        </p:nvSpPr>
        <p:spPr>
          <a:xfrm>
            <a:off x="2606040" y="3977640"/>
            <a:ext cx="292608" cy="292608"/>
          </a:xfrm>
          <a:prstGeom prst="ellipse">
            <a:avLst/>
          </a:prstGeom>
          <a:solidFill>
            <a:srgbClr val="D5DCE5"/>
          </a:solidFill>
          <a:ln w="6350">
            <a:solidFill>
              <a:srgbClr val="D5DCE5"/>
            </a:solidFill>
            <a:prstDash val="solid"/>
          </a:ln>
        </p:spPr>
      </p:sp>
      <p:sp>
        <p:nvSpPr>
          <p:cNvPr id="71" name="!!d66"/>
          <p:cNvSpPr/>
          <p:nvPr/>
        </p:nvSpPr>
        <p:spPr>
          <a:xfrm>
            <a:off x="2971800" y="3977640"/>
            <a:ext cx="292608" cy="292608"/>
          </a:xfrm>
          <a:prstGeom prst="ellipse">
            <a:avLst/>
          </a:prstGeom>
          <a:solidFill>
            <a:srgbClr val="D5DCE5"/>
          </a:solidFill>
          <a:ln w="6350">
            <a:solidFill>
              <a:srgbClr val="D5DCE5"/>
            </a:solidFill>
            <a:prstDash val="solid"/>
          </a:ln>
        </p:spPr>
      </p:sp>
      <p:sp>
        <p:nvSpPr>
          <p:cNvPr id="72" name="!!d67"/>
          <p:cNvSpPr/>
          <p:nvPr/>
        </p:nvSpPr>
        <p:spPr>
          <a:xfrm>
            <a:off x="3337560" y="3977640"/>
            <a:ext cx="292608" cy="292608"/>
          </a:xfrm>
          <a:prstGeom prst="ellipse">
            <a:avLst/>
          </a:prstGeom>
          <a:solidFill>
            <a:srgbClr val="D5DCE5"/>
          </a:solidFill>
          <a:ln w="6350">
            <a:solidFill>
              <a:srgbClr val="D5DCE5"/>
            </a:solidFill>
            <a:prstDash val="solid"/>
          </a:ln>
        </p:spPr>
      </p:sp>
      <p:sp>
        <p:nvSpPr>
          <p:cNvPr id="73" name="!!d68"/>
          <p:cNvSpPr/>
          <p:nvPr/>
        </p:nvSpPr>
        <p:spPr>
          <a:xfrm>
            <a:off x="3703320" y="3977640"/>
            <a:ext cx="292608" cy="292608"/>
          </a:xfrm>
          <a:prstGeom prst="ellipse">
            <a:avLst/>
          </a:prstGeom>
          <a:solidFill>
            <a:srgbClr val="D5DCE5"/>
          </a:solidFill>
          <a:ln w="6350">
            <a:solidFill>
              <a:srgbClr val="D5DCE5"/>
            </a:solidFill>
            <a:prstDash val="solid"/>
          </a:ln>
        </p:spPr>
      </p:sp>
      <p:sp>
        <p:nvSpPr>
          <p:cNvPr id="74" name="!!d69"/>
          <p:cNvSpPr/>
          <p:nvPr/>
        </p:nvSpPr>
        <p:spPr>
          <a:xfrm>
            <a:off x="4069080" y="3977640"/>
            <a:ext cx="292608" cy="292608"/>
          </a:xfrm>
          <a:prstGeom prst="ellipse">
            <a:avLst/>
          </a:prstGeom>
          <a:solidFill>
            <a:srgbClr val="D5DCE5"/>
          </a:solidFill>
          <a:ln w="6350">
            <a:solidFill>
              <a:srgbClr val="D5DCE5"/>
            </a:solidFill>
            <a:prstDash val="solid"/>
          </a:ln>
        </p:spPr>
      </p:sp>
      <p:sp>
        <p:nvSpPr>
          <p:cNvPr id="75" name="!!d70"/>
          <p:cNvSpPr/>
          <p:nvPr/>
        </p:nvSpPr>
        <p:spPr>
          <a:xfrm>
            <a:off x="777240" y="4343400"/>
            <a:ext cx="292608" cy="292608"/>
          </a:xfrm>
          <a:prstGeom prst="ellipse">
            <a:avLst/>
          </a:prstGeom>
          <a:solidFill>
            <a:srgbClr val="D5DCE5"/>
          </a:solidFill>
          <a:ln w="6350">
            <a:solidFill>
              <a:srgbClr val="D5DCE5"/>
            </a:solidFill>
            <a:prstDash val="solid"/>
          </a:ln>
        </p:spPr>
      </p:sp>
      <p:sp>
        <p:nvSpPr>
          <p:cNvPr id="76" name="!!d71"/>
          <p:cNvSpPr/>
          <p:nvPr/>
        </p:nvSpPr>
        <p:spPr>
          <a:xfrm>
            <a:off x="1143000" y="4343400"/>
            <a:ext cx="292608" cy="292608"/>
          </a:xfrm>
          <a:prstGeom prst="ellipse">
            <a:avLst/>
          </a:prstGeom>
          <a:solidFill>
            <a:srgbClr val="D5DCE5"/>
          </a:solidFill>
          <a:ln w="6350">
            <a:solidFill>
              <a:srgbClr val="D5DCE5"/>
            </a:solidFill>
            <a:prstDash val="solid"/>
          </a:ln>
        </p:spPr>
      </p:sp>
      <p:sp>
        <p:nvSpPr>
          <p:cNvPr id="77" name="!!d72"/>
          <p:cNvSpPr/>
          <p:nvPr/>
        </p:nvSpPr>
        <p:spPr>
          <a:xfrm>
            <a:off x="1508760" y="4343400"/>
            <a:ext cx="292608" cy="292608"/>
          </a:xfrm>
          <a:prstGeom prst="ellipse">
            <a:avLst/>
          </a:prstGeom>
          <a:solidFill>
            <a:srgbClr val="D5DCE5"/>
          </a:solidFill>
          <a:ln w="6350">
            <a:solidFill>
              <a:srgbClr val="D5DCE5"/>
            </a:solidFill>
            <a:prstDash val="solid"/>
          </a:ln>
        </p:spPr>
      </p:sp>
      <p:sp>
        <p:nvSpPr>
          <p:cNvPr id="78" name="!!d73"/>
          <p:cNvSpPr/>
          <p:nvPr/>
        </p:nvSpPr>
        <p:spPr>
          <a:xfrm>
            <a:off x="1874520" y="4343400"/>
            <a:ext cx="292608" cy="292608"/>
          </a:xfrm>
          <a:prstGeom prst="ellipse">
            <a:avLst/>
          </a:prstGeom>
          <a:solidFill>
            <a:srgbClr val="D5DCE5"/>
          </a:solidFill>
          <a:ln w="6350">
            <a:solidFill>
              <a:srgbClr val="D5DCE5"/>
            </a:solidFill>
            <a:prstDash val="solid"/>
          </a:ln>
        </p:spPr>
      </p:sp>
      <p:sp>
        <p:nvSpPr>
          <p:cNvPr id="79" name="!!d74"/>
          <p:cNvSpPr/>
          <p:nvPr/>
        </p:nvSpPr>
        <p:spPr>
          <a:xfrm>
            <a:off x="2240280" y="4343400"/>
            <a:ext cx="292608" cy="292608"/>
          </a:xfrm>
          <a:prstGeom prst="ellipse">
            <a:avLst/>
          </a:prstGeom>
          <a:solidFill>
            <a:srgbClr val="D5DCE5"/>
          </a:solidFill>
          <a:ln w="6350">
            <a:solidFill>
              <a:srgbClr val="D5DCE5"/>
            </a:solidFill>
            <a:prstDash val="solid"/>
          </a:ln>
        </p:spPr>
      </p:sp>
      <p:sp>
        <p:nvSpPr>
          <p:cNvPr id="80" name="!!d75"/>
          <p:cNvSpPr/>
          <p:nvPr/>
        </p:nvSpPr>
        <p:spPr>
          <a:xfrm>
            <a:off x="2606040" y="4343400"/>
            <a:ext cx="292608" cy="292608"/>
          </a:xfrm>
          <a:prstGeom prst="ellipse">
            <a:avLst/>
          </a:prstGeom>
          <a:solidFill>
            <a:srgbClr val="D5DCE5"/>
          </a:solidFill>
          <a:ln w="6350">
            <a:solidFill>
              <a:srgbClr val="D5DCE5"/>
            </a:solidFill>
            <a:prstDash val="solid"/>
          </a:ln>
        </p:spPr>
      </p:sp>
      <p:sp>
        <p:nvSpPr>
          <p:cNvPr id="81" name="!!d76"/>
          <p:cNvSpPr/>
          <p:nvPr/>
        </p:nvSpPr>
        <p:spPr>
          <a:xfrm>
            <a:off x="2971800" y="4343400"/>
            <a:ext cx="292608" cy="292608"/>
          </a:xfrm>
          <a:prstGeom prst="ellipse">
            <a:avLst/>
          </a:prstGeom>
          <a:solidFill>
            <a:srgbClr val="D5DCE5"/>
          </a:solidFill>
          <a:ln w="6350">
            <a:solidFill>
              <a:srgbClr val="D5DCE5"/>
            </a:solidFill>
            <a:prstDash val="solid"/>
          </a:ln>
        </p:spPr>
      </p:sp>
      <p:sp>
        <p:nvSpPr>
          <p:cNvPr id="82" name="!!d77"/>
          <p:cNvSpPr/>
          <p:nvPr/>
        </p:nvSpPr>
        <p:spPr>
          <a:xfrm>
            <a:off x="3337560" y="4343400"/>
            <a:ext cx="292608" cy="292608"/>
          </a:xfrm>
          <a:prstGeom prst="ellipse">
            <a:avLst/>
          </a:prstGeom>
          <a:solidFill>
            <a:srgbClr val="D5DCE5"/>
          </a:solidFill>
          <a:ln w="6350">
            <a:solidFill>
              <a:srgbClr val="D5DCE5"/>
            </a:solidFill>
            <a:prstDash val="solid"/>
          </a:ln>
        </p:spPr>
      </p:sp>
      <p:sp>
        <p:nvSpPr>
          <p:cNvPr id="83" name="!!d78"/>
          <p:cNvSpPr/>
          <p:nvPr/>
        </p:nvSpPr>
        <p:spPr>
          <a:xfrm>
            <a:off x="3703320" y="4343400"/>
            <a:ext cx="292608" cy="292608"/>
          </a:xfrm>
          <a:prstGeom prst="ellipse">
            <a:avLst/>
          </a:prstGeom>
          <a:solidFill>
            <a:srgbClr val="D5DCE5"/>
          </a:solidFill>
          <a:ln w="6350">
            <a:solidFill>
              <a:srgbClr val="D5DCE5"/>
            </a:solidFill>
            <a:prstDash val="solid"/>
          </a:ln>
        </p:spPr>
      </p:sp>
      <p:sp>
        <p:nvSpPr>
          <p:cNvPr id="84" name="!!d79"/>
          <p:cNvSpPr/>
          <p:nvPr/>
        </p:nvSpPr>
        <p:spPr>
          <a:xfrm>
            <a:off x="4069080" y="4343400"/>
            <a:ext cx="292608" cy="292608"/>
          </a:xfrm>
          <a:prstGeom prst="ellipse">
            <a:avLst/>
          </a:prstGeom>
          <a:solidFill>
            <a:srgbClr val="D5DCE5"/>
          </a:solidFill>
          <a:ln w="6350">
            <a:solidFill>
              <a:srgbClr val="D5DCE5"/>
            </a:solidFill>
            <a:prstDash val="solid"/>
          </a:ln>
        </p:spPr>
      </p:sp>
      <p:sp>
        <p:nvSpPr>
          <p:cNvPr id="85" name="!!d80"/>
          <p:cNvSpPr/>
          <p:nvPr/>
        </p:nvSpPr>
        <p:spPr>
          <a:xfrm>
            <a:off x="777240" y="4709160"/>
            <a:ext cx="292608" cy="292608"/>
          </a:xfrm>
          <a:prstGeom prst="ellipse">
            <a:avLst/>
          </a:prstGeom>
          <a:solidFill>
            <a:srgbClr val="D5DCE5"/>
          </a:solidFill>
          <a:ln w="6350">
            <a:solidFill>
              <a:srgbClr val="D5DCE5"/>
            </a:solidFill>
            <a:prstDash val="solid"/>
          </a:ln>
        </p:spPr>
      </p:sp>
      <p:sp>
        <p:nvSpPr>
          <p:cNvPr id="86" name="!!d81"/>
          <p:cNvSpPr/>
          <p:nvPr/>
        </p:nvSpPr>
        <p:spPr>
          <a:xfrm>
            <a:off x="1143000" y="4709160"/>
            <a:ext cx="292608" cy="292608"/>
          </a:xfrm>
          <a:prstGeom prst="ellipse">
            <a:avLst/>
          </a:prstGeom>
          <a:solidFill>
            <a:srgbClr val="D5DCE5"/>
          </a:solidFill>
          <a:ln w="6350">
            <a:solidFill>
              <a:srgbClr val="D5DCE5"/>
            </a:solidFill>
            <a:prstDash val="solid"/>
          </a:ln>
        </p:spPr>
      </p:sp>
      <p:sp>
        <p:nvSpPr>
          <p:cNvPr id="87" name="!!d82"/>
          <p:cNvSpPr/>
          <p:nvPr/>
        </p:nvSpPr>
        <p:spPr>
          <a:xfrm>
            <a:off x="1508760" y="4709160"/>
            <a:ext cx="292608" cy="292608"/>
          </a:xfrm>
          <a:prstGeom prst="ellipse">
            <a:avLst/>
          </a:prstGeom>
          <a:solidFill>
            <a:srgbClr val="D5DCE5"/>
          </a:solidFill>
          <a:ln w="6350">
            <a:solidFill>
              <a:srgbClr val="D5DCE5"/>
            </a:solidFill>
            <a:prstDash val="solid"/>
          </a:ln>
        </p:spPr>
      </p:sp>
      <p:sp>
        <p:nvSpPr>
          <p:cNvPr id="88" name="!!d83"/>
          <p:cNvSpPr/>
          <p:nvPr/>
        </p:nvSpPr>
        <p:spPr>
          <a:xfrm>
            <a:off x="1874520" y="4709160"/>
            <a:ext cx="292608" cy="292608"/>
          </a:xfrm>
          <a:prstGeom prst="ellipse">
            <a:avLst/>
          </a:prstGeom>
          <a:solidFill>
            <a:srgbClr val="D5DCE5"/>
          </a:solidFill>
          <a:ln w="6350">
            <a:solidFill>
              <a:srgbClr val="D5DCE5"/>
            </a:solidFill>
            <a:prstDash val="solid"/>
          </a:ln>
        </p:spPr>
      </p:sp>
      <p:sp>
        <p:nvSpPr>
          <p:cNvPr id="89" name="!!d84"/>
          <p:cNvSpPr/>
          <p:nvPr/>
        </p:nvSpPr>
        <p:spPr>
          <a:xfrm>
            <a:off x="2240280" y="4709160"/>
            <a:ext cx="292608" cy="292608"/>
          </a:xfrm>
          <a:prstGeom prst="ellipse">
            <a:avLst/>
          </a:prstGeom>
          <a:solidFill>
            <a:srgbClr val="D5DCE5"/>
          </a:solidFill>
          <a:ln w="6350">
            <a:solidFill>
              <a:srgbClr val="D5DCE5"/>
            </a:solidFill>
            <a:prstDash val="solid"/>
          </a:ln>
        </p:spPr>
      </p:sp>
      <p:sp>
        <p:nvSpPr>
          <p:cNvPr id="90" name="!!d85"/>
          <p:cNvSpPr/>
          <p:nvPr/>
        </p:nvSpPr>
        <p:spPr>
          <a:xfrm>
            <a:off x="2606040" y="4709160"/>
            <a:ext cx="292608" cy="292608"/>
          </a:xfrm>
          <a:prstGeom prst="ellipse">
            <a:avLst/>
          </a:prstGeom>
          <a:solidFill>
            <a:srgbClr val="D5DCE5"/>
          </a:solidFill>
          <a:ln w="6350">
            <a:solidFill>
              <a:srgbClr val="D5DCE5"/>
            </a:solidFill>
            <a:prstDash val="solid"/>
          </a:ln>
        </p:spPr>
      </p:sp>
      <p:sp>
        <p:nvSpPr>
          <p:cNvPr id="91" name="!!d86"/>
          <p:cNvSpPr/>
          <p:nvPr/>
        </p:nvSpPr>
        <p:spPr>
          <a:xfrm>
            <a:off x="2971800" y="4709160"/>
            <a:ext cx="292608" cy="292608"/>
          </a:xfrm>
          <a:prstGeom prst="ellipse">
            <a:avLst/>
          </a:prstGeom>
          <a:solidFill>
            <a:srgbClr val="D5DCE5"/>
          </a:solidFill>
          <a:ln w="6350">
            <a:solidFill>
              <a:srgbClr val="D5DCE5"/>
            </a:solidFill>
            <a:prstDash val="solid"/>
          </a:ln>
        </p:spPr>
      </p:sp>
      <p:sp>
        <p:nvSpPr>
          <p:cNvPr id="92" name="!!d87"/>
          <p:cNvSpPr/>
          <p:nvPr/>
        </p:nvSpPr>
        <p:spPr>
          <a:xfrm>
            <a:off x="3337560" y="4709160"/>
            <a:ext cx="292608" cy="292608"/>
          </a:xfrm>
          <a:prstGeom prst="ellipse">
            <a:avLst/>
          </a:prstGeom>
          <a:solidFill>
            <a:srgbClr val="D5DCE5"/>
          </a:solidFill>
          <a:ln w="6350">
            <a:solidFill>
              <a:srgbClr val="D5DCE5"/>
            </a:solidFill>
            <a:prstDash val="solid"/>
          </a:ln>
        </p:spPr>
      </p:sp>
      <p:sp>
        <p:nvSpPr>
          <p:cNvPr id="93" name="!!d88"/>
          <p:cNvSpPr/>
          <p:nvPr/>
        </p:nvSpPr>
        <p:spPr>
          <a:xfrm>
            <a:off x="3703320" y="4709160"/>
            <a:ext cx="292608" cy="292608"/>
          </a:xfrm>
          <a:prstGeom prst="ellipse">
            <a:avLst/>
          </a:prstGeom>
          <a:solidFill>
            <a:srgbClr val="D5DCE5"/>
          </a:solidFill>
          <a:ln w="6350">
            <a:solidFill>
              <a:srgbClr val="D5DCE5"/>
            </a:solidFill>
            <a:prstDash val="solid"/>
          </a:ln>
        </p:spPr>
      </p:sp>
      <p:sp>
        <p:nvSpPr>
          <p:cNvPr id="94" name="!!d89"/>
          <p:cNvSpPr/>
          <p:nvPr/>
        </p:nvSpPr>
        <p:spPr>
          <a:xfrm>
            <a:off x="4069080" y="4709160"/>
            <a:ext cx="292608" cy="292608"/>
          </a:xfrm>
          <a:prstGeom prst="ellipse">
            <a:avLst/>
          </a:prstGeom>
          <a:solidFill>
            <a:srgbClr val="D5DCE5"/>
          </a:solidFill>
          <a:ln w="6350">
            <a:solidFill>
              <a:srgbClr val="D5DCE5"/>
            </a:solidFill>
            <a:prstDash val="solid"/>
          </a:ln>
        </p:spPr>
      </p:sp>
      <p:sp>
        <p:nvSpPr>
          <p:cNvPr id="95" name="!!d90"/>
          <p:cNvSpPr/>
          <p:nvPr/>
        </p:nvSpPr>
        <p:spPr>
          <a:xfrm>
            <a:off x="777240" y="5074920"/>
            <a:ext cx="292608" cy="292608"/>
          </a:xfrm>
          <a:prstGeom prst="ellipse">
            <a:avLst/>
          </a:prstGeom>
          <a:solidFill>
            <a:srgbClr val="D5DCE5"/>
          </a:solidFill>
          <a:ln w="6350">
            <a:solidFill>
              <a:srgbClr val="D5DCE5"/>
            </a:solidFill>
            <a:prstDash val="solid"/>
          </a:ln>
        </p:spPr>
      </p:sp>
      <p:sp>
        <p:nvSpPr>
          <p:cNvPr id="96" name="!!d91"/>
          <p:cNvSpPr/>
          <p:nvPr/>
        </p:nvSpPr>
        <p:spPr>
          <a:xfrm>
            <a:off x="1143000" y="5074920"/>
            <a:ext cx="292608" cy="292608"/>
          </a:xfrm>
          <a:prstGeom prst="ellipse">
            <a:avLst/>
          </a:prstGeom>
          <a:solidFill>
            <a:srgbClr val="D5DCE5"/>
          </a:solidFill>
          <a:ln w="6350">
            <a:solidFill>
              <a:srgbClr val="D5DCE5"/>
            </a:solidFill>
            <a:prstDash val="solid"/>
          </a:ln>
        </p:spPr>
      </p:sp>
      <p:sp>
        <p:nvSpPr>
          <p:cNvPr id="97" name="!!d92"/>
          <p:cNvSpPr/>
          <p:nvPr/>
        </p:nvSpPr>
        <p:spPr>
          <a:xfrm>
            <a:off x="1508760" y="5074920"/>
            <a:ext cx="292608" cy="292608"/>
          </a:xfrm>
          <a:prstGeom prst="ellipse">
            <a:avLst/>
          </a:prstGeom>
          <a:solidFill>
            <a:srgbClr val="D5DCE5"/>
          </a:solidFill>
          <a:ln w="6350">
            <a:solidFill>
              <a:srgbClr val="D5DCE5"/>
            </a:solidFill>
            <a:prstDash val="solid"/>
          </a:ln>
        </p:spPr>
      </p:sp>
      <p:sp>
        <p:nvSpPr>
          <p:cNvPr id="98" name="!!d93"/>
          <p:cNvSpPr/>
          <p:nvPr/>
        </p:nvSpPr>
        <p:spPr>
          <a:xfrm>
            <a:off x="1874520" y="5074920"/>
            <a:ext cx="292608" cy="292608"/>
          </a:xfrm>
          <a:prstGeom prst="ellipse">
            <a:avLst/>
          </a:prstGeom>
          <a:solidFill>
            <a:srgbClr val="D5DCE5"/>
          </a:solidFill>
          <a:ln w="6350">
            <a:solidFill>
              <a:srgbClr val="D5DCE5"/>
            </a:solidFill>
            <a:prstDash val="solid"/>
          </a:ln>
        </p:spPr>
      </p:sp>
      <p:sp>
        <p:nvSpPr>
          <p:cNvPr id="99" name="!!d94"/>
          <p:cNvSpPr/>
          <p:nvPr/>
        </p:nvSpPr>
        <p:spPr>
          <a:xfrm>
            <a:off x="2240280" y="5074920"/>
            <a:ext cx="292608" cy="292608"/>
          </a:xfrm>
          <a:prstGeom prst="ellipse">
            <a:avLst/>
          </a:prstGeom>
          <a:solidFill>
            <a:srgbClr val="D5DCE5"/>
          </a:solidFill>
          <a:ln w="6350">
            <a:solidFill>
              <a:srgbClr val="D5DCE5"/>
            </a:solidFill>
            <a:prstDash val="solid"/>
          </a:ln>
        </p:spPr>
      </p:sp>
      <p:sp>
        <p:nvSpPr>
          <p:cNvPr id="100" name="!!d95"/>
          <p:cNvSpPr/>
          <p:nvPr/>
        </p:nvSpPr>
        <p:spPr>
          <a:xfrm>
            <a:off x="2606040" y="5074920"/>
            <a:ext cx="292608" cy="292608"/>
          </a:xfrm>
          <a:prstGeom prst="ellipse">
            <a:avLst/>
          </a:prstGeom>
          <a:solidFill>
            <a:srgbClr val="D5DCE5"/>
          </a:solidFill>
          <a:ln w="6350">
            <a:solidFill>
              <a:srgbClr val="D5DCE5"/>
            </a:solidFill>
            <a:prstDash val="solid"/>
          </a:ln>
        </p:spPr>
      </p:sp>
      <p:sp>
        <p:nvSpPr>
          <p:cNvPr id="101" name="!!d96"/>
          <p:cNvSpPr/>
          <p:nvPr/>
        </p:nvSpPr>
        <p:spPr>
          <a:xfrm>
            <a:off x="2971800" y="5074920"/>
            <a:ext cx="292608" cy="292608"/>
          </a:xfrm>
          <a:prstGeom prst="ellipse">
            <a:avLst/>
          </a:prstGeom>
          <a:solidFill>
            <a:srgbClr val="D5DCE5"/>
          </a:solidFill>
          <a:ln w="6350">
            <a:solidFill>
              <a:srgbClr val="D5DCE5"/>
            </a:solidFill>
            <a:prstDash val="solid"/>
          </a:ln>
        </p:spPr>
      </p:sp>
      <p:sp>
        <p:nvSpPr>
          <p:cNvPr id="102" name="!!d97"/>
          <p:cNvSpPr/>
          <p:nvPr/>
        </p:nvSpPr>
        <p:spPr>
          <a:xfrm>
            <a:off x="3337560" y="5074920"/>
            <a:ext cx="292608" cy="292608"/>
          </a:xfrm>
          <a:prstGeom prst="ellipse">
            <a:avLst/>
          </a:prstGeom>
          <a:solidFill>
            <a:srgbClr val="D5DCE5"/>
          </a:solidFill>
          <a:ln w="6350">
            <a:solidFill>
              <a:srgbClr val="D5DCE5"/>
            </a:solidFill>
            <a:prstDash val="solid"/>
          </a:ln>
        </p:spPr>
      </p:sp>
      <p:sp>
        <p:nvSpPr>
          <p:cNvPr id="103" name="!!d98"/>
          <p:cNvSpPr/>
          <p:nvPr/>
        </p:nvSpPr>
        <p:spPr>
          <a:xfrm>
            <a:off x="3703320" y="5074920"/>
            <a:ext cx="292608" cy="292608"/>
          </a:xfrm>
          <a:prstGeom prst="ellipse">
            <a:avLst/>
          </a:prstGeom>
          <a:solidFill>
            <a:srgbClr val="D5DCE5"/>
          </a:solidFill>
          <a:ln w="6350">
            <a:solidFill>
              <a:srgbClr val="D5DCE5"/>
            </a:solidFill>
            <a:prstDash val="solid"/>
          </a:ln>
        </p:spPr>
      </p:sp>
      <p:sp>
        <p:nvSpPr>
          <p:cNvPr id="104" name="!!d99"/>
          <p:cNvSpPr/>
          <p:nvPr/>
        </p:nvSpPr>
        <p:spPr>
          <a:xfrm>
            <a:off x="4069080" y="5074920"/>
            <a:ext cx="292608" cy="292608"/>
          </a:xfrm>
          <a:prstGeom prst="ellipse">
            <a:avLst/>
          </a:prstGeom>
          <a:solidFill>
            <a:srgbClr val="D5DCE5"/>
          </a:solidFill>
          <a:ln w="6350">
            <a:solidFill>
              <a:srgbClr val="D5DCE5"/>
            </a:solidFill>
            <a:prstDash val="solid"/>
          </a:ln>
        </p:spPr>
      </p:sp>
      <p:sp>
        <p:nvSpPr>
          <p:cNvPr id="105" name="!!dotcap"/>
          <p:cNvSpPr txBox="1"/>
          <p:nvPr/>
        </p:nvSpPr>
        <p:spPr>
          <a:xfrm>
            <a:off x="777240" y="5486400"/>
            <a:ext cx="4023360"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Each dot = one patient, scanned within 3 hours of onset</a:t>
            </a:r>
            <a:endParaRPr lang="en-US" sz="1200" dirty="0"/>
          </a:p>
        </p:txBody>
      </p:sp>
      <p:sp>
        <p:nvSpPr>
          <p:cNvPr id="106" name="Shape 103"/>
          <p:cNvSpPr/>
          <p:nvPr/>
        </p:nvSpPr>
        <p:spPr>
          <a:xfrm>
            <a:off x="5669280" y="2039112"/>
            <a:ext cx="329184" cy="329184"/>
          </a:xfrm>
          <a:prstGeom prst="ellipse">
            <a:avLst/>
          </a:prstGeom>
          <a:solidFill>
            <a:srgbClr val="8E1B1F"/>
          </a:solidFill>
          <a:ln w="6350">
            <a:solidFill>
              <a:srgbClr val="8E1B1F"/>
            </a:solidFill>
            <a:prstDash val="solid"/>
          </a:ln>
        </p:spPr>
      </p:sp>
      <p:sp>
        <p:nvSpPr>
          <p:cNvPr id="107" name="Text 104"/>
          <p:cNvSpPr txBox="1"/>
          <p:nvPr/>
        </p:nvSpPr>
        <p:spPr>
          <a:xfrm>
            <a:off x="6217920" y="1965960"/>
            <a:ext cx="5425135" cy="475488"/>
          </a:xfrm>
          <a:prstGeom prst="rect">
            <a:avLst/>
          </a:prstGeom>
          <a:noFill/>
          <a:ln/>
        </p:spPr>
        <p:txBody>
          <a:bodyPr wrap="square" lIns="0" tIns="0" rIns="0" bIns="0" rtlCol="0" anchor="ctr"/>
          <a:lstStyle/>
          <a:p>
            <a:pPr indent="0" marL="0">
              <a:buNone/>
            </a:pPr>
            <a:r>
              <a:rPr lang="en-US" sz="2200" dirty="0">
                <a:solidFill>
                  <a:srgbClr val="1B2230"/>
                </a:solidFill>
                <a:latin typeface="Calibri" pitchFamily="34" charset="0"/>
                <a:ea typeface="Calibri" pitchFamily="34" charset="-122"/>
                <a:cs typeface="Calibri" pitchFamily="34" charset="-120"/>
              </a:rPr>
              <a:t>26 grew within the first hour</a:t>
            </a:r>
            <a:endParaRPr lang="en-US" sz="2200" dirty="0"/>
          </a:p>
        </p:txBody>
      </p:sp>
      <p:sp>
        <p:nvSpPr>
          <p:cNvPr id="108" name="Shape 105"/>
          <p:cNvSpPr/>
          <p:nvPr/>
        </p:nvSpPr>
        <p:spPr>
          <a:xfrm>
            <a:off x="5669280" y="2679192"/>
            <a:ext cx="329184" cy="329184"/>
          </a:xfrm>
          <a:prstGeom prst="ellipse">
            <a:avLst/>
          </a:prstGeom>
          <a:solidFill>
            <a:srgbClr val="E88A8E"/>
          </a:solidFill>
          <a:ln w="6350">
            <a:solidFill>
              <a:srgbClr val="E88A8E"/>
            </a:solidFill>
            <a:prstDash val="solid"/>
          </a:ln>
        </p:spPr>
      </p:sp>
      <p:sp>
        <p:nvSpPr>
          <p:cNvPr id="109" name="Text 106"/>
          <p:cNvSpPr txBox="1"/>
          <p:nvPr/>
        </p:nvSpPr>
        <p:spPr>
          <a:xfrm>
            <a:off x="6217920" y="2606040"/>
            <a:ext cx="5425135" cy="475488"/>
          </a:xfrm>
          <a:prstGeom prst="rect">
            <a:avLst/>
          </a:prstGeom>
          <a:noFill/>
          <a:ln/>
        </p:spPr>
        <p:txBody>
          <a:bodyPr wrap="square" lIns="0" tIns="0" rIns="0" bIns="0" rtlCol="0" anchor="ctr"/>
          <a:lstStyle/>
          <a:p>
            <a:pPr indent="0" marL="0">
              <a:buNone/>
            </a:pPr>
            <a:r>
              <a:rPr lang="en-US" sz="2200" dirty="0">
                <a:solidFill>
                  <a:srgbClr val="1B2230"/>
                </a:solidFill>
                <a:latin typeface="Calibri" pitchFamily="34" charset="0"/>
                <a:ea typeface="Calibri" pitchFamily="34" charset="-122"/>
                <a:cs typeface="Calibri" pitchFamily="34" charset="-120"/>
              </a:rPr>
              <a:t>12 more grew within 20 hours</a:t>
            </a:r>
            <a:endParaRPr lang="en-US" sz="2200" dirty="0"/>
          </a:p>
        </p:txBody>
      </p:sp>
      <p:sp>
        <p:nvSpPr>
          <p:cNvPr id="110" name="Shape 107"/>
          <p:cNvSpPr/>
          <p:nvPr/>
        </p:nvSpPr>
        <p:spPr>
          <a:xfrm>
            <a:off x="5669280" y="3319272"/>
            <a:ext cx="329184" cy="329184"/>
          </a:xfrm>
          <a:prstGeom prst="ellipse">
            <a:avLst/>
          </a:prstGeom>
          <a:solidFill>
            <a:srgbClr val="D5DCE5"/>
          </a:solidFill>
          <a:ln w="6350">
            <a:solidFill>
              <a:srgbClr val="D5DCE5"/>
            </a:solidFill>
            <a:prstDash val="solid"/>
          </a:ln>
        </p:spPr>
      </p:sp>
      <p:sp>
        <p:nvSpPr>
          <p:cNvPr id="111" name="Text 108"/>
          <p:cNvSpPr txBox="1"/>
          <p:nvPr/>
        </p:nvSpPr>
        <p:spPr>
          <a:xfrm>
            <a:off x="6217920" y="3246120"/>
            <a:ext cx="5425135" cy="475488"/>
          </a:xfrm>
          <a:prstGeom prst="rect">
            <a:avLst/>
          </a:prstGeom>
          <a:noFill/>
          <a:ln/>
        </p:spPr>
        <p:txBody>
          <a:bodyPr wrap="square" lIns="0" tIns="0" rIns="0" bIns="0" rtlCol="0" anchor="ctr"/>
          <a:lstStyle/>
          <a:p>
            <a:pPr indent="0" marL="0">
              <a:buNone/>
            </a:pPr>
            <a:r>
              <a:rPr lang="en-US" sz="2200" dirty="0">
                <a:solidFill>
                  <a:srgbClr val="1B2230"/>
                </a:solidFill>
                <a:latin typeface="Calibri" pitchFamily="34" charset="0"/>
                <a:ea typeface="Calibri" pitchFamily="34" charset="-122"/>
                <a:cs typeface="Calibri" pitchFamily="34" charset="-120"/>
              </a:rPr>
              <a:t>62 did not grow substantially</a:t>
            </a:r>
            <a:endParaRPr lang="en-US" sz="2200" dirty="0"/>
          </a:p>
        </p:txBody>
      </p:sp>
      <p:sp>
        <p:nvSpPr>
          <p:cNvPr id="112" name="Shape 109"/>
          <p:cNvSpPr/>
          <p:nvPr/>
        </p:nvSpPr>
        <p:spPr>
          <a:xfrm>
            <a:off x="5669280" y="4069080"/>
            <a:ext cx="5973775" cy="1691640"/>
          </a:xfrm>
          <a:prstGeom prst="roundRect">
            <a:avLst>
              <a:gd name="adj" fmla="val 5405"/>
            </a:avLst>
          </a:prstGeom>
          <a:solidFill>
            <a:srgbClr val="13233A"/>
          </a:solidFill>
          <a:ln w="6350">
            <a:solidFill>
              <a:srgbClr val="13233A"/>
            </a:solidFill>
            <a:prstDash val="solid"/>
          </a:ln>
        </p:spPr>
      </p:sp>
      <p:sp>
        <p:nvSpPr>
          <p:cNvPr id="113" name="Text 110"/>
          <p:cNvSpPr txBox="1"/>
          <p:nvPr/>
        </p:nvSpPr>
        <p:spPr>
          <a:xfrm>
            <a:off x="6035040" y="4069080"/>
            <a:ext cx="5242255" cy="1691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Jill: four hours</a:t>
            </a:r>
            <a:endParaRPr lang="en-US" sz="2400" dirty="0"/>
          </a:p>
          <a:p>
            <a:pPr indent="0" marL="0">
              <a:buNone/>
            </a:pPr>
            <a:r>
              <a:rPr lang="en-US" sz="2400" dirty="0">
                <a:solidFill>
                  <a:srgbClr val="C9D3E0"/>
                </a:solidFill>
                <a:latin typeface="Calibri" pitchFamily="34" charset="0"/>
                <a:ea typeface="Calibri" pitchFamily="34" charset="-122"/>
                <a:cs typeface="Calibri" pitchFamily="34" charset="-120"/>
              </a:rPr>
              <a:t>from headache to losing her speech</a:t>
            </a:r>
            <a:endParaRPr lang="en-US" sz="2400" dirty="0"/>
          </a:p>
        </p:txBody>
      </p:sp>
      <p:sp>
        <p:nvSpPr>
          <p:cNvPr id="114" name="Text 111"/>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Brott et al., Stroke 1997 (n = 103; growth &gt; 33%). Every 10% of growth: +5% hazard of death (Davis et al., Neurology 2006).</a:t>
            </a:r>
            <a:endParaRPr lang="en-US" sz="1200" dirty="0"/>
          </a:p>
        </p:txBody>
      </p:sp>
      <p:sp>
        <p:nvSpPr>
          <p:cNvPr id="115" name="Text 112"/>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16"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17"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18" name="trk1"/>
          <p:cNvSpPr/>
          <p:nvPr/>
        </p:nvSpPr>
        <p:spPr>
          <a:xfrm>
            <a:off x="8211312" y="6460236"/>
            <a:ext cx="128016" cy="128016"/>
          </a:xfrm>
          <a:prstGeom prst="ellipse">
            <a:avLst/>
          </a:prstGeom>
          <a:solidFill>
            <a:srgbClr val="C1272D"/>
          </a:solidFill>
          <a:ln w="6350">
            <a:solidFill>
              <a:srgbClr val="C1272D"/>
            </a:solidFill>
            <a:prstDash val="solid"/>
          </a:ln>
        </p:spPr>
      </p:sp>
      <p:sp>
        <p:nvSpPr>
          <p:cNvPr id="119"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Hours</a:t>
            </a:r>
            <a:endParaRPr lang="en-US" sz="1100" dirty="0"/>
          </a:p>
        </p:txBody>
      </p:sp>
      <p:sp>
        <p:nvSpPr>
          <p:cNvPr id="120"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121"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122"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23"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124"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17</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33A"/>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F08A8E"/>
                </a:solidFill>
                <a:latin typeface="Calibri" pitchFamily="34" charset="0"/>
                <a:ea typeface="Calibri" pitchFamily="34" charset="-122"/>
                <a:cs typeface="Calibri" pitchFamily="34" charset="-120"/>
              </a:rPr>
              <a:t>02 · THE FIRST HOURS</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Jill's clot was the size of a golf ball</a:t>
            </a:r>
            <a:endParaRPr lang="en-US" sz="4000" dirty="0"/>
          </a:p>
        </p:txBody>
      </p:sp>
      <p:sp>
        <p:nvSpPr>
          <p:cNvPr id="5" name="Shape 2"/>
          <p:cNvSpPr/>
          <p:nvPr/>
        </p:nvSpPr>
        <p:spPr>
          <a:xfrm>
            <a:off x="1495889" y="2135969"/>
            <a:ext cx="3226142" cy="3226142"/>
          </a:xfrm>
          <a:prstGeom prst="ellipse">
            <a:avLst/>
          </a:prstGeom>
          <a:solidFill>
            <a:srgbClr val="FFFFFF">
              <a:alpha val="0"/>
            </a:srgbClr>
          </a:solidFill>
          <a:ln w="25400">
            <a:solidFill>
              <a:srgbClr val="F08A8E"/>
            </a:solidFill>
            <a:prstDash val="dash"/>
          </a:ln>
        </p:spPr>
      </p:sp>
      <p:sp>
        <p:nvSpPr>
          <p:cNvPr id="6" name="Shape 3"/>
          <p:cNvSpPr/>
          <p:nvPr/>
        </p:nvSpPr>
        <p:spPr>
          <a:xfrm>
            <a:off x="1918411" y="4996282"/>
            <a:ext cx="2381098" cy="396850"/>
          </a:xfrm>
          <a:prstGeom prst="ellipse">
            <a:avLst/>
          </a:prstGeom>
          <a:solidFill>
            <a:srgbClr val="000000">
              <a:alpha val="45000"/>
            </a:srgbClr>
          </a:solidFill>
          <a:ln w="6350">
            <a:solidFill>
              <a:srgbClr val="000000">
                <a:alpha val="0"/>
              </a:srgbClr>
            </a:solidFill>
            <a:prstDash val="solid"/>
          </a:ln>
        </p:spPr>
      </p:sp>
      <p:sp>
        <p:nvSpPr>
          <p:cNvPr id="7" name="Shape 4"/>
          <p:cNvSpPr/>
          <p:nvPr/>
        </p:nvSpPr>
        <p:spPr>
          <a:xfrm>
            <a:off x="1691640" y="2331720"/>
            <a:ext cx="2834640" cy="2834640"/>
          </a:xfrm>
          <a:prstGeom prst="ellipse">
            <a:avLst/>
          </a:prstGeom>
          <a:solidFill>
            <a:srgbClr val="FAFBFC"/>
          </a:solidFill>
          <a:ln w="12700">
            <a:solidFill>
              <a:srgbClr val="D5DCE5"/>
            </a:solidFill>
            <a:prstDash val="solid"/>
          </a:ln>
        </p:spPr>
      </p:sp>
      <p:sp>
        <p:nvSpPr>
          <p:cNvPr id="8" name="Shape 5"/>
          <p:cNvSpPr/>
          <p:nvPr/>
        </p:nvSpPr>
        <p:spPr>
          <a:xfrm>
            <a:off x="2722403" y="2589193"/>
            <a:ext cx="149494" cy="149494"/>
          </a:xfrm>
          <a:prstGeom prst="ellipse">
            <a:avLst/>
          </a:prstGeom>
          <a:solidFill>
            <a:srgbClr val="DCE2EA"/>
          </a:solidFill>
          <a:ln w="6350">
            <a:solidFill>
              <a:srgbClr val="DCE2EA"/>
            </a:solidFill>
            <a:prstDash val="solid"/>
          </a:ln>
        </p:spPr>
      </p:sp>
      <p:sp>
        <p:nvSpPr>
          <p:cNvPr id="9" name="Shape 6"/>
          <p:cNvSpPr/>
          <p:nvPr/>
        </p:nvSpPr>
        <p:spPr>
          <a:xfrm>
            <a:off x="3031806" y="2586786"/>
            <a:ext cx="154307" cy="154307"/>
          </a:xfrm>
          <a:prstGeom prst="ellipse">
            <a:avLst/>
          </a:prstGeom>
          <a:solidFill>
            <a:srgbClr val="DCE2EA"/>
          </a:solidFill>
          <a:ln w="6350">
            <a:solidFill>
              <a:srgbClr val="DCE2EA"/>
            </a:solidFill>
            <a:prstDash val="solid"/>
          </a:ln>
        </p:spPr>
      </p:sp>
      <p:sp>
        <p:nvSpPr>
          <p:cNvPr id="10" name="Shape 7"/>
          <p:cNvSpPr/>
          <p:nvPr/>
        </p:nvSpPr>
        <p:spPr>
          <a:xfrm>
            <a:off x="3346023" y="2589193"/>
            <a:ext cx="149494" cy="149494"/>
          </a:xfrm>
          <a:prstGeom prst="ellipse">
            <a:avLst/>
          </a:prstGeom>
          <a:solidFill>
            <a:srgbClr val="DCE2EA"/>
          </a:solidFill>
          <a:ln w="6350">
            <a:solidFill>
              <a:srgbClr val="DCE2EA"/>
            </a:solidFill>
            <a:prstDash val="solid"/>
          </a:ln>
        </p:spPr>
      </p:sp>
      <p:sp>
        <p:nvSpPr>
          <p:cNvPr id="11" name="Shape 8"/>
          <p:cNvSpPr/>
          <p:nvPr/>
        </p:nvSpPr>
        <p:spPr>
          <a:xfrm>
            <a:off x="2254571" y="2860352"/>
            <a:ext cx="149727" cy="149727"/>
          </a:xfrm>
          <a:prstGeom prst="ellipse">
            <a:avLst/>
          </a:prstGeom>
          <a:solidFill>
            <a:srgbClr val="DCE2EA"/>
          </a:solidFill>
          <a:ln w="6350">
            <a:solidFill>
              <a:srgbClr val="DCE2EA"/>
            </a:solidFill>
            <a:prstDash val="solid"/>
          </a:ln>
        </p:spPr>
      </p:sp>
      <p:sp>
        <p:nvSpPr>
          <p:cNvPr id="12" name="Shape 9"/>
          <p:cNvSpPr/>
          <p:nvPr/>
        </p:nvSpPr>
        <p:spPr>
          <a:xfrm>
            <a:off x="2556755" y="2850725"/>
            <a:ext cx="168980" cy="168980"/>
          </a:xfrm>
          <a:prstGeom prst="ellipse">
            <a:avLst/>
          </a:prstGeom>
          <a:solidFill>
            <a:srgbClr val="DCE2EA"/>
          </a:solidFill>
          <a:ln w="6350">
            <a:solidFill>
              <a:srgbClr val="DCE2EA"/>
            </a:solidFill>
            <a:prstDash val="solid"/>
          </a:ln>
        </p:spPr>
      </p:sp>
      <p:sp>
        <p:nvSpPr>
          <p:cNvPr id="13" name="Shape 10"/>
          <p:cNvSpPr/>
          <p:nvPr/>
        </p:nvSpPr>
        <p:spPr>
          <a:xfrm>
            <a:off x="2863752" y="2845912"/>
            <a:ext cx="178606" cy="178606"/>
          </a:xfrm>
          <a:prstGeom prst="ellipse">
            <a:avLst/>
          </a:prstGeom>
          <a:solidFill>
            <a:srgbClr val="DCE2EA"/>
          </a:solidFill>
          <a:ln w="6350">
            <a:solidFill>
              <a:srgbClr val="DCE2EA"/>
            </a:solidFill>
            <a:prstDash val="solid"/>
          </a:ln>
        </p:spPr>
      </p:sp>
      <p:sp>
        <p:nvSpPr>
          <p:cNvPr id="14" name="Shape 11"/>
          <p:cNvSpPr/>
          <p:nvPr/>
        </p:nvSpPr>
        <p:spPr>
          <a:xfrm>
            <a:off x="3175562" y="2845912"/>
            <a:ext cx="178606" cy="178606"/>
          </a:xfrm>
          <a:prstGeom prst="ellipse">
            <a:avLst/>
          </a:prstGeom>
          <a:solidFill>
            <a:srgbClr val="DCE2EA"/>
          </a:solidFill>
          <a:ln w="6350">
            <a:solidFill>
              <a:srgbClr val="DCE2EA"/>
            </a:solidFill>
            <a:prstDash val="solid"/>
          </a:ln>
        </p:spPr>
      </p:sp>
      <p:sp>
        <p:nvSpPr>
          <p:cNvPr id="15" name="Shape 12"/>
          <p:cNvSpPr/>
          <p:nvPr/>
        </p:nvSpPr>
        <p:spPr>
          <a:xfrm>
            <a:off x="3492186" y="2850725"/>
            <a:ext cx="168980" cy="168980"/>
          </a:xfrm>
          <a:prstGeom prst="ellipse">
            <a:avLst/>
          </a:prstGeom>
          <a:solidFill>
            <a:srgbClr val="DCE2EA"/>
          </a:solidFill>
          <a:ln w="6350">
            <a:solidFill>
              <a:srgbClr val="DCE2EA"/>
            </a:solidFill>
            <a:prstDash val="solid"/>
          </a:ln>
        </p:spPr>
      </p:sp>
      <p:sp>
        <p:nvSpPr>
          <p:cNvPr id="16" name="Shape 13"/>
          <p:cNvSpPr/>
          <p:nvPr/>
        </p:nvSpPr>
        <p:spPr>
          <a:xfrm>
            <a:off x="3813623" y="2860352"/>
            <a:ext cx="149727" cy="149727"/>
          </a:xfrm>
          <a:prstGeom prst="ellipse">
            <a:avLst/>
          </a:prstGeom>
          <a:solidFill>
            <a:srgbClr val="DCE2EA"/>
          </a:solidFill>
          <a:ln w="6350">
            <a:solidFill>
              <a:srgbClr val="DCE2EA"/>
            </a:solidFill>
            <a:prstDash val="solid"/>
          </a:ln>
        </p:spPr>
      </p:sp>
      <p:sp>
        <p:nvSpPr>
          <p:cNvPr id="17" name="Shape 14"/>
          <p:cNvSpPr/>
          <p:nvPr/>
        </p:nvSpPr>
        <p:spPr>
          <a:xfrm>
            <a:off x="2096176" y="3129137"/>
            <a:ext cx="154706" cy="154706"/>
          </a:xfrm>
          <a:prstGeom prst="ellipse">
            <a:avLst/>
          </a:prstGeom>
          <a:solidFill>
            <a:srgbClr val="DCE2EA"/>
          </a:solidFill>
          <a:ln w="6350">
            <a:solidFill>
              <a:srgbClr val="DCE2EA"/>
            </a:solidFill>
            <a:prstDash val="solid"/>
          </a:ln>
        </p:spPr>
      </p:sp>
      <p:sp>
        <p:nvSpPr>
          <p:cNvPr id="18" name="Shape 15"/>
          <p:cNvSpPr/>
          <p:nvPr/>
        </p:nvSpPr>
        <p:spPr>
          <a:xfrm>
            <a:off x="2395953" y="3117104"/>
            <a:ext cx="178772" cy="178772"/>
          </a:xfrm>
          <a:prstGeom prst="ellipse">
            <a:avLst/>
          </a:prstGeom>
          <a:solidFill>
            <a:srgbClr val="DCE2EA"/>
          </a:solidFill>
          <a:ln w="6350">
            <a:solidFill>
              <a:srgbClr val="DCE2EA"/>
            </a:solidFill>
            <a:prstDash val="solid"/>
          </a:ln>
        </p:spPr>
      </p:sp>
      <p:sp>
        <p:nvSpPr>
          <p:cNvPr id="19" name="Shape 16"/>
          <p:cNvSpPr/>
          <p:nvPr/>
        </p:nvSpPr>
        <p:spPr>
          <a:xfrm>
            <a:off x="2700544" y="3109884"/>
            <a:ext cx="193212" cy="193212"/>
          </a:xfrm>
          <a:prstGeom prst="ellipse">
            <a:avLst/>
          </a:prstGeom>
          <a:solidFill>
            <a:srgbClr val="DCE2EA"/>
          </a:solidFill>
          <a:ln w="6350">
            <a:solidFill>
              <a:srgbClr val="DCE2EA"/>
            </a:solidFill>
            <a:prstDash val="solid"/>
          </a:ln>
        </p:spPr>
      </p:sp>
      <p:sp>
        <p:nvSpPr>
          <p:cNvPr id="20" name="Shape 17"/>
          <p:cNvSpPr/>
          <p:nvPr/>
        </p:nvSpPr>
        <p:spPr>
          <a:xfrm>
            <a:off x="3009947" y="3107477"/>
            <a:ext cx="198025" cy="198025"/>
          </a:xfrm>
          <a:prstGeom prst="ellipse">
            <a:avLst/>
          </a:prstGeom>
          <a:solidFill>
            <a:srgbClr val="DCE2EA"/>
          </a:solidFill>
          <a:ln w="6350">
            <a:solidFill>
              <a:srgbClr val="DCE2EA"/>
            </a:solidFill>
            <a:prstDash val="solid"/>
          </a:ln>
        </p:spPr>
      </p:sp>
      <p:sp>
        <p:nvSpPr>
          <p:cNvPr id="21" name="Shape 18"/>
          <p:cNvSpPr/>
          <p:nvPr/>
        </p:nvSpPr>
        <p:spPr>
          <a:xfrm>
            <a:off x="3324164" y="3109884"/>
            <a:ext cx="193212" cy="193212"/>
          </a:xfrm>
          <a:prstGeom prst="ellipse">
            <a:avLst/>
          </a:prstGeom>
          <a:solidFill>
            <a:srgbClr val="DCE2EA"/>
          </a:solidFill>
          <a:ln w="6350">
            <a:solidFill>
              <a:srgbClr val="DCE2EA"/>
            </a:solidFill>
            <a:prstDash val="solid"/>
          </a:ln>
        </p:spPr>
      </p:sp>
      <p:sp>
        <p:nvSpPr>
          <p:cNvPr id="22" name="Shape 19"/>
          <p:cNvSpPr/>
          <p:nvPr/>
        </p:nvSpPr>
        <p:spPr>
          <a:xfrm>
            <a:off x="3643195" y="3117104"/>
            <a:ext cx="178772" cy="178772"/>
          </a:xfrm>
          <a:prstGeom prst="ellipse">
            <a:avLst/>
          </a:prstGeom>
          <a:solidFill>
            <a:srgbClr val="DCE2EA"/>
          </a:solidFill>
          <a:ln w="6350">
            <a:solidFill>
              <a:srgbClr val="DCE2EA"/>
            </a:solidFill>
            <a:prstDash val="solid"/>
          </a:ln>
        </p:spPr>
      </p:sp>
      <p:sp>
        <p:nvSpPr>
          <p:cNvPr id="23" name="Shape 20"/>
          <p:cNvSpPr/>
          <p:nvPr/>
        </p:nvSpPr>
        <p:spPr>
          <a:xfrm>
            <a:off x="3967038" y="3129137"/>
            <a:ext cx="154706" cy="154706"/>
          </a:xfrm>
          <a:prstGeom prst="ellipse">
            <a:avLst/>
          </a:prstGeom>
          <a:solidFill>
            <a:srgbClr val="DCE2EA"/>
          </a:solidFill>
          <a:ln w="6350">
            <a:solidFill>
              <a:srgbClr val="DCE2EA"/>
            </a:solidFill>
            <a:prstDash val="solid"/>
          </a:ln>
        </p:spPr>
      </p:sp>
      <p:sp>
        <p:nvSpPr>
          <p:cNvPr id="24" name="Shape 21"/>
          <p:cNvSpPr/>
          <p:nvPr/>
        </p:nvSpPr>
        <p:spPr>
          <a:xfrm>
            <a:off x="1942627" y="3402769"/>
            <a:ext cx="149992" cy="149992"/>
          </a:xfrm>
          <a:prstGeom prst="ellipse">
            <a:avLst/>
          </a:prstGeom>
          <a:solidFill>
            <a:srgbClr val="DCE2EA"/>
          </a:solidFill>
          <a:ln w="6350">
            <a:solidFill>
              <a:srgbClr val="DCE2EA"/>
            </a:solidFill>
            <a:prstDash val="solid"/>
          </a:ln>
        </p:spPr>
      </p:sp>
      <p:sp>
        <p:nvSpPr>
          <p:cNvPr id="25" name="Shape 22"/>
          <p:cNvSpPr/>
          <p:nvPr/>
        </p:nvSpPr>
        <p:spPr>
          <a:xfrm>
            <a:off x="2239998" y="3388329"/>
            <a:ext cx="178872" cy="178872"/>
          </a:xfrm>
          <a:prstGeom prst="ellipse">
            <a:avLst/>
          </a:prstGeom>
          <a:solidFill>
            <a:srgbClr val="DCE2EA"/>
          </a:solidFill>
          <a:ln w="6350">
            <a:solidFill>
              <a:srgbClr val="DCE2EA"/>
            </a:solidFill>
            <a:prstDash val="solid"/>
          </a:ln>
        </p:spPr>
      </p:sp>
      <p:sp>
        <p:nvSpPr>
          <p:cNvPr id="26" name="Shape 23"/>
          <p:cNvSpPr/>
          <p:nvPr/>
        </p:nvSpPr>
        <p:spPr>
          <a:xfrm>
            <a:off x="2542182" y="3378702"/>
            <a:ext cx="198125" cy="198125"/>
          </a:xfrm>
          <a:prstGeom prst="ellipse">
            <a:avLst/>
          </a:prstGeom>
          <a:solidFill>
            <a:srgbClr val="DCE2EA"/>
          </a:solidFill>
          <a:ln w="6350">
            <a:solidFill>
              <a:srgbClr val="DCE2EA"/>
            </a:solidFill>
            <a:prstDash val="solid"/>
          </a:ln>
        </p:spPr>
      </p:sp>
      <p:sp>
        <p:nvSpPr>
          <p:cNvPr id="27" name="Shape 24"/>
          <p:cNvSpPr/>
          <p:nvPr/>
        </p:nvSpPr>
        <p:spPr>
          <a:xfrm>
            <a:off x="2849179" y="3373889"/>
            <a:ext cx="207752" cy="207752"/>
          </a:xfrm>
          <a:prstGeom prst="ellipse">
            <a:avLst/>
          </a:prstGeom>
          <a:solidFill>
            <a:srgbClr val="DCE2EA"/>
          </a:solidFill>
          <a:ln w="6350">
            <a:solidFill>
              <a:srgbClr val="DCE2EA"/>
            </a:solidFill>
            <a:prstDash val="solid"/>
          </a:ln>
        </p:spPr>
      </p:sp>
      <p:sp>
        <p:nvSpPr>
          <p:cNvPr id="28" name="Shape 25"/>
          <p:cNvSpPr/>
          <p:nvPr/>
        </p:nvSpPr>
        <p:spPr>
          <a:xfrm>
            <a:off x="3160989" y="3373889"/>
            <a:ext cx="207752" cy="207752"/>
          </a:xfrm>
          <a:prstGeom prst="ellipse">
            <a:avLst/>
          </a:prstGeom>
          <a:solidFill>
            <a:srgbClr val="DCE2EA"/>
          </a:solidFill>
          <a:ln w="6350">
            <a:solidFill>
              <a:srgbClr val="DCE2EA"/>
            </a:solidFill>
            <a:prstDash val="solid"/>
          </a:ln>
        </p:spPr>
      </p:sp>
      <p:sp>
        <p:nvSpPr>
          <p:cNvPr id="29" name="Shape 26"/>
          <p:cNvSpPr/>
          <p:nvPr/>
        </p:nvSpPr>
        <p:spPr>
          <a:xfrm>
            <a:off x="3477613" y="3378702"/>
            <a:ext cx="198125" cy="198125"/>
          </a:xfrm>
          <a:prstGeom prst="ellipse">
            <a:avLst/>
          </a:prstGeom>
          <a:solidFill>
            <a:srgbClr val="DCE2EA"/>
          </a:solidFill>
          <a:ln w="6350">
            <a:solidFill>
              <a:srgbClr val="DCE2EA"/>
            </a:solidFill>
            <a:prstDash val="solid"/>
          </a:ln>
        </p:spPr>
      </p:sp>
      <p:sp>
        <p:nvSpPr>
          <p:cNvPr id="30" name="Shape 27"/>
          <p:cNvSpPr/>
          <p:nvPr/>
        </p:nvSpPr>
        <p:spPr>
          <a:xfrm>
            <a:off x="3799050" y="3388329"/>
            <a:ext cx="178872" cy="178872"/>
          </a:xfrm>
          <a:prstGeom prst="ellipse">
            <a:avLst/>
          </a:prstGeom>
          <a:solidFill>
            <a:srgbClr val="DCE2EA"/>
          </a:solidFill>
          <a:ln w="6350">
            <a:solidFill>
              <a:srgbClr val="DCE2EA"/>
            </a:solidFill>
            <a:prstDash val="solid"/>
          </a:ln>
        </p:spPr>
      </p:sp>
      <p:sp>
        <p:nvSpPr>
          <p:cNvPr id="31" name="Shape 28"/>
          <p:cNvSpPr/>
          <p:nvPr/>
        </p:nvSpPr>
        <p:spPr>
          <a:xfrm>
            <a:off x="4125300" y="3402769"/>
            <a:ext cx="149992" cy="149992"/>
          </a:xfrm>
          <a:prstGeom prst="ellipse">
            <a:avLst/>
          </a:prstGeom>
          <a:solidFill>
            <a:srgbClr val="DCE2EA"/>
          </a:solidFill>
          <a:ln w="6350">
            <a:solidFill>
              <a:srgbClr val="DCE2EA"/>
            </a:solidFill>
            <a:prstDash val="solid"/>
          </a:ln>
        </p:spPr>
      </p:sp>
      <p:sp>
        <p:nvSpPr>
          <p:cNvPr id="32" name="Shape 29"/>
          <p:cNvSpPr/>
          <p:nvPr/>
        </p:nvSpPr>
        <p:spPr>
          <a:xfrm>
            <a:off x="2088890" y="3664401"/>
            <a:ext cx="169279" cy="169279"/>
          </a:xfrm>
          <a:prstGeom prst="ellipse">
            <a:avLst/>
          </a:prstGeom>
          <a:solidFill>
            <a:srgbClr val="DCE2EA"/>
          </a:solidFill>
          <a:ln w="6350">
            <a:solidFill>
              <a:srgbClr val="DCE2EA"/>
            </a:solidFill>
            <a:prstDash val="solid"/>
          </a:ln>
        </p:spPr>
      </p:sp>
      <p:sp>
        <p:nvSpPr>
          <p:cNvPr id="33" name="Shape 30"/>
          <p:cNvSpPr/>
          <p:nvPr/>
        </p:nvSpPr>
        <p:spPr>
          <a:xfrm>
            <a:off x="2388667" y="3652368"/>
            <a:ext cx="193345" cy="193345"/>
          </a:xfrm>
          <a:prstGeom prst="ellipse">
            <a:avLst/>
          </a:prstGeom>
          <a:solidFill>
            <a:srgbClr val="DCE2EA"/>
          </a:solidFill>
          <a:ln w="6350">
            <a:solidFill>
              <a:srgbClr val="DCE2EA"/>
            </a:solidFill>
            <a:prstDash val="solid"/>
          </a:ln>
        </p:spPr>
      </p:sp>
      <p:sp>
        <p:nvSpPr>
          <p:cNvPr id="34" name="Shape 31"/>
          <p:cNvSpPr/>
          <p:nvPr/>
        </p:nvSpPr>
        <p:spPr>
          <a:xfrm>
            <a:off x="2693257" y="3645148"/>
            <a:ext cx="207785" cy="207785"/>
          </a:xfrm>
          <a:prstGeom prst="ellipse">
            <a:avLst/>
          </a:prstGeom>
          <a:solidFill>
            <a:srgbClr val="DCE2EA"/>
          </a:solidFill>
          <a:ln w="6350">
            <a:solidFill>
              <a:srgbClr val="DCE2EA"/>
            </a:solidFill>
            <a:prstDash val="solid"/>
          </a:ln>
        </p:spPr>
      </p:sp>
      <p:sp>
        <p:nvSpPr>
          <p:cNvPr id="35" name="Shape 32"/>
          <p:cNvSpPr/>
          <p:nvPr/>
        </p:nvSpPr>
        <p:spPr>
          <a:xfrm>
            <a:off x="3002661" y="3642741"/>
            <a:ext cx="212598" cy="212598"/>
          </a:xfrm>
          <a:prstGeom prst="ellipse">
            <a:avLst/>
          </a:prstGeom>
          <a:solidFill>
            <a:srgbClr val="DCE2EA"/>
          </a:solidFill>
          <a:ln w="6350">
            <a:solidFill>
              <a:srgbClr val="DCE2EA"/>
            </a:solidFill>
            <a:prstDash val="solid"/>
          </a:ln>
        </p:spPr>
      </p:sp>
      <p:sp>
        <p:nvSpPr>
          <p:cNvPr id="36" name="Shape 33"/>
          <p:cNvSpPr/>
          <p:nvPr/>
        </p:nvSpPr>
        <p:spPr>
          <a:xfrm>
            <a:off x="3316878" y="3645148"/>
            <a:ext cx="207785" cy="207785"/>
          </a:xfrm>
          <a:prstGeom prst="ellipse">
            <a:avLst/>
          </a:prstGeom>
          <a:solidFill>
            <a:srgbClr val="DCE2EA"/>
          </a:solidFill>
          <a:ln w="6350">
            <a:solidFill>
              <a:srgbClr val="DCE2EA"/>
            </a:solidFill>
            <a:prstDash val="solid"/>
          </a:ln>
        </p:spPr>
      </p:sp>
      <p:sp>
        <p:nvSpPr>
          <p:cNvPr id="37" name="Shape 34"/>
          <p:cNvSpPr/>
          <p:nvPr/>
        </p:nvSpPr>
        <p:spPr>
          <a:xfrm>
            <a:off x="3635908" y="3652368"/>
            <a:ext cx="193345" cy="193345"/>
          </a:xfrm>
          <a:prstGeom prst="ellipse">
            <a:avLst/>
          </a:prstGeom>
          <a:solidFill>
            <a:srgbClr val="DCE2EA"/>
          </a:solidFill>
          <a:ln w="6350">
            <a:solidFill>
              <a:srgbClr val="DCE2EA"/>
            </a:solidFill>
            <a:prstDash val="solid"/>
          </a:ln>
        </p:spPr>
      </p:sp>
      <p:sp>
        <p:nvSpPr>
          <p:cNvPr id="38" name="Shape 35"/>
          <p:cNvSpPr/>
          <p:nvPr/>
        </p:nvSpPr>
        <p:spPr>
          <a:xfrm>
            <a:off x="3959752" y="3664401"/>
            <a:ext cx="169279" cy="169279"/>
          </a:xfrm>
          <a:prstGeom prst="ellipse">
            <a:avLst/>
          </a:prstGeom>
          <a:solidFill>
            <a:srgbClr val="DCE2EA"/>
          </a:solidFill>
          <a:ln w="6350">
            <a:solidFill>
              <a:srgbClr val="DCE2EA"/>
            </a:solidFill>
            <a:prstDash val="solid"/>
          </a:ln>
        </p:spPr>
      </p:sp>
      <p:sp>
        <p:nvSpPr>
          <p:cNvPr id="39" name="Shape 36"/>
          <p:cNvSpPr/>
          <p:nvPr/>
        </p:nvSpPr>
        <p:spPr>
          <a:xfrm>
            <a:off x="1942627" y="3945319"/>
            <a:ext cx="149992" cy="149992"/>
          </a:xfrm>
          <a:prstGeom prst="ellipse">
            <a:avLst/>
          </a:prstGeom>
          <a:solidFill>
            <a:srgbClr val="DCE2EA"/>
          </a:solidFill>
          <a:ln w="6350">
            <a:solidFill>
              <a:srgbClr val="DCE2EA"/>
            </a:solidFill>
            <a:prstDash val="solid"/>
          </a:ln>
        </p:spPr>
      </p:sp>
      <p:sp>
        <p:nvSpPr>
          <p:cNvPr id="40" name="Shape 37"/>
          <p:cNvSpPr/>
          <p:nvPr/>
        </p:nvSpPr>
        <p:spPr>
          <a:xfrm>
            <a:off x="2239998" y="3930879"/>
            <a:ext cx="178872" cy="178872"/>
          </a:xfrm>
          <a:prstGeom prst="ellipse">
            <a:avLst/>
          </a:prstGeom>
          <a:solidFill>
            <a:srgbClr val="DCE2EA"/>
          </a:solidFill>
          <a:ln w="6350">
            <a:solidFill>
              <a:srgbClr val="DCE2EA"/>
            </a:solidFill>
            <a:prstDash val="solid"/>
          </a:ln>
        </p:spPr>
      </p:sp>
      <p:sp>
        <p:nvSpPr>
          <p:cNvPr id="41" name="Shape 38"/>
          <p:cNvSpPr/>
          <p:nvPr/>
        </p:nvSpPr>
        <p:spPr>
          <a:xfrm>
            <a:off x="2542182" y="3921253"/>
            <a:ext cx="198125" cy="198125"/>
          </a:xfrm>
          <a:prstGeom prst="ellipse">
            <a:avLst/>
          </a:prstGeom>
          <a:solidFill>
            <a:srgbClr val="DCE2EA"/>
          </a:solidFill>
          <a:ln w="6350">
            <a:solidFill>
              <a:srgbClr val="DCE2EA"/>
            </a:solidFill>
            <a:prstDash val="solid"/>
          </a:ln>
        </p:spPr>
      </p:sp>
      <p:sp>
        <p:nvSpPr>
          <p:cNvPr id="42" name="Shape 39"/>
          <p:cNvSpPr/>
          <p:nvPr/>
        </p:nvSpPr>
        <p:spPr>
          <a:xfrm>
            <a:off x="2849179" y="3916439"/>
            <a:ext cx="207752" cy="207752"/>
          </a:xfrm>
          <a:prstGeom prst="ellipse">
            <a:avLst/>
          </a:prstGeom>
          <a:solidFill>
            <a:srgbClr val="DCE2EA"/>
          </a:solidFill>
          <a:ln w="6350">
            <a:solidFill>
              <a:srgbClr val="DCE2EA"/>
            </a:solidFill>
            <a:prstDash val="solid"/>
          </a:ln>
        </p:spPr>
      </p:sp>
      <p:sp>
        <p:nvSpPr>
          <p:cNvPr id="43" name="Shape 40"/>
          <p:cNvSpPr/>
          <p:nvPr/>
        </p:nvSpPr>
        <p:spPr>
          <a:xfrm>
            <a:off x="3160989" y="3916439"/>
            <a:ext cx="207752" cy="207752"/>
          </a:xfrm>
          <a:prstGeom prst="ellipse">
            <a:avLst/>
          </a:prstGeom>
          <a:solidFill>
            <a:srgbClr val="DCE2EA"/>
          </a:solidFill>
          <a:ln w="6350">
            <a:solidFill>
              <a:srgbClr val="DCE2EA"/>
            </a:solidFill>
            <a:prstDash val="solid"/>
          </a:ln>
        </p:spPr>
      </p:sp>
      <p:sp>
        <p:nvSpPr>
          <p:cNvPr id="44" name="Shape 41"/>
          <p:cNvSpPr/>
          <p:nvPr/>
        </p:nvSpPr>
        <p:spPr>
          <a:xfrm>
            <a:off x="3477613" y="3921253"/>
            <a:ext cx="198125" cy="198125"/>
          </a:xfrm>
          <a:prstGeom prst="ellipse">
            <a:avLst/>
          </a:prstGeom>
          <a:solidFill>
            <a:srgbClr val="DCE2EA"/>
          </a:solidFill>
          <a:ln w="6350">
            <a:solidFill>
              <a:srgbClr val="DCE2EA"/>
            </a:solidFill>
            <a:prstDash val="solid"/>
          </a:ln>
        </p:spPr>
      </p:sp>
      <p:sp>
        <p:nvSpPr>
          <p:cNvPr id="45" name="Shape 42"/>
          <p:cNvSpPr/>
          <p:nvPr/>
        </p:nvSpPr>
        <p:spPr>
          <a:xfrm>
            <a:off x="3799050" y="3930879"/>
            <a:ext cx="178872" cy="178872"/>
          </a:xfrm>
          <a:prstGeom prst="ellipse">
            <a:avLst/>
          </a:prstGeom>
          <a:solidFill>
            <a:srgbClr val="DCE2EA"/>
          </a:solidFill>
          <a:ln w="6350">
            <a:solidFill>
              <a:srgbClr val="DCE2EA"/>
            </a:solidFill>
            <a:prstDash val="solid"/>
          </a:ln>
        </p:spPr>
      </p:sp>
      <p:sp>
        <p:nvSpPr>
          <p:cNvPr id="46" name="Shape 43"/>
          <p:cNvSpPr/>
          <p:nvPr/>
        </p:nvSpPr>
        <p:spPr>
          <a:xfrm>
            <a:off x="4125300" y="3945319"/>
            <a:ext cx="149992" cy="149992"/>
          </a:xfrm>
          <a:prstGeom prst="ellipse">
            <a:avLst/>
          </a:prstGeom>
          <a:solidFill>
            <a:srgbClr val="DCE2EA"/>
          </a:solidFill>
          <a:ln w="6350">
            <a:solidFill>
              <a:srgbClr val="DCE2EA"/>
            </a:solidFill>
            <a:prstDash val="solid"/>
          </a:ln>
        </p:spPr>
      </p:sp>
      <p:sp>
        <p:nvSpPr>
          <p:cNvPr id="47" name="Shape 44"/>
          <p:cNvSpPr/>
          <p:nvPr/>
        </p:nvSpPr>
        <p:spPr>
          <a:xfrm>
            <a:off x="2096176" y="4214237"/>
            <a:ext cx="154706" cy="154706"/>
          </a:xfrm>
          <a:prstGeom prst="ellipse">
            <a:avLst/>
          </a:prstGeom>
          <a:solidFill>
            <a:srgbClr val="DCE2EA"/>
          </a:solidFill>
          <a:ln w="6350">
            <a:solidFill>
              <a:srgbClr val="DCE2EA"/>
            </a:solidFill>
            <a:prstDash val="solid"/>
          </a:ln>
        </p:spPr>
      </p:sp>
      <p:sp>
        <p:nvSpPr>
          <p:cNvPr id="48" name="Shape 45"/>
          <p:cNvSpPr/>
          <p:nvPr/>
        </p:nvSpPr>
        <p:spPr>
          <a:xfrm>
            <a:off x="2395953" y="4202204"/>
            <a:ext cx="178772" cy="178772"/>
          </a:xfrm>
          <a:prstGeom prst="ellipse">
            <a:avLst/>
          </a:prstGeom>
          <a:solidFill>
            <a:srgbClr val="DCE2EA"/>
          </a:solidFill>
          <a:ln w="6350">
            <a:solidFill>
              <a:srgbClr val="DCE2EA"/>
            </a:solidFill>
            <a:prstDash val="solid"/>
          </a:ln>
        </p:spPr>
      </p:sp>
      <p:sp>
        <p:nvSpPr>
          <p:cNvPr id="49" name="Shape 46"/>
          <p:cNvSpPr/>
          <p:nvPr/>
        </p:nvSpPr>
        <p:spPr>
          <a:xfrm>
            <a:off x="2700544" y="4194984"/>
            <a:ext cx="193212" cy="193212"/>
          </a:xfrm>
          <a:prstGeom prst="ellipse">
            <a:avLst/>
          </a:prstGeom>
          <a:solidFill>
            <a:srgbClr val="DCE2EA"/>
          </a:solidFill>
          <a:ln w="6350">
            <a:solidFill>
              <a:srgbClr val="DCE2EA"/>
            </a:solidFill>
            <a:prstDash val="solid"/>
          </a:ln>
        </p:spPr>
      </p:sp>
      <p:sp>
        <p:nvSpPr>
          <p:cNvPr id="50" name="Shape 47"/>
          <p:cNvSpPr/>
          <p:nvPr/>
        </p:nvSpPr>
        <p:spPr>
          <a:xfrm>
            <a:off x="3009947" y="4192577"/>
            <a:ext cx="198025" cy="198025"/>
          </a:xfrm>
          <a:prstGeom prst="ellipse">
            <a:avLst/>
          </a:prstGeom>
          <a:solidFill>
            <a:srgbClr val="DCE2EA"/>
          </a:solidFill>
          <a:ln w="6350">
            <a:solidFill>
              <a:srgbClr val="DCE2EA"/>
            </a:solidFill>
            <a:prstDash val="solid"/>
          </a:ln>
        </p:spPr>
      </p:sp>
      <p:sp>
        <p:nvSpPr>
          <p:cNvPr id="51" name="Shape 48"/>
          <p:cNvSpPr/>
          <p:nvPr/>
        </p:nvSpPr>
        <p:spPr>
          <a:xfrm>
            <a:off x="3324164" y="4194984"/>
            <a:ext cx="193212" cy="193212"/>
          </a:xfrm>
          <a:prstGeom prst="ellipse">
            <a:avLst/>
          </a:prstGeom>
          <a:solidFill>
            <a:srgbClr val="DCE2EA"/>
          </a:solidFill>
          <a:ln w="6350">
            <a:solidFill>
              <a:srgbClr val="DCE2EA"/>
            </a:solidFill>
            <a:prstDash val="solid"/>
          </a:ln>
        </p:spPr>
      </p:sp>
      <p:sp>
        <p:nvSpPr>
          <p:cNvPr id="52" name="Shape 49"/>
          <p:cNvSpPr/>
          <p:nvPr/>
        </p:nvSpPr>
        <p:spPr>
          <a:xfrm>
            <a:off x="3643195" y="4202204"/>
            <a:ext cx="178772" cy="178772"/>
          </a:xfrm>
          <a:prstGeom prst="ellipse">
            <a:avLst/>
          </a:prstGeom>
          <a:solidFill>
            <a:srgbClr val="DCE2EA"/>
          </a:solidFill>
          <a:ln w="6350">
            <a:solidFill>
              <a:srgbClr val="DCE2EA"/>
            </a:solidFill>
            <a:prstDash val="solid"/>
          </a:ln>
        </p:spPr>
      </p:sp>
      <p:sp>
        <p:nvSpPr>
          <p:cNvPr id="53" name="Shape 50"/>
          <p:cNvSpPr/>
          <p:nvPr/>
        </p:nvSpPr>
        <p:spPr>
          <a:xfrm>
            <a:off x="3967038" y="4214237"/>
            <a:ext cx="154706" cy="154706"/>
          </a:xfrm>
          <a:prstGeom prst="ellipse">
            <a:avLst/>
          </a:prstGeom>
          <a:solidFill>
            <a:srgbClr val="DCE2EA"/>
          </a:solidFill>
          <a:ln w="6350">
            <a:solidFill>
              <a:srgbClr val="DCE2EA"/>
            </a:solidFill>
            <a:prstDash val="solid"/>
          </a:ln>
        </p:spPr>
      </p:sp>
      <p:sp>
        <p:nvSpPr>
          <p:cNvPr id="54" name="Shape 51"/>
          <p:cNvSpPr/>
          <p:nvPr/>
        </p:nvSpPr>
        <p:spPr>
          <a:xfrm>
            <a:off x="2254571" y="4488002"/>
            <a:ext cx="149727" cy="149727"/>
          </a:xfrm>
          <a:prstGeom prst="ellipse">
            <a:avLst/>
          </a:prstGeom>
          <a:solidFill>
            <a:srgbClr val="DCE2EA"/>
          </a:solidFill>
          <a:ln w="6350">
            <a:solidFill>
              <a:srgbClr val="DCE2EA"/>
            </a:solidFill>
            <a:prstDash val="solid"/>
          </a:ln>
        </p:spPr>
      </p:sp>
      <p:sp>
        <p:nvSpPr>
          <p:cNvPr id="55" name="Shape 52"/>
          <p:cNvSpPr/>
          <p:nvPr/>
        </p:nvSpPr>
        <p:spPr>
          <a:xfrm>
            <a:off x="2556755" y="4478375"/>
            <a:ext cx="168980" cy="168980"/>
          </a:xfrm>
          <a:prstGeom prst="ellipse">
            <a:avLst/>
          </a:prstGeom>
          <a:solidFill>
            <a:srgbClr val="DCE2EA"/>
          </a:solidFill>
          <a:ln w="6350">
            <a:solidFill>
              <a:srgbClr val="DCE2EA"/>
            </a:solidFill>
            <a:prstDash val="solid"/>
          </a:ln>
        </p:spPr>
      </p:sp>
      <p:sp>
        <p:nvSpPr>
          <p:cNvPr id="56" name="Shape 53"/>
          <p:cNvSpPr/>
          <p:nvPr/>
        </p:nvSpPr>
        <p:spPr>
          <a:xfrm>
            <a:off x="2863752" y="4473562"/>
            <a:ext cx="178606" cy="178606"/>
          </a:xfrm>
          <a:prstGeom prst="ellipse">
            <a:avLst/>
          </a:prstGeom>
          <a:solidFill>
            <a:srgbClr val="DCE2EA"/>
          </a:solidFill>
          <a:ln w="6350">
            <a:solidFill>
              <a:srgbClr val="DCE2EA"/>
            </a:solidFill>
            <a:prstDash val="solid"/>
          </a:ln>
        </p:spPr>
      </p:sp>
      <p:sp>
        <p:nvSpPr>
          <p:cNvPr id="57" name="Shape 54"/>
          <p:cNvSpPr/>
          <p:nvPr/>
        </p:nvSpPr>
        <p:spPr>
          <a:xfrm>
            <a:off x="3175562" y="4473562"/>
            <a:ext cx="178606" cy="178606"/>
          </a:xfrm>
          <a:prstGeom prst="ellipse">
            <a:avLst/>
          </a:prstGeom>
          <a:solidFill>
            <a:srgbClr val="DCE2EA"/>
          </a:solidFill>
          <a:ln w="6350">
            <a:solidFill>
              <a:srgbClr val="DCE2EA"/>
            </a:solidFill>
            <a:prstDash val="solid"/>
          </a:ln>
        </p:spPr>
      </p:sp>
      <p:sp>
        <p:nvSpPr>
          <p:cNvPr id="58" name="Shape 55"/>
          <p:cNvSpPr/>
          <p:nvPr/>
        </p:nvSpPr>
        <p:spPr>
          <a:xfrm>
            <a:off x="3492186" y="4478375"/>
            <a:ext cx="168980" cy="168980"/>
          </a:xfrm>
          <a:prstGeom prst="ellipse">
            <a:avLst/>
          </a:prstGeom>
          <a:solidFill>
            <a:srgbClr val="DCE2EA"/>
          </a:solidFill>
          <a:ln w="6350">
            <a:solidFill>
              <a:srgbClr val="DCE2EA"/>
            </a:solidFill>
            <a:prstDash val="solid"/>
          </a:ln>
        </p:spPr>
      </p:sp>
      <p:sp>
        <p:nvSpPr>
          <p:cNvPr id="59" name="Shape 56"/>
          <p:cNvSpPr/>
          <p:nvPr/>
        </p:nvSpPr>
        <p:spPr>
          <a:xfrm>
            <a:off x="3813623" y="4488002"/>
            <a:ext cx="149727" cy="149727"/>
          </a:xfrm>
          <a:prstGeom prst="ellipse">
            <a:avLst/>
          </a:prstGeom>
          <a:solidFill>
            <a:srgbClr val="DCE2EA"/>
          </a:solidFill>
          <a:ln w="6350">
            <a:solidFill>
              <a:srgbClr val="DCE2EA"/>
            </a:solidFill>
            <a:prstDash val="solid"/>
          </a:ln>
        </p:spPr>
      </p:sp>
      <p:sp>
        <p:nvSpPr>
          <p:cNvPr id="60" name="Shape 57"/>
          <p:cNvSpPr/>
          <p:nvPr/>
        </p:nvSpPr>
        <p:spPr>
          <a:xfrm>
            <a:off x="2722403" y="4759393"/>
            <a:ext cx="149494" cy="149494"/>
          </a:xfrm>
          <a:prstGeom prst="ellipse">
            <a:avLst/>
          </a:prstGeom>
          <a:solidFill>
            <a:srgbClr val="DCE2EA"/>
          </a:solidFill>
          <a:ln w="6350">
            <a:solidFill>
              <a:srgbClr val="DCE2EA"/>
            </a:solidFill>
            <a:prstDash val="solid"/>
          </a:ln>
        </p:spPr>
      </p:sp>
      <p:sp>
        <p:nvSpPr>
          <p:cNvPr id="61" name="Shape 58"/>
          <p:cNvSpPr/>
          <p:nvPr/>
        </p:nvSpPr>
        <p:spPr>
          <a:xfrm>
            <a:off x="3031806" y="4756987"/>
            <a:ext cx="154307" cy="154307"/>
          </a:xfrm>
          <a:prstGeom prst="ellipse">
            <a:avLst/>
          </a:prstGeom>
          <a:solidFill>
            <a:srgbClr val="DCE2EA"/>
          </a:solidFill>
          <a:ln w="6350">
            <a:solidFill>
              <a:srgbClr val="DCE2EA"/>
            </a:solidFill>
            <a:prstDash val="solid"/>
          </a:ln>
        </p:spPr>
      </p:sp>
      <p:sp>
        <p:nvSpPr>
          <p:cNvPr id="62" name="Shape 59"/>
          <p:cNvSpPr/>
          <p:nvPr/>
        </p:nvSpPr>
        <p:spPr>
          <a:xfrm>
            <a:off x="3346023" y="4759393"/>
            <a:ext cx="149494" cy="149494"/>
          </a:xfrm>
          <a:prstGeom prst="ellipse">
            <a:avLst/>
          </a:prstGeom>
          <a:solidFill>
            <a:srgbClr val="DCE2EA"/>
          </a:solidFill>
          <a:ln w="6350">
            <a:solidFill>
              <a:srgbClr val="DCE2EA"/>
            </a:solidFill>
            <a:prstDash val="solid"/>
          </a:ln>
        </p:spPr>
      </p:sp>
      <p:sp>
        <p:nvSpPr>
          <p:cNvPr id="63" name="Shape 60"/>
          <p:cNvSpPr/>
          <p:nvPr/>
        </p:nvSpPr>
        <p:spPr>
          <a:xfrm>
            <a:off x="2088490" y="2615184"/>
            <a:ext cx="1190549" cy="1190549"/>
          </a:xfrm>
          <a:prstGeom prst="ellipse">
            <a:avLst/>
          </a:prstGeom>
          <a:solidFill>
            <a:srgbClr val="FFFFFF">
              <a:alpha val="55000"/>
            </a:srgbClr>
          </a:solidFill>
          <a:ln w="6350">
            <a:solidFill>
              <a:srgbClr val="FFFFFF">
                <a:alpha val="0"/>
              </a:srgbClr>
            </a:solidFill>
            <a:prstDash val="solid"/>
          </a:ln>
        </p:spPr>
      </p:sp>
      <p:sp>
        <p:nvSpPr>
          <p:cNvPr id="64" name="Text 61"/>
          <p:cNvSpPr txBox="1"/>
          <p:nvPr/>
        </p:nvSpPr>
        <p:spPr>
          <a:xfrm>
            <a:off x="4270371" y="1953089"/>
            <a:ext cx="1280160" cy="365760"/>
          </a:xfrm>
          <a:prstGeom prst="rect">
            <a:avLst/>
          </a:prstGeom>
          <a:noFill/>
          <a:ln/>
        </p:spPr>
        <p:txBody>
          <a:bodyPr wrap="square" lIns="0" tIns="0" rIns="0" bIns="0" rtlCol="0" anchor="ctr"/>
          <a:lstStyle/>
          <a:p>
            <a:pPr indent="0" marL="0">
              <a:buNone/>
            </a:pPr>
            <a:r>
              <a:rPr lang="en-US" sz="1800" b="1" dirty="0">
                <a:solidFill>
                  <a:srgbClr val="F08A8E"/>
                </a:solidFill>
                <a:latin typeface="Calibri" pitchFamily="34" charset="0"/>
                <a:ea typeface="Calibri" pitchFamily="34" charset="-122"/>
                <a:cs typeface="Calibri" pitchFamily="34" charset="-120"/>
              </a:rPr>
              <a:t>60 mL</a:t>
            </a:r>
            <a:endParaRPr lang="en-US" sz="1800" dirty="0"/>
          </a:p>
        </p:txBody>
      </p:sp>
      <p:sp>
        <p:nvSpPr>
          <p:cNvPr id="65" name="Text 62"/>
          <p:cNvSpPr txBox="1"/>
          <p:nvPr/>
        </p:nvSpPr>
        <p:spPr>
          <a:xfrm>
            <a:off x="6035040" y="1783080"/>
            <a:ext cx="5608015"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 golf ball ≈ 40 mL</a:t>
            </a:r>
            <a:endParaRPr lang="en-US" sz="4400" dirty="0"/>
          </a:p>
        </p:txBody>
      </p:sp>
      <p:sp>
        <p:nvSpPr>
          <p:cNvPr id="66" name="Text 63"/>
          <p:cNvSpPr txBox="1"/>
          <p:nvPr/>
        </p:nvSpPr>
        <p:spPr>
          <a:xfrm>
            <a:off x="6035040" y="2834640"/>
            <a:ext cx="5608015" cy="100584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60 mL + GCS ≤ 8: </a:t>
            </a:r>
            <a:pPr indent="0" marL="0">
              <a:buNone/>
            </a:pPr>
            <a:r>
              <a:rPr lang="en-US" sz="2600" b="1" dirty="0">
                <a:solidFill>
                  <a:srgbClr val="F08A8E"/>
                </a:solidFill>
                <a:latin typeface="Calibri" pitchFamily="34" charset="0"/>
                <a:ea typeface="Calibri" pitchFamily="34" charset="-122"/>
                <a:cs typeface="Calibri" pitchFamily="34" charset="-120"/>
              </a:rPr>
              <a:t>91% predicted 30-day mortality</a:t>
            </a:r>
            <a:endParaRPr lang="en-US" sz="2600" dirty="0"/>
          </a:p>
        </p:txBody>
      </p:sp>
      <p:sp>
        <p:nvSpPr>
          <p:cNvPr id="67" name="Shape 64"/>
          <p:cNvSpPr/>
          <p:nvPr/>
        </p:nvSpPr>
        <p:spPr>
          <a:xfrm>
            <a:off x="6035040" y="4114800"/>
            <a:ext cx="5608015" cy="1600200"/>
          </a:xfrm>
          <a:prstGeom prst="roundRect">
            <a:avLst>
              <a:gd name="adj" fmla="val 5714"/>
            </a:avLst>
          </a:prstGeom>
          <a:solidFill>
            <a:srgbClr val="1E3350"/>
          </a:solidFill>
          <a:ln w="6350">
            <a:solidFill>
              <a:srgbClr val="1E3350"/>
            </a:solidFill>
            <a:prstDash val="solid"/>
          </a:ln>
        </p:spPr>
      </p:sp>
      <p:sp>
        <p:nvSpPr>
          <p:cNvPr id="68" name="Text 65"/>
          <p:cNvSpPr txBox="1"/>
          <p:nvPr/>
        </p:nvSpPr>
        <p:spPr>
          <a:xfrm>
            <a:off x="6400800" y="4114800"/>
            <a:ext cx="4876495" cy="1600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clot that grows by a third looks only 10% wider on a scan.</a:t>
            </a:r>
            <a:endParaRPr lang="en-US" sz="2600" dirty="0"/>
          </a:p>
        </p:txBody>
      </p:sp>
      <p:sp>
        <p:nvSpPr>
          <p:cNvPr id="69" name="Text 6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93A6BC"/>
                </a:solidFill>
                <a:latin typeface="Calibri" pitchFamily="34" charset="0"/>
                <a:ea typeface="Calibri" pitchFamily="34" charset="-122"/>
                <a:cs typeface="Calibri" pitchFamily="34" charset="-120"/>
              </a:rPr>
              <a:t>Volume: Broderick et al., Stroke 1993 (Cincinnati, n = 188). A regulation golf ball is 42.7 mm across (about 40.7 mL).</a:t>
            </a:r>
            <a:endParaRPr lang="en-US" sz="1200" dirty="0"/>
          </a:p>
        </p:txBody>
      </p:sp>
      <p:sp>
        <p:nvSpPr>
          <p:cNvPr id="70" name="Text 67"/>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93A6BC"/>
                </a:solidFill>
                <a:latin typeface="Calibri" pitchFamily="34" charset="0"/>
                <a:ea typeface="Calibri" pitchFamily="34" charset="-122"/>
                <a:cs typeface="Calibri" pitchFamily="34" charset="-120"/>
              </a:rPr>
              <a:t>Chapter 5  ·  Intracerebral haemorrhage</a:t>
            </a:r>
            <a:endParaRPr lang="en-US" sz="1100" dirty="0"/>
          </a:p>
        </p:txBody>
      </p:sp>
      <p:sp>
        <p:nvSpPr>
          <p:cNvPr id="71" name="trk0"/>
          <p:cNvSpPr/>
          <p:nvPr/>
        </p:nvSpPr>
        <p:spPr>
          <a:xfrm>
            <a:off x="7269480" y="6460236"/>
            <a:ext cx="128016" cy="128016"/>
          </a:xfrm>
          <a:prstGeom prst="ellipse">
            <a:avLst/>
          </a:prstGeom>
          <a:solidFill>
            <a:srgbClr val="3E5C76"/>
          </a:solidFill>
          <a:ln w="6350">
            <a:solidFill>
              <a:srgbClr val="3E5C76"/>
            </a:solidFill>
            <a:prstDash val="solid"/>
          </a:ln>
        </p:spPr>
      </p:sp>
      <p:sp>
        <p:nvSpPr>
          <p:cNvPr id="72"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93A6BC"/>
                </a:solidFill>
                <a:latin typeface="Calibri" pitchFamily="34" charset="0"/>
                <a:ea typeface="Calibri" pitchFamily="34" charset="-122"/>
                <a:cs typeface="Calibri" pitchFamily="34" charset="-120"/>
              </a:rPr>
              <a:t>Vessel</a:t>
            </a:r>
            <a:endParaRPr lang="en-US" sz="1100" dirty="0"/>
          </a:p>
        </p:txBody>
      </p:sp>
      <p:sp>
        <p:nvSpPr>
          <p:cNvPr id="73" name="trk1"/>
          <p:cNvSpPr/>
          <p:nvPr/>
        </p:nvSpPr>
        <p:spPr>
          <a:xfrm>
            <a:off x="8211312" y="6460236"/>
            <a:ext cx="128016" cy="128016"/>
          </a:xfrm>
          <a:prstGeom prst="ellipse">
            <a:avLst/>
          </a:prstGeom>
          <a:solidFill>
            <a:srgbClr val="F08A8E"/>
          </a:solidFill>
          <a:ln w="6350">
            <a:solidFill>
              <a:srgbClr val="F08A8E"/>
            </a:solidFill>
            <a:prstDash val="solid"/>
          </a:ln>
        </p:spPr>
      </p:sp>
      <p:sp>
        <p:nvSpPr>
          <p:cNvPr id="74"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b="1" dirty="0">
                <a:solidFill>
                  <a:srgbClr val="F08A8E"/>
                </a:solidFill>
                <a:latin typeface="Calibri" pitchFamily="34" charset="0"/>
                <a:ea typeface="Calibri" pitchFamily="34" charset="-122"/>
                <a:cs typeface="Calibri" pitchFamily="34" charset="-120"/>
              </a:rPr>
              <a:t>Hours</a:t>
            </a:r>
            <a:endParaRPr lang="en-US" sz="1100" dirty="0"/>
          </a:p>
        </p:txBody>
      </p:sp>
      <p:sp>
        <p:nvSpPr>
          <p:cNvPr id="75" name="trk2"/>
          <p:cNvSpPr/>
          <p:nvPr/>
        </p:nvSpPr>
        <p:spPr>
          <a:xfrm>
            <a:off x="9153144" y="6460236"/>
            <a:ext cx="128016" cy="128016"/>
          </a:xfrm>
          <a:prstGeom prst="ellipse">
            <a:avLst/>
          </a:prstGeom>
          <a:solidFill>
            <a:srgbClr val="3E5C76"/>
          </a:solidFill>
          <a:ln w="6350">
            <a:solidFill>
              <a:srgbClr val="3E5C76"/>
            </a:solidFill>
            <a:prstDash val="solid"/>
          </a:ln>
        </p:spPr>
      </p:sp>
      <p:sp>
        <p:nvSpPr>
          <p:cNvPr id="76"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93A6BC"/>
                </a:solidFill>
                <a:latin typeface="Calibri" pitchFamily="34" charset="0"/>
                <a:ea typeface="Calibri" pitchFamily="34" charset="-122"/>
                <a:cs typeface="Calibri" pitchFamily="34" charset="-120"/>
              </a:rPr>
              <a:t>Days</a:t>
            </a:r>
            <a:endParaRPr lang="en-US" sz="1100" dirty="0"/>
          </a:p>
        </p:txBody>
      </p:sp>
      <p:sp>
        <p:nvSpPr>
          <p:cNvPr id="77" name="trk3"/>
          <p:cNvSpPr/>
          <p:nvPr/>
        </p:nvSpPr>
        <p:spPr>
          <a:xfrm>
            <a:off x="10094976" y="6460236"/>
            <a:ext cx="128016" cy="128016"/>
          </a:xfrm>
          <a:prstGeom prst="ellipse">
            <a:avLst/>
          </a:prstGeom>
          <a:solidFill>
            <a:srgbClr val="3E5C76"/>
          </a:solidFill>
          <a:ln w="6350">
            <a:solidFill>
              <a:srgbClr val="3E5C76"/>
            </a:solidFill>
            <a:prstDash val="solid"/>
          </a:ln>
        </p:spPr>
      </p:sp>
      <p:sp>
        <p:nvSpPr>
          <p:cNvPr id="78"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93A6BC"/>
                </a:solidFill>
                <a:latin typeface="Calibri" pitchFamily="34" charset="0"/>
                <a:ea typeface="Calibri" pitchFamily="34" charset="-122"/>
                <a:cs typeface="Calibri" pitchFamily="34" charset="-120"/>
              </a:rPr>
              <a:t>Bedside</a:t>
            </a:r>
            <a:endParaRPr lang="en-US" sz="1100" dirty="0"/>
          </a:p>
        </p:txBody>
      </p:sp>
      <p:sp>
        <p:nvSpPr>
          <p:cNvPr id="79"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93A6BC"/>
                </a:solidFill>
                <a:latin typeface="Calibri" pitchFamily="34" charset="0"/>
                <a:ea typeface="Calibri" pitchFamily="34" charset="-122"/>
                <a:cs typeface="Calibri" pitchFamily="34" charset="-120"/>
              </a:rPr>
              <a:t>18</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02 · THE FIRST HOURS</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The skull is a closed box</a:t>
            </a:r>
            <a:endParaRPr lang="en-US" sz="4000" dirty="0"/>
          </a:p>
        </p:txBody>
      </p:sp>
      <p:sp>
        <p:nvSpPr>
          <p:cNvPr id="5" name="Shape 2"/>
          <p:cNvSpPr/>
          <p:nvPr/>
        </p:nvSpPr>
        <p:spPr>
          <a:xfrm>
            <a:off x="868680" y="1828800"/>
            <a:ext cx="3931920" cy="3931920"/>
          </a:xfrm>
          <a:prstGeom prst="ellipse">
            <a:avLst/>
          </a:prstGeom>
          <a:solidFill>
            <a:srgbClr val="EEF1F5"/>
          </a:solidFill>
          <a:ln w="6350">
            <a:solidFill>
              <a:srgbClr val="EEF1F5"/>
            </a:solidFill>
            <a:prstDash val="solid"/>
          </a:ln>
        </p:spPr>
      </p:sp>
      <p:sp>
        <p:nvSpPr>
          <p:cNvPr id="6" name="Shape 3"/>
          <p:cNvSpPr/>
          <p:nvPr/>
        </p:nvSpPr>
        <p:spPr>
          <a:xfrm>
            <a:off x="1371600" y="2331720"/>
            <a:ext cx="2926080" cy="2926080"/>
          </a:xfrm>
          <a:prstGeom prst="ellipse">
            <a:avLst/>
          </a:prstGeom>
          <a:solidFill>
            <a:srgbClr val="DCE3EB"/>
          </a:solidFill>
          <a:ln w="6350">
            <a:solidFill>
              <a:srgbClr val="DCE3EB"/>
            </a:solidFill>
            <a:prstDash val="solid"/>
          </a:ln>
        </p:spPr>
      </p:sp>
      <p:sp>
        <p:nvSpPr>
          <p:cNvPr id="7" name="Shape 4"/>
          <p:cNvSpPr/>
          <p:nvPr/>
        </p:nvSpPr>
        <p:spPr>
          <a:xfrm>
            <a:off x="1874520" y="2834640"/>
            <a:ext cx="1920240" cy="1920240"/>
          </a:xfrm>
          <a:prstGeom prst="ellipse">
            <a:avLst/>
          </a:prstGeom>
          <a:solidFill>
            <a:srgbClr val="F6DCDD"/>
          </a:solidFill>
          <a:ln w="6350">
            <a:solidFill>
              <a:srgbClr val="F6DCDD"/>
            </a:solidFill>
            <a:prstDash val="solid"/>
          </a:ln>
        </p:spPr>
      </p:sp>
      <p:sp>
        <p:nvSpPr>
          <p:cNvPr id="8" name="Shape 5"/>
          <p:cNvSpPr/>
          <p:nvPr/>
        </p:nvSpPr>
        <p:spPr>
          <a:xfrm>
            <a:off x="2331720" y="3291840"/>
            <a:ext cx="1005840" cy="1005840"/>
          </a:xfrm>
          <a:prstGeom prst="ellipse">
            <a:avLst/>
          </a:prstGeom>
          <a:solidFill>
            <a:srgbClr val="C1272D"/>
          </a:solidFill>
          <a:ln w="6350">
            <a:solidFill>
              <a:srgbClr val="C1272D"/>
            </a:solidFill>
            <a:prstDash val="solid"/>
          </a:ln>
        </p:spPr>
      </p:sp>
      <p:sp>
        <p:nvSpPr>
          <p:cNvPr id="9" name="Shape 6"/>
          <p:cNvSpPr/>
          <p:nvPr/>
        </p:nvSpPr>
        <p:spPr>
          <a:xfrm>
            <a:off x="3407923" y="2139696"/>
            <a:ext cx="109728" cy="109728"/>
          </a:xfrm>
          <a:prstGeom prst="ellipse">
            <a:avLst/>
          </a:prstGeom>
          <a:solidFill>
            <a:srgbClr val="13233A"/>
          </a:solidFill>
          <a:ln w="6350">
            <a:solidFill>
              <a:srgbClr val="13233A"/>
            </a:solidFill>
            <a:prstDash val="solid"/>
          </a:ln>
        </p:spPr>
      </p:sp>
      <p:sp>
        <p:nvSpPr>
          <p:cNvPr id="10" name="Shape 7"/>
          <p:cNvSpPr/>
          <p:nvPr/>
        </p:nvSpPr>
        <p:spPr>
          <a:xfrm>
            <a:off x="3462787" y="2194560"/>
            <a:ext cx="1657853" cy="0"/>
          </a:xfrm>
          <a:prstGeom prst="line">
            <a:avLst/>
          </a:prstGeom>
          <a:noFill/>
          <a:ln w="12700">
            <a:solidFill>
              <a:srgbClr val="667285"/>
            </a:solidFill>
            <a:prstDash val="solid"/>
          </a:ln>
        </p:spPr>
      </p:sp>
      <p:sp>
        <p:nvSpPr>
          <p:cNvPr id="11" name="Text 8"/>
          <p:cNvSpPr txBox="1"/>
          <p:nvPr/>
        </p:nvSpPr>
        <p:spPr>
          <a:xfrm>
            <a:off x="5212080" y="1947672"/>
            <a:ext cx="2377440" cy="493776"/>
          </a:xfrm>
          <a:prstGeom prst="rect">
            <a:avLst/>
          </a:prstGeom>
          <a:noFill/>
          <a:ln/>
        </p:spPr>
        <p:txBody>
          <a:bodyPr wrap="square" lIns="0" tIns="0" rIns="0" bIns="0" rtlCol="0" anchor="ctr"/>
          <a:lstStyle/>
          <a:p>
            <a:pPr indent="0" marL="0">
              <a:buNone/>
            </a:pPr>
            <a:r>
              <a:rPr lang="en-US" sz="2000" dirty="0">
                <a:solidFill>
                  <a:srgbClr val="1B2230"/>
                </a:solidFill>
                <a:latin typeface="Calibri" pitchFamily="34" charset="0"/>
                <a:ea typeface="Calibri" pitchFamily="34" charset="-122"/>
                <a:cs typeface="Calibri" pitchFamily="34" charset="-120"/>
              </a:rPr>
              <a:t>Shift and herniation</a:t>
            </a:r>
            <a:endParaRPr lang="en-US" sz="2000" dirty="0"/>
          </a:p>
        </p:txBody>
      </p:sp>
      <p:sp>
        <p:nvSpPr>
          <p:cNvPr id="12" name="Shape 9"/>
          <p:cNvSpPr/>
          <p:nvPr/>
        </p:nvSpPr>
        <p:spPr>
          <a:xfrm>
            <a:off x="3195200" y="2596896"/>
            <a:ext cx="109728" cy="109728"/>
          </a:xfrm>
          <a:prstGeom prst="ellipse">
            <a:avLst/>
          </a:prstGeom>
          <a:solidFill>
            <a:srgbClr val="13233A"/>
          </a:solidFill>
          <a:ln w="6350">
            <a:solidFill>
              <a:srgbClr val="13233A"/>
            </a:solidFill>
            <a:prstDash val="solid"/>
          </a:ln>
        </p:spPr>
      </p:sp>
      <p:sp>
        <p:nvSpPr>
          <p:cNvPr id="13" name="Shape 10"/>
          <p:cNvSpPr/>
          <p:nvPr/>
        </p:nvSpPr>
        <p:spPr>
          <a:xfrm>
            <a:off x="3250064" y="2651760"/>
            <a:ext cx="1870576" cy="0"/>
          </a:xfrm>
          <a:prstGeom prst="line">
            <a:avLst/>
          </a:prstGeom>
          <a:noFill/>
          <a:ln w="12700">
            <a:solidFill>
              <a:srgbClr val="667285"/>
            </a:solidFill>
            <a:prstDash val="solid"/>
          </a:ln>
        </p:spPr>
      </p:sp>
      <p:sp>
        <p:nvSpPr>
          <p:cNvPr id="14" name="Text 11"/>
          <p:cNvSpPr txBox="1"/>
          <p:nvPr/>
        </p:nvSpPr>
        <p:spPr>
          <a:xfrm>
            <a:off x="5212080" y="2404872"/>
            <a:ext cx="2377440" cy="493776"/>
          </a:xfrm>
          <a:prstGeom prst="rect">
            <a:avLst/>
          </a:prstGeom>
          <a:noFill/>
          <a:ln/>
        </p:spPr>
        <p:txBody>
          <a:bodyPr wrap="square" lIns="0" tIns="0" rIns="0" bIns="0" rtlCol="0" anchor="ctr"/>
          <a:lstStyle/>
          <a:p>
            <a:pPr indent="0" marL="0">
              <a:buNone/>
            </a:pPr>
            <a:r>
              <a:rPr lang="en-US" sz="2000" dirty="0">
                <a:solidFill>
                  <a:srgbClr val="1B2230"/>
                </a:solidFill>
                <a:latin typeface="Calibri" pitchFamily="34" charset="0"/>
                <a:ea typeface="Calibri" pitchFamily="34" charset="-122"/>
                <a:cs typeface="Calibri" pitchFamily="34" charset="-120"/>
              </a:rPr>
              <a:t>Raised pressure</a:t>
            </a:r>
            <a:endParaRPr lang="en-US" sz="2000" dirty="0"/>
          </a:p>
        </p:txBody>
      </p:sp>
      <p:sp>
        <p:nvSpPr>
          <p:cNvPr id="15" name="Shape 12"/>
          <p:cNvSpPr/>
          <p:nvPr/>
        </p:nvSpPr>
        <p:spPr>
          <a:xfrm>
            <a:off x="3133922" y="3099816"/>
            <a:ext cx="109728" cy="109728"/>
          </a:xfrm>
          <a:prstGeom prst="ellipse">
            <a:avLst/>
          </a:prstGeom>
          <a:solidFill>
            <a:srgbClr val="13233A"/>
          </a:solidFill>
          <a:ln w="6350">
            <a:solidFill>
              <a:srgbClr val="13233A"/>
            </a:solidFill>
            <a:prstDash val="solid"/>
          </a:ln>
        </p:spPr>
      </p:sp>
      <p:sp>
        <p:nvSpPr>
          <p:cNvPr id="16" name="Shape 13"/>
          <p:cNvSpPr/>
          <p:nvPr/>
        </p:nvSpPr>
        <p:spPr>
          <a:xfrm>
            <a:off x="3188786" y="3154680"/>
            <a:ext cx="1931854" cy="0"/>
          </a:xfrm>
          <a:prstGeom prst="line">
            <a:avLst/>
          </a:prstGeom>
          <a:noFill/>
          <a:ln w="12700">
            <a:solidFill>
              <a:srgbClr val="667285"/>
            </a:solidFill>
            <a:prstDash val="solid"/>
          </a:ln>
        </p:spPr>
      </p:sp>
      <p:sp>
        <p:nvSpPr>
          <p:cNvPr id="17" name="Text 14"/>
          <p:cNvSpPr txBox="1"/>
          <p:nvPr/>
        </p:nvSpPr>
        <p:spPr>
          <a:xfrm>
            <a:off x="5212080" y="2907792"/>
            <a:ext cx="2377440" cy="493776"/>
          </a:xfrm>
          <a:prstGeom prst="rect">
            <a:avLst/>
          </a:prstGeom>
          <a:noFill/>
          <a:ln/>
        </p:spPr>
        <p:txBody>
          <a:bodyPr wrap="square" lIns="0" tIns="0" rIns="0" bIns="0" rtlCol="0" anchor="ctr"/>
          <a:lstStyle/>
          <a:p>
            <a:pPr indent="0" marL="0">
              <a:buNone/>
            </a:pPr>
            <a:r>
              <a:rPr lang="en-US" sz="2000" dirty="0">
                <a:solidFill>
                  <a:srgbClr val="1B2230"/>
                </a:solidFill>
                <a:latin typeface="Calibri" pitchFamily="34" charset="0"/>
                <a:ea typeface="Calibri" pitchFamily="34" charset="-122"/>
                <a:cs typeface="Calibri" pitchFamily="34" charset="-120"/>
              </a:rPr>
              <a:t>Compression</a:t>
            </a:r>
            <a:endParaRPr lang="en-US" sz="2000" dirty="0"/>
          </a:p>
        </p:txBody>
      </p:sp>
      <p:sp>
        <p:nvSpPr>
          <p:cNvPr id="18" name="Shape 15"/>
          <p:cNvSpPr/>
          <p:nvPr/>
        </p:nvSpPr>
        <p:spPr>
          <a:xfrm>
            <a:off x="3054096" y="3739896"/>
            <a:ext cx="109728" cy="109728"/>
          </a:xfrm>
          <a:prstGeom prst="ellipse">
            <a:avLst/>
          </a:prstGeom>
          <a:solidFill>
            <a:srgbClr val="13233A"/>
          </a:solidFill>
          <a:ln w="6350">
            <a:solidFill>
              <a:srgbClr val="13233A"/>
            </a:solidFill>
            <a:prstDash val="solid"/>
          </a:ln>
        </p:spPr>
      </p:sp>
      <p:sp>
        <p:nvSpPr>
          <p:cNvPr id="19" name="Shape 16"/>
          <p:cNvSpPr/>
          <p:nvPr/>
        </p:nvSpPr>
        <p:spPr>
          <a:xfrm>
            <a:off x="3108960" y="3794760"/>
            <a:ext cx="2011680" cy="0"/>
          </a:xfrm>
          <a:prstGeom prst="line">
            <a:avLst/>
          </a:prstGeom>
          <a:noFill/>
          <a:ln w="12700">
            <a:solidFill>
              <a:srgbClr val="667285"/>
            </a:solidFill>
            <a:prstDash val="solid"/>
          </a:ln>
        </p:spPr>
      </p:sp>
      <p:sp>
        <p:nvSpPr>
          <p:cNvPr id="20" name="Text 17"/>
          <p:cNvSpPr txBox="1"/>
          <p:nvPr/>
        </p:nvSpPr>
        <p:spPr>
          <a:xfrm>
            <a:off x="5212080" y="3547872"/>
            <a:ext cx="2377440" cy="493776"/>
          </a:xfrm>
          <a:prstGeom prst="rect">
            <a:avLst/>
          </a:prstGeom>
          <a:noFill/>
          <a:ln/>
        </p:spPr>
        <p:txBody>
          <a:bodyPr wrap="square" lIns="0" tIns="0" rIns="0" bIns="0" rtlCol="0" anchor="ctr"/>
          <a:lstStyle/>
          <a:p>
            <a:pPr indent="0" marL="0">
              <a:buNone/>
            </a:pPr>
            <a:r>
              <a:rPr lang="en-US" sz="2000" b="1" dirty="0">
                <a:solidFill>
                  <a:srgbClr val="C1272D"/>
                </a:solidFill>
                <a:latin typeface="Calibri" pitchFamily="34" charset="0"/>
                <a:ea typeface="Calibri" pitchFamily="34" charset="-122"/>
                <a:cs typeface="Calibri" pitchFamily="34" charset="-120"/>
              </a:rPr>
              <a:t>The clot</a:t>
            </a:r>
            <a:endParaRPr lang="en-US" sz="2000" dirty="0"/>
          </a:p>
        </p:txBody>
      </p:sp>
      <p:sp>
        <p:nvSpPr>
          <p:cNvPr id="21" name="Shape 18"/>
          <p:cNvSpPr/>
          <p:nvPr/>
        </p:nvSpPr>
        <p:spPr>
          <a:xfrm>
            <a:off x="7818120" y="1828800"/>
            <a:ext cx="3824935" cy="3931920"/>
          </a:xfrm>
          <a:prstGeom prst="roundRect">
            <a:avLst>
              <a:gd name="adj" fmla="val 2391"/>
            </a:avLst>
          </a:prstGeom>
          <a:solidFill>
            <a:srgbClr val="E8EDF3"/>
          </a:solidFill>
          <a:ln w="6350">
            <a:solidFill>
              <a:srgbClr val="E8EDF3"/>
            </a:solidFill>
            <a:prstDash val="solid"/>
          </a:ln>
        </p:spPr>
      </p:sp>
      <p:sp>
        <p:nvSpPr>
          <p:cNvPr id="22" name="Text 19"/>
          <p:cNvSpPr txBox="1"/>
          <p:nvPr/>
        </p:nvSpPr>
        <p:spPr>
          <a:xfrm>
            <a:off x="8183880" y="2148840"/>
            <a:ext cx="3093415" cy="1280160"/>
          </a:xfrm>
          <a:prstGeom prst="rect">
            <a:avLst/>
          </a:prstGeom>
          <a:noFill/>
          <a:ln/>
        </p:spPr>
        <p:txBody>
          <a:bodyPr wrap="square" lIns="0" tIns="0" rIns="0" bIns="0" rtlCol="0" anchor="ctr"/>
          <a:lstStyle/>
          <a:p>
            <a:pPr indent="0" marL="0">
              <a:buNone/>
            </a:pPr>
            <a:r>
              <a:rPr lang="en-US" sz="7200" b="1" dirty="0">
                <a:solidFill>
                  <a:srgbClr val="13233A"/>
                </a:solidFill>
                <a:latin typeface="Cambria" pitchFamily="34" charset="0"/>
                <a:ea typeface="Cambria" pitchFamily="34" charset="-122"/>
                <a:cs typeface="Cambria" pitchFamily="34" charset="-120"/>
              </a:rPr>
              <a:t>≈45%</a:t>
            </a:r>
            <a:endParaRPr lang="en-US" sz="7200" dirty="0"/>
          </a:p>
        </p:txBody>
      </p:sp>
      <p:sp>
        <p:nvSpPr>
          <p:cNvPr id="23" name="Text 20"/>
          <p:cNvSpPr txBox="1"/>
          <p:nvPr/>
        </p:nvSpPr>
        <p:spPr>
          <a:xfrm>
            <a:off x="8183880" y="3474720"/>
            <a:ext cx="3093415" cy="868680"/>
          </a:xfrm>
          <a:prstGeom prst="rect">
            <a:avLst/>
          </a:prstGeom>
          <a:noFill/>
          <a:ln/>
        </p:spPr>
        <p:txBody>
          <a:bodyPr wrap="square" lIns="0" tIns="0" rIns="0" bIns="0" rtlCol="0" anchor="t"/>
          <a:lstStyle/>
          <a:p>
            <a:pPr indent="0" marL="0">
              <a:buNone/>
            </a:pPr>
            <a:r>
              <a:rPr lang="en-US" sz="2400" b="1" dirty="0">
                <a:solidFill>
                  <a:srgbClr val="13233A"/>
                </a:solidFill>
                <a:latin typeface="Calibri" pitchFamily="34" charset="0"/>
                <a:ea typeface="Calibri" pitchFamily="34" charset="-122"/>
                <a:cs typeface="Calibri" pitchFamily="34" charset="-120"/>
              </a:rPr>
              <a:t>break into the ventricles</a:t>
            </a:r>
            <a:endParaRPr lang="en-US" sz="2400" dirty="0"/>
          </a:p>
        </p:txBody>
      </p:sp>
      <p:sp>
        <p:nvSpPr>
          <p:cNvPr id="24" name="Text 21"/>
          <p:cNvSpPr txBox="1"/>
          <p:nvPr/>
        </p:nvSpPr>
        <p:spPr>
          <a:xfrm>
            <a:off x="8183880" y="4206240"/>
            <a:ext cx="3093415" cy="868680"/>
          </a:xfrm>
          <a:prstGeom prst="rect">
            <a:avLst/>
          </a:prstGeom>
          <a:noFill/>
          <a:ln/>
        </p:spPr>
        <p:txBody>
          <a:bodyPr wrap="square" lIns="0" tIns="0" rIns="0" bIns="0" rtlCol="0" anchor="t"/>
          <a:lstStyle/>
          <a:p>
            <a:pPr indent="0" marL="0">
              <a:buNone/>
            </a:pPr>
            <a:r>
              <a:rPr lang="en-US" sz="2000" dirty="0">
                <a:solidFill>
                  <a:srgbClr val="3E5C76"/>
                </a:solidFill>
                <a:latin typeface="Calibri" pitchFamily="34" charset="0"/>
                <a:ea typeface="Calibri" pitchFamily="34" charset="-122"/>
                <a:cs typeface="Calibri" pitchFamily="34" charset="-120"/>
              </a:rPr>
              <a:t>→ hydrocephalus, worse outcome</a:t>
            </a:r>
            <a:endParaRPr lang="en-US" sz="2000" dirty="0"/>
          </a:p>
        </p:txBody>
      </p:sp>
      <p:sp>
        <p:nvSpPr>
          <p:cNvPr id="25" name="Text 22"/>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Hanley, Stroke 2009.</a:t>
            </a:r>
            <a:endParaRPr lang="en-US" sz="1200" dirty="0"/>
          </a:p>
        </p:txBody>
      </p:sp>
      <p:sp>
        <p:nvSpPr>
          <p:cNvPr id="26" name="Text 23"/>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7"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28"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9" name="trk1"/>
          <p:cNvSpPr/>
          <p:nvPr/>
        </p:nvSpPr>
        <p:spPr>
          <a:xfrm>
            <a:off x="8211312" y="6460236"/>
            <a:ext cx="128016" cy="128016"/>
          </a:xfrm>
          <a:prstGeom prst="ellipse">
            <a:avLst/>
          </a:prstGeom>
          <a:solidFill>
            <a:srgbClr val="C1272D"/>
          </a:solidFill>
          <a:ln w="6350">
            <a:solidFill>
              <a:srgbClr val="C1272D"/>
            </a:solidFill>
            <a:prstDash val="solid"/>
          </a:ln>
        </p:spPr>
      </p:sp>
      <p:sp>
        <p:nvSpPr>
          <p:cNvPr id="30"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Hours</a:t>
            </a:r>
            <a:endParaRPr lang="en-US" sz="1100" dirty="0"/>
          </a:p>
        </p:txBody>
      </p:sp>
      <p:sp>
        <p:nvSpPr>
          <p:cNvPr id="31"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32"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33"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34"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35"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19</a:t>
            </a:r>
            <a:endParaRPr lang="en-US" sz="11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6583680" y="685800"/>
            <a:ext cx="5486400" cy="5486400"/>
          </a:xfrm>
          <a:prstGeom prst="ellipse">
            <a:avLst/>
          </a:prstGeom>
          <a:solidFill>
            <a:srgbClr val="FFFFFF">
              <a:alpha val="0"/>
            </a:srgbClr>
          </a:solidFill>
          <a:ln w="12700">
            <a:solidFill>
              <a:srgbClr val="3E5C76"/>
            </a:solidFill>
            <a:prstDash val="solid"/>
          </a:ln>
        </p:spPr>
      </p:sp>
      <p:sp>
        <p:nvSpPr>
          <p:cNvPr id="4" name="!!halo0"/>
          <p:cNvSpPr/>
          <p:nvPr/>
        </p:nvSpPr>
        <p:spPr>
          <a:xfrm>
            <a:off x="7406640" y="1508760"/>
            <a:ext cx="3840480" cy="3840480"/>
          </a:xfrm>
          <a:prstGeom prst="ellipse">
            <a:avLst/>
          </a:prstGeom>
          <a:solidFill>
            <a:srgbClr val="C1272D">
              <a:alpha val="12000"/>
            </a:srgbClr>
          </a:solidFill>
          <a:ln w="6350">
            <a:solidFill>
              <a:srgbClr val="C1272D">
                <a:alpha val="0"/>
              </a:srgbClr>
            </a:solidFill>
            <a:prstDash val="solid"/>
          </a:ln>
        </p:spPr>
      </p:sp>
      <p:sp>
        <p:nvSpPr>
          <p:cNvPr id="5" name="!!halo1"/>
          <p:cNvSpPr/>
          <p:nvPr/>
        </p:nvSpPr>
        <p:spPr>
          <a:xfrm>
            <a:off x="7726680" y="1828800"/>
            <a:ext cx="3200400" cy="3200400"/>
          </a:xfrm>
          <a:prstGeom prst="ellipse">
            <a:avLst/>
          </a:prstGeom>
          <a:solidFill>
            <a:srgbClr val="C1272D">
              <a:alpha val="22000"/>
            </a:srgbClr>
          </a:solidFill>
          <a:ln w="6350">
            <a:solidFill>
              <a:srgbClr val="C1272D">
                <a:alpha val="0"/>
              </a:srgbClr>
            </a:solidFill>
            <a:prstDash val="solid"/>
          </a:ln>
        </p:spPr>
      </p:sp>
      <p:sp>
        <p:nvSpPr>
          <p:cNvPr id="6" name="!!bleed"/>
          <p:cNvSpPr/>
          <p:nvPr/>
        </p:nvSpPr>
        <p:spPr>
          <a:xfrm>
            <a:off x="8092440" y="2194560"/>
            <a:ext cx="2468880" cy="2468880"/>
          </a:xfrm>
          <a:prstGeom prst="ellipse">
            <a:avLst/>
          </a:prstGeom>
          <a:solidFill>
            <a:srgbClr val="C1272D"/>
          </a:solidFill>
          <a:ln w="6350">
            <a:solidFill>
              <a:srgbClr val="C1272D"/>
            </a:solidFill>
            <a:prstDash val="solid"/>
          </a:ln>
        </p:spPr>
      </p:sp>
      <p:sp>
        <p:nvSpPr>
          <p:cNvPr id="7" name="Text 4"/>
          <p:cNvSpPr txBox="1"/>
          <p:nvPr/>
        </p:nvSpPr>
        <p:spPr>
          <a:xfrm>
            <a:off x="731520" y="1325880"/>
            <a:ext cx="2743200" cy="1463040"/>
          </a:xfrm>
          <a:prstGeom prst="rect">
            <a:avLst/>
          </a:prstGeom>
          <a:noFill/>
          <a:ln/>
        </p:spPr>
        <p:txBody>
          <a:bodyPr wrap="square" lIns="0" tIns="0" rIns="0" bIns="0" rtlCol="0" anchor="b"/>
          <a:lstStyle/>
          <a:p>
            <a:pPr indent="0" marL="0">
              <a:buNone/>
            </a:pPr>
            <a:r>
              <a:rPr lang="en-US" sz="11000" b="1" dirty="0">
                <a:solidFill>
                  <a:srgbClr val="E0474C"/>
                </a:solidFill>
                <a:latin typeface="Cambria" pitchFamily="34" charset="0"/>
                <a:ea typeface="Cambria" pitchFamily="34" charset="-122"/>
                <a:cs typeface="Cambria" pitchFamily="34" charset="-120"/>
              </a:rPr>
              <a:t>03</a:t>
            </a:r>
            <a:endParaRPr lang="en-US" sz="11000" dirty="0"/>
          </a:p>
        </p:txBody>
      </p:sp>
      <p:sp>
        <p:nvSpPr>
          <p:cNvPr id="8" name="Text 5"/>
          <p:cNvSpPr txBox="1"/>
          <p:nvPr/>
        </p:nvSpPr>
        <p:spPr>
          <a:xfrm>
            <a:off x="731520" y="2926080"/>
            <a:ext cx="62179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days after</a:t>
            </a:r>
            <a:endParaRPr lang="en-US" sz="5400" dirty="0"/>
          </a:p>
        </p:txBody>
      </p:sp>
      <p:sp>
        <p:nvSpPr>
          <p:cNvPr id="9" name="Text 6"/>
          <p:cNvSpPr txBox="1"/>
          <p:nvPr/>
        </p:nvSpPr>
        <p:spPr>
          <a:xfrm>
            <a:off x="731520" y="3931920"/>
            <a:ext cx="5760720" cy="82296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When the blood becomes a toxin</a:t>
            </a:r>
            <a:endParaRPr lang="en-US" sz="2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03 · THE DAYS AFTER</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Oedema builds in waves</a:t>
            </a:r>
            <a:endParaRPr lang="en-US" sz="4000" dirty="0"/>
          </a:p>
        </p:txBody>
      </p:sp>
      <p:sp>
        <p:nvSpPr>
          <p:cNvPr id="5" name="Shape 2"/>
          <p:cNvSpPr/>
          <p:nvPr/>
        </p:nvSpPr>
        <p:spPr>
          <a:xfrm>
            <a:off x="822960" y="2971800"/>
            <a:ext cx="10561320" cy="0"/>
          </a:xfrm>
          <a:prstGeom prst="line">
            <a:avLst/>
          </a:prstGeom>
          <a:noFill/>
          <a:ln w="38100">
            <a:solidFill>
              <a:srgbClr val="C9D2DE"/>
            </a:solidFill>
            <a:prstDash val="solid"/>
            <a:tailEnd type="triangle"/>
          </a:ln>
        </p:spPr>
      </p:sp>
      <p:sp>
        <p:nvSpPr>
          <p:cNvPr id="6" name="Text 3"/>
          <p:cNvSpPr txBox="1"/>
          <p:nvPr/>
        </p:nvSpPr>
        <p:spPr>
          <a:xfrm>
            <a:off x="685800" y="1783080"/>
            <a:ext cx="2651760" cy="457200"/>
          </a:xfrm>
          <a:prstGeom prst="rect">
            <a:avLst/>
          </a:prstGeom>
          <a:noFill/>
          <a:ln/>
        </p:spPr>
        <p:txBody>
          <a:bodyPr wrap="square" lIns="0" tIns="0" rIns="0" bIns="0" rtlCol="0" anchor="ctr"/>
          <a:lstStyle/>
          <a:p>
            <a:pPr indent="0" marL="0">
              <a:buNone/>
            </a:pPr>
            <a:r>
              <a:rPr lang="en-US" sz="2200" b="1" dirty="0">
                <a:solidFill>
                  <a:srgbClr val="3E5C76"/>
                </a:solidFill>
                <a:latin typeface="Calibri" pitchFamily="34" charset="0"/>
                <a:ea typeface="Calibri" pitchFamily="34" charset="-122"/>
                <a:cs typeface="Calibri" pitchFamily="34" charset="-120"/>
              </a:rPr>
              <a:t>Hours</a:t>
            </a:r>
            <a:endParaRPr lang="en-US" sz="2200" dirty="0"/>
          </a:p>
        </p:txBody>
      </p:sp>
      <p:sp>
        <p:nvSpPr>
          <p:cNvPr id="7" name="Shape 4"/>
          <p:cNvSpPr/>
          <p:nvPr/>
        </p:nvSpPr>
        <p:spPr>
          <a:xfrm>
            <a:off x="960120" y="2743200"/>
            <a:ext cx="457200" cy="457200"/>
          </a:xfrm>
          <a:prstGeom prst="ellipse">
            <a:avLst/>
          </a:prstGeom>
          <a:solidFill>
            <a:srgbClr val="F6DCDD"/>
          </a:solidFill>
          <a:ln w="31750">
            <a:solidFill>
              <a:srgbClr val="FFFFFF"/>
            </a:solidFill>
            <a:prstDash val="solid"/>
          </a:ln>
        </p:spPr>
      </p:sp>
      <p:sp>
        <p:nvSpPr>
          <p:cNvPr id="8" name="Text 5"/>
          <p:cNvSpPr txBox="1"/>
          <p:nvPr/>
        </p:nvSpPr>
        <p:spPr>
          <a:xfrm>
            <a:off x="685800" y="3657600"/>
            <a:ext cx="26517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Clot retracts</a:t>
            </a:r>
            <a:endParaRPr lang="en-US" sz="2800" dirty="0"/>
          </a:p>
        </p:txBody>
      </p:sp>
      <p:sp>
        <p:nvSpPr>
          <p:cNvPr id="9" name="Text 6"/>
          <p:cNvSpPr txBox="1"/>
          <p:nvPr/>
        </p:nvSpPr>
        <p:spPr>
          <a:xfrm>
            <a:off x="3474720" y="1783080"/>
            <a:ext cx="2651760" cy="457200"/>
          </a:xfrm>
          <a:prstGeom prst="rect">
            <a:avLst/>
          </a:prstGeom>
          <a:noFill/>
          <a:ln/>
        </p:spPr>
        <p:txBody>
          <a:bodyPr wrap="square" lIns="0" tIns="0" rIns="0" bIns="0" rtlCol="0" anchor="ctr"/>
          <a:lstStyle/>
          <a:p>
            <a:pPr indent="0" marL="0">
              <a:buNone/>
            </a:pPr>
            <a:r>
              <a:rPr lang="en-US" sz="2200" b="1" dirty="0">
                <a:solidFill>
                  <a:srgbClr val="3E5C76"/>
                </a:solidFill>
                <a:latin typeface="Calibri" pitchFamily="34" charset="0"/>
                <a:ea typeface="Calibri" pitchFamily="34" charset="-122"/>
                <a:cs typeface="Calibri" pitchFamily="34" charset="-120"/>
              </a:rPr>
              <a:t>Days 1–2</a:t>
            </a:r>
            <a:endParaRPr lang="en-US" sz="2200" dirty="0"/>
          </a:p>
        </p:txBody>
      </p:sp>
      <p:sp>
        <p:nvSpPr>
          <p:cNvPr id="10" name="Shape 7"/>
          <p:cNvSpPr/>
          <p:nvPr/>
        </p:nvSpPr>
        <p:spPr>
          <a:xfrm>
            <a:off x="3657600" y="2651760"/>
            <a:ext cx="640080" cy="640080"/>
          </a:xfrm>
          <a:prstGeom prst="ellipse">
            <a:avLst/>
          </a:prstGeom>
          <a:solidFill>
            <a:srgbClr val="E88A8E"/>
          </a:solidFill>
          <a:ln w="31750">
            <a:solidFill>
              <a:srgbClr val="FFFFFF"/>
            </a:solidFill>
            <a:prstDash val="solid"/>
          </a:ln>
        </p:spPr>
      </p:sp>
      <p:sp>
        <p:nvSpPr>
          <p:cNvPr id="11" name="Text 8"/>
          <p:cNvSpPr txBox="1"/>
          <p:nvPr/>
        </p:nvSpPr>
        <p:spPr>
          <a:xfrm>
            <a:off x="3474720" y="3657600"/>
            <a:ext cx="26517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Thrombin</a:t>
            </a:r>
            <a:endParaRPr lang="en-US" sz="2800" dirty="0"/>
          </a:p>
        </p:txBody>
      </p:sp>
      <p:sp>
        <p:nvSpPr>
          <p:cNvPr id="12" name="Text 9"/>
          <p:cNvSpPr txBox="1"/>
          <p:nvPr/>
        </p:nvSpPr>
        <p:spPr>
          <a:xfrm>
            <a:off x="6263640" y="1783080"/>
            <a:ext cx="2651760" cy="457200"/>
          </a:xfrm>
          <a:prstGeom prst="rect">
            <a:avLst/>
          </a:prstGeom>
          <a:noFill/>
          <a:ln/>
        </p:spPr>
        <p:txBody>
          <a:bodyPr wrap="square" lIns="0" tIns="0" rIns="0" bIns="0" rtlCol="0" anchor="ctr"/>
          <a:lstStyle/>
          <a:p>
            <a:pPr indent="0" marL="0">
              <a:buNone/>
            </a:pPr>
            <a:r>
              <a:rPr lang="en-US" sz="2200" b="1" dirty="0">
                <a:solidFill>
                  <a:srgbClr val="3E5C76"/>
                </a:solidFill>
                <a:latin typeface="Calibri" pitchFamily="34" charset="0"/>
                <a:ea typeface="Calibri" pitchFamily="34" charset="-122"/>
                <a:cs typeface="Calibri" pitchFamily="34" charset="-120"/>
              </a:rPr>
              <a:t>Day 3+</a:t>
            </a:r>
            <a:endParaRPr lang="en-US" sz="2200" dirty="0"/>
          </a:p>
        </p:txBody>
      </p:sp>
      <p:sp>
        <p:nvSpPr>
          <p:cNvPr id="13" name="Shape 10"/>
          <p:cNvSpPr/>
          <p:nvPr/>
        </p:nvSpPr>
        <p:spPr>
          <a:xfrm>
            <a:off x="6355080" y="2560320"/>
            <a:ext cx="822960" cy="822960"/>
          </a:xfrm>
          <a:prstGeom prst="ellipse">
            <a:avLst/>
          </a:prstGeom>
          <a:solidFill>
            <a:srgbClr val="C1272D"/>
          </a:solidFill>
          <a:ln w="31750">
            <a:solidFill>
              <a:srgbClr val="FFFFFF"/>
            </a:solidFill>
            <a:prstDash val="solid"/>
          </a:ln>
        </p:spPr>
      </p:sp>
      <p:sp>
        <p:nvSpPr>
          <p:cNvPr id="14" name="Text 11"/>
          <p:cNvSpPr txBox="1"/>
          <p:nvPr/>
        </p:nvSpPr>
        <p:spPr>
          <a:xfrm>
            <a:off x="6263640" y="3657600"/>
            <a:ext cx="26517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Iron</a:t>
            </a:r>
            <a:endParaRPr lang="en-US" sz="2800" dirty="0"/>
          </a:p>
        </p:txBody>
      </p:sp>
      <p:sp>
        <p:nvSpPr>
          <p:cNvPr id="15" name="Text 12"/>
          <p:cNvSpPr txBox="1"/>
          <p:nvPr/>
        </p:nvSpPr>
        <p:spPr>
          <a:xfrm>
            <a:off x="9052560" y="1783080"/>
            <a:ext cx="2651760" cy="457200"/>
          </a:xfrm>
          <a:prstGeom prst="rect">
            <a:avLst/>
          </a:prstGeom>
          <a:noFill/>
          <a:ln/>
        </p:spPr>
        <p:txBody>
          <a:bodyPr wrap="square" lIns="0" tIns="0" rIns="0" bIns="0" rtlCol="0" anchor="ctr"/>
          <a:lstStyle/>
          <a:p>
            <a:pPr indent="0" marL="0">
              <a:buNone/>
            </a:pPr>
            <a:r>
              <a:rPr lang="en-US" sz="2200" b="1" dirty="0">
                <a:solidFill>
                  <a:srgbClr val="3E5C76"/>
                </a:solidFill>
                <a:latin typeface="Calibri" pitchFamily="34" charset="0"/>
                <a:ea typeface="Calibri" pitchFamily="34" charset="-122"/>
                <a:cs typeface="Calibri" pitchFamily="34" charset="-120"/>
              </a:rPr>
              <a:t>Weeks</a:t>
            </a:r>
            <a:endParaRPr lang="en-US" sz="2200" dirty="0"/>
          </a:p>
        </p:txBody>
      </p:sp>
      <p:sp>
        <p:nvSpPr>
          <p:cNvPr id="16" name="Shape 13"/>
          <p:cNvSpPr/>
          <p:nvPr/>
        </p:nvSpPr>
        <p:spPr>
          <a:xfrm>
            <a:off x="9052560" y="2468880"/>
            <a:ext cx="1005840" cy="1005840"/>
          </a:xfrm>
          <a:prstGeom prst="ellipse">
            <a:avLst/>
          </a:prstGeom>
          <a:solidFill>
            <a:srgbClr val="8E1B1F"/>
          </a:solidFill>
          <a:ln w="31750">
            <a:solidFill>
              <a:srgbClr val="FFFFFF"/>
            </a:solidFill>
            <a:prstDash val="solid"/>
          </a:ln>
        </p:spPr>
      </p:sp>
      <p:sp>
        <p:nvSpPr>
          <p:cNvPr id="17" name="Text 14"/>
          <p:cNvSpPr txBox="1"/>
          <p:nvPr/>
        </p:nvSpPr>
        <p:spPr>
          <a:xfrm>
            <a:off x="9052560" y="3657600"/>
            <a:ext cx="2651760" cy="548640"/>
          </a:xfrm>
          <a:prstGeom prst="rect">
            <a:avLst/>
          </a:prstGeom>
          <a:noFill/>
          <a:ln/>
        </p:spPr>
        <p:txBody>
          <a:bodyPr wrap="square" lIns="0" tIns="0" rIns="0" bIns="0" rtlCol="0" anchor="t"/>
          <a:lstStyle/>
          <a:p>
            <a:pPr indent="0" marL="0">
              <a:buNone/>
            </a:pPr>
            <a:r>
              <a:rPr lang="en-US" sz="2800" b="1" dirty="0">
                <a:solidFill>
                  <a:srgbClr val="13233A"/>
                </a:solidFill>
                <a:latin typeface="Calibri" pitchFamily="34" charset="0"/>
                <a:ea typeface="Calibri" pitchFamily="34" charset="-122"/>
                <a:cs typeface="Calibri" pitchFamily="34" charset="-120"/>
              </a:rPr>
              <a:t>Clearance</a:t>
            </a:r>
            <a:endParaRPr lang="en-US" sz="2800" dirty="0"/>
          </a:p>
        </p:txBody>
      </p:sp>
      <p:sp>
        <p:nvSpPr>
          <p:cNvPr id="18" name="Shape 15"/>
          <p:cNvSpPr/>
          <p:nvPr/>
        </p:nvSpPr>
        <p:spPr>
          <a:xfrm>
            <a:off x="548640" y="4572000"/>
            <a:ext cx="6675120" cy="1188720"/>
          </a:xfrm>
          <a:prstGeom prst="roundRect">
            <a:avLst>
              <a:gd name="adj" fmla="val 7692"/>
            </a:avLst>
          </a:prstGeom>
          <a:solidFill>
            <a:srgbClr val="F6DCDD"/>
          </a:solidFill>
          <a:ln w="6350">
            <a:solidFill>
              <a:srgbClr val="F6DCDD"/>
            </a:solidFill>
            <a:prstDash val="solid"/>
          </a:ln>
        </p:spPr>
      </p:sp>
      <p:sp>
        <p:nvSpPr>
          <p:cNvPr id="19" name="Text 16"/>
          <p:cNvSpPr txBox="1"/>
          <p:nvPr/>
        </p:nvSpPr>
        <p:spPr>
          <a:xfrm>
            <a:off x="868680" y="4572000"/>
            <a:ext cx="6217920" cy="1188720"/>
          </a:xfrm>
          <a:prstGeom prst="rect">
            <a:avLst/>
          </a:prstGeom>
          <a:noFill/>
          <a:ln/>
        </p:spPr>
        <p:txBody>
          <a:bodyPr wrap="square" lIns="0" tIns="0" rIns="0" bIns="0" rtlCol="0" anchor="ctr"/>
          <a:lstStyle/>
          <a:p>
            <a:pPr indent="0" marL="0">
              <a:buNone/>
            </a:pPr>
            <a:r>
              <a:rPr lang="en-US" sz="3600" b="1" dirty="0">
                <a:solidFill>
                  <a:srgbClr val="C1272D"/>
                </a:solidFill>
                <a:latin typeface="Cambria" pitchFamily="34" charset="0"/>
                <a:ea typeface="Cambria" pitchFamily="34" charset="-122"/>
                <a:cs typeface="Cambria" pitchFamily="34" charset="-120"/>
              </a:rPr>
              <a:t>+75% </a:t>
            </a:r>
            <a:pPr indent="0" marL="0">
              <a:buNone/>
            </a:pPr>
            <a:r>
              <a:rPr lang="en-US" sz="2200" b="1" dirty="0">
                <a:solidFill>
                  <a:srgbClr val="8E1B1F"/>
                </a:solidFill>
                <a:latin typeface="Calibri" pitchFamily="34" charset="0"/>
                <a:ea typeface="Calibri" pitchFamily="34" charset="-122"/>
                <a:cs typeface="Calibri" pitchFamily="34" charset="-120"/>
              </a:rPr>
              <a:t>oedema in the first 24 hours</a:t>
            </a:r>
            <a:endParaRPr lang="en-US" sz="2200" dirty="0"/>
          </a:p>
        </p:txBody>
      </p:sp>
      <p:sp>
        <p:nvSpPr>
          <p:cNvPr id="20" name="Shape 17"/>
          <p:cNvSpPr/>
          <p:nvPr/>
        </p:nvSpPr>
        <p:spPr>
          <a:xfrm>
            <a:off x="7498080" y="4572000"/>
            <a:ext cx="4144975" cy="1188720"/>
          </a:xfrm>
          <a:prstGeom prst="roundRect">
            <a:avLst>
              <a:gd name="adj" fmla="val 7692"/>
            </a:avLst>
          </a:prstGeom>
          <a:solidFill>
            <a:srgbClr val="13233A"/>
          </a:solidFill>
          <a:ln w="6350">
            <a:solidFill>
              <a:srgbClr val="13233A"/>
            </a:solidFill>
            <a:prstDash val="solid"/>
          </a:ln>
        </p:spPr>
      </p:sp>
      <p:sp>
        <p:nvSpPr>
          <p:cNvPr id="21" name="Text 18"/>
          <p:cNvSpPr txBox="1"/>
          <p:nvPr/>
        </p:nvSpPr>
        <p:spPr>
          <a:xfrm>
            <a:off x="7818120" y="4572000"/>
            <a:ext cx="3504895" cy="11887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Jill: surgery 17 days later</a:t>
            </a:r>
            <a:endParaRPr lang="en-US" sz="2200" dirty="0"/>
          </a:p>
        </p:txBody>
      </p:sp>
      <p:sp>
        <p:nvSpPr>
          <p:cNvPr id="22" name="Text 19"/>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Xi, Keep &amp; Hoff, Lancet Neurol 2006; Gebel et al., Stroke 2002.</a:t>
            </a:r>
            <a:endParaRPr lang="en-US" sz="1200" dirty="0"/>
          </a:p>
        </p:txBody>
      </p:sp>
      <p:sp>
        <p:nvSpPr>
          <p:cNvPr id="23" name="Text 20"/>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4"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25"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6"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7"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8" name="trk2"/>
          <p:cNvSpPr/>
          <p:nvPr/>
        </p:nvSpPr>
        <p:spPr>
          <a:xfrm>
            <a:off x="9153144" y="6460236"/>
            <a:ext cx="128016" cy="128016"/>
          </a:xfrm>
          <a:prstGeom prst="ellipse">
            <a:avLst/>
          </a:prstGeom>
          <a:solidFill>
            <a:srgbClr val="C1272D"/>
          </a:solidFill>
          <a:ln w="6350">
            <a:solidFill>
              <a:srgbClr val="C1272D"/>
            </a:solidFill>
            <a:prstDash val="solid"/>
          </a:ln>
        </p:spPr>
      </p:sp>
      <p:sp>
        <p:nvSpPr>
          <p:cNvPr id="29"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Days</a:t>
            </a:r>
            <a:endParaRPr lang="en-US" sz="1100" dirty="0"/>
          </a:p>
        </p:txBody>
      </p:sp>
      <p:sp>
        <p:nvSpPr>
          <p:cNvPr id="30"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31"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32"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21</a:t>
            </a:r>
            <a:endParaRPr lang="en-US" sz="11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03 · THE DAYS AFTER</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Three toxins, one result</a:t>
            </a:r>
            <a:endParaRPr lang="en-US" sz="4000" dirty="0"/>
          </a:p>
        </p:txBody>
      </p:sp>
      <p:sp>
        <p:nvSpPr>
          <p:cNvPr id="5" name="Shape 2"/>
          <p:cNvSpPr/>
          <p:nvPr/>
        </p:nvSpPr>
        <p:spPr>
          <a:xfrm>
            <a:off x="1574749" y="1783080"/>
            <a:ext cx="1463040" cy="1463040"/>
          </a:xfrm>
          <a:prstGeom prst="ellipse">
            <a:avLst/>
          </a:prstGeom>
          <a:solidFill>
            <a:srgbClr val="C1272D"/>
          </a:solidFill>
          <a:ln w="6350">
            <a:solidFill>
              <a:srgbClr val="C1272D"/>
            </a:solidFill>
            <a:prstDash val="solid"/>
          </a:ln>
        </p:spPr>
      </p:sp>
      <p:pic>
        <p:nvPicPr>
          <p:cNvPr id="6" name="Image 0" descr="preencoded.png">    </p:cNvPr>
          <p:cNvPicPr>
            <a:picLocks noChangeAspect="1"/>
          </p:cNvPicPr>
          <p:nvPr/>
        </p:nvPicPr>
        <p:blipFill>
          <a:blip r:embed="rId1"/>
          <a:stretch>
            <a:fillRect/>
          </a:stretch>
        </p:blipFill>
        <p:spPr>
          <a:xfrm>
            <a:off x="1940509" y="2148840"/>
            <a:ext cx="731520" cy="731520"/>
          </a:xfrm>
          <a:prstGeom prst="rect">
            <a:avLst/>
          </a:prstGeom>
        </p:spPr>
      </p:pic>
      <p:sp>
        <p:nvSpPr>
          <p:cNvPr id="7" name="Text 3"/>
          <p:cNvSpPr txBox="1"/>
          <p:nvPr/>
        </p:nvSpPr>
        <p:spPr>
          <a:xfrm>
            <a:off x="548640" y="3383280"/>
            <a:ext cx="3515258" cy="594360"/>
          </a:xfrm>
          <a:prstGeom prst="rect">
            <a:avLst/>
          </a:prstGeom>
          <a:noFill/>
          <a:ln/>
        </p:spPr>
        <p:txBody>
          <a:bodyPr wrap="square" lIns="0" tIns="0" rIns="0" bIns="0" rtlCol="0" anchor="ctr"/>
          <a:lstStyle/>
          <a:p>
            <a:pPr algn="ctr" indent="0" marL="0">
              <a:buNone/>
            </a:pPr>
            <a:r>
              <a:rPr lang="en-US" sz="3000" b="1" dirty="0">
                <a:solidFill>
                  <a:srgbClr val="13233A"/>
                </a:solidFill>
                <a:latin typeface="Calibri" pitchFamily="34" charset="0"/>
                <a:ea typeface="Calibri" pitchFamily="34" charset="-122"/>
                <a:cs typeface="Calibri" pitchFamily="34" charset="-120"/>
              </a:rPr>
              <a:t>Thrombin</a:t>
            </a:r>
            <a:endParaRPr lang="en-US" sz="3000" dirty="0"/>
          </a:p>
        </p:txBody>
      </p:sp>
      <p:sp>
        <p:nvSpPr>
          <p:cNvPr id="8" name="Shape 4"/>
          <p:cNvSpPr/>
          <p:nvPr/>
        </p:nvSpPr>
        <p:spPr>
          <a:xfrm>
            <a:off x="2306269" y="4069080"/>
            <a:ext cx="0" cy="502920"/>
          </a:xfrm>
          <a:prstGeom prst="line">
            <a:avLst/>
          </a:prstGeom>
          <a:noFill/>
          <a:ln w="25400">
            <a:solidFill>
              <a:srgbClr val="667285"/>
            </a:solidFill>
            <a:prstDash val="solid"/>
            <a:tailEnd type="triangle"/>
          </a:ln>
        </p:spPr>
      </p:sp>
      <p:sp>
        <p:nvSpPr>
          <p:cNvPr id="9" name="Shape 5"/>
          <p:cNvSpPr/>
          <p:nvPr/>
        </p:nvSpPr>
        <p:spPr>
          <a:xfrm>
            <a:off x="5364328" y="1783080"/>
            <a:ext cx="1463040" cy="1463040"/>
          </a:xfrm>
          <a:prstGeom prst="ellipse">
            <a:avLst/>
          </a:prstGeom>
          <a:solidFill>
            <a:srgbClr val="C1272D"/>
          </a:solidFill>
          <a:ln w="6350">
            <a:solidFill>
              <a:srgbClr val="C1272D"/>
            </a:solidFill>
            <a:prstDash val="solid"/>
          </a:ln>
        </p:spPr>
      </p:sp>
      <p:pic>
        <p:nvPicPr>
          <p:cNvPr id="10" name="Image 1" descr="preencoded.png">    </p:cNvPr>
          <p:cNvPicPr>
            <a:picLocks noChangeAspect="1"/>
          </p:cNvPicPr>
          <p:nvPr/>
        </p:nvPicPr>
        <p:blipFill>
          <a:blip r:embed="rId2"/>
          <a:stretch>
            <a:fillRect/>
          </a:stretch>
        </p:blipFill>
        <p:spPr>
          <a:xfrm>
            <a:off x="5730088" y="2148840"/>
            <a:ext cx="731520" cy="731520"/>
          </a:xfrm>
          <a:prstGeom prst="rect">
            <a:avLst/>
          </a:prstGeom>
        </p:spPr>
      </p:pic>
      <p:sp>
        <p:nvSpPr>
          <p:cNvPr id="11" name="Text 6"/>
          <p:cNvSpPr txBox="1"/>
          <p:nvPr/>
        </p:nvSpPr>
        <p:spPr>
          <a:xfrm>
            <a:off x="4338218" y="3383280"/>
            <a:ext cx="3515258" cy="594360"/>
          </a:xfrm>
          <a:prstGeom prst="rect">
            <a:avLst/>
          </a:prstGeom>
          <a:noFill/>
          <a:ln/>
        </p:spPr>
        <p:txBody>
          <a:bodyPr wrap="square" lIns="0" tIns="0" rIns="0" bIns="0" rtlCol="0" anchor="ctr"/>
          <a:lstStyle/>
          <a:p>
            <a:pPr algn="ctr" indent="0" marL="0">
              <a:buNone/>
            </a:pPr>
            <a:r>
              <a:rPr lang="en-US" sz="3000" b="1" dirty="0">
                <a:solidFill>
                  <a:srgbClr val="13233A"/>
                </a:solidFill>
                <a:latin typeface="Calibri" pitchFamily="34" charset="0"/>
                <a:ea typeface="Calibri" pitchFamily="34" charset="-122"/>
                <a:cs typeface="Calibri" pitchFamily="34" charset="-120"/>
              </a:rPr>
              <a:t>Iron</a:t>
            </a:r>
            <a:endParaRPr lang="en-US" sz="3000" dirty="0"/>
          </a:p>
        </p:txBody>
      </p:sp>
      <p:sp>
        <p:nvSpPr>
          <p:cNvPr id="12" name="Shape 7"/>
          <p:cNvSpPr/>
          <p:nvPr/>
        </p:nvSpPr>
        <p:spPr>
          <a:xfrm>
            <a:off x="6095848" y="4069080"/>
            <a:ext cx="0" cy="502920"/>
          </a:xfrm>
          <a:prstGeom prst="line">
            <a:avLst/>
          </a:prstGeom>
          <a:noFill/>
          <a:ln w="25400">
            <a:solidFill>
              <a:srgbClr val="667285"/>
            </a:solidFill>
            <a:prstDash val="solid"/>
            <a:tailEnd type="triangle"/>
          </a:ln>
        </p:spPr>
      </p:sp>
      <p:sp>
        <p:nvSpPr>
          <p:cNvPr id="13" name="Shape 8"/>
          <p:cNvSpPr/>
          <p:nvPr/>
        </p:nvSpPr>
        <p:spPr>
          <a:xfrm>
            <a:off x="9153906" y="1783080"/>
            <a:ext cx="1463040" cy="1463040"/>
          </a:xfrm>
          <a:prstGeom prst="ellipse">
            <a:avLst/>
          </a:prstGeom>
          <a:solidFill>
            <a:srgbClr val="C1272D"/>
          </a:solidFill>
          <a:ln w="6350">
            <a:solidFill>
              <a:srgbClr val="C1272D"/>
            </a:solidFill>
            <a:prstDash val="solid"/>
          </a:ln>
        </p:spPr>
      </p:sp>
      <p:pic>
        <p:nvPicPr>
          <p:cNvPr id="14" name="Image 2" descr="preencoded.png">    </p:cNvPr>
          <p:cNvPicPr>
            <a:picLocks noChangeAspect="1"/>
          </p:cNvPicPr>
          <p:nvPr/>
        </p:nvPicPr>
        <p:blipFill>
          <a:blip r:embed="rId3"/>
          <a:stretch>
            <a:fillRect/>
          </a:stretch>
        </p:blipFill>
        <p:spPr>
          <a:xfrm>
            <a:off x="9519666" y="2148840"/>
            <a:ext cx="731520" cy="731520"/>
          </a:xfrm>
          <a:prstGeom prst="rect">
            <a:avLst/>
          </a:prstGeom>
        </p:spPr>
      </p:pic>
      <p:sp>
        <p:nvSpPr>
          <p:cNvPr id="15" name="Text 9"/>
          <p:cNvSpPr txBox="1"/>
          <p:nvPr/>
        </p:nvSpPr>
        <p:spPr>
          <a:xfrm>
            <a:off x="8127797" y="3383280"/>
            <a:ext cx="3515258" cy="594360"/>
          </a:xfrm>
          <a:prstGeom prst="rect">
            <a:avLst/>
          </a:prstGeom>
          <a:noFill/>
          <a:ln/>
        </p:spPr>
        <p:txBody>
          <a:bodyPr wrap="square" lIns="0" tIns="0" rIns="0" bIns="0" rtlCol="0" anchor="ctr"/>
          <a:lstStyle/>
          <a:p>
            <a:pPr algn="ctr" indent="0" marL="0">
              <a:buNone/>
            </a:pPr>
            <a:r>
              <a:rPr lang="en-US" sz="3000" b="1" dirty="0">
                <a:solidFill>
                  <a:srgbClr val="13233A"/>
                </a:solidFill>
                <a:latin typeface="Calibri" pitchFamily="34" charset="0"/>
                <a:ea typeface="Calibri" pitchFamily="34" charset="-122"/>
                <a:cs typeface="Calibri" pitchFamily="34" charset="-120"/>
              </a:rPr>
              <a:t>Inflammation</a:t>
            </a:r>
            <a:endParaRPr lang="en-US" sz="3000" dirty="0"/>
          </a:p>
        </p:txBody>
      </p:sp>
      <p:sp>
        <p:nvSpPr>
          <p:cNvPr id="16" name="Shape 10"/>
          <p:cNvSpPr/>
          <p:nvPr/>
        </p:nvSpPr>
        <p:spPr>
          <a:xfrm>
            <a:off x="9885426" y="4069080"/>
            <a:ext cx="0" cy="502920"/>
          </a:xfrm>
          <a:prstGeom prst="line">
            <a:avLst/>
          </a:prstGeom>
          <a:noFill/>
          <a:ln w="25400">
            <a:solidFill>
              <a:srgbClr val="667285"/>
            </a:solidFill>
            <a:prstDash val="solid"/>
            <a:tailEnd type="triangle"/>
          </a:ln>
        </p:spPr>
      </p:sp>
      <p:sp>
        <p:nvSpPr>
          <p:cNvPr id="17" name="Shape 11"/>
          <p:cNvSpPr/>
          <p:nvPr/>
        </p:nvSpPr>
        <p:spPr>
          <a:xfrm>
            <a:off x="548640" y="4663440"/>
            <a:ext cx="11094415" cy="1097280"/>
          </a:xfrm>
          <a:prstGeom prst="roundRect">
            <a:avLst>
              <a:gd name="adj" fmla="val 8333"/>
            </a:avLst>
          </a:prstGeom>
          <a:solidFill>
            <a:srgbClr val="13233A"/>
          </a:solidFill>
          <a:ln w="6350">
            <a:solidFill>
              <a:srgbClr val="13233A"/>
            </a:solidFill>
            <a:prstDash val="solid"/>
          </a:ln>
        </p:spPr>
      </p:sp>
      <p:sp>
        <p:nvSpPr>
          <p:cNvPr id="18" name="Text 12"/>
          <p:cNvSpPr txBox="1"/>
          <p:nvPr/>
        </p:nvSpPr>
        <p:spPr>
          <a:xfrm>
            <a:off x="548640" y="4663440"/>
            <a:ext cx="11094415"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Leaky barrier   →   more oedema   →   neuronal death</a:t>
            </a:r>
            <a:endParaRPr lang="en-US" sz="3000" dirty="0"/>
          </a:p>
        </p:txBody>
      </p:sp>
      <p:sp>
        <p:nvSpPr>
          <p:cNvPr id="19" name="Text 13"/>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Xi, Keep &amp; Hoff, Lancet Neurol 2006. Mostly from animal models.</a:t>
            </a:r>
            <a:endParaRPr lang="en-US" sz="1200" dirty="0"/>
          </a:p>
        </p:txBody>
      </p:sp>
      <p:sp>
        <p:nvSpPr>
          <p:cNvPr id="20" name="Text 14"/>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1"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22"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3"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4"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5" name="trk2"/>
          <p:cNvSpPr/>
          <p:nvPr/>
        </p:nvSpPr>
        <p:spPr>
          <a:xfrm>
            <a:off x="9153144" y="6460236"/>
            <a:ext cx="128016" cy="128016"/>
          </a:xfrm>
          <a:prstGeom prst="ellipse">
            <a:avLst/>
          </a:prstGeom>
          <a:solidFill>
            <a:srgbClr val="C1272D"/>
          </a:solidFill>
          <a:ln w="6350">
            <a:solidFill>
              <a:srgbClr val="C1272D"/>
            </a:solidFill>
            <a:prstDash val="solid"/>
          </a:ln>
        </p:spPr>
      </p:sp>
      <p:sp>
        <p:nvSpPr>
          <p:cNvPr id="26"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Days</a:t>
            </a:r>
            <a:endParaRPr lang="en-US" sz="1100" dirty="0"/>
          </a:p>
        </p:txBody>
      </p:sp>
      <p:sp>
        <p:nvSpPr>
          <p:cNvPr id="27"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28"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9"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22</a:t>
            </a:r>
            <a:endParaRPr lang="en-US" sz="11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TRUE OR FALSE?</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True or false?</a:t>
            </a:r>
            <a:endParaRPr lang="en-US" sz="4000" dirty="0"/>
          </a:p>
        </p:txBody>
      </p:sp>
      <p:sp>
        <p:nvSpPr>
          <p:cNvPr id="5" name="!!claimcard"/>
          <p:cNvSpPr/>
          <p:nvPr/>
        </p:nvSpPr>
        <p:spPr>
          <a:xfrm>
            <a:off x="548640" y="1920240"/>
            <a:ext cx="11094415" cy="2926080"/>
          </a:xfrm>
          <a:prstGeom prst="roundRect">
            <a:avLst>
              <a:gd name="adj" fmla="val 3125"/>
            </a:avLst>
          </a:prstGeom>
          <a:solidFill>
            <a:srgbClr val="E8EDF3"/>
          </a:solidFill>
          <a:ln w="6350">
            <a:solidFill>
              <a:srgbClr val="E8EDF3"/>
            </a:solidFill>
            <a:prstDash val="solid"/>
          </a:ln>
        </p:spPr>
      </p:sp>
      <p:sp>
        <p:nvSpPr>
          <p:cNvPr id="6" name="!!claim"/>
          <p:cNvSpPr txBox="1"/>
          <p:nvPr/>
        </p:nvSpPr>
        <p:spPr>
          <a:xfrm>
            <a:off x="1097280" y="1920240"/>
            <a:ext cx="9997135" cy="2926080"/>
          </a:xfrm>
          <a:prstGeom prst="rect">
            <a:avLst/>
          </a:prstGeom>
          <a:noFill/>
          <a:ln/>
        </p:spPr>
        <p:txBody>
          <a:bodyPr wrap="square" lIns="0" tIns="0" rIns="0" bIns="0" rtlCol="0" anchor="ctr"/>
          <a:lstStyle/>
          <a:p>
            <a:pPr algn="ctr" indent="0" marL="0">
              <a:buNone/>
            </a:pPr>
            <a:r>
              <a:rPr lang="en-US" sz="4400" b="1" i="1" dirty="0">
                <a:solidFill>
                  <a:srgbClr val="13233A"/>
                </a:solidFill>
                <a:latin typeface="Cambria" pitchFamily="34" charset="0"/>
                <a:ea typeface="Cambria" pitchFamily="34" charset="-122"/>
                <a:cs typeface="Cambria" pitchFamily="34" charset="-120"/>
              </a:rPr>
              <a:t>“The rim around the clot is starving tissue.”</a:t>
            </a:r>
            <a:endParaRPr lang="en-US" sz="4400" dirty="0"/>
          </a:p>
        </p:txBody>
      </p:sp>
      <p:sp>
        <p:nvSpPr>
          <p:cNvPr id="7" name="Text 4"/>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8"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9"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0"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1"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2" name="trk2"/>
          <p:cNvSpPr/>
          <p:nvPr/>
        </p:nvSpPr>
        <p:spPr>
          <a:xfrm>
            <a:off x="9153144" y="6460236"/>
            <a:ext cx="128016" cy="128016"/>
          </a:xfrm>
          <a:prstGeom prst="ellipse">
            <a:avLst/>
          </a:prstGeom>
          <a:solidFill>
            <a:srgbClr val="C1272D"/>
          </a:solidFill>
          <a:ln w="6350">
            <a:solidFill>
              <a:srgbClr val="C1272D"/>
            </a:solidFill>
            <a:prstDash val="solid"/>
          </a:ln>
        </p:spPr>
      </p:sp>
      <p:sp>
        <p:nvSpPr>
          <p:cNvPr id="13"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Days</a:t>
            </a:r>
            <a:endParaRPr lang="en-US" sz="1100" dirty="0"/>
          </a:p>
        </p:txBody>
      </p:sp>
      <p:sp>
        <p:nvSpPr>
          <p:cNvPr id="14"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5"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16"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23</a:t>
            </a:r>
            <a:endParaRPr lang="en-US" sz="11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YOUR TURN  ·  TRUE OR FALSE?</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C1272D"/>
                </a:solidFill>
                <a:latin typeface="Cambria" pitchFamily="34" charset="0"/>
                <a:ea typeface="Cambria" pitchFamily="34" charset="-122"/>
                <a:cs typeface="Cambria" pitchFamily="34" charset="-120"/>
              </a:rPr>
              <a:t>False: the rim is resting, not starving</a:t>
            </a:r>
            <a:endParaRPr lang="en-US" sz="4000" dirty="0"/>
          </a:p>
        </p:txBody>
      </p:sp>
      <p:sp>
        <p:nvSpPr>
          <p:cNvPr id="5" name="!!claimcard"/>
          <p:cNvSpPr/>
          <p:nvPr/>
        </p:nvSpPr>
        <p:spPr>
          <a:xfrm>
            <a:off x="548640" y="1783080"/>
            <a:ext cx="4023360" cy="3977640"/>
          </a:xfrm>
          <a:prstGeom prst="roundRect">
            <a:avLst>
              <a:gd name="adj" fmla="val 2299"/>
            </a:avLst>
          </a:prstGeom>
          <a:solidFill>
            <a:srgbClr val="E8EDF3"/>
          </a:solidFill>
          <a:ln w="6350">
            <a:solidFill>
              <a:srgbClr val="E8EDF3"/>
            </a:solidFill>
            <a:prstDash val="solid"/>
          </a:ln>
        </p:spPr>
      </p:sp>
      <p:sp>
        <p:nvSpPr>
          <p:cNvPr id="6" name="!!claim"/>
          <p:cNvSpPr txBox="1"/>
          <p:nvPr/>
        </p:nvSpPr>
        <p:spPr>
          <a:xfrm>
            <a:off x="868680" y="1783080"/>
            <a:ext cx="3383280" cy="2103120"/>
          </a:xfrm>
          <a:prstGeom prst="rect">
            <a:avLst/>
          </a:prstGeom>
          <a:noFill/>
          <a:ln/>
        </p:spPr>
        <p:txBody>
          <a:bodyPr wrap="square" lIns="0" tIns="0" rIns="0" bIns="0" rtlCol="0" anchor="ctr"/>
          <a:lstStyle/>
          <a:p>
            <a:pPr indent="0" marL="0">
              <a:buNone/>
            </a:pPr>
            <a:r>
              <a:rPr lang="en-US" sz="2400" b="1" i="1" dirty="0">
                <a:solidFill>
                  <a:srgbClr val="667285"/>
                </a:solidFill>
                <a:latin typeface="Cambria" pitchFamily="34" charset="0"/>
                <a:ea typeface="Cambria" pitchFamily="34" charset="-122"/>
                <a:cs typeface="Cambria" pitchFamily="34" charset="-120"/>
              </a:rPr>
              <a:t>“The rim around the clot is starving tissue.”</a:t>
            </a:r>
            <a:endParaRPr lang="en-US" sz="2400" dirty="0"/>
          </a:p>
        </p:txBody>
      </p:sp>
      <p:sp>
        <p:nvSpPr>
          <p:cNvPr id="7" name="Text 4"/>
          <p:cNvSpPr txBox="1"/>
          <p:nvPr/>
        </p:nvSpPr>
        <p:spPr>
          <a:xfrm>
            <a:off x="868680" y="3931920"/>
            <a:ext cx="3383280" cy="1645920"/>
          </a:xfrm>
          <a:prstGeom prst="rect">
            <a:avLst/>
          </a:prstGeom>
          <a:noFill/>
          <a:ln/>
        </p:spPr>
        <p:txBody>
          <a:bodyPr wrap="square" lIns="0" tIns="0" rIns="0" bIns="0" rtlCol="0" anchor="t"/>
          <a:lstStyle/>
          <a:p>
            <a:pPr indent="0" marL="0">
              <a:buNone/>
            </a:pPr>
            <a:r>
              <a:rPr lang="en-US" sz="2000" b="1" dirty="0">
                <a:solidFill>
                  <a:srgbClr val="13233A"/>
                </a:solidFill>
                <a:latin typeface="Calibri" pitchFamily="34" charset="0"/>
                <a:ea typeface="Calibri" pitchFamily="34" charset="-122"/>
                <a:cs typeface="Calibri" pitchFamily="34" charset="-120"/>
              </a:rPr>
              <a:t>Lowering BP below 150 did not reduce flow around the clot (ICH ADAPT).</a:t>
            </a:r>
            <a:endParaRPr lang="en-US" sz="2000" dirty="0"/>
          </a:p>
        </p:txBody>
      </p:sp>
      <p:sp>
        <p:nvSpPr>
          <p:cNvPr id="8" name="Text 5"/>
          <p:cNvSpPr txBox="1"/>
          <p:nvPr/>
        </p:nvSpPr>
        <p:spPr>
          <a:xfrm>
            <a:off x="4937760" y="1783080"/>
            <a:ext cx="6705295" cy="411480"/>
          </a:xfrm>
          <a:prstGeom prst="rect">
            <a:avLst/>
          </a:prstGeom>
          <a:noFill/>
          <a:ln/>
        </p:spPr>
        <p:txBody>
          <a:bodyPr wrap="square" lIns="0" tIns="0" rIns="0" bIns="0" rtlCol="0" anchor="ctr"/>
          <a:lstStyle/>
          <a:p>
            <a:pPr indent="0" marL="0">
              <a:buNone/>
            </a:pPr>
            <a:r>
              <a:rPr lang="en-US" sz="1800" b="1" dirty="0">
                <a:solidFill>
                  <a:srgbClr val="13233A"/>
                </a:solidFill>
                <a:latin typeface="Calibri" pitchFamily="34" charset="0"/>
                <a:ea typeface="Calibri" pitchFamily="34" charset="-122"/>
                <a:cs typeface="Calibri" pitchFamily="34" charset="-120"/>
              </a:rPr>
              <a:t>Rim vs the same area on the other side (PET)</a:t>
            </a:r>
            <a:endParaRPr lang="en-US" sz="1800" dirty="0"/>
          </a:p>
        </p:txBody>
      </p:sp>
      <p:graphicFrame>
        <p:nvGraphicFramePr>
          <p:cNvPr id="9" name="Chart 0" descr=""/>
          <p:cNvGraphicFramePr/>
          <p:nvPr/>
        </p:nvGraphicFramePr>
        <p:xfrm>
          <a:off x="4937760" y="2194560"/>
          <a:ext cx="6705295" cy="36118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Zazulia et al., J Cereb Blood Flow Metab 2001 (n = 19, 5–22 h after onset); Butcher et al., Stroke 2013.</a:t>
            </a:r>
            <a:endParaRPr lang="en-US" sz="1200" dirty="0"/>
          </a:p>
        </p:txBody>
      </p:sp>
      <p:sp>
        <p:nvSpPr>
          <p:cNvPr id="11" name="Text 7"/>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2"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3"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4"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5"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6" name="trk2"/>
          <p:cNvSpPr/>
          <p:nvPr/>
        </p:nvSpPr>
        <p:spPr>
          <a:xfrm>
            <a:off x="9153144" y="6460236"/>
            <a:ext cx="128016" cy="128016"/>
          </a:xfrm>
          <a:prstGeom prst="ellipse">
            <a:avLst/>
          </a:prstGeom>
          <a:solidFill>
            <a:srgbClr val="C1272D"/>
          </a:solidFill>
          <a:ln w="6350">
            <a:solidFill>
              <a:srgbClr val="C1272D"/>
            </a:solidFill>
            <a:prstDash val="solid"/>
          </a:ln>
        </p:spPr>
      </p:sp>
      <p:sp>
        <p:nvSpPr>
          <p:cNvPr id="17"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Days</a:t>
            </a:r>
            <a:endParaRPr lang="en-US" sz="1100" dirty="0"/>
          </a:p>
        </p:txBody>
      </p:sp>
      <p:sp>
        <p:nvSpPr>
          <p:cNvPr id="18"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19"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20"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24</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6583680" y="685800"/>
            <a:ext cx="5486400" cy="5486400"/>
          </a:xfrm>
          <a:prstGeom prst="ellipse">
            <a:avLst/>
          </a:prstGeom>
          <a:solidFill>
            <a:srgbClr val="FFFFFF">
              <a:alpha val="0"/>
            </a:srgbClr>
          </a:solidFill>
          <a:ln w="12700">
            <a:solidFill>
              <a:srgbClr val="3E5C76"/>
            </a:solidFill>
            <a:prstDash val="solid"/>
          </a:ln>
        </p:spPr>
      </p:sp>
      <p:sp>
        <p:nvSpPr>
          <p:cNvPr id="4" name="!!halo0"/>
          <p:cNvSpPr/>
          <p:nvPr/>
        </p:nvSpPr>
        <p:spPr>
          <a:xfrm>
            <a:off x="7223760" y="1325880"/>
            <a:ext cx="4206240" cy="4206240"/>
          </a:xfrm>
          <a:prstGeom prst="ellipse">
            <a:avLst/>
          </a:prstGeom>
          <a:solidFill>
            <a:srgbClr val="C1272D">
              <a:alpha val="10000"/>
            </a:srgbClr>
          </a:solidFill>
          <a:ln w="6350">
            <a:solidFill>
              <a:srgbClr val="C1272D">
                <a:alpha val="0"/>
              </a:srgbClr>
            </a:solidFill>
            <a:prstDash val="solid"/>
          </a:ln>
        </p:spPr>
      </p:sp>
      <p:sp>
        <p:nvSpPr>
          <p:cNvPr id="5" name="!!halo1"/>
          <p:cNvSpPr/>
          <p:nvPr/>
        </p:nvSpPr>
        <p:spPr>
          <a:xfrm>
            <a:off x="7635240" y="1737360"/>
            <a:ext cx="3383280" cy="3383280"/>
          </a:xfrm>
          <a:prstGeom prst="ellipse">
            <a:avLst/>
          </a:prstGeom>
          <a:solidFill>
            <a:srgbClr val="C1272D">
              <a:alpha val="20000"/>
            </a:srgbClr>
          </a:solidFill>
          <a:ln w="6350">
            <a:solidFill>
              <a:srgbClr val="C1272D">
                <a:alpha val="0"/>
              </a:srgbClr>
            </a:solidFill>
            <a:prstDash val="solid"/>
          </a:ln>
        </p:spPr>
      </p:sp>
      <p:sp>
        <p:nvSpPr>
          <p:cNvPr id="6" name="!!bleed"/>
          <p:cNvSpPr/>
          <p:nvPr/>
        </p:nvSpPr>
        <p:spPr>
          <a:xfrm>
            <a:off x="8092440" y="2194560"/>
            <a:ext cx="2468880" cy="2468880"/>
          </a:xfrm>
          <a:prstGeom prst="ellipse">
            <a:avLst/>
          </a:prstGeom>
          <a:solidFill>
            <a:srgbClr val="C1272D"/>
          </a:solidFill>
          <a:ln w="6350">
            <a:solidFill>
              <a:srgbClr val="C1272D"/>
            </a:solidFill>
            <a:prstDash val="solid"/>
          </a:ln>
        </p:spPr>
      </p:sp>
      <p:sp>
        <p:nvSpPr>
          <p:cNvPr id="7" name="Text 4"/>
          <p:cNvSpPr txBox="1"/>
          <p:nvPr/>
        </p:nvSpPr>
        <p:spPr>
          <a:xfrm>
            <a:off x="731520" y="1325880"/>
            <a:ext cx="2743200" cy="1463040"/>
          </a:xfrm>
          <a:prstGeom prst="rect">
            <a:avLst/>
          </a:prstGeom>
          <a:noFill/>
          <a:ln/>
        </p:spPr>
        <p:txBody>
          <a:bodyPr wrap="square" lIns="0" tIns="0" rIns="0" bIns="0" rtlCol="0" anchor="b"/>
          <a:lstStyle/>
          <a:p>
            <a:pPr indent="0" marL="0">
              <a:buNone/>
            </a:pPr>
            <a:r>
              <a:rPr lang="en-US" sz="11000" b="1" dirty="0">
                <a:solidFill>
                  <a:srgbClr val="E0474C"/>
                </a:solidFill>
                <a:latin typeface="Cambria" pitchFamily="34" charset="0"/>
                <a:ea typeface="Cambria" pitchFamily="34" charset="-122"/>
                <a:cs typeface="Cambria" pitchFamily="34" charset="-120"/>
              </a:rPr>
              <a:t>04</a:t>
            </a:r>
            <a:endParaRPr lang="en-US" sz="11000" dirty="0"/>
          </a:p>
        </p:txBody>
      </p:sp>
      <p:sp>
        <p:nvSpPr>
          <p:cNvPr id="8" name="Text 5"/>
          <p:cNvSpPr txBox="1"/>
          <p:nvPr/>
        </p:nvSpPr>
        <p:spPr>
          <a:xfrm>
            <a:off x="731520" y="2926080"/>
            <a:ext cx="62179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At the bedside</a:t>
            </a:r>
            <a:endParaRPr lang="en-US" sz="5400" dirty="0"/>
          </a:p>
        </p:txBody>
      </p:sp>
      <p:sp>
        <p:nvSpPr>
          <p:cNvPr id="9" name="Text 6"/>
          <p:cNvSpPr txBox="1"/>
          <p:nvPr/>
        </p:nvSpPr>
        <p:spPr>
          <a:xfrm>
            <a:off x="731520" y="3931920"/>
            <a:ext cx="5760720" cy="822960"/>
          </a:xfrm>
          <a:prstGeom prst="rect">
            <a:avLst/>
          </a:prstGeom>
          <a:noFill/>
          <a:ln/>
        </p:spPr>
        <p:txBody>
          <a:bodyPr wrap="square" lIns="0" tIns="0" rIns="0" bIns="0" rtlCol="0" anchor="t"/>
          <a:lstStyle/>
          <a:p>
            <a:pPr indent="0" marL="0">
              <a:buNone/>
            </a:pPr>
            <a:r>
              <a:rPr lang="en-US" sz="2600" dirty="0">
                <a:solidFill>
                  <a:srgbClr val="C9D3E0"/>
                </a:solidFill>
                <a:latin typeface="Calibri" pitchFamily="34" charset="0"/>
                <a:ea typeface="Calibri" pitchFamily="34" charset="-122"/>
                <a:cs typeface="Calibri" pitchFamily="34" charset="-120"/>
              </a:rPr>
              <a:t>Every stage is a window</a:t>
            </a:r>
            <a:endParaRPr lang="en-US" sz="2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04 · AT THE BEDSIDE</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Every stage is a window to act</a:t>
            </a:r>
            <a:endParaRPr lang="en-US" sz="4000" dirty="0"/>
          </a:p>
        </p:txBody>
      </p:sp>
      <p:sp>
        <p:nvSpPr>
          <p:cNvPr id="5" name="Shape 2"/>
          <p:cNvSpPr/>
          <p:nvPr/>
        </p:nvSpPr>
        <p:spPr>
          <a:xfrm>
            <a:off x="548640" y="1783080"/>
            <a:ext cx="11094415" cy="1188720"/>
          </a:xfrm>
          <a:prstGeom prst="roundRect">
            <a:avLst>
              <a:gd name="adj" fmla="val 7692"/>
            </a:avLst>
          </a:prstGeom>
          <a:solidFill>
            <a:srgbClr val="E8EDF3"/>
          </a:solidFill>
          <a:ln w="6350">
            <a:solidFill>
              <a:srgbClr val="E8EDF3"/>
            </a:solidFill>
            <a:prstDash val="solid"/>
          </a:ln>
        </p:spPr>
      </p:sp>
      <p:sp>
        <p:nvSpPr>
          <p:cNvPr id="6" name="Shape 3"/>
          <p:cNvSpPr/>
          <p:nvPr/>
        </p:nvSpPr>
        <p:spPr>
          <a:xfrm>
            <a:off x="804672" y="2011680"/>
            <a:ext cx="731520" cy="731520"/>
          </a:xfrm>
          <a:prstGeom prst="ellipse">
            <a:avLst/>
          </a:prstGeom>
          <a:solidFill>
            <a:srgbClr val="13233A"/>
          </a:solidFill>
          <a:ln w="6350">
            <a:solidFill>
              <a:srgbClr val="13233A"/>
            </a:solidFill>
            <a:prstDash val="solid"/>
          </a:ln>
        </p:spPr>
      </p:sp>
      <p:pic>
        <p:nvPicPr>
          <p:cNvPr id="7" name="Image 0" descr="preencoded.png">    </p:cNvPr>
          <p:cNvPicPr>
            <a:picLocks noChangeAspect="1"/>
          </p:cNvPicPr>
          <p:nvPr/>
        </p:nvPicPr>
        <p:blipFill>
          <a:blip r:embed="rId1"/>
          <a:stretch>
            <a:fillRect/>
          </a:stretch>
        </p:blipFill>
        <p:spPr>
          <a:xfrm>
            <a:off x="987552" y="2194560"/>
            <a:ext cx="365760" cy="365760"/>
          </a:xfrm>
          <a:prstGeom prst="rect">
            <a:avLst/>
          </a:prstGeom>
        </p:spPr>
      </p:pic>
      <p:sp>
        <p:nvSpPr>
          <p:cNvPr id="8" name="Text 4"/>
          <p:cNvSpPr txBox="1"/>
          <p:nvPr/>
        </p:nvSpPr>
        <p:spPr>
          <a:xfrm>
            <a:off x="1737360" y="1783080"/>
            <a:ext cx="2651760" cy="713232"/>
          </a:xfrm>
          <a:prstGeom prst="rect">
            <a:avLst/>
          </a:prstGeom>
          <a:noFill/>
          <a:ln/>
        </p:spPr>
        <p:txBody>
          <a:bodyPr wrap="square" lIns="0" tIns="0" rIns="0" bIns="0" rtlCol="0" anchor="b"/>
          <a:lstStyle/>
          <a:p>
            <a:pPr indent="0" marL="0">
              <a:buNone/>
            </a:pPr>
            <a:r>
              <a:rPr lang="en-US" sz="2600" b="1" dirty="0">
                <a:solidFill>
                  <a:srgbClr val="13233A"/>
                </a:solidFill>
                <a:latin typeface="Calibri" pitchFamily="34" charset="0"/>
                <a:ea typeface="Calibri" pitchFamily="34" charset="-122"/>
                <a:cs typeface="Calibri" pitchFamily="34" charset="-120"/>
              </a:rPr>
              <a:t>The vessel</a:t>
            </a:r>
            <a:endParaRPr lang="en-US" sz="2600" dirty="0"/>
          </a:p>
        </p:txBody>
      </p:sp>
      <p:sp>
        <p:nvSpPr>
          <p:cNvPr id="9" name="Text 5"/>
          <p:cNvSpPr txBox="1"/>
          <p:nvPr/>
        </p:nvSpPr>
        <p:spPr>
          <a:xfrm>
            <a:off x="1737360" y="2496312"/>
            <a:ext cx="2651760" cy="384048"/>
          </a:xfrm>
          <a:prstGeom prst="rect">
            <a:avLst/>
          </a:prstGeom>
          <a:noFill/>
          <a:ln/>
        </p:spPr>
        <p:txBody>
          <a:bodyPr wrap="square" lIns="0" tIns="0" rIns="0" bIns="0" rtlCol="0" anchor="t"/>
          <a:lstStyle/>
          <a:p>
            <a:pPr indent="0" marL="0">
              <a:buNone/>
            </a:pPr>
            <a:r>
              <a:rPr lang="en-US" sz="1600" b="1" dirty="0">
                <a:solidFill>
                  <a:srgbClr val="3E5C76"/>
                </a:solidFill>
                <a:latin typeface="Calibri" pitchFamily="34" charset="0"/>
                <a:ea typeface="Calibri" pitchFamily="34" charset="-122"/>
                <a:cs typeface="Calibri" pitchFamily="34" charset="-120"/>
              </a:rPr>
              <a:t>Before and after</a:t>
            </a:r>
            <a:endParaRPr lang="en-US" sz="1600" dirty="0"/>
          </a:p>
        </p:txBody>
      </p:sp>
      <p:sp>
        <p:nvSpPr>
          <p:cNvPr id="10" name="Text 6"/>
          <p:cNvSpPr txBox="1"/>
          <p:nvPr/>
        </p:nvSpPr>
        <p:spPr>
          <a:xfrm>
            <a:off x="4572000" y="1783080"/>
            <a:ext cx="6858000" cy="1188720"/>
          </a:xfrm>
          <a:prstGeom prst="rect">
            <a:avLst/>
          </a:prstGeom>
          <a:noFill/>
          <a:ln/>
        </p:spPr>
        <p:txBody>
          <a:bodyPr wrap="square" lIns="0" tIns="0" rIns="0" bIns="0" rtlCol="0" anchor="ctr"/>
          <a:lstStyle/>
          <a:p>
            <a:pPr indent="0" marL="0">
              <a:buNone/>
            </a:pPr>
            <a:r>
              <a:rPr lang="en-US" sz="2400" dirty="0">
                <a:solidFill>
                  <a:srgbClr val="1B2230"/>
                </a:solidFill>
                <a:latin typeface="Calibri" pitchFamily="34" charset="0"/>
                <a:ea typeface="Calibri" pitchFamily="34" charset="-122"/>
                <a:cs typeface="Calibri" pitchFamily="34" charset="-120"/>
              </a:rPr>
              <a:t>Control blood pressure. Review antithrombotics.</a:t>
            </a:r>
            <a:endParaRPr lang="en-US" sz="2400" dirty="0"/>
          </a:p>
        </p:txBody>
      </p:sp>
      <p:sp>
        <p:nvSpPr>
          <p:cNvPr id="11" name="Shape 7"/>
          <p:cNvSpPr/>
          <p:nvPr/>
        </p:nvSpPr>
        <p:spPr>
          <a:xfrm>
            <a:off x="548640" y="3127248"/>
            <a:ext cx="11094415" cy="1188720"/>
          </a:xfrm>
          <a:prstGeom prst="roundRect">
            <a:avLst>
              <a:gd name="adj" fmla="val 7692"/>
            </a:avLst>
          </a:prstGeom>
          <a:solidFill>
            <a:srgbClr val="F6DCDD"/>
          </a:solidFill>
          <a:ln w="6350">
            <a:solidFill>
              <a:srgbClr val="F6DCDD"/>
            </a:solidFill>
            <a:prstDash val="solid"/>
          </a:ln>
        </p:spPr>
      </p:sp>
      <p:sp>
        <p:nvSpPr>
          <p:cNvPr id="12" name="Shape 8"/>
          <p:cNvSpPr/>
          <p:nvPr/>
        </p:nvSpPr>
        <p:spPr>
          <a:xfrm>
            <a:off x="804672" y="3355848"/>
            <a:ext cx="731520" cy="731520"/>
          </a:xfrm>
          <a:prstGeom prst="ellipse">
            <a:avLst/>
          </a:prstGeom>
          <a:solidFill>
            <a:srgbClr val="C1272D"/>
          </a:solidFill>
          <a:ln w="6350">
            <a:solidFill>
              <a:srgbClr val="C1272D"/>
            </a:solidFill>
            <a:prstDash val="solid"/>
          </a:ln>
        </p:spPr>
      </p:sp>
      <p:pic>
        <p:nvPicPr>
          <p:cNvPr id="13" name="Image 1" descr="preencoded.png">    </p:cNvPr>
          <p:cNvPicPr>
            <a:picLocks noChangeAspect="1"/>
          </p:cNvPicPr>
          <p:nvPr/>
        </p:nvPicPr>
        <p:blipFill>
          <a:blip r:embed="rId2"/>
          <a:stretch>
            <a:fillRect/>
          </a:stretch>
        </p:blipFill>
        <p:spPr>
          <a:xfrm>
            <a:off x="987552" y="3538728"/>
            <a:ext cx="365760" cy="365760"/>
          </a:xfrm>
          <a:prstGeom prst="rect">
            <a:avLst/>
          </a:prstGeom>
        </p:spPr>
      </p:pic>
      <p:sp>
        <p:nvSpPr>
          <p:cNvPr id="14" name="Text 9"/>
          <p:cNvSpPr txBox="1"/>
          <p:nvPr/>
        </p:nvSpPr>
        <p:spPr>
          <a:xfrm>
            <a:off x="1737360" y="3127248"/>
            <a:ext cx="2651760" cy="713232"/>
          </a:xfrm>
          <a:prstGeom prst="rect">
            <a:avLst/>
          </a:prstGeom>
          <a:noFill/>
          <a:ln/>
        </p:spPr>
        <p:txBody>
          <a:bodyPr wrap="square" lIns="0" tIns="0" rIns="0" bIns="0" rtlCol="0" anchor="b"/>
          <a:lstStyle/>
          <a:p>
            <a:pPr indent="0" marL="0">
              <a:buNone/>
            </a:pPr>
            <a:r>
              <a:rPr lang="en-US" sz="2600" b="1" dirty="0">
                <a:solidFill>
                  <a:srgbClr val="13233A"/>
                </a:solidFill>
                <a:latin typeface="Calibri" pitchFamily="34" charset="0"/>
                <a:ea typeface="Calibri" pitchFamily="34" charset="-122"/>
                <a:cs typeface="Calibri" pitchFamily="34" charset="-120"/>
              </a:rPr>
              <a:t>The first hours</a:t>
            </a:r>
            <a:endParaRPr lang="en-US" sz="2600" dirty="0"/>
          </a:p>
        </p:txBody>
      </p:sp>
      <p:sp>
        <p:nvSpPr>
          <p:cNvPr id="15" name="Text 10"/>
          <p:cNvSpPr txBox="1"/>
          <p:nvPr/>
        </p:nvSpPr>
        <p:spPr>
          <a:xfrm>
            <a:off x="1737360" y="3840480"/>
            <a:ext cx="2651760" cy="384048"/>
          </a:xfrm>
          <a:prstGeom prst="rect">
            <a:avLst/>
          </a:prstGeom>
          <a:noFill/>
          <a:ln/>
        </p:spPr>
        <p:txBody>
          <a:bodyPr wrap="square" lIns="0" tIns="0" rIns="0" bIns="0" rtlCol="0" anchor="t"/>
          <a:lstStyle/>
          <a:p>
            <a:pPr indent="0" marL="0">
              <a:buNone/>
            </a:pPr>
            <a:r>
              <a:rPr lang="en-US" sz="1600" b="1" dirty="0">
                <a:solidFill>
                  <a:srgbClr val="8E1B1F"/>
                </a:solidFill>
                <a:latin typeface="Calibri" pitchFamily="34" charset="0"/>
                <a:ea typeface="Calibri" pitchFamily="34" charset="-122"/>
                <a:cs typeface="Calibri" pitchFamily="34" charset="-120"/>
              </a:rPr>
              <a:t>First 24 hours</a:t>
            </a:r>
            <a:endParaRPr lang="en-US" sz="1600" dirty="0"/>
          </a:p>
        </p:txBody>
      </p:sp>
      <p:sp>
        <p:nvSpPr>
          <p:cNvPr id="16" name="Text 11"/>
          <p:cNvSpPr txBox="1"/>
          <p:nvPr/>
        </p:nvSpPr>
        <p:spPr>
          <a:xfrm>
            <a:off x="4572000" y="3127248"/>
            <a:ext cx="6858000" cy="1188720"/>
          </a:xfrm>
          <a:prstGeom prst="rect">
            <a:avLst/>
          </a:prstGeom>
          <a:noFill/>
          <a:ln/>
        </p:spPr>
        <p:txBody>
          <a:bodyPr wrap="square" lIns="0" tIns="0" rIns="0" bIns="0" rtlCol="0" anchor="ctr"/>
          <a:lstStyle/>
          <a:p>
            <a:pPr indent="0" marL="0">
              <a:buNone/>
            </a:pPr>
            <a:r>
              <a:rPr lang="en-US" sz="2400" dirty="0">
                <a:solidFill>
                  <a:srgbClr val="1B2230"/>
                </a:solidFill>
                <a:latin typeface="Calibri" pitchFamily="34" charset="0"/>
                <a:ea typeface="Calibri" pitchFamily="34" charset="-122"/>
                <a:cs typeface="Calibri" pitchFamily="34" charset="-120"/>
              </a:rPr>
              <a:t>Image fast. Reverse anticoagulants. Watch the GCS closely.</a:t>
            </a:r>
            <a:endParaRPr lang="en-US" sz="2400" dirty="0"/>
          </a:p>
        </p:txBody>
      </p:sp>
      <p:sp>
        <p:nvSpPr>
          <p:cNvPr id="17" name="Shape 12"/>
          <p:cNvSpPr/>
          <p:nvPr/>
        </p:nvSpPr>
        <p:spPr>
          <a:xfrm>
            <a:off x="548640" y="4471416"/>
            <a:ext cx="11094415" cy="1188720"/>
          </a:xfrm>
          <a:prstGeom prst="roundRect">
            <a:avLst>
              <a:gd name="adj" fmla="val 7692"/>
            </a:avLst>
          </a:prstGeom>
          <a:solidFill>
            <a:srgbClr val="E8EDF3"/>
          </a:solidFill>
          <a:ln w="6350">
            <a:solidFill>
              <a:srgbClr val="E8EDF3"/>
            </a:solidFill>
            <a:prstDash val="solid"/>
          </a:ln>
        </p:spPr>
      </p:sp>
      <p:sp>
        <p:nvSpPr>
          <p:cNvPr id="18" name="Shape 13"/>
          <p:cNvSpPr/>
          <p:nvPr/>
        </p:nvSpPr>
        <p:spPr>
          <a:xfrm>
            <a:off x="804672" y="4700016"/>
            <a:ext cx="731520" cy="731520"/>
          </a:xfrm>
          <a:prstGeom prst="ellipse">
            <a:avLst/>
          </a:prstGeom>
          <a:solidFill>
            <a:srgbClr val="13233A"/>
          </a:solidFill>
          <a:ln w="6350">
            <a:solidFill>
              <a:srgbClr val="13233A"/>
            </a:solidFill>
            <a:prstDash val="solid"/>
          </a:ln>
        </p:spPr>
      </p:sp>
      <p:pic>
        <p:nvPicPr>
          <p:cNvPr id="19" name="Image 2" descr="preencoded.png">    </p:cNvPr>
          <p:cNvPicPr>
            <a:picLocks noChangeAspect="1"/>
          </p:cNvPicPr>
          <p:nvPr/>
        </p:nvPicPr>
        <p:blipFill>
          <a:blip r:embed="rId3"/>
          <a:stretch>
            <a:fillRect/>
          </a:stretch>
        </p:blipFill>
        <p:spPr>
          <a:xfrm>
            <a:off x="987552" y="4882896"/>
            <a:ext cx="365760" cy="365760"/>
          </a:xfrm>
          <a:prstGeom prst="rect">
            <a:avLst/>
          </a:prstGeom>
        </p:spPr>
      </p:pic>
      <p:sp>
        <p:nvSpPr>
          <p:cNvPr id="20" name="Text 14"/>
          <p:cNvSpPr txBox="1"/>
          <p:nvPr/>
        </p:nvSpPr>
        <p:spPr>
          <a:xfrm>
            <a:off x="1737360" y="4471416"/>
            <a:ext cx="2651760" cy="713232"/>
          </a:xfrm>
          <a:prstGeom prst="rect">
            <a:avLst/>
          </a:prstGeom>
          <a:noFill/>
          <a:ln/>
        </p:spPr>
        <p:txBody>
          <a:bodyPr wrap="square" lIns="0" tIns="0" rIns="0" bIns="0" rtlCol="0" anchor="b"/>
          <a:lstStyle/>
          <a:p>
            <a:pPr indent="0" marL="0">
              <a:buNone/>
            </a:pPr>
            <a:r>
              <a:rPr lang="en-US" sz="2600" b="1" dirty="0">
                <a:solidFill>
                  <a:srgbClr val="13233A"/>
                </a:solidFill>
                <a:latin typeface="Calibri" pitchFamily="34" charset="0"/>
                <a:ea typeface="Calibri" pitchFamily="34" charset="-122"/>
                <a:cs typeface="Calibri" pitchFamily="34" charset="-120"/>
              </a:rPr>
              <a:t>The days after</a:t>
            </a:r>
            <a:endParaRPr lang="en-US" sz="2600" dirty="0"/>
          </a:p>
        </p:txBody>
      </p:sp>
      <p:sp>
        <p:nvSpPr>
          <p:cNvPr id="21" name="Text 15"/>
          <p:cNvSpPr txBox="1"/>
          <p:nvPr/>
        </p:nvSpPr>
        <p:spPr>
          <a:xfrm>
            <a:off x="1737360" y="5184648"/>
            <a:ext cx="2651760" cy="384048"/>
          </a:xfrm>
          <a:prstGeom prst="rect">
            <a:avLst/>
          </a:prstGeom>
          <a:noFill/>
          <a:ln/>
        </p:spPr>
        <p:txBody>
          <a:bodyPr wrap="square" lIns="0" tIns="0" rIns="0" bIns="0" rtlCol="0" anchor="t"/>
          <a:lstStyle/>
          <a:p>
            <a:pPr indent="0" marL="0">
              <a:buNone/>
            </a:pPr>
            <a:r>
              <a:rPr lang="en-US" sz="1600" b="1" dirty="0">
                <a:solidFill>
                  <a:srgbClr val="3E5C76"/>
                </a:solidFill>
                <a:latin typeface="Calibri" pitchFamily="34" charset="0"/>
                <a:ea typeface="Calibri" pitchFamily="34" charset="-122"/>
                <a:cs typeface="Calibri" pitchFamily="34" charset="-120"/>
              </a:rPr>
              <a:t>Days to weeks</a:t>
            </a:r>
            <a:endParaRPr lang="en-US" sz="1600" dirty="0"/>
          </a:p>
        </p:txBody>
      </p:sp>
      <p:sp>
        <p:nvSpPr>
          <p:cNvPr id="22" name="Text 16"/>
          <p:cNvSpPr txBox="1"/>
          <p:nvPr/>
        </p:nvSpPr>
        <p:spPr>
          <a:xfrm>
            <a:off x="4572000" y="4471416"/>
            <a:ext cx="6858000" cy="1188720"/>
          </a:xfrm>
          <a:prstGeom prst="rect">
            <a:avLst/>
          </a:prstGeom>
          <a:noFill/>
          <a:ln/>
        </p:spPr>
        <p:txBody>
          <a:bodyPr wrap="square" lIns="0" tIns="0" rIns="0" bIns="0" rtlCol="0" anchor="ctr"/>
          <a:lstStyle/>
          <a:p>
            <a:pPr indent="0" marL="0">
              <a:buNone/>
            </a:pPr>
            <a:r>
              <a:rPr lang="en-US" sz="2400" dirty="0">
                <a:solidFill>
                  <a:srgbClr val="1B2230"/>
                </a:solidFill>
                <a:latin typeface="Calibri" pitchFamily="34" charset="0"/>
                <a:ea typeface="Calibri" pitchFamily="34" charset="-122"/>
                <a:cs typeface="Calibri" pitchFamily="34" charset="-120"/>
              </a:rPr>
              <a:t>Expect fluctuation. Escalate new drowsiness. Pace therapy.</a:t>
            </a:r>
            <a:endParaRPr lang="en-US" sz="2400" dirty="0"/>
          </a:p>
        </p:txBody>
      </p:sp>
      <p:sp>
        <p:nvSpPr>
          <p:cNvPr id="23" name="Text 17"/>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4"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25"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6"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27"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28"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9"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30" name="trk3"/>
          <p:cNvSpPr/>
          <p:nvPr/>
        </p:nvSpPr>
        <p:spPr>
          <a:xfrm>
            <a:off x="10094976" y="6460236"/>
            <a:ext cx="128016" cy="128016"/>
          </a:xfrm>
          <a:prstGeom prst="ellipse">
            <a:avLst/>
          </a:prstGeom>
          <a:solidFill>
            <a:srgbClr val="C1272D"/>
          </a:solidFill>
          <a:ln w="6350">
            <a:solidFill>
              <a:srgbClr val="C1272D"/>
            </a:solidFill>
            <a:prstDash val="solid"/>
          </a:ln>
        </p:spPr>
      </p:sp>
      <p:sp>
        <p:nvSpPr>
          <p:cNvPr id="31"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Bedside</a:t>
            </a:r>
            <a:endParaRPr lang="en-US" sz="1100" dirty="0"/>
          </a:p>
        </p:txBody>
      </p:sp>
      <p:sp>
        <p:nvSpPr>
          <p:cNvPr id="32"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26</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SUMMARY</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If you remember three things</a:t>
            </a:r>
            <a:endParaRPr lang="en-US" sz="4000" dirty="0"/>
          </a:p>
        </p:txBody>
      </p:sp>
      <p:sp>
        <p:nvSpPr>
          <p:cNvPr id="5" name="Shape 2"/>
          <p:cNvSpPr/>
          <p:nvPr/>
        </p:nvSpPr>
        <p:spPr>
          <a:xfrm>
            <a:off x="640080" y="2011680"/>
            <a:ext cx="731520" cy="731520"/>
          </a:xfrm>
          <a:prstGeom prst="ellipse">
            <a:avLst/>
          </a:prstGeom>
          <a:solidFill>
            <a:srgbClr val="C1272D"/>
          </a:solidFill>
          <a:ln w="6350">
            <a:solidFill>
              <a:srgbClr val="C1272D"/>
            </a:solidFill>
            <a:prstDash val="solid"/>
          </a:ln>
        </p:spPr>
      </p:sp>
      <p:sp>
        <p:nvSpPr>
          <p:cNvPr id="6" name="Text 3"/>
          <p:cNvSpPr txBox="1"/>
          <p:nvPr/>
        </p:nvSpPr>
        <p:spPr>
          <a:xfrm>
            <a:off x="640080" y="20116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4"/>
          <p:cNvSpPr txBox="1"/>
          <p:nvPr/>
        </p:nvSpPr>
        <p:spPr>
          <a:xfrm>
            <a:off x="1828800" y="1920240"/>
            <a:ext cx="9814255" cy="914400"/>
          </a:xfrm>
          <a:prstGeom prst="rect">
            <a:avLst/>
          </a:prstGeom>
          <a:noFill/>
          <a:ln/>
        </p:spPr>
        <p:txBody>
          <a:bodyPr wrap="square" lIns="0" tIns="0" rIns="0" bIns="0"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The vessel decides where it bleeds.</a:t>
            </a:r>
            <a:endParaRPr lang="en-US" sz="3400" dirty="0"/>
          </a:p>
        </p:txBody>
      </p:sp>
      <p:sp>
        <p:nvSpPr>
          <p:cNvPr id="8" name="Shape 5"/>
          <p:cNvSpPr/>
          <p:nvPr/>
        </p:nvSpPr>
        <p:spPr>
          <a:xfrm>
            <a:off x="585216" y="3191256"/>
            <a:ext cx="841248" cy="841248"/>
          </a:xfrm>
          <a:prstGeom prst="ellipse">
            <a:avLst/>
          </a:prstGeom>
          <a:solidFill>
            <a:srgbClr val="C1272D"/>
          </a:solidFill>
          <a:ln w="6350">
            <a:solidFill>
              <a:srgbClr val="C1272D"/>
            </a:solidFill>
            <a:prstDash val="solid"/>
          </a:ln>
        </p:spPr>
      </p:sp>
      <p:sp>
        <p:nvSpPr>
          <p:cNvPr id="9" name="Text 6"/>
          <p:cNvSpPr txBox="1"/>
          <p:nvPr/>
        </p:nvSpPr>
        <p:spPr>
          <a:xfrm>
            <a:off x="585216" y="319125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7"/>
          <p:cNvSpPr txBox="1"/>
          <p:nvPr/>
        </p:nvSpPr>
        <p:spPr>
          <a:xfrm>
            <a:off x="1828800" y="3154680"/>
            <a:ext cx="9814255" cy="914400"/>
          </a:xfrm>
          <a:prstGeom prst="rect">
            <a:avLst/>
          </a:prstGeom>
          <a:noFill/>
          <a:ln/>
        </p:spPr>
        <p:txBody>
          <a:bodyPr wrap="square" lIns="0" tIns="0" rIns="0" bIns="0"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The first hours decide how big it gets.</a:t>
            </a:r>
            <a:endParaRPr lang="en-US" sz="3400" dirty="0"/>
          </a:p>
        </p:txBody>
      </p:sp>
      <p:sp>
        <p:nvSpPr>
          <p:cNvPr id="11" name="Shape 8"/>
          <p:cNvSpPr/>
          <p:nvPr/>
        </p:nvSpPr>
        <p:spPr>
          <a:xfrm>
            <a:off x="530352" y="4370832"/>
            <a:ext cx="950976" cy="950976"/>
          </a:xfrm>
          <a:prstGeom prst="ellipse">
            <a:avLst/>
          </a:prstGeom>
          <a:solidFill>
            <a:srgbClr val="C1272D"/>
          </a:solidFill>
          <a:ln w="6350">
            <a:solidFill>
              <a:srgbClr val="C1272D"/>
            </a:solidFill>
            <a:prstDash val="solid"/>
          </a:ln>
        </p:spPr>
      </p:sp>
      <p:sp>
        <p:nvSpPr>
          <p:cNvPr id="12" name="Text 9"/>
          <p:cNvSpPr txBox="1"/>
          <p:nvPr/>
        </p:nvSpPr>
        <p:spPr>
          <a:xfrm>
            <a:off x="530352" y="4370832"/>
            <a:ext cx="950976" cy="950976"/>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0"/>
          <p:cNvSpPr txBox="1"/>
          <p:nvPr/>
        </p:nvSpPr>
        <p:spPr>
          <a:xfrm>
            <a:off x="1828800" y="4389120"/>
            <a:ext cx="9814255" cy="914400"/>
          </a:xfrm>
          <a:prstGeom prst="rect">
            <a:avLst/>
          </a:prstGeom>
          <a:noFill/>
          <a:ln/>
        </p:spPr>
        <p:txBody>
          <a:bodyPr wrap="square" lIns="0" tIns="0" rIns="0" bIns="0"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The blood keeps injuring the brain for days.</a:t>
            </a:r>
            <a:endParaRPr lang="en-US" sz="3400" dirty="0"/>
          </a:p>
        </p:txBody>
      </p:sp>
      <p:sp>
        <p:nvSpPr>
          <p:cNvPr id="14" name="Text 11"/>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15"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16"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17"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18"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19"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20"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21" name="trk3"/>
          <p:cNvSpPr/>
          <p:nvPr/>
        </p:nvSpPr>
        <p:spPr>
          <a:xfrm>
            <a:off x="10094976" y="6460236"/>
            <a:ext cx="128016" cy="128016"/>
          </a:xfrm>
          <a:prstGeom prst="ellipse">
            <a:avLst/>
          </a:prstGeom>
          <a:solidFill>
            <a:srgbClr val="C1272D"/>
          </a:solidFill>
          <a:ln w="6350">
            <a:solidFill>
              <a:srgbClr val="C1272D"/>
            </a:solidFill>
            <a:prstDash val="solid"/>
          </a:ln>
        </p:spPr>
      </p:sp>
      <p:sp>
        <p:nvSpPr>
          <p:cNvPr id="22"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Bedside</a:t>
            </a:r>
            <a:endParaRPr lang="en-US" sz="1100" dirty="0"/>
          </a:p>
        </p:txBody>
      </p:sp>
      <p:sp>
        <p:nvSpPr>
          <p:cNvPr id="23"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27</a:t>
            </a:r>
            <a:endParaRPr lang="en-US" sz="11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33A"/>
        </a:solidFill>
      </p:bgPr>
    </p:bg>
    <p:spTree>
      <p:nvGrpSpPr>
        <p:cNvPr id="1" name=""/>
        <p:cNvGrpSpPr/>
        <p:nvPr/>
      </p:nvGrpSpPr>
      <p:grpSpPr>
        <a:xfrm>
          <a:off x="0" y="0"/>
          <a:ext cx="0" cy="0"/>
          <a:chOff x="0" y="0"/>
          <a:chExt cx="0" cy="0"/>
        </a:xfrm>
      </p:grpSpPr>
      <p:sp>
        <p:nvSpPr>
          <p:cNvPr id="3" name="!!skull"/>
          <p:cNvSpPr/>
          <p:nvPr/>
        </p:nvSpPr>
        <p:spPr>
          <a:xfrm>
            <a:off x="7498080" y="1417320"/>
            <a:ext cx="4023360" cy="4023360"/>
          </a:xfrm>
          <a:prstGeom prst="ellipse">
            <a:avLst/>
          </a:prstGeom>
          <a:solidFill>
            <a:srgbClr val="FFFFFF">
              <a:alpha val="0"/>
            </a:srgbClr>
          </a:solidFill>
          <a:ln w="12700">
            <a:solidFill>
              <a:srgbClr val="3E5C76"/>
            </a:solidFill>
            <a:prstDash val="solid"/>
          </a:ln>
        </p:spPr>
      </p:sp>
      <p:sp>
        <p:nvSpPr>
          <p:cNvPr id="4" name="!!bleed"/>
          <p:cNvSpPr/>
          <p:nvPr/>
        </p:nvSpPr>
        <p:spPr>
          <a:xfrm>
            <a:off x="9304020" y="3223260"/>
            <a:ext cx="411480" cy="411480"/>
          </a:xfrm>
          <a:prstGeom prst="ellipse">
            <a:avLst/>
          </a:prstGeom>
          <a:solidFill>
            <a:srgbClr val="C1272D"/>
          </a:solidFill>
          <a:ln w="6350">
            <a:solidFill>
              <a:srgbClr val="C1272D"/>
            </a:solidFill>
            <a:prstDash val="solid"/>
          </a:ln>
        </p:spPr>
      </p:sp>
      <p:sp>
        <p:nvSpPr>
          <p:cNvPr id="5" name="Text 2"/>
          <p:cNvSpPr txBox="1"/>
          <p:nvPr/>
        </p:nvSpPr>
        <p:spPr>
          <a:xfrm>
            <a:off x="731520" y="1097280"/>
            <a:ext cx="6400800" cy="365760"/>
          </a:xfrm>
          <a:prstGeom prst="rect">
            <a:avLst/>
          </a:prstGeom>
          <a:noFill/>
          <a:ln/>
        </p:spPr>
        <p:txBody>
          <a:bodyPr wrap="square" lIns="0" tIns="0" rIns="0" bIns="0" rtlCol="0" anchor="ctr"/>
          <a:lstStyle/>
          <a:p>
            <a:pPr indent="0" marL="0">
              <a:buNone/>
            </a:pPr>
            <a:r>
              <a:rPr lang="en-US" sz="1600" b="1" spc="400" kern="0" dirty="0">
                <a:solidFill>
                  <a:srgbClr val="F08A8E"/>
                </a:solidFill>
                <a:latin typeface="Calibri" pitchFamily="34" charset="0"/>
                <a:ea typeface="Calibri" pitchFamily="34" charset="-122"/>
                <a:cs typeface="Calibri" pitchFamily="34" charset="-120"/>
              </a:rPr>
              <a:t>EIGHT YEARS LATER</a:t>
            </a:r>
            <a:endParaRPr lang="en-US" sz="1600" dirty="0"/>
          </a:p>
        </p:txBody>
      </p:sp>
      <p:sp>
        <p:nvSpPr>
          <p:cNvPr id="6" name="Text 3"/>
          <p:cNvSpPr txBox="1"/>
          <p:nvPr/>
        </p:nvSpPr>
        <p:spPr>
          <a:xfrm>
            <a:off x="731520" y="1554480"/>
            <a:ext cx="6766560" cy="1371600"/>
          </a:xfrm>
          <a:prstGeom prst="rect">
            <a:avLst/>
          </a:prstGeom>
          <a:noFill/>
          <a:ln/>
        </p:spPr>
        <p:txBody>
          <a:bodyPr wrap="square" lIns="0" tIns="0" rIns="0" bIns="0" rtlCol="0" anchor="t"/>
          <a:lstStyle/>
          <a:p>
            <a:pPr indent="0" marL="0">
              <a:buNone/>
            </a:pPr>
            <a:r>
              <a:rPr lang="en-US" sz="2800" dirty="0">
                <a:solidFill>
                  <a:srgbClr val="C9D3E0"/>
                </a:solidFill>
                <a:latin typeface="Calibri" pitchFamily="34" charset="0"/>
                <a:ea typeface="Calibri" pitchFamily="34" charset="-122"/>
                <a:cs typeface="Calibri" pitchFamily="34" charset="-120"/>
              </a:rPr>
              <a:t>Jill walked onto the TED stage holding a human brain.</a:t>
            </a:r>
            <a:endParaRPr lang="en-US" sz="2800" dirty="0"/>
          </a:p>
        </p:txBody>
      </p:sp>
      <p:sp>
        <p:nvSpPr>
          <p:cNvPr id="7" name="Text 4"/>
          <p:cNvSpPr txBox="1"/>
          <p:nvPr/>
        </p:nvSpPr>
        <p:spPr>
          <a:xfrm>
            <a:off x="731520" y="3017520"/>
            <a:ext cx="6949440" cy="15544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ICH is a process,</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not a moment.</a:t>
            </a:r>
            <a:endParaRPr lang="en-US" sz="4800" dirty="0"/>
          </a:p>
        </p:txBody>
      </p:sp>
      <p:sp>
        <p:nvSpPr>
          <p:cNvPr id="8" name="Text 5"/>
          <p:cNvSpPr txBox="1"/>
          <p:nvPr/>
        </p:nvSpPr>
        <p:spPr>
          <a:xfrm>
            <a:off x="731520" y="4937760"/>
            <a:ext cx="6766560" cy="548640"/>
          </a:xfrm>
          <a:prstGeom prst="rect">
            <a:avLst/>
          </a:prstGeom>
          <a:noFill/>
          <a:ln/>
        </p:spPr>
        <p:txBody>
          <a:bodyPr wrap="square" lIns="0" tIns="0" rIns="0" bIns="0" rtlCol="0" anchor="t"/>
          <a:lstStyle/>
          <a:p>
            <a:pPr indent="0" marL="0">
              <a:buNone/>
            </a:pPr>
            <a:r>
              <a:rPr lang="en-US" sz="2400" b="1" dirty="0">
                <a:solidFill>
                  <a:srgbClr val="F08A8E"/>
                </a:solidFill>
                <a:latin typeface="Calibri" pitchFamily="34" charset="0"/>
                <a:ea typeface="Calibri" pitchFamily="34" charset="-122"/>
                <a:cs typeface="Calibri" pitchFamily="34" charset="-120"/>
              </a:rPr>
              <a:t>What would you like me to clarify?</a:t>
            </a:r>
            <a:endParaRPr lang="en-US" sz="2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C1272D"/>
                </a:solidFill>
                <a:latin typeface="Calibri" pitchFamily="34" charset="0"/>
                <a:ea typeface="Calibri" pitchFamily="34" charset="-122"/>
                <a:cs typeface="Calibri" pitchFamily="34" charset="-120"/>
              </a:rPr>
              <a:t>SOURCES</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References</a:t>
            </a:r>
            <a:endParaRPr lang="en-US" sz="4000" dirty="0"/>
          </a:p>
        </p:txBody>
      </p:sp>
      <p:sp>
        <p:nvSpPr>
          <p:cNvPr id="5" name="Text 2"/>
          <p:cNvSpPr txBox="1"/>
          <p:nvPr/>
        </p:nvSpPr>
        <p:spPr>
          <a:xfrm>
            <a:off x="548640" y="1691640"/>
            <a:ext cx="5394960" cy="4480560"/>
          </a:xfrm>
          <a:prstGeom prst="rect">
            <a:avLst/>
          </a:prstGeom>
          <a:noFill/>
          <a:ln/>
        </p:spPr>
        <p:txBody>
          <a:bodyPr wrap="square" lIns="0" tIns="0" rIns="0" bIns="0" rtlCol="0" anchor="t"/>
          <a:lstStyle/>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 Rossi C, Cordonnier C. Pathophysiology of non-traumatic intracerebral haemorrhage. In: Norrving B, ed. Oxford Textbook of Stroke and Cerebrovascular Disease. OUP; 2014: ch. 5.</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2. Taylor JB. My stroke of insight. TED 2008; and My Stroke of Insight (book), 2006.</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3. van Asch CJ, et al. Lancet Neurol 2010;9:167–176.</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4. Meretoja A, et al. SMASH-U. Stroke 2012;43:2592–2597.</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5. Cordonnier C, Al-Shahi Salman R, Wardlaw J. Brain 2007;130:1988–2003.</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6. Zhu XL, Chan MS, Poon WS. Stroke 1997;28:1406–1409.</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7. Fisher CM. J Neuropathol Exp Neurol 1971;30:536–550.</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8. Brott T, et al. Stroke 1997;28:1–5.</a:t>
            </a:r>
            <a:endParaRPr lang="en-US" sz="1300" dirty="0"/>
          </a:p>
        </p:txBody>
      </p:sp>
      <p:sp>
        <p:nvSpPr>
          <p:cNvPr id="6" name="Text 3"/>
          <p:cNvSpPr txBox="1"/>
          <p:nvPr/>
        </p:nvSpPr>
        <p:spPr>
          <a:xfrm>
            <a:off x="6217920" y="1691640"/>
            <a:ext cx="5394960" cy="4480560"/>
          </a:xfrm>
          <a:prstGeom prst="rect">
            <a:avLst/>
          </a:prstGeom>
          <a:noFill/>
          <a:ln/>
        </p:spPr>
        <p:txBody>
          <a:bodyPr wrap="square" lIns="0" tIns="0" rIns="0" bIns="0" rtlCol="0" anchor="t"/>
          <a:lstStyle/>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9. Davis SM, et al. Neurology 2006;66:1175–1181.</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10. Broderick JP, et al. Stroke 1993;24:987–993.</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11. Hanley DF. Stroke 2009;40:1533–1538.</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12. Gebel JM, et al. Stroke 2002;33:2631–2635.</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13. Xi G, Keep RF, Hoff JT. Lancet Neurol 2006;5:53–63.</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14. Zazulia AR, et al. J Cereb Blood Flow Metab 2001;21:804–810.</a:t>
            </a:r>
            <a:endParaRPr lang="en-US" sz="1300" dirty="0"/>
          </a:p>
          <a:p>
            <a:pPr indent="0" marL="0">
              <a:spcAft>
                <a:spcPts val="600"/>
              </a:spcAft>
              <a:buNone/>
            </a:pPr>
            <a:r>
              <a:rPr lang="en-US" sz="1300" dirty="0">
                <a:solidFill>
                  <a:srgbClr val="1B2230"/>
                </a:solidFill>
                <a:latin typeface="Calibri" pitchFamily="34" charset="0"/>
                <a:ea typeface="Calibri" pitchFamily="34" charset="-122"/>
                <a:cs typeface="Calibri" pitchFamily="34" charset="-120"/>
              </a:rPr>
              <a:t>15. Butcher KS, et al. (ICH ADAPT). Stroke 2013;44:620–626.</a:t>
            </a:r>
            <a:endParaRPr lang="en-US" sz="13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3E5C76"/>
                </a:solidFill>
                <a:latin typeface="Calibri" pitchFamily="34" charset="0"/>
                <a:ea typeface="Calibri" pitchFamily="34" charset="-122"/>
                <a:cs typeface="Calibri" pitchFamily="34" charset="-120"/>
              </a:rPr>
              <a:t>BACKUP  ·  IF ASKED</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Other causes of a secondary bleed</a:t>
            </a:r>
            <a:endParaRPr lang="en-US" sz="4000" dirty="0"/>
          </a:p>
        </p:txBody>
      </p:sp>
      <p:sp>
        <p:nvSpPr>
          <p:cNvPr id="5" name="Shape 2"/>
          <p:cNvSpPr/>
          <p:nvPr/>
        </p:nvSpPr>
        <p:spPr>
          <a:xfrm>
            <a:off x="548640" y="1828800"/>
            <a:ext cx="3515258" cy="1828800"/>
          </a:xfrm>
          <a:prstGeom prst="roundRect">
            <a:avLst>
              <a:gd name="adj" fmla="val 5000"/>
            </a:avLst>
          </a:prstGeom>
          <a:solidFill>
            <a:srgbClr val="F3F5F8"/>
          </a:solidFill>
          <a:ln w="6350">
            <a:solidFill>
              <a:srgbClr val="F3F5F8"/>
            </a:solidFill>
            <a:prstDash val="solid"/>
          </a:ln>
        </p:spPr>
      </p:sp>
      <p:sp>
        <p:nvSpPr>
          <p:cNvPr id="6" name="Shape 3"/>
          <p:cNvSpPr/>
          <p:nvPr/>
        </p:nvSpPr>
        <p:spPr>
          <a:xfrm>
            <a:off x="822960" y="2103120"/>
            <a:ext cx="640080" cy="640080"/>
          </a:xfrm>
          <a:prstGeom prst="ellipse">
            <a:avLst/>
          </a:prstGeom>
          <a:solidFill>
            <a:srgbClr val="13233A"/>
          </a:solidFill>
          <a:ln w="6350">
            <a:solidFill>
              <a:srgbClr val="13233A"/>
            </a:solidFill>
            <a:prstDash val="solid"/>
          </a:ln>
        </p:spPr>
      </p:sp>
      <p:pic>
        <p:nvPicPr>
          <p:cNvPr id="7" name="Image 0" descr="preencoded.png">    </p:cNvPr>
          <p:cNvPicPr>
            <a:picLocks noChangeAspect="1"/>
          </p:cNvPicPr>
          <p:nvPr/>
        </p:nvPicPr>
        <p:blipFill>
          <a:blip r:embed="rId1"/>
          <a:stretch>
            <a:fillRect/>
          </a:stretch>
        </p:blipFill>
        <p:spPr>
          <a:xfrm>
            <a:off x="982980" y="2263140"/>
            <a:ext cx="320040" cy="320040"/>
          </a:xfrm>
          <a:prstGeom prst="rect">
            <a:avLst/>
          </a:prstGeom>
        </p:spPr>
      </p:pic>
      <p:sp>
        <p:nvSpPr>
          <p:cNvPr id="8" name="Text 4"/>
          <p:cNvSpPr txBox="1"/>
          <p:nvPr/>
        </p:nvSpPr>
        <p:spPr>
          <a:xfrm>
            <a:off x="822960" y="28346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Vascular malformations</a:t>
            </a:r>
            <a:endParaRPr lang="en-US" sz="2200" dirty="0"/>
          </a:p>
        </p:txBody>
      </p:sp>
      <p:sp>
        <p:nvSpPr>
          <p:cNvPr id="9" name="Shape 5"/>
          <p:cNvSpPr/>
          <p:nvPr/>
        </p:nvSpPr>
        <p:spPr>
          <a:xfrm>
            <a:off x="4338218" y="1828800"/>
            <a:ext cx="3515258" cy="1828800"/>
          </a:xfrm>
          <a:prstGeom prst="roundRect">
            <a:avLst>
              <a:gd name="adj" fmla="val 5000"/>
            </a:avLst>
          </a:prstGeom>
          <a:solidFill>
            <a:srgbClr val="F3F5F8"/>
          </a:solidFill>
          <a:ln w="6350">
            <a:solidFill>
              <a:srgbClr val="F3F5F8"/>
            </a:solidFill>
            <a:prstDash val="solid"/>
          </a:ln>
        </p:spPr>
      </p:sp>
      <p:sp>
        <p:nvSpPr>
          <p:cNvPr id="10" name="Shape 6"/>
          <p:cNvSpPr/>
          <p:nvPr/>
        </p:nvSpPr>
        <p:spPr>
          <a:xfrm>
            <a:off x="4612538" y="2103120"/>
            <a:ext cx="640080" cy="640080"/>
          </a:xfrm>
          <a:prstGeom prst="ellipse">
            <a:avLst/>
          </a:prstGeom>
          <a:solidFill>
            <a:srgbClr val="13233A"/>
          </a:solidFill>
          <a:ln w="6350">
            <a:solidFill>
              <a:srgbClr val="13233A"/>
            </a:solidFill>
            <a:prstDash val="solid"/>
          </a:ln>
        </p:spPr>
      </p:sp>
      <p:pic>
        <p:nvPicPr>
          <p:cNvPr id="11" name="Image 1" descr="preencoded.png">    </p:cNvPr>
          <p:cNvPicPr>
            <a:picLocks noChangeAspect="1"/>
          </p:cNvPicPr>
          <p:nvPr/>
        </p:nvPicPr>
        <p:blipFill>
          <a:blip r:embed="rId2"/>
          <a:stretch>
            <a:fillRect/>
          </a:stretch>
        </p:blipFill>
        <p:spPr>
          <a:xfrm>
            <a:off x="4772558" y="2263140"/>
            <a:ext cx="320040" cy="320040"/>
          </a:xfrm>
          <a:prstGeom prst="rect">
            <a:avLst/>
          </a:prstGeom>
        </p:spPr>
      </p:pic>
      <p:sp>
        <p:nvSpPr>
          <p:cNvPr id="12" name="Text 7"/>
          <p:cNvSpPr txBox="1"/>
          <p:nvPr/>
        </p:nvSpPr>
        <p:spPr>
          <a:xfrm>
            <a:off x="4612538" y="28346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Antithrombotic drugs</a:t>
            </a:r>
            <a:endParaRPr lang="en-US" sz="2200" dirty="0"/>
          </a:p>
        </p:txBody>
      </p:sp>
      <p:sp>
        <p:nvSpPr>
          <p:cNvPr id="13" name="Shape 8"/>
          <p:cNvSpPr/>
          <p:nvPr/>
        </p:nvSpPr>
        <p:spPr>
          <a:xfrm>
            <a:off x="8127797" y="1828800"/>
            <a:ext cx="3515258" cy="1828800"/>
          </a:xfrm>
          <a:prstGeom prst="roundRect">
            <a:avLst>
              <a:gd name="adj" fmla="val 5000"/>
            </a:avLst>
          </a:prstGeom>
          <a:solidFill>
            <a:srgbClr val="F3F5F8"/>
          </a:solidFill>
          <a:ln w="6350">
            <a:solidFill>
              <a:srgbClr val="F3F5F8"/>
            </a:solidFill>
            <a:prstDash val="solid"/>
          </a:ln>
        </p:spPr>
      </p:sp>
      <p:sp>
        <p:nvSpPr>
          <p:cNvPr id="14" name="Shape 9"/>
          <p:cNvSpPr/>
          <p:nvPr/>
        </p:nvSpPr>
        <p:spPr>
          <a:xfrm>
            <a:off x="8402117" y="2103120"/>
            <a:ext cx="640080" cy="640080"/>
          </a:xfrm>
          <a:prstGeom prst="ellipse">
            <a:avLst/>
          </a:prstGeom>
          <a:solidFill>
            <a:srgbClr val="13233A"/>
          </a:solidFill>
          <a:ln w="6350">
            <a:solidFill>
              <a:srgbClr val="13233A"/>
            </a:solidFill>
            <a:prstDash val="solid"/>
          </a:ln>
        </p:spPr>
      </p:sp>
      <p:pic>
        <p:nvPicPr>
          <p:cNvPr id="15" name="Image 2" descr="preencoded.png">    </p:cNvPr>
          <p:cNvPicPr>
            <a:picLocks noChangeAspect="1"/>
          </p:cNvPicPr>
          <p:nvPr/>
        </p:nvPicPr>
        <p:blipFill>
          <a:blip r:embed="rId3"/>
          <a:stretch>
            <a:fillRect/>
          </a:stretch>
        </p:blipFill>
        <p:spPr>
          <a:xfrm>
            <a:off x="8562137" y="2263140"/>
            <a:ext cx="320040" cy="320040"/>
          </a:xfrm>
          <a:prstGeom prst="rect">
            <a:avLst/>
          </a:prstGeom>
        </p:spPr>
      </p:pic>
      <p:sp>
        <p:nvSpPr>
          <p:cNvPr id="16" name="Text 10"/>
          <p:cNvSpPr txBox="1"/>
          <p:nvPr/>
        </p:nvSpPr>
        <p:spPr>
          <a:xfrm>
            <a:off x="8402117" y="28346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Tumours</a:t>
            </a:r>
            <a:endParaRPr lang="en-US" sz="2200" dirty="0"/>
          </a:p>
        </p:txBody>
      </p:sp>
      <p:sp>
        <p:nvSpPr>
          <p:cNvPr id="17" name="Shape 11"/>
          <p:cNvSpPr/>
          <p:nvPr/>
        </p:nvSpPr>
        <p:spPr>
          <a:xfrm>
            <a:off x="548640" y="3886200"/>
            <a:ext cx="3515258" cy="1828800"/>
          </a:xfrm>
          <a:prstGeom prst="roundRect">
            <a:avLst>
              <a:gd name="adj" fmla="val 5000"/>
            </a:avLst>
          </a:prstGeom>
          <a:solidFill>
            <a:srgbClr val="F3F5F8"/>
          </a:solidFill>
          <a:ln w="6350">
            <a:solidFill>
              <a:srgbClr val="F3F5F8"/>
            </a:solidFill>
            <a:prstDash val="solid"/>
          </a:ln>
        </p:spPr>
      </p:sp>
      <p:sp>
        <p:nvSpPr>
          <p:cNvPr id="18" name="Shape 12"/>
          <p:cNvSpPr/>
          <p:nvPr/>
        </p:nvSpPr>
        <p:spPr>
          <a:xfrm>
            <a:off x="822960" y="4160520"/>
            <a:ext cx="640080" cy="640080"/>
          </a:xfrm>
          <a:prstGeom prst="ellipse">
            <a:avLst/>
          </a:prstGeom>
          <a:solidFill>
            <a:srgbClr val="13233A"/>
          </a:solidFill>
          <a:ln w="6350">
            <a:solidFill>
              <a:srgbClr val="13233A"/>
            </a:solidFill>
            <a:prstDash val="solid"/>
          </a:ln>
        </p:spPr>
      </p:sp>
      <p:pic>
        <p:nvPicPr>
          <p:cNvPr id="19" name="Image 3" descr="preencoded.png">    </p:cNvPr>
          <p:cNvPicPr>
            <a:picLocks noChangeAspect="1"/>
          </p:cNvPicPr>
          <p:nvPr/>
        </p:nvPicPr>
        <p:blipFill>
          <a:blip r:embed="rId4"/>
          <a:stretch>
            <a:fillRect/>
          </a:stretch>
        </p:blipFill>
        <p:spPr>
          <a:xfrm>
            <a:off x="982980" y="4320540"/>
            <a:ext cx="320040" cy="320040"/>
          </a:xfrm>
          <a:prstGeom prst="rect">
            <a:avLst/>
          </a:prstGeom>
        </p:spPr>
      </p:pic>
      <p:sp>
        <p:nvSpPr>
          <p:cNvPr id="20" name="Text 13"/>
          <p:cNvSpPr txBox="1"/>
          <p:nvPr/>
        </p:nvSpPr>
        <p:spPr>
          <a:xfrm>
            <a:off x="822960" y="48920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Venous thrombosis</a:t>
            </a:r>
            <a:endParaRPr lang="en-US" sz="2200" dirty="0"/>
          </a:p>
        </p:txBody>
      </p:sp>
      <p:sp>
        <p:nvSpPr>
          <p:cNvPr id="21" name="Shape 14"/>
          <p:cNvSpPr/>
          <p:nvPr/>
        </p:nvSpPr>
        <p:spPr>
          <a:xfrm>
            <a:off x="4338218" y="3886200"/>
            <a:ext cx="3515258" cy="1828800"/>
          </a:xfrm>
          <a:prstGeom prst="roundRect">
            <a:avLst>
              <a:gd name="adj" fmla="val 5000"/>
            </a:avLst>
          </a:prstGeom>
          <a:solidFill>
            <a:srgbClr val="F3F5F8"/>
          </a:solidFill>
          <a:ln w="6350">
            <a:solidFill>
              <a:srgbClr val="F3F5F8"/>
            </a:solidFill>
            <a:prstDash val="solid"/>
          </a:ln>
        </p:spPr>
      </p:sp>
      <p:sp>
        <p:nvSpPr>
          <p:cNvPr id="22" name="Shape 15"/>
          <p:cNvSpPr/>
          <p:nvPr/>
        </p:nvSpPr>
        <p:spPr>
          <a:xfrm>
            <a:off x="4612538" y="4160520"/>
            <a:ext cx="640080" cy="640080"/>
          </a:xfrm>
          <a:prstGeom prst="ellipse">
            <a:avLst/>
          </a:prstGeom>
          <a:solidFill>
            <a:srgbClr val="13233A"/>
          </a:solidFill>
          <a:ln w="6350">
            <a:solidFill>
              <a:srgbClr val="13233A"/>
            </a:solidFill>
            <a:prstDash val="solid"/>
          </a:ln>
        </p:spPr>
      </p:sp>
      <p:pic>
        <p:nvPicPr>
          <p:cNvPr id="23" name="Image 4" descr="preencoded.png">    </p:cNvPr>
          <p:cNvPicPr>
            <a:picLocks noChangeAspect="1"/>
          </p:cNvPicPr>
          <p:nvPr/>
        </p:nvPicPr>
        <p:blipFill>
          <a:blip r:embed="rId5"/>
          <a:stretch>
            <a:fillRect/>
          </a:stretch>
        </p:blipFill>
        <p:spPr>
          <a:xfrm>
            <a:off x="4772558" y="4320540"/>
            <a:ext cx="320040" cy="320040"/>
          </a:xfrm>
          <a:prstGeom prst="rect">
            <a:avLst/>
          </a:prstGeom>
        </p:spPr>
      </p:pic>
      <p:sp>
        <p:nvSpPr>
          <p:cNvPr id="24" name="Text 16"/>
          <p:cNvSpPr txBox="1"/>
          <p:nvPr/>
        </p:nvSpPr>
        <p:spPr>
          <a:xfrm>
            <a:off x="4612538" y="48920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Haemorrhagic transformation</a:t>
            </a:r>
            <a:endParaRPr lang="en-US" sz="2200" dirty="0"/>
          </a:p>
        </p:txBody>
      </p:sp>
      <p:sp>
        <p:nvSpPr>
          <p:cNvPr id="25" name="Shape 17"/>
          <p:cNvSpPr/>
          <p:nvPr/>
        </p:nvSpPr>
        <p:spPr>
          <a:xfrm>
            <a:off x="8127797" y="3886200"/>
            <a:ext cx="3515258" cy="1828800"/>
          </a:xfrm>
          <a:prstGeom prst="roundRect">
            <a:avLst>
              <a:gd name="adj" fmla="val 5000"/>
            </a:avLst>
          </a:prstGeom>
          <a:solidFill>
            <a:srgbClr val="F3F5F8"/>
          </a:solidFill>
          <a:ln w="6350">
            <a:solidFill>
              <a:srgbClr val="F3F5F8"/>
            </a:solidFill>
            <a:prstDash val="solid"/>
          </a:ln>
        </p:spPr>
      </p:sp>
      <p:sp>
        <p:nvSpPr>
          <p:cNvPr id="26" name="Shape 18"/>
          <p:cNvSpPr/>
          <p:nvPr/>
        </p:nvSpPr>
        <p:spPr>
          <a:xfrm>
            <a:off x="8402117" y="4160520"/>
            <a:ext cx="640080" cy="640080"/>
          </a:xfrm>
          <a:prstGeom prst="ellipse">
            <a:avLst/>
          </a:prstGeom>
          <a:solidFill>
            <a:srgbClr val="13233A"/>
          </a:solidFill>
          <a:ln w="6350">
            <a:solidFill>
              <a:srgbClr val="13233A"/>
            </a:solidFill>
            <a:prstDash val="solid"/>
          </a:ln>
        </p:spPr>
      </p:sp>
      <p:pic>
        <p:nvPicPr>
          <p:cNvPr id="27" name="Image 5" descr="preencoded.png">    </p:cNvPr>
          <p:cNvPicPr>
            <a:picLocks noChangeAspect="1"/>
          </p:cNvPicPr>
          <p:nvPr/>
        </p:nvPicPr>
        <p:blipFill>
          <a:blip r:embed="rId6"/>
          <a:stretch>
            <a:fillRect/>
          </a:stretch>
        </p:blipFill>
        <p:spPr>
          <a:xfrm>
            <a:off x="8562137" y="4320540"/>
            <a:ext cx="320040" cy="320040"/>
          </a:xfrm>
          <a:prstGeom prst="rect">
            <a:avLst/>
          </a:prstGeom>
        </p:spPr>
      </p:pic>
      <p:sp>
        <p:nvSpPr>
          <p:cNvPr id="28" name="Text 19"/>
          <p:cNvSpPr txBox="1"/>
          <p:nvPr/>
        </p:nvSpPr>
        <p:spPr>
          <a:xfrm>
            <a:off x="8402117" y="4892040"/>
            <a:ext cx="2966618" cy="731520"/>
          </a:xfrm>
          <a:prstGeom prst="rect">
            <a:avLst/>
          </a:prstGeom>
          <a:noFill/>
          <a:ln/>
        </p:spPr>
        <p:txBody>
          <a:bodyPr wrap="square" lIns="0" tIns="0" rIns="0" bIns="0" rtlCol="0" anchor="t"/>
          <a:lstStyle/>
          <a:p>
            <a:pPr indent="0" marL="0">
              <a:buNone/>
            </a:pPr>
            <a:r>
              <a:rPr lang="en-US" sz="2200" b="1" dirty="0">
                <a:solidFill>
                  <a:srgbClr val="13233A"/>
                </a:solidFill>
                <a:latin typeface="Calibri" pitchFamily="34" charset="0"/>
                <a:ea typeface="Calibri" pitchFamily="34" charset="-122"/>
                <a:cs typeface="Calibri" pitchFamily="34" charset="-120"/>
              </a:rPr>
              <a:t>Drugs, vasculitis, RCVS, moyamoya</a:t>
            </a:r>
            <a:endParaRPr lang="en-US" sz="2200" dirty="0"/>
          </a:p>
        </p:txBody>
      </p:sp>
      <p:sp>
        <p:nvSpPr>
          <p:cNvPr id="29" name="Text 20"/>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30" name="trk0"/>
          <p:cNvSpPr/>
          <p:nvPr/>
        </p:nvSpPr>
        <p:spPr>
          <a:xfrm>
            <a:off x="7269480" y="6460236"/>
            <a:ext cx="128016" cy="128016"/>
          </a:xfrm>
          <a:prstGeom prst="ellipse">
            <a:avLst/>
          </a:prstGeom>
          <a:solidFill>
            <a:srgbClr val="C1272D"/>
          </a:solidFill>
          <a:ln w="6350">
            <a:solidFill>
              <a:srgbClr val="C1272D"/>
            </a:solidFill>
            <a:prstDash val="solid"/>
          </a:ln>
        </p:spPr>
      </p:sp>
      <p:sp>
        <p:nvSpPr>
          <p:cNvPr id="31"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b="1" dirty="0">
                <a:solidFill>
                  <a:srgbClr val="C1272D"/>
                </a:solidFill>
                <a:latin typeface="Calibri" pitchFamily="34" charset="0"/>
                <a:ea typeface="Calibri" pitchFamily="34" charset="-122"/>
                <a:cs typeface="Calibri" pitchFamily="34" charset="-120"/>
              </a:rPr>
              <a:t>Vessel</a:t>
            </a:r>
            <a:endParaRPr lang="en-US" sz="1100" dirty="0"/>
          </a:p>
        </p:txBody>
      </p:sp>
      <p:sp>
        <p:nvSpPr>
          <p:cNvPr id="32"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33"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34"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35"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36"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37"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38"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30</a:t>
            </a:r>
            <a:endParaRPr lang="en-US" sz="11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292608"/>
          </a:xfrm>
          <a:prstGeom prst="rect">
            <a:avLst/>
          </a:prstGeom>
          <a:noFill/>
          <a:ln/>
        </p:spPr>
        <p:txBody>
          <a:bodyPr wrap="square" lIns="0" tIns="0" rIns="0" bIns="0" rtlCol="0" anchor="ctr"/>
          <a:lstStyle/>
          <a:p>
            <a:pPr indent="0" marL="0">
              <a:buNone/>
            </a:pPr>
            <a:r>
              <a:rPr lang="en-US" sz="1400" b="1" spc="300" kern="0" dirty="0">
                <a:solidFill>
                  <a:srgbClr val="3E5C76"/>
                </a:solidFill>
                <a:latin typeface="Calibri" pitchFamily="34" charset="0"/>
                <a:ea typeface="Calibri" pitchFamily="34" charset="-122"/>
                <a:cs typeface="Calibri" pitchFamily="34" charset="-120"/>
              </a:rPr>
              <a:t>BACKUP  ·  BEYOND THE 2014 CHAPTER</a:t>
            </a:r>
            <a:endParaRPr lang="en-US" sz="1400" dirty="0"/>
          </a:p>
        </p:txBody>
      </p:sp>
      <p:sp>
        <p:nvSpPr>
          <p:cNvPr id="4" name="title"/>
          <p:cNvSpPr txBox="1"/>
          <p:nvPr/>
        </p:nvSpPr>
        <p:spPr>
          <a:xfrm>
            <a:off x="548640" y="713232"/>
            <a:ext cx="11094415" cy="777240"/>
          </a:xfrm>
          <a:prstGeom prst="rect">
            <a:avLst/>
          </a:prstGeom>
          <a:noFill/>
          <a:ln/>
        </p:spPr>
        <p:txBody>
          <a:bodyPr wrap="square" lIns="0" tIns="0" rIns="0" bIns="0" rtlCol="0" anchor="ctr"/>
          <a:lstStyle/>
          <a:p>
            <a:pPr indent="0" marL="0">
              <a:buNone/>
            </a:pPr>
            <a:r>
              <a:rPr lang="en-US" sz="4000" b="1" dirty="0">
                <a:solidFill>
                  <a:srgbClr val="13233A"/>
                </a:solidFill>
                <a:latin typeface="Cambria" pitchFamily="34" charset="0"/>
                <a:ea typeface="Cambria" pitchFamily="34" charset="-122"/>
                <a:cs typeface="Cambria" pitchFamily="34" charset="-120"/>
              </a:rPr>
              <a:t>What has changed since the book</a:t>
            </a:r>
            <a:endParaRPr lang="en-US" sz="4000" dirty="0"/>
          </a:p>
        </p:txBody>
      </p:sp>
      <p:sp>
        <p:nvSpPr>
          <p:cNvPr id="5" name="Shape 2"/>
          <p:cNvSpPr/>
          <p:nvPr/>
        </p:nvSpPr>
        <p:spPr>
          <a:xfrm>
            <a:off x="548640" y="1828800"/>
            <a:ext cx="5410048" cy="1828800"/>
          </a:xfrm>
          <a:prstGeom prst="roundRect">
            <a:avLst>
              <a:gd name="adj" fmla="val 5000"/>
            </a:avLst>
          </a:prstGeom>
          <a:solidFill>
            <a:srgbClr val="E8EDF3"/>
          </a:solidFill>
          <a:ln w="6350">
            <a:solidFill>
              <a:srgbClr val="E8EDF3"/>
            </a:solidFill>
            <a:prstDash val="solid"/>
          </a:ln>
        </p:spPr>
      </p:sp>
      <p:sp>
        <p:nvSpPr>
          <p:cNvPr id="6" name="Shape 3"/>
          <p:cNvSpPr/>
          <p:nvPr/>
        </p:nvSpPr>
        <p:spPr>
          <a:xfrm>
            <a:off x="822960" y="2148840"/>
            <a:ext cx="914400" cy="420624"/>
          </a:xfrm>
          <a:prstGeom prst="roundRect">
            <a:avLst>
              <a:gd name="adj" fmla="val 50000"/>
            </a:avLst>
          </a:prstGeom>
          <a:solidFill>
            <a:srgbClr val="13233A"/>
          </a:solidFill>
          <a:ln w="6350">
            <a:solidFill>
              <a:srgbClr val="13233A"/>
            </a:solidFill>
            <a:prstDash val="solid"/>
          </a:ln>
        </p:spPr>
      </p:sp>
      <p:sp>
        <p:nvSpPr>
          <p:cNvPr id="7" name="Text 4"/>
          <p:cNvSpPr txBox="1"/>
          <p:nvPr/>
        </p:nvSpPr>
        <p:spPr>
          <a:xfrm>
            <a:off x="822960" y="2148840"/>
            <a:ext cx="9144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2022</a:t>
            </a:r>
            <a:endParaRPr lang="en-US" sz="1600" dirty="0"/>
          </a:p>
        </p:txBody>
      </p:sp>
      <p:sp>
        <p:nvSpPr>
          <p:cNvPr id="8" name="Text 5"/>
          <p:cNvSpPr txBox="1"/>
          <p:nvPr/>
        </p:nvSpPr>
        <p:spPr>
          <a:xfrm>
            <a:off x="1920240" y="2103120"/>
            <a:ext cx="3764128"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Boston criteria v2.0</a:t>
            </a:r>
            <a:endParaRPr lang="en-US" sz="2600" dirty="0"/>
          </a:p>
        </p:txBody>
      </p:sp>
      <p:sp>
        <p:nvSpPr>
          <p:cNvPr id="9" name="Text 6"/>
          <p:cNvSpPr txBox="1"/>
          <p:nvPr/>
        </p:nvSpPr>
        <p:spPr>
          <a:xfrm>
            <a:off x="822960" y="2788920"/>
            <a:ext cx="4861408" cy="73152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White-matter MRI markers added</a:t>
            </a:r>
            <a:endParaRPr lang="en-US" sz="2000" dirty="0"/>
          </a:p>
        </p:txBody>
      </p:sp>
      <p:sp>
        <p:nvSpPr>
          <p:cNvPr id="10" name="Shape 7"/>
          <p:cNvSpPr/>
          <p:nvPr/>
        </p:nvSpPr>
        <p:spPr>
          <a:xfrm>
            <a:off x="6233008" y="1828800"/>
            <a:ext cx="5410048" cy="1828800"/>
          </a:xfrm>
          <a:prstGeom prst="roundRect">
            <a:avLst>
              <a:gd name="adj" fmla="val 5000"/>
            </a:avLst>
          </a:prstGeom>
          <a:solidFill>
            <a:srgbClr val="F3F5F8"/>
          </a:solidFill>
          <a:ln w="6350">
            <a:solidFill>
              <a:srgbClr val="F3F5F8"/>
            </a:solidFill>
            <a:prstDash val="solid"/>
          </a:ln>
        </p:spPr>
      </p:sp>
      <p:sp>
        <p:nvSpPr>
          <p:cNvPr id="11" name="Shape 8"/>
          <p:cNvSpPr/>
          <p:nvPr/>
        </p:nvSpPr>
        <p:spPr>
          <a:xfrm>
            <a:off x="6507328" y="2148840"/>
            <a:ext cx="914400" cy="420624"/>
          </a:xfrm>
          <a:prstGeom prst="roundRect">
            <a:avLst>
              <a:gd name="adj" fmla="val 50000"/>
            </a:avLst>
          </a:prstGeom>
          <a:solidFill>
            <a:srgbClr val="13233A"/>
          </a:solidFill>
          <a:ln w="6350">
            <a:solidFill>
              <a:srgbClr val="13233A"/>
            </a:solidFill>
            <a:prstDash val="solid"/>
          </a:ln>
        </p:spPr>
      </p:sp>
      <p:sp>
        <p:nvSpPr>
          <p:cNvPr id="12" name="Text 9"/>
          <p:cNvSpPr txBox="1"/>
          <p:nvPr/>
        </p:nvSpPr>
        <p:spPr>
          <a:xfrm>
            <a:off x="6507328" y="2148840"/>
            <a:ext cx="9144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2023</a:t>
            </a:r>
            <a:endParaRPr lang="en-US" sz="1600" dirty="0"/>
          </a:p>
        </p:txBody>
      </p:sp>
      <p:sp>
        <p:nvSpPr>
          <p:cNvPr id="13" name="Text 10"/>
          <p:cNvSpPr txBox="1"/>
          <p:nvPr/>
        </p:nvSpPr>
        <p:spPr>
          <a:xfrm>
            <a:off x="7604608" y="2103120"/>
            <a:ext cx="3764128"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INTERACT3</a:t>
            </a:r>
            <a:endParaRPr lang="en-US" sz="2600" dirty="0"/>
          </a:p>
        </p:txBody>
      </p:sp>
      <p:sp>
        <p:nvSpPr>
          <p:cNvPr id="14" name="Text 11"/>
          <p:cNvSpPr txBox="1"/>
          <p:nvPr/>
        </p:nvSpPr>
        <p:spPr>
          <a:xfrm>
            <a:off x="6507328" y="2788920"/>
            <a:ext cx="4861408" cy="73152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Care bundle improved 6-month function</a:t>
            </a:r>
            <a:endParaRPr lang="en-US" sz="2000" dirty="0"/>
          </a:p>
        </p:txBody>
      </p:sp>
      <p:sp>
        <p:nvSpPr>
          <p:cNvPr id="15" name="Shape 12"/>
          <p:cNvSpPr/>
          <p:nvPr/>
        </p:nvSpPr>
        <p:spPr>
          <a:xfrm>
            <a:off x="548640" y="3886200"/>
            <a:ext cx="5410048" cy="1828800"/>
          </a:xfrm>
          <a:prstGeom prst="roundRect">
            <a:avLst>
              <a:gd name="adj" fmla="val 5000"/>
            </a:avLst>
          </a:prstGeom>
          <a:solidFill>
            <a:srgbClr val="F3F5F8"/>
          </a:solidFill>
          <a:ln w="6350">
            <a:solidFill>
              <a:srgbClr val="F3F5F8"/>
            </a:solidFill>
            <a:prstDash val="solid"/>
          </a:ln>
        </p:spPr>
      </p:sp>
      <p:sp>
        <p:nvSpPr>
          <p:cNvPr id="16" name="Shape 13"/>
          <p:cNvSpPr/>
          <p:nvPr/>
        </p:nvSpPr>
        <p:spPr>
          <a:xfrm>
            <a:off x="822960" y="4206240"/>
            <a:ext cx="914400" cy="420624"/>
          </a:xfrm>
          <a:prstGeom prst="roundRect">
            <a:avLst>
              <a:gd name="adj" fmla="val 50000"/>
            </a:avLst>
          </a:prstGeom>
          <a:solidFill>
            <a:srgbClr val="13233A"/>
          </a:solidFill>
          <a:ln w="6350">
            <a:solidFill>
              <a:srgbClr val="13233A"/>
            </a:solidFill>
            <a:prstDash val="solid"/>
          </a:ln>
        </p:spPr>
      </p:sp>
      <p:sp>
        <p:nvSpPr>
          <p:cNvPr id="17" name="Text 14"/>
          <p:cNvSpPr txBox="1"/>
          <p:nvPr/>
        </p:nvSpPr>
        <p:spPr>
          <a:xfrm>
            <a:off x="822960" y="4206240"/>
            <a:ext cx="9144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2024</a:t>
            </a:r>
            <a:endParaRPr lang="en-US" sz="1600" dirty="0"/>
          </a:p>
        </p:txBody>
      </p:sp>
      <p:sp>
        <p:nvSpPr>
          <p:cNvPr id="18" name="Text 15"/>
          <p:cNvSpPr txBox="1"/>
          <p:nvPr/>
        </p:nvSpPr>
        <p:spPr>
          <a:xfrm>
            <a:off x="1920240" y="4160520"/>
            <a:ext cx="3764128"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ENRICH</a:t>
            </a:r>
            <a:endParaRPr lang="en-US" sz="2600" dirty="0"/>
          </a:p>
        </p:txBody>
      </p:sp>
      <p:sp>
        <p:nvSpPr>
          <p:cNvPr id="19" name="Text 16"/>
          <p:cNvSpPr txBox="1"/>
          <p:nvPr/>
        </p:nvSpPr>
        <p:spPr>
          <a:xfrm>
            <a:off x="822960" y="4846320"/>
            <a:ext cx="4861408" cy="73152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Early minimally invasive surgery helped lobar bleeds</a:t>
            </a:r>
            <a:endParaRPr lang="en-US" sz="2000" dirty="0"/>
          </a:p>
        </p:txBody>
      </p:sp>
      <p:sp>
        <p:nvSpPr>
          <p:cNvPr id="20" name="Shape 17"/>
          <p:cNvSpPr/>
          <p:nvPr/>
        </p:nvSpPr>
        <p:spPr>
          <a:xfrm>
            <a:off x="6233008" y="3886200"/>
            <a:ext cx="5410048" cy="1828800"/>
          </a:xfrm>
          <a:prstGeom prst="roundRect">
            <a:avLst>
              <a:gd name="adj" fmla="val 5000"/>
            </a:avLst>
          </a:prstGeom>
          <a:solidFill>
            <a:srgbClr val="E8EDF3"/>
          </a:solidFill>
          <a:ln w="6350">
            <a:solidFill>
              <a:srgbClr val="E8EDF3"/>
            </a:solidFill>
            <a:prstDash val="solid"/>
          </a:ln>
        </p:spPr>
      </p:sp>
      <p:sp>
        <p:nvSpPr>
          <p:cNvPr id="21" name="Shape 18"/>
          <p:cNvSpPr/>
          <p:nvPr/>
        </p:nvSpPr>
        <p:spPr>
          <a:xfrm>
            <a:off x="6507328" y="4206240"/>
            <a:ext cx="914400" cy="420624"/>
          </a:xfrm>
          <a:prstGeom prst="roundRect">
            <a:avLst>
              <a:gd name="adj" fmla="val 50000"/>
            </a:avLst>
          </a:prstGeom>
          <a:solidFill>
            <a:srgbClr val="13233A"/>
          </a:solidFill>
          <a:ln w="6350">
            <a:solidFill>
              <a:srgbClr val="13233A"/>
            </a:solidFill>
            <a:prstDash val="solid"/>
          </a:ln>
        </p:spPr>
      </p:sp>
      <p:sp>
        <p:nvSpPr>
          <p:cNvPr id="22" name="Text 19"/>
          <p:cNvSpPr txBox="1"/>
          <p:nvPr/>
        </p:nvSpPr>
        <p:spPr>
          <a:xfrm>
            <a:off x="6507328" y="4206240"/>
            <a:ext cx="91440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2024</a:t>
            </a:r>
            <a:endParaRPr lang="en-US" sz="1600" dirty="0"/>
          </a:p>
        </p:txBody>
      </p:sp>
      <p:sp>
        <p:nvSpPr>
          <p:cNvPr id="23" name="Text 20"/>
          <p:cNvSpPr txBox="1"/>
          <p:nvPr/>
        </p:nvSpPr>
        <p:spPr>
          <a:xfrm>
            <a:off x="7604608" y="4160520"/>
            <a:ext cx="3764128" cy="512064"/>
          </a:xfrm>
          <a:prstGeom prst="rect">
            <a:avLst/>
          </a:prstGeom>
          <a:noFill/>
          <a:ln/>
        </p:spPr>
        <p:txBody>
          <a:bodyPr wrap="square" lIns="0" tIns="0" rIns="0" bIns="0" rtlCol="0" anchor="ctr"/>
          <a:lstStyle/>
          <a:p>
            <a:pPr indent="0" marL="0">
              <a:buNone/>
            </a:pPr>
            <a:r>
              <a:rPr lang="en-US" sz="2600" b="1" dirty="0">
                <a:solidFill>
                  <a:srgbClr val="13233A"/>
                </a:solidFill>
                <a:latin typeface="Calibri" pitchFamily="34" charset="0"/>
                <a:ea typeface="Calibri" pitchFamily="34" charset="-122"/>
                <a:cs typeface="Calibri" pitchFamily="34" charset="-120"/>
              </a:rPr>
              <a:t>ANNEXA-I</a:t>
            </a:r>
            <a:endParaRPr lang="en-US" sz="2600" dirty="0"/>
          </a:p>
        </p:txBody>
      </p:sp>
      <p:sp>
        <p:nvSpPr>
          <p:cNvPr id="24" name="Text 21"/>
          <p:cNvSpPr txBox="1"/>
          <p:nvPr/>
        </p:nvSpPr>
        <p:spPr>
          <a:xfrm>
            <a:off x="6507328" y="4846320"/>
            <a:ext cx="4861408" cy="731520"/>
          </a:xfrm>
          <a:prstGeom prst="rect">
            <a:avLst/>
          </a:prstGeom>
          <a:noFill/>
          <a:ln/>
        </p:spPr>
        <p:txBody>
          <a:bodyPr wrap="square" lIns="0" tIns="0" rIns="0" bIns="0" rtlCol="0" anchor="t"/>
          <a:lstStyle/>
          <a:p>
            <a:pPr indent="0" marL="0">
              <a:buNone/>
            </a:pPr>
            <a:r>
              <a:rPr lang="en-US" sz="2000" dirty="0">
                <a:solidFill>
                  <a:srgbClr val="1B2230"/>
                </a:solidFill>
                <a:latin typeface="Calibri" pitchFamily="34" charset="0"/>
                <a:ea typeface="Calibri" pitchFamily="34" charset="-122"/>
                <a:cs typeface="Calibri" pitchFamily="34" charset="-120"/>
              </a:rPr>
              <a:t>Andexanet: better haemostasis, more thrombosis</a:t>
            </a:r>
            <a:endParaRPr lang="en-US" sz="2000" dirty="0"/>
          </a:p>
        </p:txBody>
      </p:sp>
      <p:sp>
        <p:nvSpPr>
          <p:cNvPr id="25" name="Text 22"/>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rgbClr val="667285"/>
                </a:solidFill>
                <a:latin typeface="Calibri" pitchFamily="34" charset="0"/>
                <a:ea typeface="Calibri" pitchFamily="34" charset="-122"/>
                <a:cs typeface="Calibri" pitchFamily="34" charset="-120"/>
              </a:rPr>
              <a:t>Charidimou, Lancet Neurol 2022 · Ma, Lancet 2023 · Pradilla, NEJM 2024 · Connolly, NEJM 2024.</a:t>
            </a:r>
            <a:endParaRPr lang="en-US" sz="1200" dirty="0"/>
          </a:p>
        </p:txBody>
      </p:sp>
      <p:sp>
        <p:nvSpPr>
          <p:cNvPr id="26" name="Text 23"/>
          <p:cNvSpPr txBox="1"/>
          <p:nvPr/>
        </p:nvSpPr>
        <p:spPr>
          <a:xfrm>
            <a:off x="548640" y="6382512"/>
            <a:ext cx="5029200"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Chapter 5  ·  Intracerebral haemorrhage</a:t>
            </a:r>
            <a:endParaRPr lang="en-US" sz="1100" dirty="0"/>
          </a:p>
        </p:txBody>
      </p:sp>
      <p:sp>
        <p:nvSpPr>
          <p:cNvPr id="27" name="trk0"/>
          <p:cNvSpPr/>
          <p:nvPr/>
        </p:nvSpPr>
        <p:spPr>
          <a:xfrm>
            <a:off x="7269480" y="6460236"/>
            <a:ext cx="128016" cy="128016"/>
          </a:xfrm>
          <a:prstGeom prst="ellipse">
            <a:avLst/>
          </a:prstGeom>
          <a:solidFill>
            <a:srgbClr val="C9D2DE"/>
          </a:solidFill>
          <a:ln w="6350">
            <a:solidFill>
              <a:srgbClr val="C9D2DE"/>
            </a:solidFill>
            <a:prstDash val="solid"/>
          </a:ln>
        </p:spPr>
      </p:sp>
      <p:sp>
        <p:nvSpPr>
          <p:cNvPr id="28" name="trkl0"/>
          <p:cNvSpPr txBox="1"/>
          <p:nvPr/>
        </p:nvSpPr>
        <p:spPr>
          <a:xfrm>
            <a:off x="7461504"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Vessel</a:t>
            </a:r>
            <a:endParaRPr lang="en-US" sz="1100" dirty="0"/>
          </a:p>
        </p:txBody>
      </p:sp>
      <p:sp>
        <p:nvSpPr>
          <p:cNvPr id="29" name="trk1"/>
          <p:cNvSpPr/>
          <p:nvPr/>
        </p:nvSpPr>
        <p:spPr>
          <a:xfrm>
            <a:off x="8211312" y="6460236"/>
            <a:ext cx="128016" cy="128016"/>
          </a:xfrm>
          <a:prstGeom prst="ellipse">
            <a:avLst/>
          </a:prstGeom>
          <a:solidFill>
            <a:srgbClr val="C9D2DE"/>
          </a:solidFill>
          <a:ln w="6350">
            <a:solidFill>
              <a:srgbClr val="C9D2DE"/>
            </a:solidFill>
            <a:prstDash val="solid"/>
          </a:ln>
        </p:spPr>
      </p:sp>
      <p:sp>
        <p:nvSpPr>
          <p:cNvPr id="30" name="trkl1"/>
          <p:cNvSpPr txBox="1"/>
          <p:nvPr/>
        </p:nvSpPr>
        <p:spPr>
          <a:xfrm>
            <a:off x="8403336"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Hours</a:t>
            </a:r>
            <a:endParaRPr lang="en-US" sz="1100" dirty="0"/>
          </a:p>
        </p:txBody>
      </p:sp>
      <p:sp>
        <p:nvSpPr>
          <p:cNvPr id="31" name="trk2"/>
          <p:cNvSpPr/>
          <p:nvPr/>
        </p:nvSpPr>
        <p:spPr>
          <a:xfrm>
            <a:off x="9153144" y="6460236"/>
            <a:ext cx="128016" cy="128016"/>
          </a:xfrm>
          <a:prstGeom prst="ellipse">
            <a:avLst/>
          </a:prstGeom>
          <a:solidFill>
            <a:srgbClr val="C9D2DE"/>
          </a:solidFill>
          <a:ln w="6350">
            <a:solidFill>
              <a:srgbClr val="C9D2DE"/>
            </a:solidFill>
            <a:prstDash val="solid"/>
          </a:ln>
        </p:spPr>
      </p:sp>
      <p:sp>
        <p:nvSpPr>
          <p:cNvPr id="32" name="trkl2"/>
          <p:cNvSpPr txBox="1"/>
          <p:nvPr/>
        </p:nvSpPr>
        <p:spPr>
          <a:xfrm>
            <a:off x="9345168"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Days</a:t>
            </a:r>
            <a:endParaRPr lang="en-US" sz="1100" dirty="0"/>
          </a:p>
        </p:txBody>
      </p:sp>
      <p:sp>
        <p:nvSpPr>
          <p:cNvPr id="33" name="trk3"/>
          <p:cNvSpPr/>
          <p:nvPr/>
        </p:nvSpPr>
        <p:spPr>
          <a:xfrm>
            <a:off x="10094976" y="6460236"/>
            <a:ext cx="128016" cy="128016"/>
          </a:xfrm>
          <a:prstGeom prst="ellipse">
            <a:avLst/>
          </a:prstGeom>
          <a:solidFill>
            <a:srgbClr val="C9D2DE"/>
          </a:solidFill>
          <a:ln w="6350">
            <a:solidFill>
              <a:srgbClr val="C9D2DE"/>
            </a:solidFill>
            <a:prstDash val="solid"/>
          </a:ln>
        </p:spPr>
      </p:sp>
      <p:sp>
        <p:nvSpPr>
          <p:cNvPr id="34" name="trkl3"/>
          <p:cNvSpPr txBox="1"/>
          <p:nvPr/>
        </p:nvSpPr>
        <p:spPr>
          <a:xfrm>
            <a:off x="10287000" y="6382512"/>
            <a:ext cx="713232" cy="274320"/>
          </a:xfrm>
          <a:prstGeom prst="rect">
            <a:avLst/>
          </a:prstGeom>
          <a:noFill/>
          <a:ln/>
        </p:spPr>
        <p:txBody>
          <a:bodyPr wrap="square" lIns="0" tIns="0" rIns="0" bIns="0" rtlCol="0" anchor="ctr"/>
          <a:lstStyle/>
          <a:p>
            <a:pPr indent="0" marL="0">
              <a:buNone/>
            </a:pPr>
            <a:r>
              <a:rPr lang="en-US" sz="1100" dirty="0">
                <a:solidFill>
                  <a:srgbClr val="667285"/>
                </a:solidFill>
                <a:latin typeface="Calibri" pitchFamily="34" charset="0"/>
                <a:ea typeface="Calibri" pitchFamily="34" charset="-122"/>
                <a:cs typeface="Calibri" pitchFamily="34" charset="-120"/>
              </a:rPr>
              <a:t>Bedside</a:t>
            </a:r>
            <a:endParaRPr lang="en-US" sz="1100" dirty="0"/>
          </a:p>
        </p:txBody>
      </p:sp>
      <p:sp>
        <p:nvSpPr>
          <p:cNvPr id="35" name="pageno"/>
          <p:cNvSpPr txBox="1"/>
          <p:nvPr/>
        </p:nvSpPr>
        <p:spPr>
          <a:xfrm>
            <a:off x="11183112" y="6382512"/>
            <a:ext cx="457200" cy="274320"/>
          </a:xfrm>
          <a:prstGeom prst="rect">
            <a:avLst/>
          </a:prstGeom>
          <a:noFill/>
          <a:ln/>
        </p:spPr>
        <p:txBody>
          <a:bodyPr wrap="square" lIns="0" tIns="0" rIns="0" bIns="0" rtlCol="0" anchor="ctr"/>
          <a:lstStyle/>
          <a:p>
            <a:pPr algn="r" indent="0" marL="0">
              <a:buNone/>
            </a:pPr>
            <a:r>
              <a:rPr lang="en-US" sz="1100" dirty="0">
                <a:solidFill>
                  <a:srgbClr val="667285"/>
                </a:solidFill>
                <a:latin typeface="Calibri" pitchFamily="34" charset="0"/>
                <a:ea typeface="Calibri" pitchFamily="34" charset="-122"/>
                <a:cs typeface="Calibri" pitchFamily="34" charset="-120"/>
              </a:rPr>
              <a:t>31</a:t>
            </a:r>
            <a:endParaRPr lang="en-US" sz="11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vessel breaks: pathophysiology of non-traumatic intracerebral haemorrhage</dc:title>
  <dc:subject>PptxGenJS Presentation</dc:subject>
  <dc:creator>PptxGenJS</dc:creator>
  <cp:lastModifiedBy>PptxGenJS</cp:lastModifiedBy>
  <cp:revision>1</cp:revision>
  <dcterms:created xsi:type="dcterms:W3CDTF">2026-09-30T09:34:38Z</dcterms:created>
  <dcterms:modified xsi:type="dcterms:W3CDTF">2026-09-30T09:34:38Z</dcterms:modified>
</cp:coreProperties>
</file>